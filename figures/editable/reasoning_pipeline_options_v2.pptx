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618720" cy="7315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references (original artwork, not reproduced figures):</a:t>
            </a:r>
          </a:p>
          <a:p>
            <a:r>
              <a:t>SFD Figure 3: https://arxiv.org/pdf/2512.04926</a:t>
            </a:r>
          </a:p>
          <a:p>
            <a:r>
              <a:t>Learning When to Denoise Figure 1: https://arxiv.org/pdf/2606.19662</a:t>
            </a:r>
          </a:p>
          <a:p>
            <a:r>
              <a:t>Diffusion Forcing Figure 2: https://arxiv.org/pdf/2407.01392</a:t>
            </a:r>
          </a:p>
          <a:p>
            <a:r>
              <a:t>Method checked against qwen3_math5m_elf_l_paper_methods_and_lineage_handoff.md and qwen3_elf_b_paper_methods_and_ablation_lineages_handoff.md.</a:t>
            </a:r>
          </a:p>
          <a:p>
            <a:r>
              <a:t>All boxes, labels, connectors, noise tiles, and schedule curves are native editable PowerPoint objects. No diagram is embedded as a bitmap. PDF/SVG exports come from the same geometry.</a:t>
            </a:r>
          </a:p>
          <a:p>
            <a:r>
              <a:t>Representation: post-block Qwen states at layers 16/24/32; independent learned maps with widths 256/256/512, concatenated along the feature dimension. E_l includes covariance whitening; reconstruction maps D_l are trained via soft teacher CE through frozen Qwen suffixes. The representation is then frozen.</a:t>
            </a:r>
          </a:p>
          <a:p>
            <a:r>
              <a:t>Flow: question-only prompt encoder. Initial flow training uses original teacher prompt states; MSE-trained prompt encoder is substituted before joint prompt/ELF training. Noisy answers do not enter the prompt encoder. Shared bidirectional ELF backbone, flow prediction and token head. Decoder corruption differs from flow corruption; modes are mixed across rows (80/20). SCCFG auxiliary targets are detached; the primary joint prompt path receives gradients.</a:t>
            </a:r>
          </a:p>
          <a:p>
            <a:r>
              <a:t>Inference: all three latent groups are evaluated jointly in each shared ELF forward. Clocks are tau^2.5, tau^2, tau^1.5 in layer order 16/24/32; larger local time is cleaner. Euler updates include f'_l(tau). This is a fixed evaluation schedule, not a learned schedule or a claim of optimality. Cell textures are schematic noise levels, not measured latent values or decoded intermediate solutions. Prompt encoding is computed once. Terminal decoding reuses the shared ELF backbone plus the token head once. The Qwen Transformer is absent from inference.</a:t>
            </a:r>
          </a:p>
          <a:p>
            <a:r>
              <a:t>Revision 2: bottom-up Qwen, narrow projectors with 2560-D inputs, explicit fixed covariance-whitening step and integrated per-layer reconstruction/teacher CE. Purple question and red gold-solution outlines. Snowflake=frozen; flame=trained in the depicted training stage. Fixed whitening followed by learned orthonormal projection factors the effective encoder E_l. Displayed layer order is 32/24/16 from top to bottom, consistently in representation and inference panels. Static strips show three token positions; every bold vertical outline is a token, and feature-band heights reflect 512/256/256 dimensions. Illustrative Early/Late visibilities intentionally exaggerate the schedule separation and do NOT map to quantitative tau values. The clock plot itself remains exact. Self-conditioning and row-mode details are omitted for clarity; they remain in the method. Slides 2 and 3 are unchanged from v1.</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references (original artwork, not reproduced figures):</a:t>
            </a:r>
          </a:p>
          <a:p>
            <a:r>
              <a:t>SFD Figure 3: https://arxiv.org/pdf/2512.04926</a:t>
            </a:r>
          </a:p>
          <a:p>
            <a:r>
              <a:t>Learning When to Denoise Figure 1: https://arxiv.org/pdf/2606.19662</a:t>
            </a:r>
          </a:p>
          <a:p>
            <a:r>
              <a:t>Diffusion Forcing Figure 2: https://arxiv.org/pdf/2407.01392</a:t>
            </a:r>
          </a:p>
          <a:p>
            <a:r>
              <a:t>Method checked against qwen3_math5m_elf_l_paper_methods_and_lineage_handoff.md and qwen3_elf_b_paper_methods_and_ablation_lineages_handoff.md.</a:t>
            </a:r>
          </a:p>
          <a:p>
            <a:r>
              <a:t>All boxes, labels, connectors, noise tiles, and schedule curves are native editable PowerPoint objects. No diagram is embedded as a bitmap. PDF/SVG exports come from the same geometry.</a:t>
            </a:r>
          </a:p>
          <a:p>
            <a:r>
              <a:t>NFT: each group has 15 generated latent endpoints from the old policy plus one cached gold endpoint. Generated decoded text is used only for reward scoring; NFT trains on the saved latent endpoints. Rewards: correct generated=0.75, wrong=0, gold=1. Filter all-generated-correct groups before computing retained reward statistics. Center by the 16-endpoint group mean and normalize with the population SD of all retained raw rewards; advantage is clipped to [-5,5], mapped to rho=clip(0.5+A/10,0,1).</a:t>
            </a:r>
          </a:p>
          <a:p>
            <a:r>
              <a:t>Training uses fresh forward-process time/noise draws (eight per endpoint in the runs), synchronous clocks, and each role's own prompt encoder. Only current-policy main predictions carry gradients. The SCCFG correction, bootstrap, old/reference outputs and targets are detached. Beta=1; e+=e_c, e-=2e_o-e_c; weighted squared residuals plus fixed-reference penalty use response-token masks. There is no differentiation through rollout trajectories and no NFT decoder CE. Update ELF flow/shared backbone and prompt body, freeze decoder-only parameter leaves and token lookup. Old policy is refreshed from current with the verified retention schedule; reference stays fixed. Exact coefficients and masks belong in the methods text.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references (original artwork, not reproduced figures):</a:t>
            </a:r>
          </a:p>
          <a:p>
            <a:r>
              <a:t>SFD Figure 3: https://arxiv.org/pdf/2512.04926</a:t>
            </a:r>
          </a:p>
          <a:p>
            <a:r>
              <a:t>Learning When to Denoise Figure 1: https://arxiv.org/pdf/2606.19662</a:t>
            </a:r>
          </a:p>
          <a:p>
            <a:r>
              <a:t>Diffusion Forcing Figure 2: https://arxiv.org/pdf/2407.01392</a:t>
            </a:r>
          </a:p>
          <a:p>
            <a:r>
              <a:t>Method checked against qwen3_math5m_elf_l_paper_methods_and_lineage_handoff.md and qwen3_elf_b_paper_methods_and_ablation_lineages_handoff.md.</a:t>
            </a:r>
          </a:p>
          <a:p>
            <a:r>
              <a:t>All boxes, labels, connectors, noise tiles, and schedule curves are native editable PowerPoint objects. No diagram is embedded as a bitmap. PDF/SVG exports come from the same geometry.</a:t>
            </a:r>
          </a:p>
          <a:p>
            <a:r>
              <a:t>Representation: post-block Qwen states at layers 16/24/32; independent learned maps with widths 256/256/512, concatenated along the feature dimension. E_l includes covariance whitening; reconstruction maps D_l are trained via soft teacher CE through frozen Qwen suffixes. The representation is then frozen.</a:t>
            </a:r>
          </a:p>
          <a:p>
            <a:r>
              <a:t>Flow: question-only prompt encoder. Initial flow training uses original teacher prompt states; MSE-trained prompt encoder is substituted before joint prompt/ELF training. Noisy answers do not enter the prompt encoder. Shared bidirectional ELF backbone, flow prediction and token head. Decoder corruption differs from flow corruption; modes are mixed across rows (80/20). SCCFG auxiliary targets are detached; the primary joint prompt path receives gradients.</a:t>
            </a:r>
          </a:p>
          <a:p>
            <a:r>
              <a:t>Inference: all three latent groups are evaluated jointly in each shared ELF forward. Clocks are tau^2.5, tau^2, tau^1.5 in layer order 16/24/32; larger local time is cleaner. Euler updates include f'_l(tau). This is a fixed evaluation schedule, not a learned schedule or a claim of optimality. Cell textures are schematic noise levels, not measured latent values or decoded intermediate solutions. Prompt encoding is computed once. Terminal decoding reuses the shared ELF backbone plus the token head once. The Qwen Transformer is absent from inference.</a:t>
            </a:r>
          </a:p>
          <a:p>
            <a:r>
              <a:t>NFT: each group has 15 generated latent endpoints from the old policy plus one cached gold endpoint. Generated decoded text is used only for reward scoring; NFT trains on the saved latent endpoints. Rewards: correct generated=0.75, wrong=0, gold=1. Filter all-generated-correct groups before computing retained reward statistics. Center by the 16-endpoint group mean and normalize with the population SD of all retained raw rewards; advantage is clipped to [-5,5], mapped to rho=clip(0.5+A/10,0,1).</a:t>
            </a:r>
          </a:p>
          <a:p>
            <a:r>
              <a:t>Training uses fresh forward-process time/noise draws (eight per endpoint in the runs), synchronous clocks, and each role's own prompt encoder. Only current-policy main predictions carry gradients. The SCCFG correction, bootstrap, old/reference outputs and targets are detached. Beta=1; e+=e_c, e-=2e_o-e_c; weighted squared residuals plus fixed-reference penalty use response-token masks. There is no differentiation through rollout trajectories and no NFT decoder CE. Update ELF flow/shared backbone and prompt body, freeze decoder-only parameter leaves and token lookup. Old policy is refreshed from current with the verified retention schedule; reference stays fixed. Exact coefficients and masks belong in the methods text.</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name="pipeline_overview_v2">
    <p:bg>
      <p:bgPr>
        <a:solidFill>
          <a:srgbClr val="FFFFFF"/>
        </a:solidFill>
        <a:effectLst/>
      </p:bgPr>
    </p:bg>
    <p:spTree>
      <p:nvGrpSpPr>
        <p:cNvPr id="1" name=""/>
        <p:cNvGrpSpPr/>
        <p:nvPr/>
      </p:nvGrpSpPr>
      <p:grpSpPr/>
      <p:sp>
        <p:nvSpPr>
          <p:cNvPr id="2" name="path_0000"/>
          <p:cNvSpPr/>
          <p:nvPr/>
        </p:nvSpPr>
        <p:spPr>
          <a:xfrm>
            <a:off x="5084064" y="219456"/>
            <a:ext cx="0" cy="6903720"/>
          </a:xfrm>
          <a:custGeom>
            <a:avLst/>
            <a:gdLst/>
            <a:ahLst/>
            <a:cxnLst/>
            <a:rect l="l" t="t" r="r" b="b"/>
            <a:pathLst>
              <a:path w="0" h="7550">
                <a:moveTo>
                  <a:pt x="0" y="0"/>
                </a:moveTo>
                <a:lnTo>
                  <a:pt x="0" y="7550"/>
                </a:lnTo>
              </a:path>
            </a:pathLst>
          </a:custGeom>
          <a:noFill/>
          <a:ln w="6985">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th_0001"/>
          <p:cNvSpPr/>
          <p:nvPr/>
        </p:nvSpPr>
        <p:spPr>
          <a:xfrm>
            <a:off x="8238744" y="219456"/>
            <a:ext cx="0" cy="6903720"/>
          </a:xfrm>
          <a:custGeom>
            <a:avLst/>
            <a:gdLst/>
            <a:ahLst/>
            <a:cxnLst/>
            <a:rect l="l" t="t" r="r" b="b"/>
            <a:pathLst>
              <a:path w="0" h="7550">
                <a:moveTo>
                  <a:pt x="0" y="0"/>
                </a:moveTo>
                <a:lnTo>
                  <a:pt x="0" y="7550"/>
                </a:lnTo>
              </a:path>
            </a:pathLst>
          </a:custGeom>
          <a:noFill/>
          <a:ln w="6985">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_0005"/>
          <p:cNvSpPr txBox="1"/>
          <p:nvPr/>
        </p:nvSpPr>
        <p:spPr>
          <a:xfrm>
            <a:off x="338328" y="1005840"/>
            <a:ext cx="1234440" cy="320040"/>
          </a:xfrm>
          <a:prstGeom prst="rect">
            <a:avLst/>
          </a:prstGeom>
          <a:noFill/>
        </p:spPr>
        <p:txBody>
          <a:bodyPr wrap="none" lIns="0" rIns="0" tIns="0" bIns="0" anchor="ctr">
            <a:spAutoFit/>
          </a:bodyPr>
          <a:lstStyle/>
          <a:p>
            <a:pPr algn="ctr">
              <a:lnSpc>
                <a:spcPts val="1807"/>
              </a:lnSpc>
              <a:spcBef>
                <a:spcPts val="0"/>
              </a:spcBef>
              <a:spcAft>
                <a:spcPts val="0"/>
              </a:spcAft>
            </a:pPr>
            <a:r>
              <a:rPr sz="1600" b="1">
                <a:solidFill>
                  <a:srgbClr val="233344"/>
                </a:solidFill>
                <a:latin typeface="DejaVu Sans"/>
              </a:rPr>
              <a:t>Qwen3-4B</a:t>
            </a:r>
          </a:p>
        </p:txBody>
      </p:sp>
      <p:sp>
        <p:nvSpPr>
          <p:cNvPr id="26" name="text_0024"/>
          <p:cNvSpPr txBox="1"/>
          <p:nvPr/>
        </p:nvSpPr>
        <p:spPr>
          <a:xfrm>
            <a:off x="1691640" y="1005840"/>
            <a:ext cx="1033271" cy="475488"/>
          </a:xfrm>
          <a:prstGeom prst="rect">
            <a:avLst/>
          </a:prstGeom>
          <a:noFill/>
        </p:spPr>
        <p:txBody>
          <a:bodyPr wrap="none" lIns="0" rIns="0" tIns="0" bIns="0" anchor="ctr">
            <a:spAutoFit/>
          </a:bodyPr>
          <a:lstStyle/>
          <a:p>
            <a:pPr algn="ctr">
              <a:lnSpc>
                <a:spcPts val="1412"/>
              </a:lnSpc>
              <a:spcBef>
                <a:spcPts val="0"/>
              </a:spcBef>
              <a:spcAft>
                <a:spcPts val="0"/>
              </a:spcAft>
            </a:pPr>
            <a:r>
              <a:rPr sz="1250" b="1">
                <a:solidFill>
                  <a:srgbClr val="233344"/>
                </a:solidFill>
                <a:latin typeface="DejaVu Sans"/>
              </a:rPr>
              <a:t>Covariance</a:t>
            </a:r>
          </a:p>
          <a:p>
            <a:pPr algn="ctr">
              <a:lnSpc>
                <a:spcPts val="1412"/>
              </a:lnSpc>
              <a:spcBef>
                <a:spcPts val="0"/>
              </a:spcBef>
              <a:spcAft>
                <a:spcPts val="0"/>
              </a:spcAft>
            </a:pPr>
            <a:r>
              <a:rPr sz="1250" b="1">
                <a:solidFill>
                  <a:srgbClr val="233344"/>
                </a:solidFill>
                <a:latin typeface="DejaVu Sans"/>
              </a:rPr>
              <a:t>whitening</a:t>
            </a:r>
          </a:p>
        </p:txBody>
      </p:sp>
      <p:sp>
        <p:nvSpPr>
          <p:cNvPr id="45" name="text_0043"/>
          <p:cNvSpPr txBox="1"/>
          <p:nvPr/>
        </p:nvSpPr>
        <p:spPr>
          <a:xfrm>
            <a:off x="2807208" y="1005840"/>
            <a:ext cx="859536" cy="475488"/>
          </a:xfrm>
          <a:prstGeom prst="rect">
            <a:avLst/>
          </a:prstGeom>
          <a:noFill/>
        </p:spPr>
        <p:txBody>
          <a:bodyPr wrap="none" lIns="0" rIns="0" tIns="0" bIns="0" anchor="ctr">
            <a:spAutoFit/>
          </a:bodyPr>
          <a:lstStyle/>
          <a:p>
            <a:pPr algn="ctr">
              <a:lnSpc>
                <a:spcPts val="1412"/>
              </a:lnSpc>
              <a:spcBef>
                <a:spcPts val="0"/>
              </a:spcBef>
              <a:spcAft>
                <a:spcPts val="0"/>
              </a:spcAft>
            </a:pPr>
            <a:r>
              <a:rPr sz="1250" b="1">
                <a:solidFill>
                  <a:srgbClr val="233344"/>
                </a:solidFill>
                <a:latin typeface="DejaVu Sans"/>
              </a:rPr>
              <a:t>Learned</a:t>
            </a:r>
          </a:p>
          <a:p>
            <a:pPr algn="ctr">
              <a:lnSpc>
                <a:spcPts val="1412"/>
              </a:lnSpc>
              <a:spcBef>
                <a:spcPts val="0"/>
              </a:spcBef>
              <a:spcAft>
                <a:spcPts val="0"/>
              </a:spcAft>
            </a:pPr>
            <a:r>
              <a:rPr sz="1250" b="1">
                <a:solidFill>
                  <a:srgbClr val="233344"/>
                </a:solidFill>
                <a:latin typeface="DejaVu Sans"/>
              </a:rPr>
              <a:t>projectors</a:t>
            </a:r>
          </a:p>
        </p:txBody>
      </p:sp>
      <p:sp>
        <p:nvSpPr>
          <p:cNvPr id="48" name="text_0046"/>
          <p:cNvSpPr txBox="1"/>
          <p:nvPr/>
        </p:nvSpPr>
        <p:spPr>
          <a:xfrm>
            <a:off x="3877056" y="1005840"/>
            <a:ext cx="932688" cy="475488"/>
          </a:xfrm>
          <a:prstGeom prst="rect">
            <a:avLst/>
          </a:prstGeom>
          <a:noFill/>
        </p:spPr>
        <p:txBody>
          <a:bodyPr wrap="none" lIns="0" rIns="0" tIns="0" bIns="0" anchor="ctr">
            <a:spAutoFit/>
          </a:bodyPr>
          <a:lstStyle/>
          <a:p>
            <a:pPr algn="ctr">
              <a:lnSpc>
                <a:spcPts val="1468"/>
              </a:lnSpc>
              <a:spcBef>
                <a:spcPts val="0"/>
              </a:spcBef>
              <a:spcAft>
                <a:spcPts val="0"/>
              </a:spcAft>
            </a:pPr>
            <a:r>
              <a:rPr sz="1300" b="1">
                <a:solidFill>
                  <a:srgbClr val="233344"/>
                </a:solidFill>
                <a:latin typeface="DejaVu Sans"/>
              </a:rPr>
              <a:t>Concatenate</a:t>
            </a:r>
          </a:p>
          <a:p>
            <a:pPr algn="ctr">
              <a:lnSpc>
                <a:spcPts val="1468"/>
              </a:lnSpc>
              <a:spcBef>
                <a:spcPts val="0"/>
              </a:spcBef>
              <a:spcAft>
                <a:spcPts val="0"/>
              </a:spcAft>
            </a:pPr>
            <a:r>
              <a:rPr sz="1300" b="1">
                <a:solidFill>
                  <a:srgbClr val="233344"/>
                </a:solidFill>
                <a:latin typeface="DejaVu Sans"/>
              </a:rPr>
              <a:t>features</a:t>
            </a:r>
          </a:p>
        </p:txBody>
      </p:sp>
      <p:sp>
        <p:nvSpPr>
          <p:cNvPr id="49" name="Qwen_bottom_up_stack"/>
          <p:cNvSpPr/>
          <p:nvPr/>
        </p:nvSpPr>
        <p:spPr>
          <a:xfrm>
            <a:off x="356616" y="1755648"/>
            <a:ext cx="1207008" cy="2898648"/>
          </a:xfrm>
          <a:prstGeom prst="roundRect">
            <a:avLst>
              <a:gd name="adj" fmla="val 6818"/>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ixed_covariance_whitening"/>
          <p:cNvSpPr/>
          <p:nvPr/>
        </p:nvSpPr>
        <p:spPr>
          <a:xfrm>
            <a:off x="2066543" y="1755648"/>
            <a:ext cx="310896" cy="2898648"/>
          </a:xfrm>
          <a:prstGeom prst="roundRect">
            <a:avLst>
              <a:gd name="adj" fmla="val 5882"/>
            </a:avLst>
          </a:prstGeom>
          <a:solidFill>
            <a:srgbClr val="EAF1F4"/>
          </a:solidFill>
          <a:ln w="12700">
            <a:solidFill>
              <a:srgbClr val="85A8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path_0051"/>
          <p:cNvSpPr/>
          <p:nvPr/>
        </p:nvSpPr>
        <p:spPr>
          <a:xfrm>
            <a:off x="1581912" y="4288536"/>
            <a:ext cx="457200" cy="0"/>
          </a:xfrm>
          <a:custGeom>
            <a:avLst/>
            <a:gdLst/>
            <a:ahLst/>
            <a:cxnLst/>
            <a:rect l="l" t="t" r="r" b="b"/>
            <a:pathLst>
              <a:path w="500" h="0">
                <a:moveTo>
                  <a:pt x="0" y="0"/>
                </a:moveTo>
                <a:lnTo>
                  <a:pt x="500" y="0"/>
                </a:lnTo>
              </a:path>
            </a:pathLst>
          </a:custGeom>
          <a:noFill/>
          <a:ln w="16510">
            <a:solidFill>
              <a:srgbClr val="367AB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_0052"/>
          <p:cNvSpPr txBox="1"/>
          <p:nvPr/>
        </p:nvSpPr>
        <p:spPr>
          <a:xfrm>
            <a:off x="2084831" y="4142232"/>
            <a:ext cx="274320" cy="292608"/>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63758A"/>
                </a:solidFill>
                <a:latin typeface="DejaVu Sans"/>
              </a:rPr>
              <a:t>W</a:t>
            </a:r>
          </a:p>
        </p:txBody>
      </p:sp>
      <p:sp>
        <p:nvSpPr>
          <p:cNvPr id="55" name="path_0053"/>
          <p:cNvSpPr/>
          <p:nvPr/>
        </p:nvSpPr>
        <p:spPr>
          <a:xfrm>
            <a:off x="2404872" y="4288536"/>
            <a:ext cx="411480" cy="0"/>
          </a:xfrm>
          <a:custGeom>
            <a:avLst/>
            <a:gdLst/>
            <a:ahLst/>
            <a:cxnLst/>
            <a:rect l="l" t="t" r="r" b="b"/>
            <a:pathLst>
              <a:path w="450" h="0">
                <a:moveTo>
                  <a:pt x="0" y="0"/>
                </a:moveTo>
                <a:lnTo>
                  <a:pt x="450" y="0"/>
                </a:lnTo>
              </a:path>
            </a:pathLst>
          </a:custGeom>
          <a:noFill/>
          <a:ln w="16510">
            <a:solidFill>
              <a:srgbClr val="367AB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projector_L16_input_dim"/>
          <p:cNvSpPr txBox="1"/>
          <p:nvPr/>
        </p:nvSpPr>
        <p:spPr>
          <a:xfrm>
            <a:off x="2386584" y="4050792"/>
            <a:ext cx="429768" cy="201168"/>
          </a:xfrm>
          <a:prstGeom prst="rect">
            <a:avLst/>
          </a:prstGeom>
          <a:noFill/>
        </p:spPr>
        <p:txBody>
          <a:bodyPr wrap="none" lIns="0" rIns="0" tIns="0" bIns="0" anchor="ctr">
            <a:spAutoFit/>
          </a:bodyPr>
          <a:lstStyle/>
          <a:p>
            <a:pPr algn="ctr">
              <a:lnSpc>
                <a:spcPts val="1186"/>
              </a:lnSpc>
              <a:spcBef>
                <a:spcPts val="0"/>
              </a:spcBef>
              <a:spcAft>
                <a:spcPts val="0"/>
              </a:spcAft>
            </a:pPr>
            <a:r>
              <a:rPr sz="1050" b="0">
                <a:solidFill>
                  <a:srgbClr val="63758A"/>
                </a:solidFill>
                <a:latin typeface="DejaVu Sans"/>
              </a:rPr>
              <a:t>2560</a:t>
            </a:r>
          </a:p>
        </p:txBody>
      </p:sp>
      <p:sp>
        <p:nvSpPr>
          <p:cNvPr id="57" name="narrow_projector_L16"/>
          <p:cNvSpPr/>
          <p:nvPr/>
        </p:nvSpPr>
        <p:spPr>
          <a:xfrm>
            <a:off x="2843784" y="4032504"/>
            <a:ext cx="457200" cy="512064"/>
          </a:xfrm>
          <a:custGeom>
            <a:avLst/>
            <a:gdLst/>
            <a:ahLst/>
            <a:cxnLst/>
            <a:rect l="l" t="t" r="r" b="b"/>
            <a:pathLst>
              <a:path w="500" h="560">
                <a:moveTo>
                  <a:pt x="0" y="0"/>
                </a:moveTo>
                <a:lnTo>
                  <a:pt x="500" y="100"/>
                </a:lnTo>
                <a:lnTo>
                  <a:pt x="500" y="460"/>
                </a:lnTo>
                <a:lnTo>
                  <a:pt x="0" y="560"/>
                </a:lnTo>
                <a:close/>
              </a:path>
            </a:pathLst>
          </a:custGeom>
          <a:solidFill>
            <a:srgbClr val="DFEAF3"/>
          </a:solidFill>
          <a:ln w="1524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_0056"/>
          <p:cNvSpPr txBox="1"/>
          <p:nvPr/>
        </p:nvSpPr>
        <p:spPr>
          <a:xfrm>
            <a:off x="2898648" y="4142232"/>
            <a:ext cx="338328" cy="292608"/>
          </a:xfrm>
          <a:prstGeom prst="rect">
            <a:avLst/>
          </a:prstGeom>
          <a:noFill/>
        </p:spPr>
        <p:txBody>
          <a:bodyPr wrap="none" lIns="0" rIns="0" tIns="0" bIns="0" anchor="ctr">
            <a:spAutoFit/>
          </a:bodyPr>
          <a:lstStyle/>
          <a:p>
            <a:pPr algn="ctr">
              <a:lnSpc>
                <a:spcPts val="2033"/>
              </a:lnSpc>
              <a:spcBef>
                <a:spcPts val="0"/>
              </a:spcBef>
              <a:spcAft>
                <a:spcPts val="0"/>
              </a:spcAft>
            </a:pPr>
            <a:r>
              <a:rPr sz="1800" b="1">
                <a:solidFill>
                  <a:srgbClr val="367AB5"/>
                </a:solidFill>
                <a:latin typeface="DejaVu Sans"/>
              </a:rPr>
              <a:t>P</a:t>
            </a:r>
          </a:p>
        </p:txBody>
      </p:sp>
      <p:sp>
        <p:nvSpPr>
          <p:cNvPr id="59" name="path_0057"/>
          <p:cNvSpPr/>
          <p:nvPr/>
        </p:nvSpPr>
        <p:spPr>
          <a:xfrm>
            <a:off x="3319272" y="4288536"/>
            <a:ext cx="777240" cy="0"/>
          </a:xfrm>
          <a:custGeom>
            <a:avLst/>
            <a:gdLst/>
            <a:ahLst/>
            <a:cxnLst/>
            <a:rect l="l" t="t" r="r" b="b"/>
            <a:pathLst>
              <a:path w="850" h="0">
                <a:moveTo>
                  <a:pt x="0" y="0"/>
                </a:moveTo>
                <a:lnTo>
                  <a:pt x="850" y="0"/>
                </a:lnTo>
              </a:path>
            </a:pathLst>
          </a:custGeom>
          <a:noFill/>
          <a:ln w="16510">
            <a:solidFill>
              <a:srgbClr val="367AB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_0058"/>
          <p:cNvSpPr txBox="1"/>
          <p:nvPr/>
        </p:nvSpPr>
        <p:spPr>
          <a:xfrm>
            <a:off x="3483864" y="4050792"/>
            <a:ext cx="448056" cy="219456"/>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367AB5"/>
                </a:solidFill>
                <a:latin typeface="DejaVu Sans"/>
              </a:rPr>
              <a:t>256</a:t>
            </a:r>
          </a:p>
        </p:txBody>
      </p:sp>
      <p:sp>
        <p:nvSpPr>
          <p:cNvPr id="63" name="path_0061"/>
          <p:cNvSpPr/>
          <p:nvPr/>
        </p:nvSpPr>
        <p:spPr>
          <a:xfrm>
            <a:off x="1581912" y="3557016"/>
            <a:ext cx="457200" cy="0"/>
          </a:xfrm>
          <a:custGeom>
            <a:avLst/>
            <a:gdLst/>
            <a:ahLst/>
            <a:cxnLst/>
            <a:rect l="l" t="t" r="r" b="b"/>
            <a:pathLst>
              <a:path w="500" h="0">
                <a:moveTo>
                  <a:pt x="0" y="0"/>
                </a:moveTo>
                <a:lnTo>
                  <a:pt x="500" y="0"/>
                </a:lnTo>
              </a:path>
            </a:pathLst>
          </a:custGeom>
          <a:noFill/>
          <a:ln w="16510">
            <a:solidFill>
              <a:srgbClr val="C88A3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_0062"/>
          <p:cNvSpPr txBox="1"/>
          <p:nvPr/>
        </p:nvSpPr>
        <p:spPr>
          <a:xfrm>
            <a:off x="2084831" y="3410712"/>
            <a:ext cx="274320" cy="292608"/>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63758A"/>
                </a:solidFill>
                <a:latin typeface="DejaVu Sans"/>
              </a:rPr>
              <a:t>W</a:t>
            </a:r>
          </a:p>
        </p:txBody>
      </p:sp>
      <p:sp>
        <p:nvSpPr>
          <p:cNvPr id="65" name="path_0063"/>
          <p:cNvSpPr/>
          <p:nvPr/>
        </p:nvSpPr>
        <p:spPr>
          <a:xfrm>
            <a:off x="2404872" y="3557016"/>
            <a:ext cx="411480" cy="0"/>
          </a:xfrm>
          <a:custGeom>
            <a:avLst/>
            <a:gdLst/>
            <a:ahLst/>
            <a:cxnLst/>
            <a:rect l="l" t="t" r="r" b="b"/>
            <a:pathLst>
              <a:path w="450" h="0">
                <a:moveTo>
                  <a:pt x="0" y="0"/>
                </a:moveTo>
                <a:lnTo>
                  <a:pt x="450" y="0"/>
                </a:lnTo>
              </a:path>
            </a:pathLst>
          </a:custGeom>
          <a:noFill/>
          <a:ln w="16510">
            <a:solidFill>
              <a:srgbClr val="C88A3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projector_L24_input_dim"/>
          <p:cNvSpPr txBox="1"/>
          <p:nvPr/>
        </p:nvSpPr>
        <p:spPr>
          <a:xfrm>
            <a:off x="2386584" y="3319272"/>
            <a:ext cx="429768" cy="201168"/>
          </a:xfrm>
          <a:prstGeom prst="rect">
            <a:avLst/>
          </a:prstGeom>
          <a:noFill/>
        </p:spPr>
        <p:txBody>
          <a:bodyPr wrap="none" lIns="0" rIns="0" tIns="0" bIns="0" anchor="ctr">
            <a:spAutoFit/>
          </a:bodyPr>
          <a:lstStyle/>
          <a:p>
            <a:pPr algn="ctr">
              <a:lnSpc>
                <a:spcPts val="1186"/>
              </a:lnSpc>
              <a:spcBef>
                <a:spcPts val="0"/>
              </a:spcBef>
              <a:spcAft>
                <a:spcPts val="0"/>
              </a:spcAft>
            </a:pPr>
            <a:r>
              <a:rPr sz="1050" b="0">
                <a:solidFill>
                  <a:srgbClr val="63758A"/>
                </a:solidFill>
                <a:latin typeface="DejaVu Sans"/>
              </a:rPr>
              <a:t>2560</a:t>
            </a:r>
          </a:p>
        </p:txBody>
      </p:sp>
      <p:sp>
        <p:nvSpPr>
          <p:cNvPr id="67" name="narrow_projector_L24"/>
          <p:cNvSpPr/>
          <p:nvPr/>
        </p:nvSpPr>
        <p:spPr>
          <a:xfrm>
            <a:off x="2843784" y="3300984"/>
            <a:ext cx="457200" cy="512064"/>
          </a:xfrm>
          <a:custGeom>
            <a:avLst/>
            <a:gdLst/>
            <a:ahLst/>
            <a:cxnLst/>
            <a:rect l="l" t="t" r="r" b="b"/>
            <a:pathLst>
              <a:path w="500" h="560">
                <a:moveTo>
                  <a:pt x="0" y="0"/>
                </a:moveTo>
                <a:lnTo>
                  <a:pt x="500" y="100"/>
                </a:lnTo>
                <a:lnTo>
                  <a:pt x="500" y="460"/>
                </a:lnTo>
                <a:lnTo>
                  <a:pt x="0" y="560"/>
                </a:lnTo>
                <a:close/>
              </a:path>
            </a:pathLst>
          </a:custGeom>
          <a:solidFill>
            <a:srgbClr val="F6ECDF"/>
          </a:solidFill>
          <a:ln w="15240">
            <a:solidFill>
              <a:srgbClr val="C88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_0066"/>
          <p:cNvSpPr txBox="1"/>
          <p:nvPr/>
        </p:nvSpPr>
        <p:spPr>
          <a:xfrm>
            <a:off x="2898648" y="3410712"/>
            <a:ext cx="338328" cy="292608"/>
          </a:xfrm>
          <a:prstGeom prst="rect">
            <a:avLst/>
          </a:prstGeom>
          <a:noFill/>
        </p:spPr>
        <p:txBody>
          <a:bodyPr wrap="none" lIns="0" rIns="0" tIns="0" bIns="0" anchor="ctr">
            <a:spAutoFit/>
          </a:bodyPr>
          <a:lstStyle/>
          <a:p>
            <a:pPr algn="ctr">
              <a:lnSpc>
                <a:spcPts val="2033"/>
              </a:lnSpc>
              <a:spcBef>
                <a:spcPts val="0"/>
              </a:spcBef>
              <a:spcAft>
                <a:spcPts val="0"/>
              </a:spcAft>
            </a:pPr>
            <a:r>
              <a:rPr sz="1800" b="1">
                <a:solidFill>
                  <a:srgbClr val="C88A35"/>
                </a:solidFill>
                <a:latin typeface="DejaVu Sans"/>
              </a:rPr>
              <a:t>P</a:t>
            </a:r>
          </a:p>
        </p:txBody>
      </p:sp>
      <p:sp>
        <p:nvSpPr>
          <p:cNvPr id="69" name="path_0067"/>
          <p:cNvSpPr/>
          <p:nvPr/>
        </p:nvSpPr>
        <p:spPr>
          <a:xfrm>
            <a:off x="3319272" y="3557016"/>
            <a:ext cx="777240" cy="0"/>
          </a:xfrm>
          <a:custGeom>
            <a:avLst/>
            <a:gdLst/>
            <a:ahLst/>
            <a:cxnLst/>
            <a:rect l="l" t="t" r="r" b="b"/>
            <a:pathLst>
              <a:path w="850" h="0">
                <a:moveTo>
                  <a:pt x="0" y="0"/>
                </a:moveTo>
                <a:lnTo>
                  <a:pt x="850" y="0"/>
                </a:lnTo>
              </a:path>
            </a:pathLst>
          </a:custGeom>
          <a:noFill/>
          <a:ln w="16510">
            <a:solidFill>
              <a:srgbClr val="C88A3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_0068"/>
          <p:cNvSpPr txBox="1"/>
          <p:nvPr/>
        </p:nvSpPr>
        <p:spPr>
          <a:xfrm>
            <a:off x="3483864" y="3319272"/>
            <a:ext cx="448056" cy="219456"/>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C88A35"/>
                </a:solidFill>
                <a:latin typeface="DejaVu Sans"/>
              </a:rPr>
              <a:t>256</a:t>
            </a:r>
          </a:p>
        </p:txBody>
      </p:sp>
      <p:sp>
        <p:nvSpPr>
          <p:cNvPr id="73" name="path_0071"/>
          <p:cNvSpPr/>
          <p:nvPr/>
        </p:nvSpPr>
        <p:spPr>
          <a:xfrm>
            <a:off x="1581912" y="2459736"/>
            <a:ext cx="457200" cy="0"/>
          </a:xfrm>
          <a:custGeom>
            <a:avLst/>
            <a:gdLst/>
            <a:ahLst/>
            <a:cxnLst/>
            <a:rect l="l" t="t" r="r" b="b"/>
            <a:pathLst>
              <a:path w="500" h="0">
                <a:moveTo>
                  <a:pt x="0" y="0"/>
                </a:moveTo>
                <a:lnTo>
                  <a:pt x="500" y="0"/>
                </a:lnTo>
              </a:path>
            </a:pathLst>
          </a:custGeom>
          <a:noFill/>
          <a:ln w="16510">
            <a:solidFill>
              <a:srgbClr val="2C917F"/>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_0072"/>
          <p:cNvSpPr txBox="1"/>
          <p:nvPr/>
        </p:nvSpPr>
        <p:spPr>
          <a:xfrm>
            <a:off x="2084831" y="2313432"/>
            <a:ext cx="274320" cy="292608"/>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63758A"/>
                </a:solidFill>
                <a:latin typeface="DejaVu Sans"/>
              </a:rPr>
              <a:t>W</a:t>
            </a:r>
          </a:p>
        </p:txBody>
      </p:sp>
      <p:sp>
        <p:nvSpPr>
          <p:cNvPr id="75" name="path_0073"/>
          <p:cNvSpPr/>
          <p:nvPr/>
        </p:nvSpPr>
        <p:spPr>
          <a:xfrm>
            <a:off x="2404872" y="2459736"/>
            <a:ext cx="411480" cy="0"/>
          </a:xfrm>
          <a:custGeom>
            <a:avLst/>
            <a:gdLst/>
            <a:ahLst/>
            <a:cxnLst/>
            <a:rect l="l" t="t" r="r" b="b"/>
            <a:pathLst>
              <a:path w="450" h="0">
                <a:moveTo>
                  <a:pt x="0" y="0"/>
                </a:moveTo>
                <a:lnTo>
                  <a:pt x="450" y="0"/>
                </a:lnTo>
              </a:path>
            </a:pathLst>
          </a:custGeom>
          <a:noFill/>
          <a:ln w="16510">
            <a:solidFill>
              <a:srgbClr val="2C917F"/>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projector_L32_input_dim"/>
          <p:cNvSpPr txBox="1"/>
          <p:nvPr/>
        </p:nvSpPr>
        <p:spPr>
          <a:xfrm>
            <a:off x="2386584" y="2221991"/>
            <a:ext cx="429768" cy="201168"/>
          </a:xfrm>
          <a:prstGeom prst="rect">
            <a:avLst/>
          </a:prstGeom>
          <a:noFill/>
        </p:spPr>
        <p:txBody>
          <a:bodyPr wrap="none" lIns="0" rIns="0" tIns="0" bIns="0" anchor="ctr">
            <a:spAutoFit/>
          </a:bodyPr>
          <a:lstStyle/>
          <a:p>
            <a:pPr algn="ctr">
              <a:lnSpc>
                <a:spcPts val="1186"/>
              </a:lnSpc>
              <a:spcBef>
                <a:spcPts val="0"/>
              </a:spcBef>
              <a:spcAft>
                <a:spcPts val="0"/>
              </a:spcAft>
            </a:pPr>
            <a:r>
              <a:rPr sz="1050" b="0">
                <a:solidFill>
                  <a:srgbClr val="63758A"/>
                </a:solidFill>
                <a:latin typeface="DejaVu Sans"/>
              </a:rPr>
              <a:t>2560</a:t>
            </a:r>
          </a:p>
        </p:txBody>
      </p:sp>
      <p:sp>
        <p:nvSpPr>
          <p:cNvPr id="77" name="narrow_projector_L32"/>
          <p:cNvSpPr/>
          <p:nvPr/>
        </p:nvSpPr>
        <p:spPr>
          <a:xfrm>
            <a:off x="2843784" y="2203704"/>
            <a:ext cx="457200" cy="512064"/>
          </a:xfrm>
          <a:custGeom>
            <a:avLst/>
            <a:gdLst/>
            <a:ahLst/>
            <a:cxnLst/>
            <a:rect l="l" t="t" r="r" b="b"/>
            <a:pathLst>
              <a:path w="500" h="560">
                <a:moveTo>
                  <a:pt x="0" y="0"/>
                </a:moveTo>
                <a:lnTo>
                  <a:pt x="500" y="100"/>
                </a:lnTo>
                <a:lnTo>
                  <a:pt x="500" y="460"/>
                </a:lnTo>
                <a:lnTo>
                  <a:pt x="0" y="560"/>
                </a:lnTo>
                <a:close/>
              </a:path>
            </a:pathLst>
          </a:custGeom>
          <a:solidFill>
            <a:srgbClr val="DDEDEB"/>
          </a:solidFill>
          <a:ln w="1524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_0076"/>
          <p:cNvSpPr txBox="1"/>
          <p:nvPr/>
        </p:nvSpPr>
        <p:spPr>
          <a:xfrm>
            <a:off x="2898648" y="2313432"/>
            <a:ext cx="338328" cy="292608"/>
          </a:xfrm>
          <a:prstGeom prst="rect">
            <a:avLst/>
          </a:prstGeom>
          <a:noFill/>
        </p:spPr>
        <p:txBody>
          <a:bodyPr wrap="none" lIns="0" rIns="0" tIns="0" bIns="0" anchor="ctr">
            <a:spAutoFit/>
          </a:bodyPr>
          <a:lstStyle/>
          <a:p>
            <a:pPr algn="ctr">
              <a:lnSpc>
                <a:spcPts val="2033"/>
              </a:lnSpc>
              <a:spcBef>
                <a:spcPts val="0"/>
              </a:spcBef>
              <a:spcAft>
                <a:spcPts val="0"/>
              </a:spcAft>
            </a:pPr>
            <a:r>
              <a:rPr sz="1800" b="1">
                <a:solidFill>
                  <a:srgbClr val="2C917F"/>
                </a:solidFill>
                <a:latin typeface="DejaVu Sans"/>
              </a:rPr>
              <a:t>P</a:t>
            </a:r>
          </a:p>
        </p:txBody>
      </p:sp>
      <p:sp>
        <p:nvSpPr>
          <p:cNvPr id="79" name="path_0077"/>
          <p:cNvSpPr/>
          <p:nvPr/>
        </p:nvSpPr>
        <p:spPr>
          <a:xfrm>
            <a:off x="3319272" y="2459736"/>
            <a:ext cx="777240" cy="0"/>
          </a:xfrm>
          <a:custGeom>
            <a:avLst/>
            <a:gdLst/>
            <a:ahLst/>
            <a:cxnLst/>
            <a:rect l="l" t="t" r="r" b="b"/>
            <a:pathLst>
              <a:path w="850" h="0">
                <a:moveTo>
                  <a:pt x="0" y="0"/>
                </a:moveTo>
                <a:lnTo>
                  <a:pt x="850" y="0"/>
                </a:lnTo>
              </a:path>
            </a:pathLst>
          </a:custGeom>
          <a:noFill/>
          <a:ln w="16510">
            <a:solidFill>
              <a:srgbClr val="2C917F"/>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_0078"/>
          <p:cNvSpPr txBox="1"/>
          <p:nvPr/>
        </p:nvSpPr>
        <p:spPr>
          <a:xfrm>
            <a:off x="3483864" y="2221991"/>
            <a:ext cx="448056" cy="219456"/>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2C917F"/>
                </a:solidFill>
                <a:latin typeface="DejaVu Sans"/>
              </a:rPr>
              <a:t>512</a:t>
            </a:r>
          </a:p>
        </p:txBody>
      </p:sp>
      <p:sp>
        <p:nvSpPr>
          <p:cNvPr id="81" name="path_0079"/>
          <p:cNvSpPr/>
          <p:nvPr/>
        </p:nvSpPr>
        <p:spPr>
          <a:xfrm>
            <a:off x="960120" y="3803904"/>
            <a:ext cx="0" cy="246888"/>
          </a:xfrm>
          <a:custGeom>
            <a:avLst/>
            <a:gdLst/>
            <a:ahLst/>
            <a:cxnLst/>
            <a:rect l="l" t="t" r="r" b="b"/>
            <a:pathLst>
              <a:path w="0" h="270">
                <a:moveTo>
                  <a:pt x="0" y="270"/>
                </a:moveTo>
                <a:lnTo>
                  <a:pt x="0" y="0"/>
                </a:lnTo>
              </a:path>
            </a:pathLst>
          </a:custGeom>
          <a:noFill/>
          <a:ln w="1270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path_0080"/>
          <p:cNvSpPr/>
          <p:nvPr/>
        </p:nvSpPr>
        <p:spPr>
          <a:xfrm>
            <a:off x="960120" y="3099816"/>
            <a:ext cx="0" cy="219456"/>
          </a:xfrm>
          <a:custGeom>
            <a:avLst/>
            <a:gdLst/>
            <a:ahLst/>
            <a:cxnLst/>
            <a:rect l="l" t="t" r="r" b="b"/>
            <a:pathLst>
              <a:path w="0" h="240">
                <a:moveTo>
                  <a:pt x="0" y="240"/>
                </a:moveTo>
                <a:lnTo>
                  <a:pt x="0" y="0"/>
                </a:lnTo>
              </a:path>
            </a:pathLst>
          </a:custGeom>
          <a:noFill/>
          <a:ln w="1270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_0081"/>
          <p:cNvSpPr txBox="1"/>
          <p:nvPr/>
        </p:nvSpPr>
        <p:spPr>
          <a:xfrm>
            <a:off x="731520" y="2752344"/>
            <a:ext cx="457200" cy="283464"/>
          </a:xfrm>
          <a:prstGeom prst="rect">
            <a:avLst/>
          </a:prstGeom>
          <a:noFill/>
        </p:spPr>
        <p:txBody>
          <a:bodyPr wrap="none" lIns="0" rIns="0" tIns="0" bIns="0" anchor="ctr">
            <a:spAutoFit/>
          </a:bodyPr>
          <a:lstStyle/>
          <a:p>
            <a:pPr algn="ctr">
              <a:lnSpc>
                <a:spcPts val="2147"/>
              </a:lnSpc>
              <a:spcBef>
                <a:spcPts val="0"/>
              </a:spcBef>
              <a:spcAft>
                <a:spcPts val="0"/>
              </a:spcAft>
            </a:pPr>
            <a:r>
              <a:rPr sz="1900" b="0">
                <a:solidFill>
                  <a:srgbClr val="63758A"/>
                </a:solidFill>
                <a:latin typeface="DejaVu Sans"/>
              </a:rPr>
              <a:t>⋮</a:t>
            </a:r>
          </a:p>
        </p:txBody>
      </p:sp>
      <p:sp>
        <p:nvSpPr>
          <p:cNvPr id="84" name="text_0082"/>
          <p:cNvSpPr txBox="1"/>
          <p:nvPr/>
        </p:nvSpPr>
        <p:spPr>
          <a:xfrm>
            <a:off x="731520" y="1929384"/>
            <a:ext cx="457200" cy="283464"/>
          </a:xfrm>
          <a:prstGeom prst="rect">
            <a:avLst/>
          </a:prstGeom>
          <a:noFill/>
        </p:spPr>
        <p:txBody>
          <a:bodyPr wrap="none" lIns="0" rIns="0" tIns="0" bIns="0" anchor="ctr">
            <a:spAutoFit/>
          </a:bodyPr>
          <a:lstStyle/>
          <a:p>
            <a:pPr algn="ctr">
              <a:lnSpc>
                <a:spcPts val="2147"/>
              </a:lnSpc>
              <a:spcBef>
                <a:spcPts val="0"/>
              </a:spcBef>
              <a:spcAft>
                <a:spcPts val="0"/>
              </a:spcAft>
            </a:pPr>
            <a:r>
              <a:rPr sz="1900" b="0">
                <a:solidFill>
                  <a:srgbClr val="63758A"/>
                </a:solidFill>
                <a:latin typeface="DejaVu Sans"/>
              </a:rPr>
              <a:t>⋮</a:t>
            </a:r>
          </a:p>
        </p:txBody>
      </p:sp>
      <p:sp>
        <p:nvSpPr>
          <p:cNvPr id="85" name="concat_group_L32"/>
          <p:cNvSpPr/>
          <p:nvPr/>
        </p:nvSpPr>
        <p:spPr>
          <a:xfrm>
            <a:off x="4123944" y="1728216"/>
            <a:ext cx="420624" cy="1463040"/>
          </a:xfrm>
          <a:prstGeom prst="rect">
            <a:avLst/>
          </a:prstGeom>
          <a:solidFill>
            <a:srgbClr val="A6D1C9"/>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concat_group_L24"/>
          <p:cNvSpPr/>
          <p:nvPr/>
        </p:nvSpPr>
        <p:spPr>
          <a:xfrm>
            <a:off x="4123944" y="3191256"/>
            <a:ext cx="420624" cy="731520"/>
          </a:xfrm>
          <a:prstGeom prst="rect">
            <a:avLst/>
          </a:prstGeom>
          <a:solidFill>
            <a:srgbClr val="E8CEAA"/>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concat_group_L16"/>
          <p:cNvSpPr/>
          <p:nvPr/>
        </p:nvSpPr>
        <p:spPr>
          <a:xfrm>
            <a:off x="4123944" y="3922776"/>
            <a:ext cx="420624" cy="731520"/>
          </a:xfrm>
          <a:prstGeom prst="rect">
            <a:avLst/>
          </a:prstGeom>
          <a:solidFill>
            <a:srgbClr val="ABC7E0"/>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_0086"/>
          <p:cNvSpPr/>
          <p:nvPr/>
        </p:nvSpPr>
        <p:spPr>
          <a:xfrm>
            <a:off x="4123944" y="1728216"/>
            <a:ext cx="420624" cy="2926080"/>
          </a:xfrm>
          <a:prstGeom prst="rect">
            <a:avLst/>
          </a:prstGeom>
          <a:noFill/>
          <a:ln w="762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_0087"/>
          <p:cNvSpPr txBox="1"/>
          <p:nvPr/>
        </p:nvSpPr>
        <p:spPr>
          <a:xfrm>
            <a:off x="3886200" y="4681728"/>
            <a:ext cx="914400" cy="429768"/>
          </a:xfrm>
          <a:prstGeom prst="rect">
            <a:avLst/>
          </a:prstGeom>
          <a:noFill/>
        </p:spPr>
        <p:txBody>
          <a:bodyPr wrap="none" lIns="0" rIns="0" tIns="0" bIns="0" anchor="ctr">
            <a:spAutoFit/>
          </a:bodyPr>
          <a:lstStyle/>
          <a:p>
            <a:pPr algn="ctr">
              <a:lnSpc>
                <a:spcPts val="1355"/>
              </a:lnSpc>
              <a:spcBef>
                <a:spcPts val="0"/>
              </a:spcBef>
              <a:spcAft>
                <a:spcPts val="0"/>
              </a:spcAft>
            </a:pPr>
            <a:r>
              <a:rPr sz="1200" b="1">
                <a:solidFill>
                  <a:srgbClr val="233344"/>
                </a:solidFill>
                <a:latin typeface="DejaVu Sans"/>
              </a:rPr>
              <a:t>1024-D</a:t>
            </a:r>
          </a:p>
          <a:p>
            <a:pPr algn="ctr">
              <a:lnSpc>
                <a:spcPts val="1355"/>
              </a:lnSpc>
              <a:spcBef>
                <a:spcPts val="0"/>
              </a:spcBef>
              <a:spcAft>
                <a:spcPts val="0"/>
              </a:spcAft>
            </a:pPr>
            <a:r>
              <a:rPr sz="1200" b="1">
                <a:solidFill>
                  <a:srgbClr val="233344"/>
                </a:solidFill>
                <a:latin typeface="DejaVu Sans"/>
              </a:rPr>
              <a:t>per token</a:t>
            </a:r>
          </a:p>
        </p:txBody>
      </p:sp>
      <p:sp>
        <p:nvSpPr>
          <p:cNvPr id="94" name="bottom_up_full_sequence_input"/>
          <p:cNvSpPr/>
          <p:nvPr/>
        </p:nvSpPr>
        <p:spPr>
          <a:xfrm>
            <a:off x="960120" y="4681728"/>
            <a:ext cx="580644" cy="338328"/>
          </a:xfrm>
          <a:custGeom>
            <a:avLst/>
            <a:gdLst/>
            <a:ahLst/>
            <a:cxnLst/>
            <a:rect l="l" t="t" r="r" b="b"/>
            <a:pathLst>
              <a:path w="635" h="370">
                <a:moveTo>
                  <a:pt x="635" y="370"/>
                </a:moveTo>
                <a:lnTo>
                  <a:pt x="635" y="180"/>
                </a:lnTo>
                <a:lnTo>
                  <a:pt x="0" y="180"/>
                </a:lnTo>
                <a:lnTo>
                  <a:pt x="0" y="0"/>
                </a:lnTo>
              </a:path>
            </a:pathLst>
          </a:custGeom>
          <a:noFill/>
          <a:ln w="15875">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per_layer_reconstruction_branch"/>
          <p:cNvSpPr/>
          <p:nvPr/>
        </p:nvSpPr>
        <p:spPr>
          <a:xfrm>
            <a:off x="3758184" y="3557016"/>
            <a:ext cx="448056" cy="2057400"/>
          </a:xfrm>
          <a:custGeom>
            <a:avLst/>
            <a:gdLst/>
            <a:ahLst/>
            <a:cxnLst/>
            <a:rect l="l" t="t" r="r" b="b"/>
            <a:pathLst>
              <a:path w="490" h="2250">
                <a:moveTo>
                  <a:pt x="0" y="0"/>
                </a:moveTo>
                <a:lnTo>
                  <a:pt x="0" y="1800"/>
                </a:lnTo>
                <a:lnTo>
                  <a:pt x="490" y="1800"/>
                </a:lnTo>
                <a:lnTo>
                  <a:pt x="490" y="2250"/>
                </a:lnTo>
              </a:path>
            </a:pathLst>
          </a:custGeom>
          <a:noFill/>
          <a:ln w="1397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_0094"/>
          <p:cNvSpPr/>
          <p:nvPr/>
        </p:nvSpPr>
        <p:spPr>
          <a:xfrm>
            <a:off x="3721608" y="3520440"/>
            <a:ext cx="73152" cy="73152"/>
          </a:xfrm>
          <a:prstGeom prst="roundRect">
            <a:avLst>
              <a:gd name="adj" fmla="val 12000"/>
            </a:avLst>
          </a:prstGeom>
          <a:solidFill>
            <a:srgbClr val="637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_0095"/>
          <p:cNvSpPr txBox="1"/>
          <p:nvPr/>
        </p:nvSpPr>
        <p:spPr>
          <a:xfrm>
            <a:off x="2852928" y="5294376"/>
            <a:ext cx="987552" cy="374904"/>
          </a:xfrm>
          <a:prstGeom prst="rect">
            <a:avLst/>
          </a:prstGeom>
          <a:noFill/>
        </p:spPr>
        <p:txBody>
          <a:bodyPr wrap="none" lIns="0" rIns="0" tIns="0" bIns="0" anchor="ctr">
            <a:spAutoFit/>
          </a:bodyPr>
          <a:lstStyle/>
          <a:p>
            <a:pPr algn="ctr">
              <a:lnSpc>
                <a:spcPts val="1299"/>
              </a:lnSpc>
              <a:spcBef>
                <a:spcPts val="0"/>
              </a:spcBef>
              <a:spcAft>
                <a:spcPts val="0"/>
              </a:spcAft>
            </a:pPr>
            <a:r>
              <a:rPr sz="1150" b="0">
                <a:solidFill>
                  <a:srgbClr val="63758A"/>
                </a:solidFill>
                <a:latin typeface="DejaVu Sans"/>
              </a:rPr>
              <a:t>One layer</a:t>
            </a:r>
          </a:p>
          <a:p>
            <a:pPr algn="ctr">
              <a:lnSpc>
                <a:spcPts val="1299"/>
              </a:lnSpc>
              <a:spcBef>
                <a:spcPts val="0"/>
              </a:spcBef>
              <a:spcAft>
                <a:spcPts val="0"/>
              </a:spcAft>
            </a:pPr>
            <a:r>
              <a:rPr sz="1150" b="0">
                <a:solidFill>
                  <a:srgbClr val="63758A"/>
                </a:solidFill>
                <a:latin typeface="DejaVu Sans"/>
              </a:rPr>
              <a:t>at a time</a:t>
            </a:r>
          </a:p>
        </p:txBody>
      </p:sp>
      <p:sp>
        <p:nvSpPr>
          <p:cNvPr id="102" name="path_0100"/>
          <p:cNvSpPr/>
          <p:nvPr/>
        </p:nvSpPr>
        <p:spPr>
          <a:xfrm>
            <a:off x="3401568" y="5980176"/>
            <a:ext cx="256032" cy="0"/>
          </a:xfrm>
          <a:custGeom>
            <a:avLst/>
            <a:gdLst/>
            <a:ahLst/>
            <a:cxnLst/>
            <a:rect l="l" t="t" r="r" b="b"/>
            <a:pathLst>
              <a:path w="280" h="0">
                <a:moveTo>
                  <a:pt x="280" y="0"/>
                </a:moveTo>
                <a:lnTo>
                  <a:pt x="0" y="0"/>
                </a:lnTo>
              </a:path>
            </a:pathLst>
          </a:custGeom>
          <a:noFill/>
          <a:ln w="1651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path_0121"/>
          <p:cNvSpPr/>
          <p:nvPr/>
        </p:nvSpPr>
        <p:spPr>
          <a:xfrm>
            <a:off x="1691640" y="5980176"/>
            <a:ext cx="237744" cy="0"/>
          </a:xfrm>
          <a:custGeom>
            <a:avLst/>
            <a:gdLst/>
            <a:ahLst/>
            <a:cxnLst/>
            <a:rect l="l" t="t" r="r" b="b"/>
            <a:pathLst>
              <a:path w="260" h="0">
                <a:moveTo>
                  <a:pt x="260" y="0"/>
                </a:moveTo>
                <a:lnTo>
                  <a:pt x="0" y="0"/>
                </a:lnTo>
              </a:path>
            </a:pathLst>
          </a:custGeom>
          <a:noFill/>
          <a:ln w="1651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_0124"/>
          <p:cNvSpPr txBox="1"/>
          <p:nvPr/>
        </p:nvSpPr>
        <p:spPr>
          <a:xfrm>
            <a:off x="438912" y="6428232"/>
            <a:ext cx="4361688" cy="274320"/>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63758A"/>
                </a:solidFill>
                <a:latin typeface="DejaVu Sans"/>
              </a:rPr>
              <a:t>Freeze this representation for flow training.</a:t>
            </a:r>
          </a:p>
        </p:txBody>
      </p:sp>
      <p:sp>
        <p:nvSpPr>
          <p:cNvPr id="145" name="text_0143"/>
          <p:cNvSpPr txBox="1"/>
          <p:nvPr/>
        </p:nvSpPr>
        <p:spPr>
          <a:xfrm>
            <a:off x="667512" y="6894576"/>
            <a:ext cx="832104" cy="256032"/>
          </a:xfrm>
          <a:prstGeom prst="rect">
            <a:avLst/>
          </a:prstGeom>
          <a:noFill/>
        </p:spPr>
        <p:txBody>
          <a:bodyPr wrap="none" lIns="0" rIns="0" tIns="0" bIns="0" anchor="ctr">
            <a:spAutoFit/>
          </a:bodyPr>
          <a:lstStyle/>
          <a:p>
            <a:pPr algn="l">
              <a:lnSpc>
                <a:spcPts val="1468"/>
              </a:lnSpc>
              <a:spcBef>
                <a:spcPts val="0"/>
              </a:spcBef>
              <a:spcAft>
                <a:spcPts val="0"/>
              </a:spcAft>
            </a:pPr>
            <a:r>
              <a:rPr sz="1300" b="0">
                <a:solidFill>
                  <a:srgbClr val="63758A"/>
                </a:solidFill>
                <a:latin typeface="DejaVu Sans"/>
              </a:rPr>
              <a:t>Frozen</a:t>
            </a:r>
          </a:p>
        </p:txBody>
      </p:sp>
      <p:sp>
        <p:nvSpPr>
          <p:cNvPr id="148" name="text_0146"/>
          <p:cNvSpPr txBox="1"/>
          <p:nvPr/>
        </p:nvSpPr>
        <p:spPr>
          <a:xfrm>
            <a:off x="1965960" y="6894576"/>
            <a:ext cx="950976" cy="256032"/>
          </a:xfrm>
          <a:prstGeom prst="rect">
            <a:avLst/>
          </a:prstGeom>
          <a:noFill/>
        </p:spPr>
        <p:txBody>
          <a:bodyPr wrap="none" lIns="0" rIns="0" tIns="0" bIns="0" anchor="ctr">
            <a:spAutoFit/>
          </a:bodyPr>
          <a:lstStyle/>
          <a:p>
            <a:pPr algn="l">
              <a:lnSpc>
                <a:spcPts val="1468"/>
              </a:lnSpc>
              <a:spcBef>
                <a:spcPts val="0"/>
              </a:spcBef>
              <a:spcAft>
                <a:spcPts val="0"/>
              </a:spcAft>
            </a:pPr>
            <a:r>
              <a:rPr sz="1300" b="0">
                <a:solidFill>
                  <a:srgbClr val="63758A"/>
                </a:solidFill>
                <a:latin typeface="DejaVu Sans"/>
              </a:rPr>
              <a:t>Trained</a:t>
            </a:r>
          </a:p>
        </p:txBody>
      </p:sp>
      <p:sp>
        <p:nvSpPr>
          <p:cNvPr id="156" name="path_0154"/>
          <p:cNvSpPr/>
          <p:nvPr/>
        </p:nvSpPr>
        <p:spPr>
          <a:xfrm>
            <a:off x="5934456" y="1453896"/>
            <a:ext cx="0" cy="438912"/>
          </a:xfrm>
          <a:custGeom>
            <a:avLst/>
            <a:gdLst/>
            <a:ahLst/>
            <a:cxnLst/>
            <a:rect l="l" t="t" r="r" b="b"/>
            <a:pathLst>
              <a:path w="0" h="480">
                <a:moveTo>
                  <a:pt x="0" y="0"/>
                </a:moveTo>
                <a:lnTo>
                  <a:pt x="0" y="480"/>
                </a:lnTo>
              </a:path>
            </a:pathLst>
          </a:custGeom>
          <a:noFill/>
          <a:ln w="16510">
            <a:solidFill>
              <a:srgbClr val="7965A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path_0159"/>
          <p:cNvSpPr/>
          <p:nvPr/>
        </p:nvSpPr>
        <p:spPr>
          <a:xfrm>
            <a:off x="7388352" y="1453896"/>
            <a:ext cx="0" cy="438912"/>
          </a:xfrm>
          <a:custGeom>
            <a:avLst/>
            <a:gdLst/>
            <a:ahLst/>
            <a:cxnLst/>
            <a:rect l="l" t="t" r="r" b="b"/>
            <a:pathLst>
              <a:path w="0" h="480">
                <a:moveTo>
                  <a:pt x="0" y="0"/>
                </a:moveTo>
                <a:lnTo>
                  <a:pt x="0" y="480"/>
                </a:lnTo>
              </a:path>
            </a:pathLst>
          </a:custGeom>
          <a:noFill/>
          <a:ln w="16510">
            <a:solidFill>
              <a:srgbClr val="B8656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path_0162"/>
          <p:cNvSpPr/>
          <p:nvPr/>
        </p:nvSpPr>
        <p:spPr>
          <a:xfrm>
            <a:off x="5961888" y="2578608"/>
            <a:ext cx="0" cy="521208"/>
          </a:xfrm>
          <a:custGeom>
            <a:avLst/>
            <a:gdLst/>
            <a:ahLst/>
            <a:cxnLst/>
            <a:rect l="l" t="t" r="r" b="b"/>
            <a:pathLst>
              <a:path w="0" h="570">
                <a:moveTo>
                  <a:pt x="0" y="0"/>
                </a:moveTo>
                <a:lnTo>
                  <a:pt x="0" y="570"/>
                </a:lnTo>
              </a:path>
            </a:pathLst>
          </a:custGeom>
          <a:noFill/>
          <a:ln w="16510">
            <a:solidFill>
              <a:srgbClr val="7965A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path_0163"/>
          <p:cNvSpPr/>
          <p:nvPr/>
        </p:nvSpPr>
        <p:spPr>
          <a:xfrm>
            <a:off x="7388352" y="2578608"/>
            <a:ext cx="0" cy="521208"/>
          </a:xfrm>
          <a:custGeom>
            <a:avLst/>
            <a:gdLst/>
            <a:ahLst/>
            <a:cxnLst/>
            <a:rect l="l" t="t" r="r" b="b"/>
            <a:pathLst>
              <a:path w="0" h="570">
                <a:moveTo>
                  <a:pt x="0" y="0"/>
                </a:moveTo>
                <a:lnTo>
                  <a:pt x="0" y="570"/>
                </a:lnTo>
              </a:path>
            </a:pathLst>
          </a:custGeom>
          <a:noFill/>
          <a:ln w="1651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path_0168"/>
          <p:cNvSpPr/>
          <p:nvPr/>
        </p:nvSpPr>
        <p:spPr>
          <a:xfrm>
            <a:off x="5961888" y="3566160"/>
            <a:ext cx="699516" cy="310896"/>
          </a:xfrm>
          <a:custGeom>
            <a:avLst/>
            <a:gdLst/>
            <a:ahLst/>
            <a:cxnLst/>
            <a:rect l="l" t="t" r="r" b="b"/>
            <a:pathLst>
              <a:path w="765" h="340">
                <a:moveTo>
                  <a:pt x="0" y="0"/>
                </a:moveTo>
                <a:lnTo>
                  <a:pt x="0" y="140"/>
                </a:lnTo>
                <a:lnTo>
                  <a:pt x="765" y="140"/>
                </a:lnTo>
                <a:lnTo>
                  <a:pt x="765" y="340"/>
                </a:lnTo>
              </a:path>
            </a:pathLst>
          </a:custGeom>
          <a:noFill/>
          <a:ln w="1524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path_0169"/>
          <p:cNvSpPr/>
          <p:nvPr/>
        </p:nvSpPr>
        <p:spPr>
          <a:xfrm>
            <a:off x="6661404" y="3566160"/>
            <a:ext cx="726948" cy="128016"/>
          </a:xfrm>
          <a:custGeom>
            <a:avLst/>
            <a:gdLst/>
            <a:ahLst/>
            <a:cxnLst/>
            <a:rect l="l" t="t" r="r" b="b"/>
            <a:pathLst>
              <a:path w="795" h="140">
                <a:moveTo>
                  <a:pt x="795" y="0"/>
                </a:moveTo>
                <a:lnTo>
                  <a:pt x="795" y="140"/>
                </a:lnTo>
                <a:lnTo>
                  <a:pt x="0" y="140"/>
                </a:lnTo>
              </a:path>
            </a:pathLst>
          </a:custGeom>
          <a:noFill/>
          <a:ln w="1524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shared_ELF_v2"/>
          <p:cNvSpPr/>
          <p:nvPr/>
        </p:nvSpPr>
        <p:spPr>
          <a:xfrm>
            <a:off x="5413248" y="3913632"/>
            <a:ext cx="2496312" cy="850392"/>
          </a:xfrm>
          <a:prstGeom prst="roundRect">
            <a:avLst>
              <a:gd name="adj" fmla="val 7526"/>
            </a:avLst>
          </a:prstGeom>
          <a:solidFill>
            <a:srgbClr val="F1F6FA"/>
          </a:solidFill>
          <a:ln w="1905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_0171"/>
          <p:cNvSpPr txBox="1"/>
          <p:nvPr/>
        </p:nvSpPr>
        <p:spPr>
          <a:xfrm>
            <a:off x="5504688" y="4023360"/>
            <a:ext cx="2313432" cy="320040"/>
          </a:xfrm>
          <a:prstGeom prst="rect">
            <a:avLst/>
          </a:prstGeom>
          <a:noFill/>
        </p:spPr>
        <p:txBody>
          <a:bodyPr wrap="none" lIns="0" rIns="0" tIns="0" bIns="0" anchor="ctr">
            <a:spAutoFit/>
          </a:bodyPr>
          <a:lstStyle/>
          <a:p>
            <a:pPr algn="ctr">
              <a:lnSpc>
                <a:spcPts val="2486"/>
              </a:lnSpc>
              <a:spcBef>
                <a:spcPts val="0"/>
              </a:spcBef>
              <a:spcAft>
                <a:spcPts val="0"/>
              </a:spcAft>
            </a:pPr>
            <a:r>
              <a:rPr sz="2200" b="1">
                <a:solidFill>
                  <a:srgbClr val="233344"/>
                </a:solidFill>
                <a:latin typeface="DejaVu Sans"/>
              </a:rPr>
              <a:t>Shared ELF</a:t>
            </a:r>
          </a:p>
        </p:txBody>
      </p:sp>
      <p:sp>
        <p:nvSpPr>
          <p:cNvPr id="174" name="text_0172"/>
          <p:cNvSpPr txBox="1"/>
          <p:nvPr/>
        </p:nvSpPr>
        <p:spPr>
          <a:xfrm>
            <a:off x="5504688" y="4416552"/>
            <a:ext cx="2313432" cy="228600"/>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63758A"/>
                </a:solidFill>
                <a:latin typeface="DejaVu Sans"/>
              </a:rPr>
              <a:t>Bidirectional Transformer</a:t>
            </a:r>
          </a:p>
        </p:txBody>
      </p:sp>
      <p:sp>
        <p:nvSpPr>
          <p:cNvPr id="177" name="path_0175"/>
          <p:cNvSpPr/>
          <p:nvPr/>
        </p:nvSpPr>
        <p:spPr>
          <a:xfrm>
            <a:off x="5925312" y="4791456"/>
            <a:ext cx="736092" cy="365760"/>
          </a:xfrm>
          <a:custGeom>
            <a:avLst/>
            <a:gdLst/>
            <a:ahLst/>
            <a:cxnLst/>
            <a:rect l="l" t="t" r="r" b="b"/>
            <a:pathLst>
              <a:path w="805" h="400">
                <a:moveTo>
                  <a:pt x="805" y="0"/>
                </a:moveTo>
                <a:lnTo>
                  <a:pt x="805" y="210"/>
                </a:lnTo>
                <a:lnTo>
                  <a:pt x="0" y="210"/>
                </a:lnTo>
                <a:lnTo>
                  <a:pt x="0" y="400"/>
                </a:lnTo>
              </a:path>
            </a:pathLst>
          </a:custGeom>
          <a:noFill/>
          <a:ln w="1524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path_0176"/>
          <p:cNvSpPr/>
          <p:nvPr/>
        </p:nvSpPr>
        <p:spPr>
          <a:xfrm>
            <a:off x="6661404" y="4791456"/>
            <a:ext cx="754380" cy="365760"/>
          </a:xfrm>
          <a:custGeom>
            <a:avLst/>
            <a:gdLst/>
            <a:ahLst/>
            <a:cxnLst/>
            <a:rect l="l" t="t" r="r" b="b"/>
            <a:pathLst>
              <a:path w="825" h="400">
                <a:moveTo>
                  <a:pt x="0" y="0"/>
                </a:moveTo>
                <a:lnTo>
                  <a:pt x="0" y="210"/>
                </a:lnTo>
                <a:lnTo>
                  <a:pt x="825" y="210"/>
                </a:lnTo>
                <a:lnTo>
                  <a:pt x="825" y="400"/>
                </a:lnTo>
              </a:path>
            </a:pathLst>
          </a:custGeom>
          <a:noFill/>
          <a:ln w="1524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path_0185"/>
          <p:cNvSpPr/>
          <p:nvPr/>
        </p:nvSpPr>
        <p:spPr>
          <a:xfrm>
            <a:off x="5934456" y="5650992"/>
            <a:ext cx="0" cy="201168"/>
          </a:xfrm>
          <a:custGeom>
            <a:avLst/>
            <a:gdLst/>
            <a:ahLst/>
            <a:cxnLst/>
            <a:rect l="l" t="t" r="r" b="b"/>
            <a:pathLst>
              <a:path w="0" h="220">
                <a:moveTo>
                  <a:pt x="0" y="0"/>
                </a:moveTo>
                <a:lnTo>
                  <a:pt x="0" y="220"/>
                </a:lnTo>
              </a:path>
            </a:pathLst>
          </a:custGeom>
          <a:noFill/>
          <a:ln w="16510">
            <a:solidFill>
              <a:srgbClr val="367AB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path_0186"/>
          <p:cNvSpPr/>
          <p:nvPr/>
        </p:nvSpPr>
        <p:spPr>
          <a:xfrm>
            <a:off x="7406640" y="5650992"/>
            <a:ext cx="0" cy="201168"/>
          </a:xfrm>
          <a:custGeom>
            <a:avLst/>
            <a:gdLst/>
            <a:ahLst/>
            <a:cxnLst/>
            <a:rect l="l" t="t" r="r" b="b"/>
            <a:pathLst>
              <a:path w="0" h="220">
                <a:moveTo>
                  <a:pt x="0" y="0"/>
                </a:moveTo>
                <a:lnTo>
                  <a:pt x="0" y="220"/>
                </a:lnTo>
              </a:path>
            </a:pathLst>
          </a:custGeom>
          <a:noFill/>
          <a:ln w="16510">
            <a:solidFill>
              <a:srgbClr val="2C917F"/>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_0187"/>
          <p:cNvSpPr txBox="1"/>
          <p:nvPr/>
        </p:nvSpPr>
        <p:spPr>
          <a:xfrm>
            <a:off x="5294376" y="5897880"/>
            <a:ext cx="1271016" cy="301752"/>
          </a:xfrm>
          <a:prstGeom prst="rect">
            <a:avLst/>
          </a:prstGeom>
          <a:noFill/>
        </p:spPr>
        <p:txBody>
          <a:bodyPr wrap="none" lIns="0" rIns="0" tIns="0" bIns="0" anchor="ctr">
            <a:spAutoFit/>
          </a:bodyPr>
          <a:lstStyle/>
          <a:p>
            <a:pPr algn="ctr">
              <a:lnSpc>
                <a:spcPts val="1920"/>
              </a:lnSpc>
              <a:spcBef>
                <a:spcPts val="0"/>
              </a:spcBef>
              <a:spcAft>
                <a:spcPts val="0"/>
              </a:spcAft>
            </a:pPr>
            <a:r>
              <a:rPr sz="1700" b="1">
                <a:solidFill>
                  <a:srgbClr val="367AB5"/>
                </a:solidFill>
                <a:latin typeface="DejaVu Sans"/>
              </a:rPr>
              <a:t>Flow MSE</a:t>
            </a:r>
          </a:p>
        </p:txBody>
      </p:sp>
      <p:sp>
        <p:nvSpPr>
          <p:cNvPr id="190" name="text_0188"/>
          <p:cNvSpPr txBox="1"/>
          <p:nvPr/>
        </p:nvSpPr>
        <p:spPr>
          <a:xfrm>
            <a:off x="6766560" y="5897880"/>
            <a:ext cx="1280160" cy="301752"/>
          </a:xfrm>
          <a:prstGeom prst="rect">
            <a:avLst/>
          </a:prstGeom>
          <a:noFill/>
        </p:spPr>
        <p:txBody>
          <a:bodyPr wrap="none" lIns="0" rIns="0" tIns="0" bIns="0" anchor="ctr">
            <a:spAutoFit/>
          </a:bodyPr>
          <a:lstStyle/>
          <a:p>
            <a:pPr algn="ctr">
              <a:lnSpc>
                <a:spcPts val="1920"/>
              </a:lnSpc>
              <a:spcBef>
                <a:spcPts val="0"/>
              </a:spcBef>
              <a:spcAft>
                <a:spcPts val="0"/>
              </a:spcAft>
            </a:pPr>
            <a:r>
              <a:rPr sz="1700" b="1">
                <a:solidFill>
                  <a:srgbClr val="2C917F"/>
                </a:solidFill>
                <a:latin typeface="DejaVu Sans"/>
              </a:rPr>
              <a:t>Token CE</a:t>
            </a:r>
          </a:p>
        </p:txBody>
      </p:sp>
      <p:sp>
        <p:nvSpPr>
          <p:cNvPr id="191" name="rect_0189"/>
          <p:cNvSpPr/>
          <p:nvPr/>
        </p:nvSpPr>
        <p:spPr>
          <a:xfrm>
            <a:off x="5294376" y="6492240"/>
            <a:ext cx="2743200" cy="612648"/>
          </a:xfrm>
          <a:prstGeom prst="roundRect">
            <a:avLst>
              <a:gd name="adj" fmla="val 10447"/>
            </a:avLst>
          </a:prstGeom>
          <a:solidFill>
            <a:srgbClr val="F7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_0190"/>
          <p:cNvSpPr txBox="1"/>
          <p:nvPr/>
        </p:nvSpPr>
        <p:spPr>
          <a:xfrm>
            <a:off x="5330952" y="6519672"/>
            <a:ext cx="2670048" cy="548640"/>
          </a:xfrm>
          <a:prstGeom prst="rect">
            <a:avLst/>
          </a:prstGeom>
          <a:noFill/>
        </p:spPr>
        <p:txBody>
          <a:bodyPr wrap="none" lIns="0" rIns="0" tIns="0" bIns="0" anchor="ctr">
            <a:spAutoFit/>
          </a:bodyPr>
          <a:lstStyle/>
          <a:p>
            <a:pPr algn="ctr">
              <a:lnSpc>
                <a:spcPts val="1412"/>
              </a:lnSpc>
              <a:spcBef>
                <a:spcPts val="0"/>
              </a:spcBef>
              <a:spcAft>
                <a:spcPts val="0"/>
              </a:spcAft>
            </a:pPr>
            <a:r>
              <a:rPr sz="1250" b="0">
                <a:solidFill>
                  <a:srgbClr val="7965AA"/>
                </a:solidFill>
                <a:latin typeface="DejaVu Sans"/>
              </a:rPr>
              <a:t>Teacher prompts → MSE</a:t>
            </a:r>
          </a:p>
          <a:p>
            <a:pPr algn="ctr">
              <a:lnSpc>
                <a:spcPts val="1412"/>
              </a:lnSpc>
              <a:spcBef>
                <a:spcPts val="0"/>
              </a:spcBef>
              <a:spcAft>
                <a:spcPts val="0"/>
              </a:spcAft>
            </a:pPr>
            <a:r>
              <a:rPr sz="1250" b="0">
                <a:solidFill>
                  <a:srgbClr val="7965AA"/>
                </a:solidFill>
                <a:latin typeface="DejaVu Sans"/>
              </a:rPr>
              <a:t>warm start → joint training</a:t>
            </a:r>
          </a:p>
        </p:txBody>
      </p:sp>
      <p:sp>
        <p:nvSpPr>
          <p:cNvPr id="198" name="text_0196"/>
          <p:cNvSpPr txBox="1"/>
          <p:nvPr/>
        </p:nvSpPr>
        <p:spPr>
          <a:xfrm>
            <a:off x="8823960" y="1517904"/>
            <a:ext cx="3072384" cy="292608"/>
          </a:xfrm>
          <a:prstGeom prst="rect">
            <a:avLst/>
          </a:prstGeom>
          <a:noFill/>
        </p:spPr>
        <p:txBody>
          <a:bodyPr wrap="none" lIns="0" rIns="0" tIns="0" bIns="0" anchor="ctr">
            <a:spAutoFit/>
          </a:bodyPr>
          <a:lstStyle/>
          <a:p>
            <a:pPr algn="ctr">
              <a:lnSpc>
                <a:spcPts val="1807"/>
              </a:lnSpc>
              <a:spcBef>
                <a:spcPts val="0"/>
              </a:spcBef>
              <a:spcAft>
                <a:spcPts val="0"/>
              </a:spcAft>
            </a:pPr>
            <a:r>
              <a:rPr sz="1600" b="1">
                <a:solidFill>
                  <a:srgbClr val="233344"/>
                </a:solidFill>
                <a:latin typeface="DejaVu Sans"/>
              </a:rPr>
              <a:t>Local clocks: tℓ = fℓ(τ)</a:t>
            </a:r>
          </a:p>
        </p:txBody>
      </p:sp>
      <p:sp>
        <p:nvSpPr>
          <p:cNvPr id="199" name="path_0197"/>
          <p:cNvSpPr/>
          <p:nvPr/>
        </p:nvSpPr>
        <p:spPr>
          <a:xfrm>
            <a:off x="9813341" y="1856232"/>
            <a:ext cx="0" cy="1243584"/>
          </a:xfrm>
          <a:custGeom>
            <a:avLst/>
            <a:gdLst/>
            <a:ahLst/>
            <a:cxnLst/>
            <a:rect l="l" t="t" r="r" b="b"/>
            <a:pathLst>
              <a:path w="0" h="1360">
                <a:moveTo>
                  <a:pt x="0" y="0"/>
                </a:moveTo>
                <a:lnTo>
                  <a:pt x="0" y="1360"/>
                </a:lnTo>
              </a:path>
            </a:pathLst>
          </a:custGeom>
          <a:noFill/>
          <a:ln w="1016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path_0198"/>
          <p:cNvSpPr/>
          <p:nvPr/>
        </p:nvSpPr>
        <p:spPr>
          <a:xfrm>
            <a:off x="9134856" y="2788920"/>
            <a:ext cx="2715768" cy="0"/>
          </a:xfrm>
          <a:custGeom>
            <a:avLst/>
            <a:gdLst/>
            <a:ahLst/>
            <a:cxnLst/>
            <a:rect l="l" t="t" r="r" b="b"/>
            <a:pathLst>
              <a:path w="2970" h="0">
                <a:moveTo>
                  <a:pt x="0" y="0"/>
                </a:moveTo>
                <a:lnTo>
                  <a:pt x="2970" y="0"/>
                </a:lnTo>
              </a:path>
            </a:pathLst>
          </a:custGeom>
          <a:noFill/>
          <a:ln w="1016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path_0199"/>
          <p:cNvSpPr/>
          <p:nvPr/>
        </p:nvSpPr>
        <p:spPr>
          <a:xfrm>
            <a:off x="10492740" y="1856232"/>
            <a:ext cx="0" cy="1243584"/>
          </a:xfrm>
          <a:custGeom>
            <a:avLst/>
            <a:gdLst/>
            <a:ahLst/>
            <a:cxnLst/>
            <a:rect l="l" t="t" r="r" b="b"/>
            <a:pathLst>
              <a:path w="0" h="1360">
                <a:moveTo>
                  <a:pt x="0" y="0"/>
                </a:moveTo>
                <a:lnTo>
                  <a:pt x="0" y="1360"/>
                </a:lnTo>
              </a:path>
            </a:pathLst>
          </a:custGeom>
          <a:noFill/>
          <a:ln w="1016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path_0200"/>
          <p:cNvSpPr/>
          <p:nvPr/>
        </p:nvSpPr>
        <p:spPr>
          <a:xfrm>
            <a:off x="9134856" y="2478024"/>
            <a:ext cx="2715768" cy="0"/>
          </a:xfrm>
          <a:custGeom>
            <a:avLst/>
            <a:gdLst/>
            <a:ahLst/>
            <a:cxnLst/>
            <a:rect l="l" t="t" r="r" b="b"/>
            <a:pathLst>
              <a:path w="2970" h="0">
                <a:moveTo>
                  <a:pt x="0" y="0"/>
                </a:moveTo>
                <a:lnTo>
                  <a:pt x="2970" y="0"/>
                </a:lnTo>
              </a:path>
            </a:pathLst>
          </a:custGeom>
          <a:noFill/>
          <a:ln w="1016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path_0201"/>
          <p:cNvSpPr/>
          <p:nvPr/>
        </p:nvSpPr>
        <p:spPr>
          <a:xfrm>
            <a:off x="11172139" y="1856232"/>
            <a:ext cx="0" cy="1243584"/>
          </a:xfrm>
          <a:custGeom>
            <a:avLst/>
            <a:gdLst/>
            <a:ahLst/>
            <a:cxnLst/>
            <a:rect l="l" t="t" r="r" b="b"/>
            <a:pathLst>
              <a:path w="0" h="1360">
                <a:moveTo>
                  <a:pt x="0" y="0"/>
                </a:moveTo>
                <a:lnTo>
                  <a:pt x="0" y="1360"/>
                </a:lnTo>
              </a:path>
            </a:pathLst>
          </a:custGeom>
          <a:noFill/>
          <a:ln w="1016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path_0202"/>
          <p:cNvSpPr/>
          <p:nvPr/>
        </p:nvSpPr>
        <p:spPr>
          <a:xfrm>
            <a:off x="9134856" y="2167128"/>
            <a:ext cx="2715768" cy="0"/>
          </a:xfrm>
          <a:custGeom>
            <a:avLst/>
            <a:gdLst/>
            <a:ahLst/>
            <a:cxnLst/>
            <a:rect l="l" t="t" r="r" b="b"/>
            <a:pathLst>
              <a:path w="2970" h="0">
                <a:moveTo>
                  <a:pt x="0" y="0"/>
                </a:moveTo>
                <a:lnTo>
                  <a:pt x="2970" y="0"/>
                </a:lnTo>
              </a:path>
            </a:pathLst>
          </a:custGeom>
          <a:noFill/>
          <a:ln w="1016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path_0203"/>
          <p:cNvSpPr/>
          <p:nvPr/>
        </p:nvSpPr>
        <p:spPr>
          <a:xfrm>
            <a:off x="11850624" y="1856232"/>
            <a:ext cx="0" cy="1243584"/>
          </a:xfrm>
          <a:custGeom>
            <a:avLst/>
            <a:gdLst/>
            <a:ahLst/>
            <a:cxnLst/>
            <a:rect l="l" t="t" r="r" b="b"/>
            <a:pathLst>
              <a:path w="0" h="1360">
                <a:moveTo>
                  <a:pt x="0" y="0"/>
                </a:moveTo>
                <a:lnTo>
                  <a:pt x="0" y="1360"/>
                </a:lnTo>
              </a:path>
            </a:pathLst>
          </a:custGeom>
          <a:noFill/>
          <a:ln w="1016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path_0204"/>
          <p:cNvSpPr/>
          <p:nvPr/>
        </p:nvSpPr>
        <p:spPr>
          <a:xfrm>
            <a:off x="9134856" y="1856232"/>
            <a:ext cx="2715768" cy="0"/>
          </a:xfrm>
          <a:custGeom>
            <a:avLst/>
            <a:gdLst/>
            <a:ahLst/>
            <a:cxnLst/>
            <a:rect l="l" t="t" r="r" b="b"/>
            <a:pathLst>
              <a:path w="2970" h="0">
                <a:moveTo>
                  <a:pt x="0" y="0"/>
                </a:moveTo>
                <a:lnTo>
                  <a:pt x="2970" y="0"/>
                </a:lnTo>
              </a:path>
            </a:pathLst>
          </a:custGeom>
          <a:noFill/>
          <a:ln w="1016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path_0205"/>
          <p:cNvSpPr/>
          <p:nvPr/>
        </p:nvSpPr>
        <p:spPr>
          <a:xfrm>
            <a:off x="9134856" y="3099816"/>
            <a:ext cx="2715768" cy="0"/>
          </a:xfrm>
          <a:custGeom>
            <a:avLst/>
            <a:gdLst/>
            <a:ahLst/>
            <a:cxnLst/>
            <a:rect l="l" t="t" r="r" b="b"/>
            <a:pathLst>
              <a:path w="2970" h="0">
                <a:moveTo>
                  <a:pt x="0" y="0"/>
                </a:moveTo>
                <a:lnTo>
                  <a:pt x="2970" y="0"/>
                </a:lnTo>
              </a:path>
            </a:pathLst>
          </a:custGeom>
          <a:noFill/>
          <a:ln w="1270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path_0206"/>
          <p:cNvSpPr/>
          <p:nvPr/>
        </p:nvSpPr>
        <p:spPr>
          <a:xfrm>
            <a:off x="9134856" y="1856232"/>
            <a:ext cx="0" cy="1243584"/>
          </a:xfrm>
          <a:custGeom>
            <a:avLst/>
            <a:gdLst/>
            <a:ahLst/>
            <a:cxnLst/>
            <a:rect l="l" t="t" r="r" b="b"/>
            <a:pathLst>
              <a:path w="0" h="1360">
                <a:moveTo>
                  <a:pt x="0" y="1360"/>
                </a:moveTo>
                <a:lnTo>
                  <a:pt x="0" y="0"/>
                </a:lnTo>
              </a:path>
            </a:pathLst>
          </a:custGeom>
          <a:noFill/>
          <a:ln w="1270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path_0207"/>
          <p:cNvSpPr/>
          <p:nvPr/>
        </p:nvSpPr>
        <p:spPr>
          <a:xfrm>
            <a:off x="9134856" y="1856232"/>
            <a:ext cx="2715768" cy="1243584"/>
          </a:xfrm>
          <a:custGeom>
            <a:avLst/>
            <a:gdLst/>
            <a:ahLst/>
            <a:cxnLst/>
            <a:rect l="l" t="t" r="r" b="b"/>
            <a:pathLst>
              <a:path w="2970" h="1360">
                <a:moveTo>
                  <a:pt x="0" y="1360"/>
                </a:moveTo>
                <a:lnTo>
                  <a:pt x="2970" y="0"/>
                </a:lnTo>
              </a:path>
            </a:pathLst>
          </a:custGeom>
          <a:noFill/>
          <a:ln w="11430">
            <a:solidFill>
              <a:srgbClr val="B7C3CF"/>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actual_clock_L16_gamma2.5"/>
          <p:cNvSpPr/>
          <p:nvPr/>
        </p:nvSpPr>
        <p:spPr>
          <a:xfrm>
            <a:off x="9134856" y="1856232"/>
            <a:ext cx="2715768" cy="1243584"/>
          </a:xfrm>
          <a:custGeom>
            <a:avLst/>
            <a:gdLst/>
            <a:ahLst/>
            <a:cxnLst/>
            <a:rect l="l" t="t" r="r" b="b"/>
            <a:pathLst>
              <a:path w="2970" h="1360">
                <a:moveTo>
                  <a:pt x="0" y="1360"/>
                </a:moveTo>
                <a:lnTo>
                  <a:pt x="74" y="1360"/>
                </a:lnTo>
                <a:lnTo>
                  <a:pt x="148" y="1359"/>
                </a:lnTo>
                <a:lnTo>
                  <a:pt x="223" y="1358"/>
                </a:lnTo>
                <a:lnTo>
                  <a:pt x="297" y="1356"/>
                </a:lnTo>
                <a:lnTo>
                  <a:pt x="371" y="1352"/>
                </a:lnTo>
                <a:lnTo>
                  <a:pt x="446" y="1348"/>
                </a:lnTo>
                <a:lnTo>
                  <a:pt x="520" y="1343"/>
                </a:lnTo>
                <a:lnTo>
                  <a:pt x="594" y="1336"/>
                </a:lnTo>
                <a:lnTo>
                  <a:pt x="668" y="1327"/>
                </a:lnTo>
                <a:lnTo>
                  <a:pt x="742" y="1318"/>
                </a:lnTo>
                <a:lnTo>
                  <a:pt x="817" y="1306"/>
                </a:lnTo>
                <a:lnTo>
                  <a:pt x="891" y="1293"/>
                </a:lnTo>
                <a:lnTo>
                  <a:pt x="965" y="1278"/>
                </a:lnTo>
                <a:lnTo>
                  <a:pt x="1040" y="1261"/>
                </a:lnTo>
                <a:lnTo>
                  <a:pt x="1114" y="1243"/>
                </a:lnTo>
                <a:lnTo>
                  <a:pt x="1188" y="1222"/>
                </a:lnTo>
                <a:lnTo>
                  <a:pt x="1262" y="1200"/>
                </a:lnTo>
                <a:lnTo>
                  <a:pt x="1336" y="1175"/>
                </a:lnTo>
                <a:lnTo>
                  <a:pt x="1411" y="1149"/>
                </a:lnTo>
                <a:lnTo>
                  <a:pt x="1485" y="1120"/>
                </a:lnTo>
                <a:lnTo>
                  <a:pt x="1559" y="1088"/>
                </a:lnTo>
                <a:lnTo>
                  <a:pt x="1634" y="1055"/>
                </a:lnTo>
                <a:lnTo>
                  <a:pt x="1708" y="1019"/>
                </a:lnTo>
                <a:lnTo>
                  <a:pt x="1782" y="981"/>
                </a:lnTo>
                <a:lnTo>
                  <a:pt x="1856" y="940"/>
                </a:lnTo>
                <a:lnTo>
                  <a:pt x="1930" y="897"/>
                </a:lnTo>
                <a:lnTo>
                  <a:pt x="2005" y="851"/>
                </a:lnTo>
                <a:lnTo>
                  <a:pt x="2079" y="802"/>
                </a:lnTo>
                <a:lnTo>
                  <a:pt x="2153" y="751"/>
                </a:lnTo>
                <a:lnTo>
                  <a:pt x="2228" y="697"/>
                </a:lnTo>
                <a:lnTo>
                  <a:pt x="2302" y="641"/>
                </a:lnTo>
                <a:lnTo>
                  <a:pt x="2376" y="581"/>
                </a:lnTo>
                <a:lnTo>
                  <a:pt x="2450" y="519"/>
                </a:lnTo>
                <a:lnTo>
                  <a:pt x="2524" y="454"/>
                </a:lnTo>
                <a:lnTo>
                  <a:pt x="2599" y="386"/>
                </a:lnTo>
                <a:lnTo>
                  <a:pt x="2673" y="315"/>
                </a:lnTo>
                <a:lnTo>
                  <a:pt x="2747" y="241"/>
                </a:lnTo>
                <a:lnTo>
                  <a:pt x="2822" y="164"/>
                </a:lnTo>
                <a:lnTo>
                  <a:pt x="2896" y="83"/>
                </a:lnTo>
                <a:lnTo>
                  <a:pt x="2970" y="0"/>
                </a:lnTo>
              </a:path>
            </a:pathLst>
          </a:custGeom>
          <a:noFill/>
          <a:ln w="254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actual_clock_L24_gamma2"/>
          <p:cNvSpPr/>
          <p:nvPr/>
        </p:nvSpPr>
        <p:spPr>
          <a:xfrm>
            <a:off x="9134856" y="1856232"/>
            <a:ext cx="2715768" cy="1243584"/>
          </a:xfrm>
          <a:custGeom>
            <a:avLst/>
            <a:gdLst/>
            <a:ahLst/>
            <a:cxnLst/>
            <a:rect l="l" t="t" r="r" b="b"/>
            <a:pathLst>
              <a:path w="2970" h="1360">
                <a:moveTo>
                  <a:pt x="0" y="1360"/>
                </a:moveTo>
                <a:lnTo>
                  <a:pt x="74" y="1359"/>
                </a:lnTo>
                <a:lnTo>
                  <a:pt x="148" y="1357"/>
                </a:lnTo>
                <a:lnTo>
                  <a:pt x="223" y="1352"/>
                </a:lnTo>
                <a:lnTo>
                  <a:pt x="297" y="1346"/>
                </a:lnTo>
                <a:lnTo>
                  <a:pt x="371" y="1339"/>
                </a:lnTo>
                <a:lnTo>
                  <a:pt x="446" y="1329"/>
                </a:lnTo>
                <a:lnTo>
                  <a:pt x="520" y="1318"/>
                </a:lnTo>
                <a:lnTo>
                  <a:pt x="594" y="1306"/>
                </a:lnTo>
                <a:lnTo>
                  <a:pt x="668" y="1291"/>
                </a:lnTo>
                <a:lnTo>
                  <a:pt x="742" y="1275"/>
                </a:lnTo>
                <a:lnTo>
                  <a:pt x="817" y="1257"/>
                </a:lnTo>
                <a:lnTo>
                  <a:pt x="891" y="1238"/>
                </a:lnTo>
                <a:lnTo>
                  <a:pt x="965" y="1216"/>
                </a:lnTo>
                <a:lnTo>
                  <a:pt x="1040" y="1193"/>
                </a:lnTo>
                <a:lnTo>
                  <a:pt x="1114" y="1169"/>
                </a:lnTo>
                <a:lnTo>
                  <a:pt x="1188" y="1142"/>
                </a:lnTo>
                <a:lnTo>
                  <a:pt x="1262" y="1114"/>
                </a:lnTo>
                <a:lnTo>
                  <a:pt x="1336" y="1085"/>
                </a:lnTo>
                <a:lnTo>
                  <a:pt x="1411" y="1053"/>
                </a:lnTo>
                <a:lnTo>
                  <a:pt x="1485" y="1020"/>
                </a:lnTo>
                <a:lnTo>
                  <a:pt x="1559" y="985"/>
                </a:lnTo>
                <a:lnTo>
                  <a:pt x="1634" y="949"/>
                </a:lnTo>
                <a:lnTo>
                  <a:pt x="1708" y="910"/>
                </a:lnTo>
                <a:lnTo>
                  <a:pt x="1782" y="870"/>
                </a:lnTo>
                <a:lnTo>
                  <a:pt x="1856" y="829"/>
                </a:lnTo>
                <a:lnTo>
                  <a:pt x="1930" y="785"/>
                </a:lnTo>
                <a:lnTo>
                  <a:pt x="2005" y="740"/>
                </a:lnTo>
                <a:lnTo>
                  <a:pt x="2079" y="694"/>
                </a:lnTo>
                <a:lnTo>
                  <a:pt x="2153" y="645"/>
                </a:lnTo>
                <a:lnTo>
                  <a:pt x="2228" y="595"/>
                </a:lnTo>
                <a:lnTo>
                  <a:pt x="2302" y="543"/>
                </a:lnTo>
                <a:lnTo>
                  <a:pt x="2376" y="490"/>
                </a:lnTo>
                <a:lnTo>
                  <a:pt x="2450" y="434"/>
                </a:lnTo>
                <a:lnTo>
                  <a:pt x="2524" y="377"/>
                </a:lnTo>
                <a:lnTo>
                  <a:pt x="2599" y="319"/>
                </a:lnTo>
                <a:lnTo>
                  <a:pt x="2673" y="258"/>
                </a:lnTo>
                <a:lnTo>
                  <a:pt x="2747" y="196"/>
                </a:lnTo>
                <a:lnTo>
                  <a:pt x="2822" y="133"/>
                </a:lnTo>
                <a:lnTo>
                  <a:pt x="2896" y="67"/>
                </a:lnTo>
                <a:lnTo>
                  <a:pt x="2970" y="0"/>
                </a:lnTo>
              </a:path>
            </a:pathLst>
          </a:custGeom>
          <a:noFill/>
          <a:ln w="25400">
            <a:solidFill>
              <a:srgbClr val="C88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actual_clock_L32_gamma1.5"/>
          <p:cNvSpPr/>
          <p:nvPr/>
        </p:nvSpPr>
        <p:spPr>
          <a:xfrm>
            <a:off x="9134856" y="1856232"/>
            <a:ext cx="2715768" cy="1243584"/>
          </a:xfrm>
          <a:custGeom>
            <a:avLst/>
            <a:gdLst/>
            <a:ahLst/>
            <a:cxnLst/>
            <a:rect l="l" t="t" r="r" b="b"/>
            <a:pathLst>
              <a:path w="2970" h="1360">
                <a:moveTo>
                  <a:pt x="0" y="1360"/>
                </a:moveTo>
                <a:lnTo>
                  <a:pt x="74" y="1355"/>
                </a:lnTo>
                <a:lnTo>
                  <a:pt x="148" y="1345"/>
                </a:lnTo>
                <a:lnTo>
                  <a:pt x="223" y="1332"/>
                </a:lnTo>
                <a:lnTo>
                  <a:pt x="297" y="1317"/>
                </a:lnTo>
                <a:lnTo>
                  <a:pt x="371" y="1300"/>
                </a:lnTo>
                <a:lnTo>
                  <a:pt x="446" y="1281"/>
                </a:lnTo>
                <a:lnTo>
                  <a:pt x="520" y="1260"/>
                </a:lnTo>
                <a:lnTo>
                  <a:pt x="594" y="1238"/>
                </a:lnTo>
                <a:lnTo>
                  <a:pt x="668" y="1215"/>
                </a:lnTo>
                <a:lnTo>
                  <a:pt x="742" y="1190"/>
                </a:lnTo>
                <a:lnTo>
                  <a:pt x="817" y="1164"/>
                </a:lnTo>
                <a:lnTo>
                  <a:pt x="891" y="1137"/>
                </a:lnTo>
                <a:lnTo>
                  <a:pt x="965" y="1108"/>
                </a:lnTo>
                <a:lnTo>
                  <a:pt x="1040" y="1078"/>
                </a:lnTo>
                <a:lnTo>
                  <a:pt x="1114" y="1048"/>
                </a:lnTo>
                <a:lnTo>
                  <a:pt x="1188" y="1016"/>
                </a:lnTo>
                <a:lnTo>
                  <a:pt x="1262" y="983"/>
                </a:lnTo>
                <a:lnTo>
                  <a:pt x="1336" y="949"/>
                </a:lnTo>
                <a:lnTo>
                  <a:pt x="1411" y="915"/>
                </a:lnTo>
                <a:lnTo>
                  <a:pt x="1485" y="879"/>
                </a:lnTo>
                <a:lnTo>
                  <a:pt x="1559" y="843"/>
                </a:lnTo>
                <a:lnTo>
                  <a:pt x="1634" y="805"/>
                </a:lnTo>
                <a:lnTo>
                  <a:pt x="1708" y="767"/>
                </a:lnTo>
                <a:lnTo>
                  <a:pt x="1782" y="728"/>
                </a:lnTo>
                <a:lnTo>
                  <a:pt x="1856" y="688"/>
                </a:lnTo>
                <a:lnTo>
                  <a:pt x="1930" y="647"/>
                </a:lnTo>
                <a:lnTo>
                  <a:pt x="2005" y="606"/>
                </a:lnTo>
                <a:lnTo>
                  <a:pt x="2079" y="563"/>
                </a:lnTo>
                <a:lnTo>
                  <a:pt x="2153" y="520"/>
                </a:lnTo>
                <a:lnTo>
                  <a:pt x="2228" y="477"/>
                </a:lnTo>
                <a:lnTo>
                  <a:pt x="2302" y="432"/>
                </a:lnTo>
                <a:lnTo>
                  <a:pt x="2376" y="387"/>
                </a:lnTo>
                <a:lnTo>
                  <a:pt x="2450" y="341"/>
                </a:lnTo>
                <a:lnTo>
                  <a:pt x="2524" y="294"/>
                </a:lnTo>
                <a:lnTo>
                  <a:pt x="2599" y="247"/>
                </a:lnTo>
                <a:lnTo>
                  <a:pt x="2673" y="199"/>
                </a:lnTo>
                <a:lnTo>
                  <a:pt x="2747" y="150"/>
                </a:lnTo>
                <a:lnTo>
                  <a:pt x="2822" y="101"/>
                </a:lnTo>
                <a:lnTo>
                  <a:pt x="2896" y="51"/>
                </a:lnTo>
                <a:lnTo>
                  <a:pt x="2970" y="0"/>
                </a:lnTo>
              </a:path>
            </a:pathLst>
          </a:custGeom>
          <a:noFill/>
          <a:ln w="254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_0211"/>
          <p:cNvSpPr txBox="1"/>
          <p:nvPr/>
        </p:nvSpPr>
        <p:spPr>
          <a:xfrm>
            <a:off x="8869680" y="2990087"/>
            <a:ext cx="210312"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63758A"/>
                </a:solidFill>
                <a:latin typeface="DejaVu Sans"/>
              </a:rPr>
              <a:t>0</a:t>
            </a:r>
          </a:p>
        </p:txBody>
      </p:sp>
      <p:sp>
        <p:nvSpPr>
          <p:cNvPr id="214" name="text_0212"/>
          <p:cNvSpPr txBox="1"/>
          <p:nvPr/>
        </p:nvSpPr>
        <p:spPr>
          <a:xfrm>
            <a:off x="8869680" y="1746503"/>
            <a:ext cx="210312"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63758A"/>
                </a:solidFill>
                <a:latin typeface="DejaVu Sans"/>
              </a:rPr>
              <a:t>1</a:t>
            </a:r>
          </a:p>
        </p:txBody>
      </p:sp>
      <p:sp>
        <p:nvSpPr>
          <p:cNvPr id="215" name="text_0213"/>
          <p:cNvSpPr txBox="1"/>
          <p:nvPr/>
        </p:nvSpPr>
        <p:spPr>
          <a:xfrm>
            <a:off x="11759184" y="3136391"/>
            <a:ext cx="201168"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63758A"/>
                </a:solidFill>
                <a:latin typeface="DejaVu Sans"/>
              </a:rPr>
              <a:t>1</a:t>
            </a:r>
          </a:p>
        </p:txBody>
      </p:sp>
      <p:sp>
        <p:nvSpPr>
          <p:cNvPr id="216" name="text_0214"/>
          <p:cNvSpPr txBox="1"/>
          <p:nvPr/>
        </p:nvSpPr>
        <p:spPr>
          <a:xfrm>
            <a:off x="8458200" y="2176272"/>
            <a:ext cx="484632" cy="530352"/>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63758A"/>
                </a:solidFill>
                <a:latin typeface="DejaVu Sans"/>
              </a:rPr>
              <a:t>local</a:t>
            </a:r>
          </a:p>
          <a:p>
            <a:pPr algn="ctr">
              <a:lnSpc>
                <a:spcPts val="1355"/>
              </a:lnSpc>
              <a:spcBef>
                <a:spcPts val="0"/>
              </a:spcBef>
              <a:spcAft>
                <a:spcPts val="0"/>
              </a:spcAft>
            </a:pPr>
            <a:r>
              <a:rPr sz="1200" b="0">
                <a:solidFill>
                  <a:srgbClr val="63758A"/>
                </a:solidFill>
                <a:latin typeface="DejaVu Sans"/>
              </a:rPr>
              <a:t>time</a:t>
            </a:r>
          </a:p>
          <a:p>
            <a:pPr algn="ctr">
              <a:lnSpc>
                <a:spcPts val="1355"/>
              </a:lnSpc>
              <a:spcBef>
                <a:spcPts val="0"/>
              </a:spcBef>
              <a:spcAft>
                <a:spcPts val="0"/>
              </a:spcAft>
            </a:pPr>
            <a:r>
              <a:rPr sz="1200" b="0">
                <a:solidFill>
                  <a:srgbClr val="63758A"/>
                </a:solidFill>
                <a:latin typeface="DejaVu Sans"/>
              </a:rPr>
              <a:t>tℓ</a:t>
            </a:r>
          </a:p>
        </p:txBody>
      </p:sp>
      <p:sp>
        <p:nvSpPr>
          <p:cNvPr id="217" name="text_0215"/>
          <p:cNvSpPr txBox="1"/>
          <p:nvPr/>
        </p:nvSpPr>
        <p:spPr>
          <a:xfrm>
            <a:off x="9738360" y="3163824"/>
            <a:ext cx="1554480" cy="246888"/>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63758A"/>
                </a:solidFill>
                <a:latin typeface="DejaVu Sans"/>
              </a:rPr>
              <a:t>global time τ</a:t>
            </a:r>
          </a:p>
        </p:txBody>
      </p:sp>
      <p:sp>
        <p:nvSpPr>
          <p:cNvPr id="218" name="path_0216"/>
          <p:cNvSpPr/>
          <p:nvPr/>
        </p:nvSpPr>
        <p:spPr>
          <a:xfrm>
            <a:off x="8659368" y="3575304"/>
            <a:ext cx="210312" cy="0"/>
          </a:xfrm>
          <a:custGeom>
            <a:avLst/>
            <a:gdLst/>
            <a:ahLst/>
            <a:cxnLst/>
            <a:rect l="l" t="t" r="r" b="b"/>
            <a:pathLst>
              <a:path w="230" h="0">
                <a:moveTo>
                  <a:pt x="0" y="0"/>
                </a:moveTo>
                <a:lnTo>
                  <a:pt x="230" y="0"/>
                </a:lnTo>
              </a:path>
            </a:pathLst>
          </a:custGeom>
          <a:noFill/>
          <a:ln w="254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_0217"/>
          <p:cNvSpPr txBox="1"/>
          <p:nvPr/>
        </p:nvSpPr>
        <p:spPr>
          <a:xfrm>
            <a:off x="8897112" y="3456432"/>
            <a:ext cx="905256" cy="246888"/>
          </a:xfrm>
          <a:prstGeom prst="rect">
            <a:avLst/>
          </a:prstGeom>
          <a:noFill/>
        </p:spPr>
        <p:txBody>
          <a:bodyPr wrap="none" lIns="0" rIns="0" tIns="0" bIns="0" anchor="ctr">
            <a:spAutoFit/>
          </a:bodyPr>
          <a:lstStyle/>
          <a:p>
            <a:pPr algn="ctr">
              <a:lnSpc>
                <a:spcPts val="1355"/>
              </a:lnSpc>
              <a:spcBef>
                <a:spcPts val="0"/>
              </a:spcBef>
              <a:spcAft>
                <a:spcPts val="0"/>
              </a:spcAft>
            </a:pPr>
            <a:r>
              <a:rPr sz="1200" b="1">
                <a:solidFill>
                  <a:srgbClr val="367AB5"/>
                </a:solidFill>
                <a:latin typeface="DejaVu Sans"/>
              </a:rPr>
              <a:t>γ₁₆=2.5</a:t>
            </a:r>
          </a:p>
        </p:txBody>
      </p:sp>
      <p:sp>
        <p:nvSpPr>
          <p:cNvPr id="220" name="path_0218"/>
          <p:cNvSpPr/>
          <p:nvPr/>
        </p:nvSpPr>
        <p:spPr>
          <a:xfrm>
            <a:off x="9939528" y="3575304"/>
            <a:ext cx="210312" cy="0"/>
          </a:xfrm>
          <a:custGeom>
            <a:avLst/>
            <a:gdLst/>
            <a:ahLst/>
            <a:cxnLst/>
            <a:rect l="l" t="t" r="r" b="b"/>
            <a:pathLst>
              <a:path w="230" h="0">
                <a:moveTo>
                  <a:pt x="0" y="0"/>
                </a:moveTo>
                <a:lnTo>
                  <a:pt x="230" y="0"/>
                </a:lnTo>
              </a:path>
            </a:pathLst>
          </a:custGeom>
          <a:noFill/>
          <a:ln w="25400">
            <a:solidFill>
              <a:srgbClr val="C88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text_0219"/>
          <p:cNvSpPr txBox="1"/>
          <p:nvPr/>
        </p:nvSpPr>
        <p:spPr>
          <a:xfrm>
            <a:off x="10177272" y="3456432"/>
            <a:ext cx="905256" cy="246888"/>
          </a:xfrm>
          <a:prstGeom prst="rect">
            <a:avLst/>
          </a:prstGeom>
          <a:noFill/>
        </p:spPr>
        <p:txBody>
          <a:bodyPr wrap="none" lIns="0" rIns="0" tIns="0" bIns="0" anchor="ctr">
            <a:spAutoFit/>
          </a:bodyPr>
          <a:lstStyle/>
          <a:p>
            <a:pPr algn="ctr">
              <a:lnSpc>
                <a:spcPts val="1355"/>
              </a:lnSpc>
              <a:spcBef>
                <a:spcPts val="0"/>
              </a:spcBef>
              <a:spcAft>
                <a:spcPts val="0"/>
              </a:spcAft>
            </a:pPr>
            <a:r>
              <a:rPr sz="1200" b="1">
                <a:solidFill>
                  <a:srgbClr val="C88A35"/>
                </a:solidFill>
                <a:latin typeface="DejaVu Sans"/>
              </a:rPr>
              <a:t>γ₂₄=2</a:t>
            </a:r>
          </a:p>
        </p:txBody>
      </p:sp>
      <p:sp>
        <p:nvSpPr>
          <p:cNvPr id="222" name="path_0220"/>
          <p:cNvSpPr/>
          <p:nvPr/>
        </p:nvSpPr>
        <p:spPr>
          <a:xfrm>
            <a:off x="11100816" y="3575304"/>
            <a:ext cx="210312" cy="0"/>
          </a:xfrm>
          <a:custGeom>
            <a:avLst/>
            <a:gdLst/>
            <a:ahLst/>
            <a:cxnLst/>
            <a:rect l="l" t="t" r="r" b="b"/>
            <a:pathLst>
              <a:path w="230" h="0">
                <a:moveTo>
                  <a:pt x="0" y="0"/>
                </a:moveTo>
                <a:lnTo>
                  <a:pt x="230" y="0"/>
                </a:lnTo>
              </a:path>
            </a:pathLst>
          </a:custGeom>
          <a:noFill/>
          <a:ln w="254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_0221"/>
          <p:cNvSpPr txBox="1"/>
          <p:nvPr/>
        </p:nvSpPr>
        <p:spPr>
          <a:xfrm>
            <a:off x="11338560" y="3456432"/>
            <a:ext cx="905256" cy="246888"/>
          </a:xfrm>
          <a:prstGeom prst="rect">
            <a:avLst/>
          </a:prstGeom>
          <a:noFill/>
        </p:spPr>
        <p:txBody>
          <a:bodyPr wrap="none" lIns="0" rIns="0" tIns="0" bIns="0" anchor="ctr">
            <a:spAutoFit/>
          </a:bodyPr>
          <a:lstStyle/>
          <a:p>
            <a:pPr algn="ctr">
              <a:lnSpc>
                <a:spcPts val="1355"/>
              </a:lnSpc>
              <a:spcBef>
                <a:spcPts val="0"/>
              </a:spcBef>
              <a:spcAft>
                <a:spcPts val="0"/>
              </a:spcAft>
            </a:pPr>
            <a:r>
              <a:rPr sz="1200" b="1">
                <a:solidFill>
                  <a:srgbClr val="2C917F"/>
                </a:solidFill>
                <a:latin typeface="DejaVu Sans"/>
              </a:rPr>
              <a:t>γ₃₂=1.5</a:t>
            </a:r>
          </a:p>
        </p:txBody>
      </p:sp>
      <p:sp>
        <p:nvSpPr>
          <p:cNvPr id="224" name="text_0222"/>
          <p:cNvSpPr txBox="1"/>
          <p:nvPr/>
        </p:nvSpPr>
        <p:spPr>
          <a:xfrm>
            <a:off x="9006840" y="3813048"/>
            <a:ext cx="667512" cy="228600"/>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63758A"/>
                </a:solidFill>
                <a:latin typeface="DejaVu Sans"/>
              </a:rPr>
              <a:t>Noise</a:t>
            </a:r>
          </a:p>
        </p:txBody>
      </p:sp>
      <p:sp>
        <p:nvSpPr>
          <p:cNvPr id="740" name="path_0738"/>
          <p:cNvSpPr/>
          <p:nvPr/>
        </p:nvSpPr>
        <p:spPr>
          <a:xfrm>
            <a:off x="9697212" y="4754880"/>
            <a:ext cx="109728" cy="0"/>
          </a:xfrm>
          <a:custGeom>
            <a:avLst/>
            <a:gdLst/>
            <a:ahLst/>
            <a:cxnLst/>
            <a:rect l="l" t="t" r="r" b="b"/>
            <a:pathLst>
              <a:path w="120" h="0">
                <a:moveTo>
                  <a:pt x="0" y="0"/>
                </a:moveTo>
                <a:lnTo>
                  <a:pt x="120" y="0"/>
                </a:lnTo>
              </a:path>
            </a:pathLst>
          </a:custGeom>
          <a:noFill/>
          <a:ln w="1270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text_0739"/>
          <p:cNvSpPr txBox="1"/>
          <p:nvPr/>
        </p:nvSpPr>
        <p:spPr>
          <a:xfrm>
            <a:off x="9820656" y="3813048"/>
            <a:ext cx="667512" cy="228600"/>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63758A"/>
                </a:solidFill>
                <a:latin typeface="DejaVu Sans"/>
              </a:rPr>
              <a:t>Early</a:t>
            </a:r>
          </a:p>
        </p:txBody>
      </p:sp>
      <p:sp>
        <p:nvSpPr>
          <p:cNvPr id="990" name="path_0988"/>
          <p:cNvSpPr/>
          <p:nvPr/>
        </p:nvSpPr>
        <p:spPr>
          <a:xfrm>
            <a:off x="10511028" y="4754880"/>
            <a:ext cx="109728" cy="0"/>
          </a:xfrm>
          <a:custGeom>
            <a:avLst/>
            <a:gdLst/>
            <a:ahLst/>
            <a:cxnLst/>
            <a:rect l="l" t="t" r="r" b="b"/>
            <a:pathLst>
              <a:path w="120" h="0">
                <a:moveTo>
                  <a:pt x="0" y="0"/>
                </a:moveTo>
                <a:lnTo>
                  <a:pt x="120" y="0"/>
                </a:lnTo>
              </a:path>
            </a:pathLst>
          </a:custGeom>
          <a:noFill/>
          <a:ln w="1270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text_0989"/>
          <p:cNvSpPr txBox="1"/>
          <p:nvPr/>
        </p:nvSpPr>
        <p:spPr>
          <a:xfrm>
            <a:off x="10634472" y="3813048"/>
            <a:ext cx="667512" cy="228600"/>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63758A"/>
                </a:solidFill>
                <a:latin typeface="DejaVu Sans"/>
              </a:rPr>
              <a:t>Late</a:t>
            </a:r>
          </a:p>
        </p:txBody>
      </p:sp>
      <p:sp>
        <p:nvSpPr>
          <p:cNvPr id="1102" name="path_1100"/>
          <p:cNvSpPr/>
          <p:nvPr/>
        </p:nvSpPr>
        <p:spPr>
          <a:xfrm>
            <a:off x="11324844" y="4754880"/>
            <a:ext cx="109728" cy="0"/>
          </a:xfrm>
          <a:custGeom>
            <a:avLst/>
            <a:gdLst/>
            <a:ahLst/>
            <a:cxnLst/>
            <a:rect l="l" t="t" r="r" b="b"/>
            <a:pathLst>
              <a:path w="120" h="0">
                <a:moveTo>
                  <a:pt x="0" y="0"/>
                </a:moveTo>
                <a:lnTo>
                  <a:pt x="120" y="0"/>
                </a:lnTo>
              </a:path>
            </a:pathLst>
          </a:custGeom>
          <a:noFill/>
          <a:ln w="1270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text_1101"/>
          <p:cNvSpPr txBox="1"/>
          <p:nvPr/>
        </p:nvSpPr>
        <p:spPr>
          <a:xfrm>
            <a:off x="11448288" y="3813048"/>
            <a:ext cx="667512" cy="228600"/>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63758A"/>
                </a:solidFill>
                <a:latin typeface="DejaVu Sans"/>
              </a:rPr>
              <a:t>Clean</a:t>
            </a:r>
          </a:p>
        </p:txBody>
      </p:sp>
      <p:sp>
        <p:nvSpPr>
          <p:cNvPr id="1116" name="text_1114"/>
          <p:cNvSpPr txBox="1"/>
          <p:nvPr/>
        </p:nvSpPr>
        <p:spPr>
          <a:xfrm>
            <a:off x="8449056" y="4302252"/>
            <a:ext cx="438912" cy="256032"/>
          </a:xfrm>
          <a:prstGeom prst="rect">
            <a:avLst/>
          </a:prstGeom>
          <a:noFill/>
        </p:spPr>
        <p:txBody>
          <a:bodyPr wrap="none" lIns="0" rIns="0" tIns="0" bIns="0" anchor="ctr">
            <a:spAutoFit/>
          </a:bodyPr>
          <a:lstStyle/>
          <a:p>
            <a:pPr algn="ctr">
              <a:lnSpc>
                <a:spcPts val="1581"/>
              </a:lnSpc>
              <a:spcBef>
                <a:spcPts val="0"/>
              </a:spcBef>
              <a:spcAft>
                <a:spcPts val="0"/>
              </a:spcAft>
            </a:pPr>
            <a:r>
              <a:rPr sz="1400" b="1">
                <a:solidFill>
                  <a:srgbClr val="2C917F"/>
                </a:solidFill>
                <a:latin typeface="DejaVu Sans"/>
              </a:rPr>
              <a:t>32</a:t>
            </a:r>
          </a:p>
        </p:txBody>
      </p:sp>
      <p:sp>
        <p:nvSpPr>
          <p:cNvPr id="1117" name="text_1115"/>
          <p:cNvSpPr txBox="1"/>
          <p:nvPr/>
        </p:nvSpPr>
        <p:spPr>
          <a:xfrm>
            <a:off x="8449056" y="4789170"/>
            <a:ext cx="438912" cy="256032"/>
          </a:xfrm>
          <a:prstGeom prst="rect">
            <a:avLst/>
          </a:prstGeom>
          <a:noFill/>
        </p:spPr>
        <p:txBody>
          <a:bodyPr wrap="none" lIns="0" rIns="0" tIns="0" bIns="0" anchor="ctr">
            <a:spAutoFit/>
          </a:bodyPr>
          <a:lstStyle/>
          <a:p>
            <a:pPr algn="ctr">
              <a:lnSpc>
                <a:spcPts val="1581"/>
              </a:lnSpc>
              <a:spcBef>
                <a:spcPts val="0"/>
              </a:spcBef>
              <a:spcAft>
                <a:spcPts val="0"/>
              </a:spcAft>
            </a:pPr>
            <a:r>
              <a:rPr sz="1400" b="1">
                <a:solidFill>
                  <a:srgbClr val="C88A35"/>
                </a:solidFill>
                <a:latin typeface="DejaVu Sans"/>
              </a:rPr>
              <a:t>24</a:t>
            </a:r>
          </a:p>
        </p:txBody>
      </p:sp>
      <p:sp>
        <p:nvSpPr>
          <p:cNvPr id="1118" name="text_1116"/>
          <p:cNvSpPr txBox="1"/>
          <p:nvPr/>
        </p:nvSpPr>
        <p:spPr>
          <a:xfrm>
            <a:off x="8449056" y="5113782"/>
            <a:ext cx="438912" cy="256032"/>
          </a:xfrm>
          <a:prstGeom prst="rect">
            <a:avLst/>
          </a:prstGeom>
          <a:noFill/>
        </p:spPr>
        <p:txBody>
          <a:bodyPr wrap="none" lIns="0" rIns="0" tIns="0" bIns="0" anchor="ctr">
            <a:spAutoFit/>
          </a:bodyPr>
          <a:lstStyle/>
          <a:p>
            <a:pPr algn="ctr">
              <a:lnSpc>
                <a:spcPts val="1581"/>
              </a:lnSpc>
              <a:spcBef>
                <a:spcPts val="0"/>
              </a:spcBef>
              <a:spcAft>
                <a:spcPts val="0"/>
              </a:spcAft>
            </a:pPr>
            <a:r>
              <a:rPr sz="1400" b="1">
                <a:solidFill>
                  <a:srgbClr val="367AB5"/>
                </a:solidFill>
                <a:latin typeface="DejaVu Sans"/>
              </a:rPr>
              <a:t>16</a:t>
            </a:r>
          </a:p>
        </p:txBody>
      </p:sp>
      <p:sp>
        <p:nvSpPr>
          <p:cNvPr id="1119" name="text_1117"/>
          <p:cNvSpPr txBox="1"/>
          <p:nvPr/>
        </p:nvSpPr>
        <p:spPr>
          <a:xfrm>
            <a:off x="8577072" y="5504688"/>
            <a:ext cx="3621024" cy="228600"/>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63758A"/>
                </a:solidFill>
                <a:latin typeface="DejaVu Sans"/>
              </a:rPr>
              <a:t>One outlined strip = one token</a:t>
            </a:r>
          </a:p>
        </p:txBody>
      </p:sp>
      <p:sp>
        <p:nvSpPr>
          <p:cNvPr id="1122" name="path_1120"/>
          <p:cNvSpPr/>
          <p:nvPr/>
        </p:nvSpPr>
        <p:spPr>
          <a:xfrm>
            <a:off x="12216384" y="1229868"/>
            <a:ext cx="228600" cy="4896612"/>
          </a:xfrm>
          <a:custGeom>
            <a:avLst/>
            <a:gdLst/>
            <a:ahLst/>
            <a:cxnLst/>
            <a:rect l="l" t="t" r="r" b="b"/>
            <a:pathLst>
              <a:path w="250" h="5355">
                <a:moveTo>
                  <a:pt x="40" y="0"/>
                </a:moveTo>
                <a:lnTo>
                  <a:pt x="250" y="0"/>
                </a:lnTo>
                <a:lnTo>
                  <a:pt x="250" y="5355"/>
                </a:lnTo>
                <a:lnTo>
                  <a:pt x="0" y="5355"/>
                </a:lnTo>
              </a:path>
            </a:pathLst>
          </a:custGeom>
          <a:noFill/>
          <a:ln w="12700">
            <a:solidFill>
              <a:srgbClr val="7965AA"/>
            </a:solidFill>
            <a:prstDash val="dash"/>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path_1121"/>
          <p:cNvSpPr/>
          <p:nvPr/>
        </p:nvSpPr>
        <p:spPr>
          <a:xfrm>
            <a:off x="10387584" y="6364224"/>
            <a:ext cx="0" cy="192024"/>
          </a:xfrm>
          <a:custGeom>
            <a:avLst/>
            <a:gdLst/>
            <a:ahLst/>
            <a:cxnLst/>
            <a:rect l="l" t="t" r="r" b="b"/>
            <a:pathLst>
              <a:path w="0" h="210">
                <a:moveTo>
                  <a:pt x="0" y="0"/>
                </a:moveTo>
                <a:lnTo>
                  <a:pt x="0" y="21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text_1124"/>
          <p:cNvSpPr txBox="1"/>
          <p:nvPr/>
        </p:nvSpPr>
        <p:spPr>
          <a:xfrm>
            <a:off x="8577072" y="7068312"/>
            <a:ext cx="3621024" cy="201168"/>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63758A"/>
                </a:solidFill>
                <a:latin typeface="DejaVu Sans"/>
              </a:rPr>
              <a:t>Noise contrast exaggerated for illustration</a:t>
            </a:r>
          </a:p>
        </p:txBody>
      </p:sp>
      <p:grpSp>
        <p:nvGrpSpPr>
          <p:cNvPr id="1127" name="stage_1_heading"/>
          <p:cNvGrpSpPr/>
          <p:nvPr/>
        </p:nvGrpSpPr>
        <p:grpSpPr>
          <a:xfrm>
            <a:off x="228600" y="210312"/>
            <a:ext cx="4727448" cy="539496"/>
            <a:chOff x="228600" y="210312"/>
            <a:chExt cx="4727448" cy="539496"/>
          </a:xfrm>
        </p:grpSpPr>
        <p:sp>
          <p:nvSpPr>
            <p:cNvPr id="4" name="rect_0002"/>
            <p:cNvSpPr/>
            <p:nvPr/>
          </p:nvSpPr>
          <p:spPr>
            <a:xfrm>
              <a:off x="228600" y="210312"/>
              <a:ext cx="4727448" cy="539496"/>
            </a:xfrm>
            <a:prstGeom prst="roundRect">
              <a:avLst>
                <a:gd name="adj" fmla="val 12000"/>
              </a:avLst>
            </a:prstGeom>
            <a:solidFill>
              <a:srgbClr val="F3F6F9"/>
            </a:solidFill>
            <a:ln w="1270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0003"/>
            <p:cNvSpPr txBox="1"/>
            <p:nvPr/>
          </p:nvSpPr>
          <p:spPr>
            <a:xfrm>
              <a:off x="347472" y="237744"/>
              <a:ext cx="274320" cy="457200"/>
            </a:xfrm>
            <a:prstGeom prst="rect">
              <a:avLst/>
            </a:prstGeom>
            <a:noFill/>
          </p:spPr>
          <p:txBody>
            <a:bodyPr wrap="none" lIns="0" rIns="0" tIns="0" bIns="0" anchor="ctr">
              <a:spAutoFit/>
            </a:bodyPr>
            <a:lstStyle/>
            <a:p>
              <a:pPr algn="ctr">
                <a:lnSpc>
                  <a:spcPts val="2372"/>
                </a:lnSpc>
                <a:spcBef>
                  <a:spcPts val="0"/>
                </a:spcBef>
                <a:spcAft>
                  <a:spcPts val="0"/>
                </a:spcAft>
              </a:pPr>
              <a:r>
                <a:rPr sz="2100" b="1">
                  <a:solidFill>
                    <a:srgbClr val="63758A"/>
                  </a:solidFill>
                  <a:latin typeface="DejaVu Sans"/>
                </a:rPr>
                <a:t>1</a:t>
              </a:r>
            </a:p>
          </p:txBody>
        </p:sp>
        <p:sp>
          <p:nvSpPr>
            <p:cNvPr id="6" name="text_0004"/>
            <p:cNvSpPr txBox="1"/>
            <p:nvPr/>
          </p:nvSpPr>
          <p:spPr>
            <a:xfrm>
              <a:off x="676656" y="237744"/>
              <a:ext cx="4206240" cy="457200"/>
            </a:xfrm>
            <a:prstGeom prst="rect">
              <a:avLst/>
            </a:prstGeom>
            <a:noFill/>
          </p:spPr>
          <p:txBody>
            <a:bodyPr wrap="none" lIns="0" rIns="0" tIns="0" bIns="0" anchor="ctr">
              <a:spAutoFit/>
            </a:bodyPr>
            <a:lstStyle/>
            <a:p>
              <a:pPr algn="l">
                <a:lnSpc>
                  <a:spcPts val="2033"/>
                </a:lnSpc>
                <a:spcBef>
                  <a:spcPts val="0"/>
                </a:spcBef>
                <a:spcAft>
                  <a:spcPts val="0"/>
                </a:spcAft>
              </a:pPr>
              <a:r>
                <a:rPr sz="1800" b="1">
                  <a:solidFill>
                    <a:srgbClr val="233344"/>
                  </a:solidFill>
                  <a:latin typeface="DejaVu Sans"/>
                </a:rPr>
                <a:t>Representation learning</a:t>
              </a:r>
            </a:p>
          </p:txBody>
        </p:sp>
      </p:grpSp>
      <p:grpSp>
        <p:nvGrpSpPr>
          <p:cNvPr id="1128" name="frozen_Qwen_icon"/>
          <p:cNvGrpSpPr/>
          <p:nvPr/>
        </p:nvGrpSpPr>
        <p:grpSpPr>
          <a:xfrm>
            <a:off x="836676" y="1392631"/>
            <a:ext cx="246888" cy="213970"/>
            <a:chOff x="836676" y="1392631"/>
            <a:chExt cx="246888" cy="213970"/>
          </a:xfrm>
        </p:grpSpPr>
        <p:sp>
          <p:nvSpPr>
            <p:cNvPr id="8" name="path_0006"/>
            <p:cNvSpPr/>
            <p:nvPr/>
          </p:nvSpPr>
          <p:spPr>
            <a:xfrm>
              <a:off x="960120" y="1499616"/>
              <a:ext cx="123444" cy="0"/>
            </a:xfrm>
            <a:custGeom>
              <a:avLst/>
              <a:gdLst/>
              <a:ahLst/>
              <a:cxnLst/>
              <a:rect l="l" t="t" r="r" b="b"/>
              <a:pathLst>
                <a:path w="135" h="0">
                  <a:moveTo>
                    <a:pt x="0" y="0"/>
                  </a:moveTo>
                  <a:lnTo>
                    <a:pt x="135"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ath_0007"/>
            <p:cNvSpPr/>
            <p:nvPr/>
          </p:nvSpPr>
          <p:spPr>
            <a:xfrm>
              <a:off x="1040587" y="1466698"/>
              <a:ext cx="19202" cy="32918"/>
            </a:xfrm>
            <a:custGeom>
              <a:avLst/>
              <a:gdLst/>
              <a:ahLst/>
              <a:cxnLst/>
              <a:rect l="l" t="t" r="r" b="b"/>
              <a:pathLst>
                <a:path w="21" h="36">
                  <a:moveTo>
                    <a:pt x="0" y="36"/>
                  </a:moveTo>
                  <a:lnTo>
                    <a:pt x="21"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th_0008"/>
            <p:cNvSpPr/>
            <p:nvPr/>
          </p:nvSpPr>
          <p:spPr>
            <a:xfrm>
              <a:off x="1040587" y="1499616"/>
              <a:ext cx="19202" cy="32918"/>
            </a:xfrm>
            <a:custGeom>
              <a:avLst/>
              <a:gdLst/>
              <a:ahLst/>
              <a:cxnLst/>
              <a:rect l="l" t="t" r="r" b="b"/>
              <a:pathLst>
                <a:path w="21" h="36">
                  <a:moveTo>
                    <a:pt x="0" y="0"/>
                  </a:moveTo>
                  <a:lnTo>
                    <a:pt x="21" y="36"/>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th_0009"/>
            <p:cNvSpPr/>
            <p:nvPr/>
          </p:nvSpPr>
          <p:spPr>
            <a:xfrm>
              <a:off x="960120" y="1499616"/>
              <a:ext cx="62179" cy="106985"/>
            </a:xfrm>
            <a:custGeom>
              <a:avLst/>
              <a:gdLst/>
              <a:ahLst/>
              <a:cxnLst/>
              <a:rect l="l" t="t" r="r" b="b"/>
              <a:pathLst>
                <a:path w="68" h="117">
                  <a:moveTo>
                    <a:pt x="0" y="0"/>
                  </a:moveTo>
                  <a:lnTo>
                    <a:pt x="68" y="117"/>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th_0010"/>
            <p:cNvSpPr/>
            <p:nvPr/>
          </p:nvSpPr>
          <p:spPr>
            <a:xfrm>
              <a:off x="1000354" y="1569110"/>
              <a:ext cx="38405" cy="0"/>
            </a:xfrm>
            <a:custGeom>
              <a:avLst/>
              <a:gdLst/>
              <a:ahLst/>
              <a:cxnLst/>
              <a:rect l="l" t="t" r="r" b="b"/>
              <a:pathLst>
                <a:path w="42" h="0">
                  <a:moveTo>
                    <a:pt x="0" y="0"/>
                  </a:moveTo>
                  <a:lnTo>
                    <a:pt x="42"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ath_0011"/>
            <p:cNvSpPr/>
            <p:nvPr/>
          </p:nvSpPr>
          <p:spPr>
            <a:xfrm>
              <a:off x="981151" y="1569110"/>
              <a:ext cx="19202" cy="32918"/>
            </a:xfrm>
            <a:custGeom>
              <a:avLst/>
              <a:gdLst/>
              <a:ahLst/>
              <a:cxnLst/>
              <a:rect l="l" t="t" r="r" b="b"/>
              <a:pathLst>
                <a:path w="21" h="36">
                  <a:moveTo>
                    <a:pt x="21" y="0"/>
                  </a:moveTo>
                  <a:lnTo>
                    <a:pt x="0" y="36"/>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th_0012"/>
            <p:cNvSpPr/>
            <p:nvPr/>
          </p:nvSpPr>
          <p:spPr>
            <a:xfrm>
              <a:off x="897941" y="1499616"/>
              <a:ext cx="62179" cy="106985"/>
            </a:xfrm>
            <a:custGeom>
              <a:avLst/>
              <a:gdLst/>
              <a:ahLst/>
              <a:cxnLst/>
              <a:rect l="l" t="t" r="r" b="b"/>
              <a:pathLst>
                <a:path w="68" h="117">
                  <a:moveTo>
                    <a:pt x="68" y="0"/>
                  </a:moveTo>
                  <a:lnTo>
                    <a:pt x="0" y="117"/>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th_0013"/>
            <p:cNvSpPr/>
            <p:nvPr/>
          </p:nvSpPr>
          <p:spPr>
            <a:xfrm>
              <a:off x="919886" y="1569110"/>
              <a:ext cx="19202" cy="32918"/>
            </a:xfrm>
            <a:custGeom>
              <a:avLst/>
              <a:gdLst/>
              <a:ahLst/>
              <a:cxnLst/>
              <a:rect l="l" t="t" r="r" b="b"/>
              <a:pathLst>
                <a:path w="21" h="36">
                  <a:moveTo>
                    <a:pt x="0" y="0"/>
                  </a:moveTo>
                  <a:lnTo>
                    <a:pt x="21" y="36"/>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th_0014"/>
            <p:cNvSpPr/>
            <p:nvPr/>
          </p:nvSpPr>
          <p:spPr>
            <a:xfrm>
              <a:off x="881482" y="1569110"/>
              <a:ext cx="38405" cy="0"/>
            </a:xfrm>
            <a:custGeom>
              <a:avLst/>
              <a:gdLst/>
              <a:ahLst/>
              <a:cxnLst/>
              <a:rect l="l" t="t" r="r" b="b"/>
              <a:pathLst>
                <a:path w="42" h="0">
                  <a:moveTo>
                    <a:pt x="42" y="0"/>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ath_0015"/>
            <p:cNvSpPr/>
            <p:nvPr/>
          </p:nvSpPr>
          <p:spPr>
            <a:xfrm>
              <a:off x="836676" y="1499616"/>
              <a:ext cx="123444" cy="0"/>
            </a:xfrm>
            <a:custGeom>
              <a:avLst/>
              <a:gdLst/>
              <a:ahLst/>
              <a:cxnLst/>
              <a:rect l="l" t="t" r="r" b="b"/>
              <a:pathLst>
                <a:path w="135" h="0">
                  <a:moveTo>
                    <a:pt x="135" y="0"/>
                  </a:moveTo>
                  <a:lnTo>
                    <a:pt x="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ath_0016"/>
            <p:cNvSpPr/>
            <p:nvPr/>
          </p:nvSpPr>
          <p:spPr>
            <a:xfrm>
              <a:off x="860450" y="1499616"/>
              <a:ext cx="19202" cy="32918"/>
            </a:xfrm>
            <a:custGeom>
              <a:avLst/>
              <a:gdLst/>
              <a:ahLst/>
              <a:cxnLst/>
              <a:rect l="l" t="t" r="r" b="b"/>
              <a:pathLst>
                <a:path w="21" h="36">
                  <a:moveTo>
                    <a:pt x="21" y="0"/>
                  </a:moveTo>
                  <a:lnTo>
                    <a:pt x="0" y="36"/>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th_0017"/>
            <p:cNvSpPr/>
            <p:nvPr/>
          </p:nvSpPr>
          <p:spPr>
            <a:xfrm>
              <a:off x="860450" y="1466698"/>
              <a:ext cx="19202" cy="32918"/>
            </a:xfrm>
            <a:custGeom>
              <a:avLst/>
              <a:gdLst/>
              <a:ahLst/>
              <a:cxnLst/>
              <a:rect l="l" t="t" r="r" b="b"/>
              <a:pathLst>
                <a:path w="21" h="36">
                  <a:moveTo>
                    <a:pt x="21" y="36"/>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ath_0018"/>
            <p:cNvSpPr/>
            <p:nvPr/>
          </p:nvSpPr>
          <p:spPr>
            <a:xfrm>
              <a:off x="897941" y="1392631"/>
              <a:ext cx="62179" cy="106985"/>
            </a:xfrm>
            <a:custGeom>
              <a:avLst/>
              <a:gdLst/>
              <a:ahLst/>
              <a:cxnLst/>
              <a:rect l="l" t="t" r="r" b="b"/>
              <a:pathLst>
                <a:path w="68" h="117">
                  <a:moveTo>
                    <a:pt x="68" y="117"/>
                  </a:moveTo>
                  <a:lnTo>
                    <a:pt x="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ath_0019"/>
            <p:cNvSpPr/>
            <p:nvPr/>
          </p:nvSpPr>
          <p:spPr>
            <a:xfrm>
              <a:off x="881482" y="1430122"/>
              <a:ext cx="38405" cy="0"/>
            </a:xfrm>
            <a:custGeom>
              <a:avLst/>
              <a:gdLst/>
              <a:ahLst/>
              <a:cxnLst/>
              <a:rect l="l" t="t" r="r" b="b"/>
              <a:pathLst>
                <a:path w="42" h="0">
                  <a:moveTo>
                    <a:pt x="42" y="0"/>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ath_0020"/>
            <p:cNvSpPr/>
            <p:nvPr/>
          </p:nvSpPr>
          <p:spPr>
            <a:xfrm>
              <a:off x="919886" y="1397203"/>
              <a:ext cx="19202" cy="32918"/>
            </a:xfrm>
            <a:custGeom>
              <a:avLst/>
              <a:gdLst/>
              <a:ahLst/>
              <a:cxnLst/>
              <a:rect l="l" t="t" r="r" b="b"/>
              <a:pathLst>
                <a:path w="21" h="36">
                  <a:moveTo>
                    <a:pt x="0" y="36"/>
                  </a:moveTo>
                  <a:lnTo>
                    <a:pt x="21"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ath_0021"/>
            <p:cNvSpPr/>
            <p:nvPr/>
          </p:nvSpPr>
          <p:spPr>
            <a:xfrm>
              <a:off x="960120" y="1392631"/>
              <a:ext cx="62179" cy="106985"/>
            </a:xfrm>
            <a:custGeom>
              <a:avLst/>
              <a:gdLst/>
              <a:ahLst/>
              <a:cxnLst/>
              <a:rect l="l" t="t" r="r" b="b"/>
              <a:pathLst>
                <a:path w="68" h="117">
                  <a:moveTo>
                    <a:pt x="0" y="117"/>
                  </a:moveTo>
                  <a:lnTo>
                    <a:pt x="68"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ath_0022"/>
            <p:cNvSpPr/>
            <p:nvPr/>
          </p:nvSpPr>
          <p:spPr>
            <a:xfrm>
              <a:off x="981151" y="1397203"/>
              <a:ext cx="19202" cy="32918"/>
            </a:xfrm>
            <a:custGeom>
              <a:avLst/>
              <a:gdLst/>
              <a:ahLst/>
              <a:cxnLst/>
              <a:rect l="l" t="t" r="r" b="b"/>
              <a:pathLst>
                <a:path w="21" h="36">
                  <a:moveTo>
                    <a:pt x="21" y="36"/>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ath_0023"/>
            <p:cNvSpPr/>
            <p:nvPr/>
          </p:nvSpPr>
          <p:spPr>
            <a:xfrm>
              <a:off x="1000354" y="1430122"/>
              <a:ext cx="38405" cy="0"/>
            </a:xfrm>
            <a:custGeom>
              <a:avLst/>
              <a:gdLst/>
              <a:ahLst/>
              <a:cxnLst/>
              <a:rect l="l" t="t" r="r" b="b"/>
              <a:pathLst>
                <a:path w="42" h="0">
                  <a:moveTo>
                    <a:pt x="0" y="0"/>
                  </a:moveTo>
                  <a:lnTo>
                    <a:pt x="42"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129" name="fixed_whitening_icon"/>
          <p:cNvGrpSpPr/>
          <p:nvPr/>
        </p:nvGrpSpPr>
        <p:grpSpPr>
          <a:xfrm>
            <a:off x="2095805" y="1531620"/>
            <a:ext cx="188366" cy="164592"/>
            <a:chOff x="2095805" y="1531620"/>
            <a:chExt cx="188366" cy="164592"/>
          </a:xfrm>
        </p:grpSpPr>
        <p:sp>
          <p:nvSpPr>
            <p:cNvPr id="27" name="path_0025"/>
            <p:cNvSpPr/>
            <p:nvPr/>
          </p:nvSpPr>
          <p:spPr>
            <a:xfrm>
              <a:off x="2189988" y="1613916"/>
              <a:ext cx="94183" cy="0"/>
            </a:xfrm>
            <a:custGeom>
              <a:avLst/>
              <a:gdLst/>
              <a:ahLst/>
              <a:cxnLst/>
              <a:rect l="l" t="t" r="r" b="b"/>
              <a:pathLst>
                <a:path w="103" h="0">
                  <a:moveTo>
                    <a:pt x="0" y="0"/>
                  </a:moveTo>
                  <a:lnTo>
                    <a:pt x="103"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ath_0026"/>
            <p:cNvSpPr/>
            <p:nvPr/>
          </p:nvSpPr>
          <p:spPr>
            <a:xfrm>
              <a:off x="2251253" y="1588313"/>
              <a:ext cx="14630" cy="25603"/>
            </a:xfrm>
            <a:custGeom>
              <a:avLst/>
              <a:gdLst/>
              <a:ahLst/>
              <a:cxnLst/>
              <a:rect l="l" t="t" r="r" b="b"/>
              <a:pathLst>
                <a:path w="16" h="28">
                  <a:moveTo>
                    <a:pt x="0" y="28"/>
                  </a:moveTo>
                  <a:lnTo>
                    <a:pt x="16"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ath_0027"/>
            <p:cNvSpPr/>
            <p:nvPr/>
          </p:nvSpPr>
          <p:spPr>
            <a:xfrm>
              <a:off x="2251253" y="1613916"/>
              <a:ext cx="14630" cy="25603"/>
            </a:xfrm>
            <a:custGeom>
              <a:avLst/>
              <a:gdLst/>
              <a:ahLst/>
              <a:cxnLst/>
              <a:rect l="l" t="t" r="r" b="b"/>
              <a:pathLst>
                <a:path w="16" h="28">
                  <a:moveTo>
                    <a:pt x="0" y="0"/>
                  </a:moveTo>
                  <a:lnTo>
                    <a:pt x="16" y="28"/>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ath_0028"/>
            <p:cNvSpPr/>
            <p:nvPr/>
          </p:nvSpPr>
          <p:spPr>
            <a:xfrm>
              <a:off x="2189988" y="1613916"/>
              <a:ext cx="47549" cy="82296"/>
            </a:xfrm>
            <a:custGeom>
              <a:avLst/>
              <a:gdLst/>
              <a:ahLst/>
              <a:cxnLst/>
              <a:rect l="l" t="t" r="r" b="b"/>
              <a:pathLst>
                <a:path w="52" h="90">
                  <a:moveTo>
                    <a:pt x="0" y="0"/>
                  </a:moveTo>
                  <a:lnTo>
                    <a:pt x="52" y="9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ath_0029"/>
            <p:cNvSpPr/>
            <p:nvPr/>
          </p:nvSpPr>
          <p:spPr>
            <a:xfrm>
              <a:off x="2221078" y="1666951"/>
              <a:ext cx="29261" cy="0"/>
            </a:xfrm>
            <a:custGeom>
              <a:avLst/>
              <a:gdLst/>
              <a:ahLst/>
              <a:cxnLst/>
              <a:rect l="l" t="t" r="r" b="b"/>
              <a:pathLst>
                <a:path w="32" h="0">
                  <a:moveTo>
                    <a:pt x="0" y="0"/>
                  </a:moveTo>
                  <a:lnTo>
                    <a:pt x="32"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path_0030"/>
            <p:cNvSpPr/>
            <p:nvPr/>
          </p:nvSpPr>
          <p:spPr>
            <a:xfrm>
              <a:off x="2206447" y="1666951"/>
              <a:ext cx="14630" cy="25603"/>
            </a:xfrm>
            <a:custGeom>
              <a:avLst/>
              <a:gdLst/>
              <a:ahLst/>
              <a:cxnLst/>
              <a:rect l="l" t="t" r="r" b="b"/>
              <a:pathLst>
                <a:path w="16" h="28">
                  <a:moveTo>
                    <a:pt x="16" y="0"/>
                  </a:moveTo>
                  <a:lnTo>
                    <a:pt x="0" y="28"/>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ath_0031"/>
            <p:cNvSpPr/>
            <p:nvPr/>
          </p:nvSpPr>
          <p:spPr>
            <a:xfrm>
              <a:off x="2142439" y="1613916"/>
              <a:ext cx="47549" cy="82296"/>
            </a:xfrm>
            <a:custGeom>
              <a:avLst/>
              <a:gdLst/>
              <a:ahLst/>
              <a:cxnLst/>
              <a:rect l="l" t="t" r="r" b="b"/>
              <a:pathLst>
                <a:path w="52" h="90">
                  <a:moveTo>
                    <a:pt x="52" y="0"/>
                  </a:moveTo>
                  <a:lnTo>
                    <a:pt x="0" y="9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ath_0032"/>
            <p:cNvSpPr/>
            <p:nvPr/>
          </p:nvSpPr>
          <p:spPr>
            <a:xfrm>
              <a:off x="2158898" y="1666951"/>
              <a:ext cx="14630" cy="25603"/>
            </a:xfrm>
            <a:custGeom>
              <a:avLst/>
              <a:gdLst/>
              <a:ahLst/>
              <a:cxnLst/>
              <a:rect l="l" t="t" r="r" b="b"/>
              <a:pathLst>
                <a:path w="16" h="28">
                  <a:moveTo>
                    <a:pt x="0" y="0"/>
                  </a:moveTo>
                  <a:lnTo>
                    <a:pt x="16" y="28"/>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ath_0033"/>
            <p:cNvSpPr/>
            <p:nvPr/>
          </p:nvSpPr>
          <p:spPr>
            <a:xfrm>
              <a:off x="2129638" y="1666951"/>
              <a:ext cx="29261" cy="0"/>
            </a:xfrm>
            <a:custGeom>
              <a:avLst/>
              <a:gdLst/>
              <a:ahLst/>
              <a:cxnLst/>
              <a:rect l="l" t="t" r="r" b="b"/>
              <a:pathLst>
                <a:path w="32" h="0">
                  <a:moveTo>
                    <a:pt x="32" y="0"/>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ath_0034"/>
            <p:cNvSpPr/>
            <p:nvPr/>
          </p:nvSpPr>
          <p:spPr>
            <a:xfrm>
              <a:off x="2095805" y="1613916"/>
              <a:ext cx="94183" cy="0"/>
            </a:xfrm>
            <a:custGeom>
              <a:avLst/>
              <a:gdLst/>
              <a:ahLst/>
              <a:cxnLst/>
              <a:rect l="l" t="t" r="r" b="b"/>
              <a:pathLst>
                <a:path w="103" h="0">
                  <a:moveTo>
                    <a:pt x="103" y="0"/>
                  </a:moveTo>
                  <a:lnTo>
                    <a:pt x="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path_0035"/>
            <p:cNvSpPr/>
            <p:nvPr/>
          </p:nvSpPr>
          <p:spPr>
            <a:xfrm>
              <a:off x="2114093" y="1613916"/>
              <a:ext cx="14630" cy="25603"/>
            </a:xfrm>
            <a:custGeom>
              <a:avLst/>
              <a:gdLst/>
              <a:ahLst/>
              <a:cxnLst/>
              <a:rect l="l" t="t" r="r" b="b"/>
              <a:pathLst>
                <a:path w="16" h="28">
                  <a:moveTo>
                    <a:pt x="16" y="0"/>
                  </a:moveTo>
                  <a:lnTo>
                    <a:pt x="0" y="28"/>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ath_0036"/>
            <p:cNvSpPr/>
            <p:nvPr/>
          </p:nvSpPr>
          <p:spPr>
            <a:xfrm>
              <a:off x="2114093" y="1588313"/>
              <a:ext cx="14630" cy="25603"/>
            </a:xfrm>
            <a:custGeom>
              <a:avLst/>
              <a:gdLst/>
              <a:ahLst/>
              <a:cxnLst/>
              <a:rect l="l" t="t" r="r" b="b"/>
              <a:pathLst>
                <a:path w="16" h="28">
                  <a:moveTo>
                    <a:pt x="16" y="28"/>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ath_0037"/>
            <p:cNvSpPr/>
            <p:nvPr/>
          </p:nvSpPr>
          <p:spPr>
            <a:xfrm>
              <a:off x="2142439" y="1531620"/>
              <a:ext cx="47549" cy="82296"/>
            </a:xfrm>
            <a:custGeom>
              <a:avLst/>
              <a:gdLst/>
              <a:ahLst/>
              <a:cxnLst/>
              <a:rect l="l" t="t" r="r" b="b"/>
              <a:pathLst>
                <a:path w="52" h="90">
                  <a:moveTo>
                    <a:pt x="52" y="90"/>
                  </a:moveTo>
                  <a:lnTo>
                    <a:pt x="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ath_0038"/>
            <p:cNvSpPr/>
            <p:nvPr/>
          </p:nvSpPr>
          <p:spPr>
            <a:xfrm>
              <a:off x="2129638" y="1560881"/>
              <a:ext cx="29261" cy="0"/>
            </a:xfrm>
            <a:custGeom>
              <a:avLst/>
              <a:gdLst/>
              <a:ahLst/>
              <a:cxnLst/>
              <a:rect l="l" t="t" r="r" b="b"/>
              <a:pathLst>
                <a:path w="32" h="0">
                  <a:moveTo>
                    <a:pt x="32" y="0"/>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path_0039"/>
            <p:cNvSpPr/>
            <p:nvPr/>
          </p:nvSpPr>
          <p:spPr>
            <a:xfrm>
              <a:off x="2158898" y="1535278"/>
              <a:ext cx="14630" cy="25603"/>
            </a:xfrm>
            <a:custGeom>
              <a:avLst/>
              <a:gdLst/>
              <a:ahLst/>
              <a:cxnLst/>
              <a:rect l="l" t="t" r="r" b="b"/>
              <a:pathLst>
                <a:path w="16" h="28">
                  <a:moveTo>
                    <a:pt x="0" y="28"/>
                  </a:moveTo>
                  <a:lnTo>
                    <a:pt x="16"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ath_0040"/>
            <p:cNvSpPr/>
            <p:nvPr/>
          </p:nvSpPr>
          <p:spPr>
            <a:xfrm>
              <a:off x="2189988" y="1531620"/>
              <a:ext cx="47549" cy="82296"/>
            </a:xfrm>
            <a:custGeom>
              <a:avLst/>
              <a:gdLst/>
              <a:ahLst/>
              <a:cxnLst/>
              <a:rect l="l" t="t" r="r" b="b"/>
              <a:pathLst>
                <a:path w="52" h="90">
                  <a:moveTo>
                    <a:pt x="0" y="90"/>
                  </a:moveTo>
                  <a:lnTo>
                    <a:pt x="52"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path_0041"/>
            <p:cNvSpPr/>
            <p:nvPr/>
          </p:nvSpPr>
          <p:spPr>
            <a:xfrm>
              <a:off x="2206447" y="1535278"/>
              <a:ext cx="14630" cy="25603"/>
            </a:xfrm>
            <a:custGeom>
              <a:avLst/>
              <a:gdLst/>
              <a:ahLst/>
              <a:cxnLst/>
              <a:rect l="l" t="t" r="r" b="b"/>
              <a:pathLst>
                <a:path w="16" h="28">
                  <a:moveTo>
                    <a:pt x="16" y="28"/>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ath_0042"/>
            <p:cNvSpPr/>
            <p:nvPr/>
          </p:nvSpPr>
          <p:spPr>
            <a:xfrm>
              <a:off x="2221078" y="1560881"/>
              <a:ext cx="29261" cy="0"/>
            </a:xfrm>
            <a:custGeom>
              <a:avLst/>
              <a:gdLst/>
              <a:ahLst/>
              <a:cxnLst/>
              <a:rect l="l" t="t" r="r" b="b"/>
              <a:pathLst>
                <a:path w="32" h="0">
                  <a:moveTo>
                    <a:pt x="0" y="0"/>
                  </a:moveTo>
                  <a:lnTo>
                    <a:pt x="32"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130" name="learned_projectors_icon"/>
          <p:cNvGrpSpPr/>
          <p:nvPr/>
        </p:nvGrpSpPr>
        <p:grpSpPr>
          <a:xfrm>
            <a:off x="3039466" y="1522476"/>
            <a:ext cx="177394" cy="213055"/>
            <a:chOff x="3039466" y="1522476"/>
            <a:chExt cx="177394" cy="213055"/>
          </a:xfrm>
        </p:grpSpPr>
        <p:sp>
          <p:nvSpPr>
            <p:cNvPr id="46" name="path_0044"/>
            <p:cNvSpPr/>
            <p:nvPr/>
          </p:nvSpPr>
          <p:spPr>
            <a:xfrm>
              <a:off x="3039466" y="1522476"/>
              <a:ext cx="177394" cy="213055"/>
            </a:xfrm>
            <a:custGeom>
              <a:avLst/>
              <a:gdLst/>
              <a:ahLst/>
              <a:cxnLst/>
              <a:rect l="l" t="t" r="r" b="b"/>
              <a:pathLst>
                <a:path w="194" h="233">
                  <a:moveTo>
                    <a:pt x="101" y="0"/>
                  </a:moveTo>
                  <a:lnTo>
                    <a:pt x="125" y="41"/>
                  </a:lnTo>
                  <a:lnTo>
                    <a:pt x="122" y="77"/>
                  </a:lnTo>
                  <a:lnTo>
                    <a:pt x="158" y="57"/>
                  </a:lnTo>
                  <a:lnTo>
                    <a:pt x="182" y="98"/>
                  </a:lnTo>
                  <a:lnTo>
                    <a:pt x="194" y="141"/>
                  </a:lnTo>
                  <a:lnTo>
                    <a:pt x="187" y="185"/>
                  </a:lnTo>
                  <a:lnTo>
                    <a:pt x="161" y="218"/>
                  </a:lnTo>
                  <a:lnTo>
                    <a:pt x="113" y="233"/>
                  </a:lnTo>
                  <a:lnTo>
                    <a:pt x="60" y="225"/>
                  </a:lnTo>
                  <a:lnTo>
                    <a:pt x="19" y="201"/>
                  </a:lnTo>
                  <a:lnTo>
                    <a:pt x="0" y="158"/>
                  </a:lnTo>
                  <a:lnTo>
                    <a:pt x="10" y="110"/>
                  </a:lnTo>
                  <a:lnTo>
                    <a:pt x="41" y="72"/>
                  </a:lnTo>
                  <a:lnTo>
                    <a:pt x="36" y="122"/>
                  </a:lnTo>
                  <a:lnTo>
                    <a:pt x="70" y="89"/>
                  </a:lnTo>
                  <a:lnTo>
                    <a:pt x="84" y="50"/>
                  </a:lnTo>
                  <a:close/>
                </a:path>
              </a:pathLst>
            </a:custGeom>
            <a:solidFill>
              <a:srgbClr val="EB8841"/>
            </a:solidFill>
            <a:ln w="8255">
              <a:solidFill>
                <a:srgbClr val="DC77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ath_0045"/>
            <p:cNvSpPr/>
            <p:nvPr/>
          </p:nvSpPr>
          <p:spPr>
            <a:xfrm>
              <a:off x="3092501" y="1616659"/>
              <a:ext cx="80467" cy="109728"/>
            </a:xfrm>
            <a:custGeom>
              <a:avLst/>
              <a:gdLst/>
              <a:ahLst/>
              <a:cxnLst/>
              <a:rect l="l" t="t" r="r" b="b"/>
              <a:pathLst>
                <a:path w="88" h="120">
                  <a:moveTo>
                    <a:pt x="48" y="0"/>
                  </a:moveTo>
                  <a:lnTo>
                    <a:pt x="81" y="41"/>
                  </a:lnTo>
                  <a:lnTo>
                    <a:pt x="88" y="79"/>
                  </a:lnTo>
                  <a:lnTo>
                    <a:pt x="74" y="108"/>
                  </a:lnTo>
                  <a:lnTo>
                    <a:pt x="43" y="120"/>
                  </a:lnTo>
                  <a:lnTo>
                    <a:pt x="9" y="103"/>
                  </a:lnTo>
                  <a:lnTo>
                    <a:pt x="0" y="70"/>
                  </a:lnTo>
                  <a:lnTo>
                    <a:pt x="14" y="36"/>
                  </a:lnTo>
                  <a:lnTo>
                    <a:pt x="24" y="74"/>
                  </a:lnTo>
                  <a:close/>
                </a:path>
              </a:pathLst>
            </a:custGeom>
            <a:solidFill>
              <a:srgbClr val="FFD37A"/>
            </a:solidFill>
            <a:ln w="2540">
              <a:solidFill>
                <a:srgbClr val="FFD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131" name="module_bottom_up_Qwen_L16"/>
          <p:cNvGrpSpPr/>
          <p:nvPr/>
        </p:nvGrpSpPr>
        <p:grpSpPr>
          <a:xfrm>
            <a:off x="457200" y="4087368"/>
            <a:ext cx="1005840" cy="402336"/>
            <a:chOff x="457200" y="4087368"/>
            <a:chExt cx="1005840" cy="402336"/>
          </a:xfrm>
        </p:grpSpPr>
        <p:sp>
          <p:nvSpPr>
            <p:cNvPr id="51" name="bottom_up_Qwen_L16"/>
            <p:cNvSpPr/>
            <p:nvPr/>
          </p:nvSpPr>
          <p:spPr>
            <a:xfrm>
              <a:off x="457200" y="4087368"/>
              <a:ext cx="1005840" cy="402336"/>
            </a:xfrm>
            <a:prstGeom prst="roundRect">
              <a:avLst>
                <a:gd name="adj" fmla="val 12000"/>
              </a:avLst>
            </a:prstGeom>
            <a:solidFill>
              <a:srgbClr val="E7EFF6"/>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ottom_up_Qwen_L16_label"/>
            <p:cNvSpPr txBox="1"/>
            <p:nvPr/>
          </p:nvSpPr>
          <p:spPr>
            <a:xfrm>
              <a:off x="502920" y="4096512"/>
              <a:ext cx="914400" cy="384048"/>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233344"/>
                  </a:solidFill>
                  <a:latin typeface="DejaVu Sans"/>
                </a:rPr>
                <a:t>Layer 16</a:t>
              </a:r>
            </a:p>
          </p:txBody>
        </p:sp>
      </p:grpSp>
      <p:grpSp>
        <p:nvGrpSpPr>
          <p:cNvPr id="1132" name="module_bottom_up_Qwen_L24"/>
          <p:cNvGrpSpPr/>
          <p:nvPr/>
        </p:nvGrpSpPr>
        <p:grpSpPr>
          <a:xfrm>
            <a:off x="457200" y="3355848"/>
            <a:ext cx="1005840" cy="402336"/>
            <a:chOff x="457200" y="3355848"/>
            <a:chExt cx="1005840" cy="402336"/>
          </a:xfrm>
        </p:grpSpPr>
        <p:sp>
          <p:nvSpPr>
            <p:cNvPr id="61" name="bottom_up_Qwen_L24"/>
            <p:cNvSpPr/>
            <p:nvPr/>
          </p:nvSpPr>
          <p:spPr>
            <a:xfrm>
              <a:off x="457200" y="3355848"/>
              <a:ext cx="1005840" cy="402336"/>
            </a:xfrm>
            <a:prstGeom prst="roundRect">
              <a:avLst>
                <a:gd name="adj" fmla="val 12000"/>
              </a:avLst>
            </a:prstGeom>
            <a:solidFill>
              <a:srgbClr val="F8F1E7"/>
            </a:solidFill>
            <a:ln w="12700">
              <a:solidFill>
                <a:srgbClr val="C88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ottom_up_Qwen_L24_label"/>
            <p:cNvSpPr txBox="1"/>
            <p:nvPr/>
          </p:nvSpPr>
          <p:spPr>
            <a:xfrm>
              <a:off x="502920" y="3364991"/>
              <a:ext cx="914400" cy="384048"/>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233344"/>
                  </a:solidFill>
                  <a:latin typeface="DejaVu Sans"/>
                </a:rPr>
                <a:t>Layer 24</a:t>
              </a:r>
            </a:p>
          </p:txBody>
        </p:sp>
      </p:grpSp>
      <p:grpSp>
        <p:nvGrpSpPr>
          <p:cNvPr id="1133" name="module_bottom_up_Qwen_L32"/>
          <p:cNvGrpSpPr/>
          <p:nvPr/>
        </p:nvGrpSpPr>
        <p:grpSpPr>
          <a:xfrm>
            <a:off x="457200" y="2258568"/>
            <a:ext cx="1005840" cy="402336"/>
            <a:chOff x="457200" y="2258568"/>
            <a:chExt cx="1005840" cy="402336"/>
          </a:xfrm>
        </p:grpSpPr>
        <p:sp>
          <p:nvSpPr>
            <p:cNvPr id="71" name="bottom_up_Qwen_L32"/>
            <p:cNvSpPr/>
            <p:nvPr/>
          </p:nvSpPr>
          <p:spPr>
            <a:xfrm>
              <a:off x="457200" y="2258568"/>
              <a:ext cx="1005840" cy="402336"/>
            </a:xfrm>
            <a:prstGeom prst="roundRect">
              <a:avLst>
                <a:gd name="adj" fmla="val 12000"/>
              </a:avLst>
            </a:prstGeom>
            <a:solidFill>
              <a:srgbClr val="E6F2F0"/>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bottom_up_Qwen_L32_label"/>
            <p:cNvSpPr txBox="1"/>
            <p:nvPr/>
          </p:nvSpPr>
          <p:spPr>
            <a:xfrm>
              <a:off x="502920" y="2267711"/>
              <a:ext cx="914400" cy="384048"/>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233344"/>
                  </a:solidFill>
                  <a:latin typeface="DejaVu Sans"/>
                </a:rPr>
                <a:t>Layer 32</a:t>
              </a:r>
            </a:p>
          </p:txBody>
        </p:sp>
      </p:grpSp>
      <p:grpSp>
        <p:nvGrpSpPr>
          <p:cNvPr id="1134" name="module_question_input_bar"/>
          <p:cNvGrpSpPr/>
          <p:nvPr/>
        </p:nvGrpSpPr>
        <p:grpSpPr>
          <a:xfrm>
            <a:off x="393192" y="5038344"/>
            <a:ext cx="987552" cy="365760"/>
            <a:chOff x="393192" y="5038344"/>
            <a:chExt cx="987552" cy="365760"/>
          </a:xfrm>
        </p:grpSpPr>
        <p:sp>
          <p:nvSpPr>
            <p:cNvPr id="90" name="question_input_bar"/>
            <p:cNvSpPr/>
            <p:nvPr/>
          </p:nvSpPr>
          <p:spPr>
            <a:xfrm>
              <a:off x="393192" y="5038344"/>
              <a:ext cx="987552" cy="365760"/>
            </a:xfrm>
            <a:prstGeom prst="roundRect">
              <a:avLst>
                <a:gd name="adj" fmla="val 12000"/>
              </a:avLst>
            </a:prstGeom>
            <a:solidFill>
              <a:srgbClr val="FFFFFF"/>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question_input_bar_label"/>
            <p:cNvSpPr txBox="1"/>
            <p:nvPr/>
          </p:nvSpPr>
          <p:spPr>
            <a:xfrm>
              <a:off x="438912" y="5047488"/>
              <a:ext cx="896112" cy="347472"/>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7965AA"/>
                  </a:solidFill>
                  <a:latin typeface="DejaVu Sans"/>
                </a:rPr>
                <a:t>Question</a:t>
              </a:r>
            </a:p>
          </p:txBody>
        </p:sp>
      </p:grpSp>
      <p:grpSp>
        <p:nvGrpSpPr>
          <p:cNvPr id="1135" name="module_gold_input_bar"/>
          <p:cNvGrpSpPr/>
          <p:nvPr/>
        </p:nvGrpSpPr>
        <p:grpSpPr>
          <a:xfrm>
            <a:off x="1380744" y="5038344"/>
            <a:ext cx="1307592" cy="365760"/>
            <a:chOff x="1380744" y="5038344"/>
            <a:chExt cx="1307592" cy="365760"/>
          </a:xfrm>
        </p:grpSpPr>
        <p:sp>
          <p:nvSpPr>
            <p:cNvPr id="92" name="gold_input_bar"/>
            <p:cNvSpPr/>
            <p:nvPr/>
          </p:nvSpPr>
          <p:spPr>
            <a:xfrm>
              <a:off x="1380744" y="5038344"/>
              <a:ext cx="1307592" cy="365760"/>
            </a:xfrm>
            <a:prstGeom prst="roundRect">
              <a:avLst>
                <a:gd name="adj" fmla="val 12000"/>
              </a:avLst>
            </a:prstGeom>
            <a:solidFill>
              <a:srgbClr val="FFFFFF"/>
            </a:solidFill>
            <a:ln w="12700">
              <a:solidFill>
                <a:srgbClr val="B86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gold_input_bar_label"/>
            <p:cNvSpPr txBox="1"/>
            <p:nvPr/>
          </p:nvSpPr>
          <p:spPr>
            <a:xfrm>
              <a:off x="1426464" y="5047488"/>
              <a:ext cx="1216151" cy="347472"/>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B86565"/>
                  </a:solidFill>
                  <a:latin typeface="DejaVu Sans"/>
                </a:rPr>
                <a:t>Gold solution</a:t>
              </a:r>
            </a:p>
          </p:txBody>
        </p:sp>
      </p:grpSp>
      <p:grpSp>
        <p:nvGrpSpPr>
          <p:cNvPr id="1136" name="module_trained_reconstruction_map"/>
          <p:cNvGrpSpPr/>
          <p:nvPr/>
        </p:nvGrpSpPr>
        <p:grpSpPr>
          <a:xfrm>
            <a:off x="3675887" y="5678424"/>
            <a:ext cx="1060704" cy="603504"/>
            <a:chOff x="3675887" y="5678424"/>
            <a:chExt cx="1060704" cy="603504"/>
          </a:xfrm>
        </p:grpSpPr>
        <p:sp>
          <p:nvSpPr>
            <p:cNvPr id="98" name="trained_reconstruction_map"/>
            <p:cNvSpPr/>
            <p:nvPr/>
          </p:nvSpPr>
          <p:spPr>
            <a:xfrm>
              <a:off x="3675887" y="5678424"/>
              <a:ext cx="1060704" cy="603504"/>
            </a:xfrm>
            <a:prstGeom prst="roundRect">
              <a:avLst>
                <a:gd name="adj" fmla="val 10606"/>
              </a:avLst>
            </a:prstGeom>
            <a:solidFill>
              <a:srgbClr val="FBF6EF"/>
            </a:solidFill>
            <a:ln w="12700">
              <a:solidFill>
                <a:srgbClr val="C88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rained_reconstruction_map_label"/>
            <p:cNvSpPr txBox="1"/>
            <p:nvPr/>
          </p:nvSpPr>
          <p:spPr>
            <a:xfrm>
              <a:off x="3721607" y="5687568"/>
              <a:ext cx="969263" cy="585216"/>
            </a:xfrm>
            <a:prstGeom prst="rect">
              <a:avLst/>
            </a:prstGeom>
            <a:noFill/>
          </p:spPr>
          <p:txBody>
            <a:bodyPr wrap="none" lIns="0" rIns="0" tIns="0" bIns="0" anchor="ctr">
              <a:spAutoFit/>
            </a:bodyPr>
            <a:lstStyle/>
            <a:p>
              <a:pPr algn="ctr">
                <a:lnSpc>
                  <a:spcPts val="1412"/>
                </a:lnSpc>
                <a:spcBef>
                  <a:spcPts val="0"/>
                </a:spcBef>
                <a:spcAft>
                  <a:spcPts val="0"/>
                </a:spcAft>
              </a:pPr>
              <a:r>
                <a:rPr sz="1250" b="0">
                  <a:solidFill>
                    <a:srgbClr val="233344"/>
                  </a:solidFill>
                  <a:latin typeface="DejaVu Sans"/>
                </a:rPr>
                <a:t>Reconstruct</a:t>
              </a:r>
            </a:p>
            <a:p>
              <a:pPr algn="ctr">
                <a:lnSpc>
                  <a:spcPts val="1412"/>
                </a:lnSpc>
                <a:spcBef>
                  <a:spcPts val="0"/>
                </a:spcBef>
                <a:spcAft>
                  <a:spcPts val="0"/>
                </a:spcAft>
              </a:pPr>
              <a:r>
                <a:rPr sz="1250" b="0">
                  <a:solidFill>
                    <a:srgbClr val="233344"/>
                  </a:solidFill>
                  <a:latin typeface="DejaVu Sans"/>
                </a:rPr>
                <a:t>Dℓ</a:t>
              </a:r>
            </a:p>
          </p:txBody>
        </p:sp>
      </p:grpSp>
      <p:grpSp>
        <p:nvGrpSpPr>
          <p:cNvPr id="1137" name="reconstruction_trainable_icon"/>
          <p:cNvGrpSpPr/>
          <p:nvPr/>
        </p:nvGrpSpPr>
        <p:grpSpPr>
          <a:xfrm>
            <a:off x="4380890" y="5517490"/>
            <a:ext cx="155448" cy="186538"/>
            <a:chOff x="4380890" y="5517490"/>
            <a:chExt cx="155448" cy="186538"/>
          </a:xfrm>
        </p:grpSpPr>
        <p:sp>
          <p:nvSpPr>
            <p:cNvPr id="100" name="path_0098"/>
            <p:cNvSpPr/>
            <p:nvPr/>
          </p:nvSpPr>
          <p:spPr>
            <a:xfrm>
              <a:off x="4380890" y="5517490"/>
              <a:ext cx="155448" cy="186538"/>
            </a:xfrm>
            <a:custGeom>
              <a:avLst/>
              <a:gdLst/>
              <a:ahLst/>
              <a:cxnLst/>
              <a:rect l="l" t="t" r="r" b="b"/>
              <a:pathLst>
                <a:path w="170" h="204">
                  <a:moveTo>
                    <a:pt x="88" y="0"/>
                  </a:moveTo>
                  <a:lnTo>
                    <a:pt x="109" y="36"/>
                  </a:lnTo>
                  <a:lnTo>
                    <a:pt x="107" y="67"/>
                  </a:lnTo>
                  <a:lnTo>
                    <a:pt x="139" y="51"/>
                  </a:lnTo>
                  <a:lnTo>
                    <a:pt x="160" y="86"/>
                  </a:lnTo>
                  <a:lnTo>
                    <a:pt x="170" y="124"/>
                  </a:lnTo>
                  <a:lnTo>
                    <a:pt x="164" y="162"/>
                  </a:lnTo>
                  <a:lnTo>
                    <a:pt x="141" y="191"/>
                  </a:lnTo>
                  <a:lnTo>
                    <a:pt x="99" y="204"/>
                  </a:lnTo>
                  <a:lnTo>
                    <a:pt x="53" y="198"/>
                  </a:lnTo>
                  <a:lnTo>
                    <a:pt x="17" y="177"/>
                  </a:lnTo>
                  <a:lnTo>
                    <a:pt x="0" y="139"/>
                  </a:lnTo>
                  <a:lnTo>
                    <a:pt x="8" y="97"/>
                  </a:lnTo>
                  <a:lnTo>
                    <a:pt x="36" y="63"/>
                  </a:lnTo>
                  <a:lnTo>
                    <a:pt x="31" y="107"/>
                  </a:lnTo>
                  <a:lnTo>
                    <a:pt x="61" y="78"/>
                  </a:lnTo>
                  <a:lnTo>
                    <a:pt x="73" y="44"/>
                  </a:lnTo>
                  <a:close/>
                </a:path>
              </a:pathLst>
            </a:custGeom>
            <a:solidFill>
              <a:srgbClr val="EB8841"/>
            </a:solidFill>
            <a:ln w="8255">
              <a:solidFill>
                <a:srgbClr val="DC77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path_0099"/>
            <p:cNvSpPr/>
            <p:nvPr/>
          </p:nvSpPr>
          <p:spPr>
            <a:xfrm>
              <a:off x="4426610" y="5599786"/>
              <a:ext cx="71323" cy="96926"/>
            </a:xfrm>
            <a:custGeom>
              <a:avLst/>
              <a:gdLst/>
              <a:ahLst/>
              <a:cxnLst/>
              <a:rect l="l" t="t" r="r" b="b"/>
              <a:pathLst>
                <a:path w="78" h="106">
                  <a:moveTo>
                    <a:pt x="42" y="0"/>
                  </a:moveTo>
                  <a:lnTo>
                    <a:pt x="72" y="36"/>
                  </a:lnTo>
                  <a:lnTo>
                    <a:pt x="78" y="70"/>
                  </a:lnTo>
                  <a:lnTo>
                    <a:pt x="65" y="95"/>
                  </a:lnTo>
                  <a:lnTo>
                    <a:pt x="38" y="106"/>
                  </a:lnTo>
                  <a:lnTo>
                    <a:pt x="9" y="91"/>
                  </a:lnTo>
                  <a:lnTo>
                    <a:pt x="0" y="61"/>
                  </a:lnTo>
                  <a:lnTo>
                    <a:pt x="13" y="32"/>
                  </a:lnTo>
                  <a:lnTo>
                    <a:pt x="21" y="66"/>
                  </a:lnTo>
                  <a:close/>
                </a:path>
              </a:pathLst>
            </a:custGeom>
            <a:solidFill>
              <a:srgbClr val="FFD37A"/>
            </a:solidFill>
            <a:ln w="2540">
              <a:solidFill>
                <a:srgbClr val="FFD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138" name="module_frozen_teacher_suffix"/>
          <p:cNvGrpSpPr/>
          <p:nvPr/>
        </p:nvGrpSpPr>
        <p:grpSpPr>
          <a:xfrm>
            <a:off x="1947672" y="5678424"/>
            <a:ext cx="1426464" cy="603504"/>
            <a:chOff x="1947672" y="5678424"/>
            <a:chExt cx="1426464" cy="603504"/>
          </a:xfrm>
        </p:grpSpPr>
        <p:sp>
          <p:nvSpPr>
            <p:cNvPr id="103" name="frozen_teacher_suffix"/>
            <p:cNvSpPr/>
            <p:nvPr/>
          </p:nvSpPr>
          <p:spPr>
            <a:xfrm>
              <a:off x="1947672" y="5678424"/>
              <a:ext cx="1426464" cy="603504"/>
            </a:xfrm>
            <a:prstGeom prst="roundRect">
              <a:avLst>
                <a:gd name="adj" fmla="val 10606"/>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frozen_teacher_suffix_label"/>
            <p:cNvSpPr txBox="1"/>
            <p:nvPr/>
          </p:nvSpPr>
          <p:spPr>
            <a:xfrm>
              <a:off x="1993391" y="5687568"/>
              <a:ext cx="1335024" cy="585216"/>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233344"/>
                  </a:solidFill>
                  <a:latin typeface="DejaVu Sans"/>
                </a:rPr>
                <a:t>Qwen suffix</a:t>
              </a:r>
            </a:p>
            <a:p>
              <a:pPr algn="ctr">
                <a:lnSpc>
                  <a:spcPts val="1468"/>
                </a:lnSpc>
                <a:spcBef>
                  <a:spcPts val="0"/>
                </a:spcBef>
                <a:spcAft>
                  <a:spcPts val="0"/>
                </a:spcAft>
              </a:pPr>
              <a:r>
                <a:rPr sz="1300" b="0">
                  <a:solidFill>
                    <a:srgbClr val="233344"/>
                  </a:solidFill>
                  <a:latin typeface="DejaVu Sans"/>
                </a:rPr>
                <a:t>+ token head</a:t>
              </a:r>
            </a:p>
          </p:txBody>
        </p:sp>
      </p:grpSp>
      <p:grpSp>
        <p:nvGrpSpPr>
          <p:cNvPr id="1139" name="frozen_teacher_suffix_icon"/>
          <p:cNvGrpSpPr/>
          <p:nvPr/>
        </p:nvGrpSpPr>
        <p:grpSpPr>
          <a:xfrm>
            <a:off x="2534717" y="5445252"/>
            <a:ext cx="188366" cy="164592"/>
            <a:chOff x="2534717" y="5445252"/>
            <a:chExt cx="188366" cy="164592"/>
          </a:xfrm>
        </p:grpSpPr>
        <p:sp>
          <p:nvSpPr>
            <p:cNvPr id="105" name="path_0103"/>
            <p:cNvSpPr/>
            <p:nvPr/>
          </p:nvSpPr>
          <p:spPr>
            <a:xfrm>
              <a:off x="2628900" y="5527548"/>
              <a:ext cx="94183" cy="0"/>
            </a:xfrm>
            <a:custGeom>
              <a:avLst/>
              <a:gdLst/>
              <a:ahLst/>
              <a:cxnLst/>
              <a:rect l="l" t="t" r="r" b="b"/>
              <a:pathLst>
                <a:path w="103" h="0">
                  <a:moveTo>
                    <a:pt x="0" y="0"/>
                  </a:moveTo>
                  <a:lnTo>
                    <a:pt x="103"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path_0104"/>
            <p:cNvSpPr/>
            <p:nvPr/>
          </p:nvSpPr>
          <p:spPr>
            <a:xfrm>
              <a:off x="2690165" y="5501945"/>
              <a:ext cx="14630" cy="25603"/>
            </a:xfrm>
            <a:custGeom>
              <a:avLst/>
              <a:gdLst/>
              <a:ahLst/>
              <a:cxnLst/>
              <a:rect l="l" t="t" r="r" b="b"/>
              <a:pathLst>
                <a:path w="16" h="28">
                  <a:moveTo>
                    <a:pt x="0" y="28"/>
                  </a:moveTo>
                  <a:lnTo>
                    <a:pt x="16"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path_0105"/>
            <p:cNvSpPr/>
            <p:nvPr/>
          </p:nvSpPr>
          <p:spPr>
            <a:xfrm>
              <a:off x="2690165" y="5527548"/>
              <a:ext cx="14630" cy="25603"/>
            </a:xfrm>
            <a:custGeom>
              <a:avLst/>
              <a:gdLst/>
              <a:ahLst/>
              <a:cxnLst/>
              <a:rect l="l" t="t" r="r" b="b"/>
              <a:pathLst>
                <a:path w="16" h="28">
                  <a:moveTo>
                    <a:pt x="0" y="0"/>
                  </a:moveTo>
                  <a:lnTo>
                    <a:pt x="16" y="28"/>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path_0106"/>
            <p:cNvSpPr/>
            <p:nvPr/>
          </p:nvSpPr>
          <p:spPr>
            <a:xfrm>
              <a:off x="2628900" y="5527548"/>
              <a:ext cx="47549" cy="82296"/>
            </a:xfrm>
            <a:custGeom>
              <a:avLst/>
              <a:gdLst/>
              <a:ahLst/>
              <a:cxnLst/>
              <a:rect l="l" t="t" r="r" b="b"/>
              <a:pathLst>
                <a:path w="52" h="90">
                  <a:moveTo>
                    <a:pt x="0" y="0"/>
                  </a:moveTo>
                  <a:lnTo>
                    <a:pt x="52" y="9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path_0107"/>
            <p:cNvSpPr/>
            <p:nvPr/>
          </p:nvSpPr>
          <p:spPr>
            <a:xfrm>
              <a:off x="2659990" y="5580583"/>
              <a:ext cx="29261" cy="0"/>
            </a:xfrm>
            <a:custGeom>
              <a:avLst/>
              <a:gdLst/>
              <a:ahLst/>
              <a:cxnLst/>
              <a:rect l="l" t="t" r="r" b="b"/>
              <a:pathLst>
                <a:path w="32" h="0">
                  <a:moveTo>
                    <a:pt x="0" y="0"/>
                  </a:moveTo>
                  <a:lnTo>
                    <a:pt x="32"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path_0108"/>
            <p:cNvSpPr/>
            <p:nvPr/>
          </p:nvSpPr>
          <p:spPr>
            <a:xfrm>
              <a:off x="2645359" y="5580583"/>
              <a:ext cx="14630" cy="25603"/>
            </a:xfrm>
            <a:custGeom>
              <a:avLst/>
              <a:gdLst/>
              <a:ahLst/>
              <a:cxnLst/>
              <a:rect l="l" t="t" r="r" b="b"/>
              <a:pathLst>
                <a:path w="16" h="28">
                  <a:moveTo>
                    <a:pt x="16" y="0"/>
                  </a:moveTo>
                  <a:lnTo>
                    <a:pt x="0" y="28"/>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path_0109"/>
            <p:cNvSpPr/>
            <p:nvPr/>
          </p:nvSpPr>
          <p:spPr>
            <a:xfrm>
              <a:off x="2581351" y="5527548"/>
              <a:ext cx="47549" cy="82296"/>
            </a:xfrm>
            <a:custGeom>
              <a:avLst/>
              <a:gdLst/>
              <a:ahLst/>
              <a:cxnLst/>
              <a:rect l="l" t="t" r="r" b="b"/>
              <a:pathLst>
                <a:path w="52" h="90">
                  <a:moveTo>
                    <a:pt x="52" y="0"/>
                  </a:moveTo>
                  <a:lnTo>
                    <a:pt x="0" y="9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path_0110"/>
            <p:cNvSpPr/>
            <p:nvPr/>
          </p:nvSpPr>
          <p:spPr>
            <a:xfrm>
              <a:off x="2597810" y="5580583"/>
              <a:ext cx="14630" cy="25603"/>
            </a:xfrm>
            <a:custGeom>
              <a:avLst/>
              <a:gdLst/>
              <a:ahLst/>
              <a:cxnLst/>
              <a:rect l="l" t="t" r="r" b="b"/>
              <a:pathLst>
                <a:path w="16" h="28">
                  <a:moveTo>
                    <a:pt x="0" y="0"/>
                  </a:moveTo>
                  <a:lnTo>
                    <a:pt x="16" y="28"/>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path_0111"/>
            <p:cNvSpPr/>
            <p:nvPr/>
          </p:nvSpPr>
          <p:spPr>
            <a:xfrm>
              <a:off x="2568550" y="5580583"/>
              <a:ext cx="29261" cy="0"/>
            </a:xfrm>
            <a:custGeom>
              <a:avLst/>
              <a:gdLst/>
              <a:ahLst/>
              <a:cxnLst/>
              <a:rect l="l" t="t" r="r" b="b"/>
              <a:pathLst>
                <a:path w="32" h="0">
                  <a:moveTo>
                    <a:pt x="32" y="0"/>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path_0112"/>
            <p:cNvSpPr/>
            <p:nvPr/>
          </p:nvSpPr>
          <p:spPr>
            <a:xfrm>
              <a:off x="2534717" y="5527548"/>
              <a:ext cx="94183" cy="0"/>
            </a:xfrm>
            <a:custGeom>
              <a:avLst/>
              <a:gdLst/>
              <a:ahLst/>
              <a:cxnLst/>
              <a:rect l="l" t="t" r="r" b="b"/>
              <a:pathLst>
                <a:path w="103" h="0">
                  <a:moveTo>
                    <a:pt x="103" y="0"/>
                  </a:moveTo>
                  <a:lnTo>
                    <a:pt x="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path_0113"/>
            <p:cNvSpPr/>
            <p:nvPr/>
          </p:nvSpPr>
          <p:spPr>
            <a:xfrm>
              <a:off x="2553005" y="5527548"/>
              <a:ext cx="14630" cy="25603"/>
            </a:xfrm>
            <a:custGeom>
              <a:avLst/>
              <a:gdLst/>
              <a:ahLst/>
              <a:cxnLst/>
              <a:rect l="l" t="t" r="r" b="b"/>
              <a:pathLst>
                <a:path w="16" h="28">
                  <a:moveTo>
                    <a:pt x="16" y="0"/>
                  </a:moveTo>
                  <a:lnTo>
                    <a:pt x="0" y="28"/>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path_0114"/>
            <p:cNvSpPr/>
            <p:nvPr/>
          </p:nvSpPr>
          <p:spPr>
            <a:xfrm>
              <a:off x="2553005" y="5501945"/>
              <a:ext cx="14630" cy="25603"/>
            </a:xfrm>
            <a:custGeom>
              <a:avLst/>
              <a:gdLst/>
              <a:ahLst/>
              <a:cxnLst/>
              <a:rect l="l" t="t" r="r" b="b"/>
              <a:pathLst>
                <a:path w="16" h="28">
                  <a:moveTo>
                    <a:pt x="16" y="28"/>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path_0115"/>
            <p:cNvSpPr/>
            <p:nvPr/>
          </p:nvSpPr>
          <p:spPr>
            <a:xfrm>
              <a:off x="2581351" y="5445252"/>
              <a:ext cx="47549" cy="82296"/>
            </a:xfrm>
            <a:custGeom>
              <a:avLst/>
              <a:gdLst/>
              <a:ahLst/>
              <a:cxnLst/>
              <a:rect l="l" t="t" r="r" b="b"/>
              <a:pathLst>
                <a:path w="52" h="90">
                  <a:moveTo>
                    <a:pt x="52" y="90"/>
                  </a:moveTo>
                  <a:lnTo>
                    <a:pt x="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path_0116"/>
            <p:cNvSpPr/>
            <p:nvPr/>
          </p:nvSpPr>
          <p:spPr>
            <a:xfrm>
              <a:off x="2568550" y="5474513"/>
              <a:ext cx="29261" cy="0"/>
            </a:xfrm>
            <a:custGeom>
              <a:avLst/>
              <a:gdLst/>
              <a:ahLst/>
              <a:cxnLst/>
              <a:rect l="l" t="t" r="r" b="b"/>
              <a:pathLst>
                <a:path w="32" h="0">
                  <a:moveTo>
                    <a:pt x="32" y="0"/>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path_0117"/>
            <p:cNvSpPr/>
            <p:nvPr/>
          </p:nvSpPr>
          <p:spPr>
            <a:xfrm>
              <a:off x="2597810" y="5448910"/>
              <a:ext cx="14630" cy="25603"/>
            </a:xfrm>
            <a:custGeom>
              <a:avLst/>
              <a:gdLst/>
              <a:ahLst/>
              <a:cxnLst/>
              <a:rect l="l" t="t" r="r" b="b"/>
              <a:pathLst>
                <a:path w="16" h="28">
                  <a:moveTo>
                    <a:pt x="0" y="28"/>
                  </a:moveTo>
                  <a:lnTo>
                    <a:pt x="16"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path_0118"/>
            <p:cNvSpPr/>
            <p:nvPr/>
          </p:nvSpPr>
          <p:spPr>
            <a:xfrm>
              <a:off x="2628900" y="5445252"/>
              <a:ext cx="47549" cy="82296"/>
            </a:xfrm>
            <a:custGeom>
              <a:avLst/>
              <a:gdLst/>
              <a:ahLst/>
              <a:cxnLst/>
              <a:rect l="l" t="t" r="r" b="b"/>
              <a:pathLst>
                <a:path w="52" h="90">
                  <a:moveTo>
                    <a:pt x="0" y="90"/>
                  </a:moveTo>
                  <a:lnTo>
                    <a:pt x="52"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path_0119"/>
            <p:cNvSpPr/>
            <p:nvPr/>
          </p:nvSpPr>
          <p:spPr>
            <a:xfrm>
              <a:off x="2645359" y="5448910"/>
              <a:ext cx="14630" cy="25603"/>
            </a:xfrm>
            <a:custGeom>
              <a:avLst/>
              <a:gdLst/>
              <a:ahLst/>
              <a:cxnLst/>
              <a:rect l="l" t="t" r="r" b="b"/>
              <a:pathLst>
                <a:path w="16" h="28">
                  <a:moveTo>
                    <a:pt x="16" y="28"/>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path_0120"/>
            <p:cNvSpPr/>
            <p:nvPr/>
          </p:nvSpPr>
          <p:spPr>
            <a:xfrm>
              <a:off x="2659990" y="5474513"/>
              <a:ext cx="29261" cy="0"/>
            </a:xfrm>
            <a:custGeom>
              <a:avLst/>
              <a:gdLst/>
              <a:ahLst/>
              <a:cxnLst/>
              <a:rect l="l" t="t" r="r" b="b"/>
              <a:pathLst>
                <a:path w="32" h="0">
                  <a:moveTo>
                    <a:pt x="0" y="0"/>
                  </a:moveTo>
                  <a:lnTo>
                    <a:pt x="32"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140" name="module_teacher_CE_objective"/>
          <p:cNvGrpSpPr/>
          <p:nvPr/>
        </p:nvGrpSpPr>
        <p:grpSpPr>
          <a:xfrm>
            <a:off x="448056" y="5678424"/>
            <a:ext cx="1216152" cy="603504"/>
            <a:chOff x="448056" y="5678424"/>
            <a:chExt cx="1216152" cy="603504"/>
          </a:xfrm>
        </p:grpSpPr>
        <p:sp>
          <p:nvSpPr>
            <p:cNvPr id="124" name="teacher_CE_objective"/>
            <p:cNvSpPr/>
            <p:nvPr/>
          </p:nvSpPr>
          <p:spPr>
            <a:xfrm>
              <a:off x="448056" y="5678424"/>
              <a:ext cx="1216152" cy="603504"/>
            </a:xfrm>
            <a:prstGeom prst="roundRect">
              <a:avLst>
                <a:gd name="adj" fmla="val 10606"/>
              </a:avLst>
            </a:prstGeom>
            <a:solidFill>
              <a:srgbClr val="FBF6F6"/>
            </a:solidFill>
            <a:ln w="12700">
              <a:solidFill>
                <a:srgbClr val="B86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acher_CE_objective_label"/>
            <p:cNvSpPr txBox="1"/>
            <p:nvPr/>
          </p:nvSpPr>
          <p:spPr>
            <a:xfrm>
              <a:off x="493776" y="5687568"/>
              <a:ext cx="1124712" cy="585216"/>
            </a:xfrm>
            <a:prstGeom prst="rect">
              <a:avLst/>
            </a:prstGeom>
            <a:noFill/>
          </p:spPr>
          <p:txBody>
            <a:bodyPr wrap="none" lIns="0" rIns="0" tIns="0" bIns="0" anchor="ctr">
              <a:spAutoFit/>
            </a:bodyPr>
            <a:lstStyle/>
            <a:p>
              <a:pPr algn="ctr">
                <a:lnSpc>
                  <a:spcPts val="1581"/>
                </a:lnSpc>
                <a:spcBef>
                  <a:spcPts val="0"/>
                </a:spcBef>
                <a:spcAft>
                  <a:spcPts val="0"/>
                </a:spcAft>
              </a:pPr>
              <a:r>
                <a:rPr sz="1400" b="1">
                  <a:solidFill>
                    <a:srgbClr val="B86565"/>
                  </a:solidFill>
                  <a:latin typeface="DejaVu Sans"/>
                </a:rPr>
                <a:t>Teacher CE</a:t>
              </a:r>
            </a:p>
          </p:txBody>
        </p:sp>
      </p:grpSp>
      <p:grpSp>
        <p:nvGrpSpPr>
          <p:cNvPr id="1141" name="legend_frozen"/>
          <p:cNvGrpSpPr/>
          <p:nvPr/>
        </p:nvGrpSpPr>
        <p:grpSpPr>
          <a:xfrm>
            <a:off x="385877" y="6938467"/>
            <a:ext cx="206654" cy="177394"/>
            <a:chOff x="385877" y="6938467"/>
            <a:chExt cx="206654" cy="177394"/>
          </a:xfrm>
        </p:grpSpPr>
        <p:sp>
          <p:nvSpPr>
            <p:cNvPr id="127" name="path_0125"/>
            <p:cNvSpPr/>
            <p:nvPr/>
          </p:nvSpPr>
          <p:spPr>
            <a:xfrm>
              <a:off x="489204" y="7027164"/>
              <a:ext cx="103327" cy="0"/>
            </a:xfrm>
            <a:custGeom>
              <a:avLst/>
              <a:gdLst/>
              <a:ahLst/>
              <a:cxnLst/>
              <a:rect l="l" t="t" r="r" b="b"/>
              <a:pathLst>
                <a:path w="113" h="0">
                  <a:moveTo>
                    <a:pt x="0" y="0"/>
                  </a:moveTo>
                  <a:lnTo>
                    <a:pt x="113"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path_0126"/>
            <p:cNvSpPr/>
            <p:nvPr/>
          </p:nvSpPr>
          <p:spPr>
            <a:xfrm>
              <a:off x="555955" y="6999732"/>
              <a:ext cx="16459" cy="27432"/>
            </a:xfrm>
            <a:custGeom>
              <a:avLst/>
              <a:gdLst/>
              <a:ahLst/>
              <a:cxnLst/>
              <a:rect l="l" t="t" r="r" b="b"/>
              <a:pathLst>
                <a:path w="18" h="30">
                  <a:moveTo>
                    <a:pt x="0" y="30"/>
                  </a:moveTo>
                  <a:lnTo>
                    <a:pt x="18"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path_0127"/>
            <p:cNvSpPr/>
            <p:nvPr/>
          </p:nvSpPr>
          <p:spPr>
            <a:xfrm>
              <a:off x="555955" y="7027164"/>
              <a:ext cx="16459" cy="27432"/>
            </a:xfrm>
            <a:custGeom>
              <a:avLst/>
              <a:gdLst/>
              <a:ahLst/>
              <a:cxnLst/>
              <a:rect l="l" t="t" r="r" b="b"/>
              <a:pathLst>
                <a:path w="18" h="30">
                  <a:moveTo>
                    <a:pt x="0" y="0"/>
                  </a:moveTo>
                  <a:lnTo>
                    <a:pt x="18" y="3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path_0128"/>
            <p:cNvSpPr/>
            <p:nvPr/>
          </p:nvSpPr>
          <p:spPr>
            <a:xfrm>
              <a:off x="489204" y="7027164"/>
              <a:ext cx="51206" cy="88697"/>
            </a:xfrm>
            <a:custGeom>
              <a:avLst/>
              <a:gdLst/>
              <a:ahLst/>
              <a:cxnLst/>
              <a:rect l="l" t="t" r="r" b="b"/>
              <a:pathLst>
                <a:path w="56" h="97">
                  <a:moveTo>
                    <a:pt x="0" y="0"/>
                  </a:moveTo>
                  <a:lnTo>
                    <a:pt x="56" y="97"/>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path_0129"/>
            <p:cNvSpPr/>
            <p:nvPr/>
          </p:nvSpPr>
          <p:spPr>
            <a:xfrm>
              <a:off x="523037" y="7084771"/>
              <a:ext cx="31090" cy="0"/>
            </a:xfrm>
            <a:custGeom>
              <a:avLst/>
              <a:gdLst/>
              <a:ahLst/>
              <a:cxnLst/>
              <a:rect l="l" t="t" r="r" b="b"/>
              <a:pathLst>
                <a:path w="34" h="0">
                  <a:moveTo>
                    <a:pt x="0" y="0"/>
                  </a:moveTo>
                  <a:lnTo>
                    <a:pt x="34"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path_0130"/>
            <p:cNvSpPr/>
            <p:nvPr/>
          </p:nvSpPr>
          <p:spPr>
            <a:xfrm>
              <a:off x="506578" y="7084771"/>
              <a:ext cx="16459" cy="28346"/>
            </a:xfrm>
            <a:custGeom>
              <a:avLst/>
              <a:gdLst/>
              <a:ahLst/>
              <a:cxnLst/>
              <a:rect l="l" t="t" r="r" b="b"/>
              <a:pathLst>
                <a:path w="18" h="31">
                  <a:moveTo>
                    <a:pt x="18" y="0"/>
                  </a:moveTo>
                  <a:lnTo>
                    <a:pt x="0" y="31"/>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path_0131"/>
            <p:cNvSpPr/>
            <p:nvPr/>
          </p:nvSpPr>
          <p:spPr>
            <a:xfrm>
              <a:off x="437998" y="7027164"/>
              <a:ext cx="51206" cy="88697"/>
            </a:xfrm>
            <a:custGeom>
              <a:avLst/>
              <a:gdLst/>
              <a:ahLst/>
              <a:cxnLst/>
              <a:rect l="l" t="t" r="r" b="b"/>
              <a:pathLst>
                <a:path w="56" h="97">
                  <a:moveTo>
                    <a:pt x="56" y="0"/>
                  </a:moveTo>
                  <a:lnTo>
                    <a:pt x="0" y="97"/>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path_0132"/>
            <p:cNvSpPr/>
            <p:nvPr/>
          </p:nvSpPr>
          <p:spPr>
            <a:xfrm>
              <a:off x="455371" y="7084771"/>
              <a:ext cx="16459" cy="28346"/>
            </a:xfrm>
            <a:custGeom>
              <a:avLst/>
              <a:gdLst/>
              <a:ahLst/>
              <a:cxnLst/>
              <a:rect l="l" t="t" r="r" b="b"/>
              <a:pathLst>
                <a:path w="18" h="31">
                  <a:moveTo>
                    <a:pt x="0" y="0"/>
                  </a:moveTo>
                  <a:lnTo>
                    <a:pt x="18" y="31"/>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path_0133"/>
            <p:cNvSpPr/>
            <p:nvPr/>
          </p:nvSpPr>
          <p:spPr>
            <a:xfrm>
              <a:off x="424282" y="7084771"/>
              <a:ext cx="31090" cy="0"/>
            </a:xfrm>
            <a:custGeom>
              <a:avLst/>
              <a:gdLst/>
              <a:ahLst/>
              <a:cxnLst/>
              <a:rect l="l" t="t" r="r" b="b"/>
              <a:pathLst>
                <a:path w="34" h="0">
                  <a:moveTo>
                    <a:pt x="34" y="0"/>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path_0134"/>
            <p:cNvSpPr/>
            <p:nvPr/>
          </p:nvSpPr>
          <p:spPr>
            <a:xfrm>
              <a:off x="385877" y="7027164"/>
              <a:ext cx="103327" cy="0"/>
            </a:xfrm>
            <a:custGeom>
              <a:avLst/>
              <a:gdLst/>
              <a:ahLst/>
              <a:cxnLst/>
              <a:rect l="l" t="t" r="r" b="b"/>
              <a:pathLst>
                <a:path w="113" h="0">
                  <a:moveTo>
                    <a:pt x="113" y="0"/>
                  </a:moveTo>
                  <a:lnTo>
                    <a:pt x="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path_0135"/>
            <p:cNvSpPr/>
            <p:nvPr/>
          </p:nvSpPr>
          <p:spPr>
            <a:xfrm>
              <a:off x="405994" y="7027164"/>
              <a:ext cx="16459" cy="27432"/>
            </a:xfrm>
            <a:custGeom>
              <a:avLst/>
              <a:gdLst/>
              <a:ahLst/>
              <a:cxnLst/>
              <a:rect l="l" t="t" r="r" b="b"/>
              <a:pathLst>
                <a:path w="18" h="30">
                  <a:moveTo>
                    <a:pt x="18" y="0"/>
                  </a:moveTo>
                  <a:lnTo>
                    <a:pt x="0" y="3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path_0136"/>
            <p:cNvSpPr/>
            <p:nvPr/>
          </p:nvSpPr>
          <p:spPr>
            <a:xfrm>
              <a:off x="405994" y="6999732"/>
              <a:ext cx="16459" cy="27432"/>
            </a:xfrm>
            <a:custGeom>
              <a:avLst/>
              <a:gdLst/>
              <a:ahLst/>
              <a:cxnLst/>
              <a:rect l="l" t="t" r="r" b="b"/>
              <a:pathLst>
                <a:path w="18" h="30">
                  <a:moveTo>
                    <a:pt x="18" y="30"/>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path_0137"/>
            <p:cNvSpPr/>
            <p:nvPr/>
          </p:nvSpPr>
          <p:spPr>
            <a:xfrm>
              <a:off x="437998" y="6938467"/>
              <a:ext cx="51206" cy="88697"/>
            </a:xfrm>
            <a:custGeom>
              <a:avLst/>
              <a:gdLst/>
              <a:ahLst/>
              <a:cxnLst/>
              <a:rect l="l" t="t" r="r" b="b"/>
              <a:pathLst>
                <a:path w="56" h="97">
                  <a:moveTo>
                    <a:pt x="56" y="97"/>
                  </a:moveTo>
                  <a:lnTo>
                    <a:pt x="0"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path_0138"/>
            <p:cNvSpPr/>
            <p:nvPr/>
          </p:nvSpPr>
          <p:spPr>
            <a:xfrm>
              <a:off x="424282" y="6969557"/>
              <a:ext cx="31090" cy="0"/>
            </a:xfrm>
            <a:custGeom>
              <a:avLst/>
              <a:gdLst/>
              <a:ahLst/>
              <a:cxnLst/>
              <a:rect l="l" t="t" r="r" b="b"/>
              <a:pathLst>
                <a:path w="34" h="0">
                  <a:moveTo>
                    <a:pt x="34" y="0"/>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path_0139"/>
            <p:cNvSpPr/>
            <p:nvPr/>
          </p:nvSpPr>
          <p:spPr>
            <a:xfrm>
              <a:off x="455371" y="6941210"/>
              <a:ext cx="16459" cy="28346"/>
            </a:xfrm>
            <a:custGeom>
              <a:avLst/>
              <a:gdLst/>
              <a:ahLst/>
              <a:cxnLst/>
              <a:rect l="l" t="t" r="r" b="b"/>
              <a:pathLst>
                <a:path w="18" h="31">
                  <a:moveTo>
                    <a:pt x="0" y="31"/>
                  </a:moveTo>
                  <a:lnTo>
                    <a:pt x="18"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path_0140"/>
            <p:cNvSpPr/>
            <p:nvPr/>
          </p:nvSpPr>
          <p:spPr>
            <a:xfrm>
              <a:off x="489204" y="6938467"/>
              <a:ext cx="51206" cy="88697"/>
            </a:xfrm>
            <a:custGeom>
              <a:avLst/>
              <a:gdLst/>
              <a:ahLst/>
              <a:cxnLst/>
              <a:rect l="l" t="t" r="r" b="b"/>
              <a:pathLst>
                <a:path w="56" h="97">
                  <a:moveTo>
                    <a:pt x="0" y="97"/>
                  </a:moveTo>
                  <a:lnTo>
                    <a:pt x="56" y="0"/>
                  </a:lnTo>
                </a:path>
              </a:pathLst>
            </a:custGeom>
            <a:noFill/>
            <a:ln w="15875">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path_0141"/>
            <p:cNvSpPr/>
            <p:nvPr/>
          </p:nvSpPr>
          <p:spPr>
            <a:xfrm>
              <a:off x="506578" y="6941210"/>
              <a:ext cx="16459" cy="28346"/>
            </a:xfrm>
            <a:custGeom>
              <a:avLst/>
              <a:gdLst/>
              <a:ahLst/>
              <a:cxnLst/>
              <a:rect l="l" t="t" r="r" b="b"/>
              <a:pathLst>
                <a:path w="18" h="31">
                  <a:moveTo>
                    <a:pt x="18" y="31"/>
                  </a:moveTo>
                  <a:lnTo>
                    <a:pt x="0"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path_0142"/>
            <p:cNvSpPr/>
            <p:nvPr/>
          </p:nvSpPr>
          <p:spPr>
            <a:xfrm>
              <a:off x="523037" y="6969557"/>
              <a:ext cx="31090" cy="0"/>
            </a:xfrm>
            <a:custGeom>
              <a:avLst/>
              <a:gdLst/>
              <a:ahLst/>
              <a:cxnLst/>
              <a:rect l="l" t="t" r="r" b="b"/>
              <a:pathLst>
                <a:path w="34" h="0">
                  <a:moveTo>
                    <a:pt x="0" y="0"/>
                  </a:moveTo>
                  <a:lnTo>
                    <a:pt x="34" y="0"/>
                  </a:lnTo>
                </a:path>
              </a:pathLst>
            </a:custGeom>
            <a:noFill/>
            <a:ln w="12700">
              <a:solidFill>
                <a:srgbClr val="459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142" name="legend_trained"/>
          <p:cNvGrpSpPr/>
          <p:nvPr/>
        </p:nvGrpSpPr>
        <p:grpSpPr>
          <a:xfrm>
            <a:off x="1679753" y="6890004"/>
            <a:ext cx="200254" cy="239573"/>
            <a:chOff x="1679753" y="6890004"/>
            <a:chExt cx="200254" cy="239573"/>
          </a:xfrm>
        </p:grpSpPr>
        <p:sp>
          <p:nvSpPr>
            <p:cNvPr id="146" name="path_0144"/>
            <p:cNvSpPr/>
            <p:nvPr/>
          </p:nvSpPr>
          <p:spPr>
            <a:xfrm>
              <a:off x="1679753" y="6890004"/>
              <a:ext cx="200254" cy="239573"/>
            </a:xfrm>
            <a:custGeom>
              <a:avLst/>
              <a:gdLst/>
              <a:ahLst/>
              <a:cxnLst/>
              <a:rect l="l" t="t" r="r" b="b"/>
              <a:pathLst>
                <a:path w="219" h="262">
                  <a:moveTo>
                    <a:pt x="113" y="0"/>
                  </a:moveTo>
                  <a:lnTo>
                    <a:pt x="140" y="46"/>
                  </a:lnTo>
                  <a:lnTo>
                    <a:pt x="138" y="87"/>
                  </a:lnTo>
                  <a:lnTo>
                    <a:pt x="178" y="65"/>
                  </a:lnTo>
                  <a:lnTo>
                    <a:pt x="205" y="111"/>
                  </a:lnTo>
                  <a:lnTo>
                    <a:pt x="219" y="160"/>
                  </a:lnTo>
                  <a:lnTo>
                    <a:pt x="211" y="208"/>
                  </a:lnTo>
                  <a:lnTo>
                    <a:pt x="181" y="246"/>
                  </a:lnTo>
                  <a:lnTo>
                    <a:pt x="127" y="262"/>
                  </a:lnTo>
                  <a:lnTo>
                    <a:pt x="67" y="254"/>
                  </a:lnTo>
                  <a:lnTo>
                    <a:pt x="22" y="227"/>
                  </a:lnTo>
                  <a:lnTo>
                    <a:pt x="0" y="179"/>
                  </a:lnTo>
                  <a:lnTo>
                    <a:pt x="11" y="125"/>
                  </a:lnTo>
                  <a:lnTo>
                    <a:pt x="46" y="81"/>
                  </a:lnTo>
                  <a:lnTo>
                    <a:pt x="41" y="138"/>
                  </a:lnTo>
                  <a:lnTo>
                    <a:pt x="78" y="100"/>
                  </a:lnTo>
                  <a:lnTo>
                    <a:pt x="95" y="57"/>
                  </a:lnTo>
                  <a:close/>
                </a:path>
              </a:pathLst>
            </a:custGeom>
            <a:solidFill>
              <a:srgbClr val="EB8841"/>
            </a:solidFill>
            <a:ln w="8255">
              <a:solidFill>
                <a:srgbClr val="DC77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path_0145"/>
            <p:cNvSpPr/>
            <p:nvPr/>
          </p:nvSpPr>
          <p:spPr>
            <a:xfrm>
              <a:off x="1739189" y="6996989"/>
              <a:ext cx="91440" cy="122530"/>
            </a:xfrm>
            <a:custGeom>
              <a:avLst/>
              <a:gdLst/>
              <a:ahLst/>
              <a:cxnLst/>
              <a:rect l="l" t="t" r="r" b="b"/>
              <a:pathLst>
                <a:path w="100" h="134">
                  <a:moveTo>
                    <a:pt x="54" y="0"/>
                  </a:moveTo>
                  <a:lnTo>
                    <a:pt x="92" y="45"/>
                  </a:lnTo>
                  <a:lnTo>
                    <a:pt x="100" y="89"/>
                  </a:lnTo>
                  <a:lnTo>
                    <a:pt x="84" y="121"/>
                  </a:lnTo>
                  <a:lnTo>
                    <a:pt x="48" y="134"/>
                  </a:lnTo>
                  <a:lnTo>
                    <a:pt x="11" y="116"/>
                  </a:lnTo>
                  <a:lnTo>
                    <a:pt x="0" y="78"/>
                  </a:lnTo>
                  <a:lnTo>
                    <a:pt x="16" y="40"/>
                  </a:lnTo>
                  <a:lnTo>
                    <a:pt x="27" y="83"/>
                  </a:lnTo>
                  <a:close/>
                </a:path>
              </a:pathLst>
            </a:custGeom>
            <a:solidFill>
              <a:srgbClr val="FFD37A"/>
            </a:solidFill>
            <a:ln w="2540">
              <a:solidFill>
                <a:srgbClr val="FFD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143" name="stage_2_heading"/>
          <p:cNvGrpSpPr/>
          <p:nvPr/>
        </p:nvGrpSpPr>
        <p:grpSpPr>
          <a:xfrm>
            <a:off x="5212080" y="210312"/>
            <a:ext cx="2898648" cy="539496"/>
            <a:chOff x="5212080" y="210312"/>
            <a:chExt cx="2898648" cy="539496"/>
          </a:xfrm>
        </p:grpSpPr>
        <p:sp>
          <p:nvSpPr>
            <p:cNvPr id="149" name="rect_0147"/>
            <p:cNvSpPr/>
            <p:nvPr/>
          </p:nvSpPr>
          <p:spPr>
            <a:xfrm>
              <a:off x="5212080" y="210312"/>
              <a:ext cx="2898648" cy="539496"/>
            </a:xfrm>
            <a:prstGeom prst="roundRect">
              <a:avLst>
                <a:gd name="adj" fmla="val 12000"/>
              </a:avLst>
            </a:prstGeom>
            <a:solidFill>
              <a:srgbClr val="F3F6F9"/>
            </a:solidFill>
            <a:ln w="1270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_0148"/>
            <p:cNvSpPr txBox="1"/>
            <p:nvPr/>
          </p:nvSpPr>
          <p:spPr>
            <a:xfrm>
              <a:off x="5330952" y="237744"/>
              <a:ext cx="274320" cy="457200"/>
            </a:xfrm>
            <a:prstGeom prst="rect">
              <a:avLst/>
            </a:prstGeom>
            <a:noFill/>
          </p:spPr>
          <p:txBody>
            <a:bodyPr wrap="none" lIns="0" rIns="0" tIns="0" bIns="0" anchor="ctr">
              <a:spAutoFit/>
            </a:bodyPr>
            <a:lstStyle/>
            <a:p>
              <a:pPr algn="ctr">
                <a:lnSpc>
                  <a:spcPts val="2372"/>
                </a:lnSpc>
                <a:spcBef>
                  <a:spcPts val="0"/>
                </a:spcBef>
                <a:spcAft>
                  <a:spcPts val="0"/>
                </a:spcAft>
              </a:pPr>
              <a:r>
                <a:rPr sz="2100" b="1">
                  <a:solidFill>
                    <a:srgbClr val="63758A"/>
                  </a:solidFill>
                  <a:latin typeface="DejaVu Sans"/>
                </a:rPr>
                <a:t>2</a:t>
              </a:r>
            </a:p>
          </p:txBody>
        </p:sp>
        <p:sp>
          <p:nvSpPr>
            <p:cNvPr id="151" name="text_0149"/>
            <p:cNvSpPr txBox="1"/>
            <p:nvPr/>
          </p:nvSpPr>
          <p:spPr>
            <a:xfrm>
              <a:off x="5660136" y="237744"/>
              <a:ext cx="2377440" cy="457200"/>
            </a:xfrm>
            <a:prstGeom prst="rect">
              <a:avLst/>
            </a:prstGeom>
            <a:noFill/>
          </p:spPr>
          <p:txBody>
            <a:bodyPr wrap="none" lIns="0" rIns="0" tIns="0" bIns="0" anchor="ctr">
              <a:spAutoFit/>
            </a:bodyPr>
            <a:lstStyle/>
            <a:p>
              <a:pPr algn="l">
                <a:lnSpc>
                  <a:spcPts val="2033"/>
                </a:lnSpc>
                <a:spcBef>
                  <a:spcPts val="0"/>
                </a:spcBef>
                <a:spcAft>
                  <a:spcPts val="0"/>
                </a:spcAft>
              </a:pPr>
              <a:r>
                <a:rPr sz="1800" b="1">
                  <a:solidFill>
                    <a:srgbClr val="233344"/>
                  </a:solidFill>
                  <a:latin typeface="DejaVu Sans"/>
                </a:rPr>
                <a:t>Flow training</a:t>
              </a:r>
            </a:p>
          </p:txBody>
        </p:sp>
      </p:grpSp>
      <p:grpSp>
        <p:nvGrpSpPr>
          <p:cNvPr id="1144" name="module_rect_0150"/>
          <p:cNvGrpSpPr/>
          <p:nvPr/>
        </p:nvGrpSpPr>
        <p:grpSpPr>
          <a:xfrm>
            <a:off x="5330952" y="1033271"/>
            <a:ext cx="1207008" cy="393192"/>
            <a:chOff x="5330952" y="1033271"/>
            <a:chExt cx="1207008" cy="393192"/>
          </a:xfrm>
        </p:grpSpPr>
        <p:sp>
          <p:nvSpPr>
            <p:cNvPr id="152" name="rect_0150"/>
            <p:cNvSpPr/>
            <p:nvPr/>
          </p:nvSpPr>
          <p:spPr>
            <a:xfrm>
              <a:off x="5330952" y="1033271"/>
              <a:ext cx="1207008" cy="393192"/>
            </a:xfrm>
            <a:prstGeom prst="roundRect">
              <a:avLst>
                <a:gd name="adj" fmla="val 12000"/>
              </a:avLst>
            </a:prstGeom>
            <a:solidFill>
              <a:srgbClr val="FFFFFF"/>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_0151"/>
            <p:cNvSpPr txBox="1"/>
            <p:nvPr/>
          </p:nvSpPr>
          <p:spPr>
            <a:xfrm>
              <a:off x="5376672" y="1042415"/>
              <a:ext cx="1115568" cy="374904"/>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7965AA"/>
                  </a:solidFill>
                  <a:latin typeface="DejaVu Sans"/>
                </a:rPr>
                <a:t>Question</a:t>
              </a:r>
            </a:p>
          </p:txBody>
        </p:sp>
      </p:grpSp>
      <p:grpSp>
        <p:nvGrpSpPr>
          <p:cNvPr id="1145" name="module_rect_0152"/>
          <p:cNvGrpSpPr/>
          <p:nvPr/>
        </p:nvGrpSpPr>
        <p:grpSpPr>
          <a:xfrm>
            <a:off x="6784848" y="1033271"/>
            <a:ext cx="1197864" cy="393192"/>
            <a:chOff x="6784848" y="1033271"/>
            <a:chExt cx="1197864" cy="393192"/>
          </a:xfrm>
        </p:grpSpPr>
        <p:sp>
          <p:nvSpPr>
            <p:cNvPr id="154" name="rect_0152"/>
            <p:cNvSpPr/>
            <p:nvPr/>
          </p:nvSpPr>
          <p:spPr>
            <a:xfrm>
              <a:off x="6784848" y="1033271"/>
              <a:ext cx="1197864" cy="393192"/>
            </a:xfrm>
            <a:prstGeom prst="roundRect">
              <a:avLst>
                <a:gd name="adj" fmla="val 12000"/>
              </a:avLst>
            </a:prstGeom>
            <a:solidFill>
              <a:srgbClr val="FFFFFF"/>
            </a:solidFill>
            <a:ln w="12700">
              <a:solidFill>
                <a:srgbClr val="B86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_0153"/>
            <p:cNvSpPr txBox="1"/>
            <p:nvPr/>
          </p:nvSpPr>
          <p:spPr>
            <a:xfrm>
              <a:off x="6830568" y="1042415"/>
              <a:ext cx="1106424" cy="374904"/>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B86565"/>
                  </a:solidFill>
                  <a:latin typeface="DejaVu Sans"/>
                </a:rPr>
                <a:t>Gold latent x</a:t>
              </a:r>
            </a:p>
          </p:txBody>
        </p:sp>
      </p:grpSp>
      <p:grpSp>
        <p:nvGrpSpPr>
          <p:cNvPr id="1146" name="module_prompt_encoder_v2"/>
          <p:cNvGrpSpPr/>
          <p:nvPr/>
        </p:nvGrpSpPr>
        <p:grpSpPr>
          <a:xfrm>
            <a:off x="5330952" y="1920240"/>
            <a:ext cx="1261872" cy="630936"/>
            <a:chOff x="5330952" y="1920240"/>
            <a:chExt cx="1261872" cy="630936"/>
          </a:xfrm>
        </p:grpSpPr>
        <p:sp>
          <p:nvSpPr>
            <p:cNvPr id="157" name="prompt_encoder_v2"/>
            <p:cNvSpPr/>
            <p:nvPr/>
          </p:nvSpPr>
          <p:spPr>
            <a:xfrm>
              <a:off x="5330952" y="1920240"/>
              <a:ext cx="1261872" cy="630936"/>
            </a:xfrm>
            <a:prstGeom prst="roundRect">
              <a:avLst>
                <a:gd name="adj" fmla="val 10144"/>
              </a:avLst>
            </a:prstGeom>
            <a:solidFill>
              <a:srgbClr val="F3F1F7"/>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prompt_encoder_v2_label"/>
            <p:cNvSpPr txBox="1"/>
            <p:nvPr/>
          </p:nvSpPr>
          <p:spPr>
            <a:xfrm>
              <a:off x="5376672" y="1929384"/>
              <a:ext cx="1170431" cy="612647"/>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Prompt</a:t>
              </a:r>
            </a:p>
            <a:p>
              <a:pPr algn="ctr">
                <a:lnSpc>
                  <a:spcPts val="1920"/>
                </a:lnSpc>
                <a:spcBef>
                  <a:spcPts val="0"/>
                </a:spcBef>
                <a:spcAft>
                  <a:spcPts val="0"/>
                </a:spcAft>
              </a:pPr>
              <a:r>
                <a:rPr sz="1700" b="0">
                  <a:solidFill>
                    <a:srgbClr val="233344"/>
                  </a:solidFill>
                  <a:latin typeface="DejaVu Sans"/>
                </a:rPr>
                <a:t>encoder</a:t>
              </a:r>
            </a:p>
          </p:txBody>
        </p:sp>
      </p:grpSp>
      <p:grpSp>
        <p:nvGrpSpPr>
          <p:cNvPr id="1147" name="prompt_encoder_trained"/>
          <p:cNvGrpSpPr/>
          <p:nvPr/>
        </p:nvGrpSpPr>
        <p:grpSpPr>
          <a:xfrm>
            <a:off x="6368796" y="1696212"/>
            <a:ext cx="185623" cy="222199"/>
            <a:chOff x="6368796" y="1696212"/>
            <a:chExt cx="185623" cy="222199"/>
          </a:xfrm>
        </p:grpSpPr>
        <p:sp>
          <p:nvSpPr>
            <p:cNvPr id="159" name="path_0157"/>
            <p:cNvSpPr/>
            <p:nvPr/>
          </p:nvSpPr>
          <p:spPr>
            <a:xfrm>
              <a:off x="6368796" y="1696212"/>
              <a:ext cx="185623" cy="222199"/>
            </a:xfrm>
            <a:custGeom>
              <a:avLst/>
              <a:gdLst/>
              <a:ahLst/>
              <a:cxnLst/>
              <a:rect l="l" t="t" r="r" b="b"/>
              <a:pathLst>
                <a:path w="203" h="243">
                  <a:moveTo>
                    <a:pt x="105" y="0"/>
                  </a:moveTo>
                  <a:lnTo>
                    <a:pt x="130" y="43"/>
                  </a:lnTo>
                  <a:lnTo>
                    <a:pt x="127" y="80"/>
                  </a:lnTo>
                  <a:lnTo>
                    <a:pt x="165" y="60"/>
                  </a:lnTo>
                  <a:lnTo>
                    <a:pt x="190" y="103"/>
                  </a:lnTo>
                  <a:lnTo>
                    <a:pt x="203" y="147"/>
                  </a:lnTo>
                  <a:lnTo>
                    <a:pt x="195" y="193"/>
                  </a:lnTo>
                  <a:lnTo>
                    <a:pt x="167" y="227"/>
                  </a:lnTo>
                  <a:lnTo>
                    <a:pt x="118" y="243"/>
                  </a:lnTo>
                  <a:lnTo>
                    <a:pt x="63" y="235"/>
                  </a:lnTo>
                  <a:lnTo>
                    <a:pt x="20" y="210"/>
                  </a:lnTo>
                  <a:lnTo>
                    <a:pt x="0" y="165"/>
                  </a:lnTo>
                  <a:lnTo>
                    <a:pt x="10" y="115"/>
                  </a:lnTo>
                  <a:lnTo>
                    <a:pt x="43" y="75"/>
                  </a:lnTo>
                  <a:lnTo>
                    <a:pt x="37" y="128"/>
                  </a:lnTo>
                  <a:lnTo>
                    <a:pt x="73" y="93"/>
                  </a:lnTo>
                  <a:lnTo>
                    <a:pt x="87" y="53"/>
                  </a:lnTo>
                  <a:close/>
                </a:path>
              </a:pathLst>
            </a:custGeom>
            <a:solidFill>
              <a:srgbClr val="EB8841"/>
            </a:solidFill>
            <a:ln w="8255">
              <a:solidFill>
                <a:srgbClr val="DC77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path_0158"/>
            <p:cNvSpPr/>
            <p:nvPr/>
          </p:nvSpPr>
          <p:spPr>
            <a:xfrm>
              <a:off x="6423660" y="1794967"/>
              <a:ext cx="85039" cy="114300"/>
            </a:xfrm>
            <a:custGeom>
              <a:avLst/>
              <a:gdLst/>
              <a:ahLst/>
              <a:cxnLst/>
              <a:rect l="l" t="t" r="r" b="b"/>
              <a:pathLst>
                <a:path w="93" h="125">
                  <a:moveTo>
                    <a:pt x="50" y="0"/>
                  </a:moveTo>
                  <a:lnTo>
                    <a:pt x="85" y="42"/>
                  </a:lnTo>
                  <a:lnTo>
                    <a:pt x="93" y="82"/>
                  </a:lnTo>
                  <a:lnTo>
                    <a:pt x="77" y="112"/>
                  </a:lnTo>
                  <a:lnTo>
                    <a:pt x="45" y="125"/>
                  </a:lnTo>
                  <a:lnTo>
                    <a:pt x="10" y="107"/>
                  </a:lnTo>
                  <a:lnTo>
                    <a:pt x="0" y="72"/>
                  </a:lnTo>
                  <a:lnTo>
                    <a:pt x="15" y="37"/>
                  </a:lnTo>
                  <a:lnTo>
                    <a:pt x="25" y="77"/>
                  </a:lnTo>
                  <a:close/>
                </a:path>
              </a:pathLst>
            </a:custGeom>
            <a:solidFill>
              <a:srgbClr val="FFD37A"/>
            </a:solidFill>
            <a:ln w="2540">
              <a:solidFill>
                <a:srgbClr val="FFD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148" name="module_answer_corruption"/>
          <p:cNvGrpSpPr/>
          <p:nvPr/>
        </p:nvGrpSpPr>
        <p:grpSpPr>
          <a:xfrm>
            <a:off x="6784848" y="1920240"/>
            <a:ext cx="1197864" cy="630936"/>
            <a:chOff x="6784848" y="1920240"/>
            <a:chExt cx="1197864" cy="630936"/>
          </a:xfrm>
        </p:grpSpPr>
        <p:sp>
          <p:nvSpPr>
            <p:cNvPr id="162" name="answer_corruption"/>
            <p:cNvSpPr/>
            <p:nvPr/>
          </p:nvSpPr>
          <p:spPr>
            <a:xfrm>
              <a:off x="6784848" y="1920240"/>
              <a:ext cx="1197864" cy="630936"/>
            </a:xfrm>
            <a:prstGeom prst="roundRect">
              <a:avLst>
                <a:gd name="adj" fmla="val 10144"/>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answer_corruption_label"/>
            <p:cNvSpPr txBox="1"/>
            <p:nvPr/>
          </p:nvSpPr>
          <p:spPr>
            <a:xfrm>
              <a:off x="6830568" y="1929384"/>
              <a:ext cx="1106424" cy="612647"/>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Add noise</a:t>
              </a:r>
            </a:p>
          </p:txBody>
        </p:sp>
      </p:grpSp>
      <p:grpSp>
        <p:nvGrpSpPr>
          <p:cNvPr id="1149" name="module_clean_prompt_v2"/>
          <p:cNvGrpSpPr/>
          <p:nvPr/>
        </p:nvGrpSpPr>
        <p:grpSpPr>
          <a:xfrm>
            <a:off x="5349240" y="3127248"/>
            <a:ext cx="1234440" cy="411480"/>
            <a:chOff x="5349240" y="3127248"/>
            <a:chExt cx="1234440" cy="411480"/>
          </a:xfrm>
        </p:grpSpPr>
        <p:sp>
          <p:nvSpPr>
            <p:cNvPr id="166" name="clean_prompt_v2"/>
            <p:cNvSpPr/>
            <p:nvPr/>
          </p:nvSpPr>
          <p:spPr>
            <a:xfrm>
              <a:off x="5349240" y="3127248"/>
              <a:ext cx="1234440" cy="411480"/>
            </a:xfrm>
            <a:prstGeom prst="roundRect">
              <a:avLst>
                <a:gd name="adj" fmla="val 12000"/>
              </a:avLst>
            </a:prstGeom>
            <a:solidFill>
              <a:srgbClr val="EFEDF5"/>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clean_prompt_v2_label"/>
            <p:cNvSpPr txBox="1"/>
            <p:nvPr/>
          </p:nvSpPr>
          <p:spPr>
            <a:xfrm>
              <a:off x="5394959" y="3136391"/>
              <a:ext cx="1143000" cy="393192"/>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7965AA"/>
                  </a:solidFill>
                  <a:latin typeface="DejaVu Sans"/>
                </a:rPr>
                <a:t>Clean c</a:t>
              </a:r>
            </a:p>
          </p:txBody>
        </p:sp>
      </p:grpSp>
      <p:grpSp>
        <p:nvGrpSpPr>
          <p:cNvPr id="1150" name="module_noisy_answer_label_only"/>
          <p:cNvGrpSpPr/>
          <p:nvPr/>
        </p:nvGrpSpPr>
        <p:grpSpPr>
          <a:xfrm>
            <a:off x="6784848" y="3127248"/>
            <a:ext cx="1197864" cy="411480"/>
            <a:chOff x="6784848" y="3127248"/>
            <a:chExt cx="1197864" cy="411480"/>
          </a:xfrm>
        </p:grpSpPr>
        <p:sp>
          <p:nvSpPr>
            <p:cNvPr id="168" name="noisy_answer_label_only"/>
            <p:cNvSpPr/>
            <p:nvPr/>
          </p:nvSpPr>
          <p:spPr>
            <a:xfrm>
              <a:off x="6784848" y="3127248"/>
              <a:ext cx="1197864" cy="411480"/>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noisy_answer_label_only_label"/>
            <p:cNvSpPr txBox="1"/>
            <p:nvPr/>
          </p:nvSpPr>
          <p:spPr>
            <a:xfrm>
              <a:off x="6830568" y="3136391"/>
              <a:ext cx="1106424" cy="393192"/>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Noisy zt</a:t>
              </a:r>
            </a:p>
          </p:txBody>
        </p:sp>
      </p:grpSp>
      <p:grpSp>
        <p:nvGrpSpPr>
          <p:cNvPr id="1151" name="shared_ELF_trained"/>
          <p:cNvGrpSpPr/>
          <p:nvPr/>
        </p:nvGrpSpPr>
        <p:grpSpPr>
          <a:xfrm>
            <a:off x="7712050" y="3680460"/>
            <a:ext cx="177394" cy="213055"/>
            <a:chOff x="7712050" y="3680460"/>
            <a:chExt cx="177394" cy="213055"/>
          </a:xfrm>
        </p:grpSpPr>
        <p:sp>
          <p:nvSpPr>
            <p:cNvPr id="175" name="path_0173"/>
            <p:cNvSpPr/>
            <p:nvPr/>
          </p:nvSpPr>
          <p:spPr>
            <a:xfrm>
              <a:off x="7712050" y="3680460"/>
              <a:ext cx="177394" cy="213055"/>
            </a:xfrm>
            <a:custGeom>
              <a:avLst/>
              <a:gdLst/>
              <a:ahLst/>
              <a:cxnLst/>
              <a:rect l="l" t="t" r="r" b="b"/>
              <a:pathLst>
                <a:path w="194" h="233">
                  <a:moveTo>
                    <a:pt x="101" y="0"/>
                  </a:moveTo>
                  <a:lnTo>
                    <a:pt x="125" y="41"/>
                  </a:lnTo>
                  <a:lnTo>
                    <a:pt x="122" y="77"/>
                  </a:lnTo>
                  <a:lnTo>
                    <a:pt x="158" y="57"/>
                  </a:lnTo>
                  <a:lnTo>
                    <a:pt x="182" y="98"/>
                  </a:lnTo>
                  <a:lnTo>
                    <a:pt x="194" y="141"/>
                  </a:lnTo>
                  <a:lnTo>
                    <a:pt x="187" y="185"/>
                  </a:lnTo>
                  <a:lnTo>
                    <a:pt x="161" y="218"/>
                  </a:lnTo>
                  <a:lnTo>
                    <a:pt x="113" y="233"/>
                  </a:lnTo>
                  <a:lnTo>
                    <a:pt x="60" y="225"/>
                  </a:lnTo>
                  <a:lnTo>
                    <a:pt x="19" y="201"/>
                  </a:lnTo>
                  <a:lnTo>
                    <a:pt x="0" y="158"/>
                  </a:lnTo>
                  <a:lnTo>
                    <a:pt x="10" y="110"/>
                  </a:lnTo>
                  <a:lnTo>
                    <a:pt x="41" y="72"/>
                  </a:lnTo>
                  <a:lnTo>
                    <a:pt x="36" y="122"/>
                  </a:lnTo>
                  <a:lnTo>
                    <a:pt x="70" y="89"/>
                  </a:lnTo>
                  <a:lnTo>
                    <a:pt x="84" y="50"/>
                  </a:lnTo>
                  <a:close/>
                </a:path>
              </a:pathLst>
            </a:custGeom>
            <a:solidFill>
              <a:srgbClr val="EB8841"/>
            </a:solidFill>
            <a:ln w="8255">
              <a:solidFill>
                <a:srgbClr val="DC77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path_0174"/>
            <p:cNvSpPr/>
            <p:nvPr/>
          </p:nvSpPr>
          <p:spPr>
            <a:xfrm>
              <a:off x="7765085" y="3774643"/>
              <a:ext cx="80467" cy="109728"/>
            </a:xfrm>
            <a:custGeom>
              <a:avLst/>
              <a:gdLst/>
              <a:ahLst/>
              <a:cxnLst/>
              <a:rect l="l" t="t" r="r" b="b"/>
              <a:pathLst>
                <a:path w="88" h="120">
                  <a:moveTo>
                    <a:pt x="48" y="0"/>
                  </a:moveTo>
                  <a:lnTo>
                    <a:pt x="81" y="41"/>
                  </a:lnTo>
                  <a:lnTo>
                    <a:pt x="88" y="79"/>
                  </a:lnTo>
                  <a:lnTo>
                    <a:pt x="74" y="108"/>
                  </a:lnTo>
                  <a:lnTo>
                    <a:pt x="43" y="120"/>
                  </a:lnTo>
                  <a:lnTo>
                    <a:pt x="9" y="103"/>
                  </a:lnTo>
                  <a:lnTo>
                    <a:pt x="0" y="70"/>
                  </a:lnTo>
                  <a:lnTo>
                    <a:pt x="14" y="36"/>
                  </a:lnTo>
                  <a:lnTo>
                    <a:pt x="24" y="74"/>
                  </a:lnTo>
                  <a:close/>
                </a:path>
              </a:pathLst>
            </a:custGeom>
            <a:solidFill>
              <a:srgbClr val="FFD37A"/>
            </a:solidFill>
            <a:ln w="2540">
              <a:solidFill>
                <a:srgbClr val="FFD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152" name="module_rect_0177"/>
          <p:cNvGrpSpPr/>
          <p:nvPr/>
        </p:nvGrpSpPr>
        <p:grpSpPr>
          <a:xfrm>
            <a:off x="5330952" y="5184648"/>
            <a:ext cx="1207008" cy="438912"/>
            <a:chOff x="5330952" y="5184648"/>
            <a:chExt cx="1207008" cy="438912"/>
          </a:xfrm>
        </p:grpSpPr>
        <p:sp>
          <p:nvSpPr>
            <p:cNvPr id="179" name="rect_0177"/>
            <p:cNvSpPr/>
            <p:nvPr/>
          </p:nvSpPr>
          <p:spPr>
            <a:xfrm>
              <a:off x="5330952" y="5184648"/>
              <a:ext cx="1207008" cy="438912"/>
            </a:xfrm>
            <a:prstGeom prst="roundRect">
              <a:avLst>
                <a:gd name="adj" fmla="val 12000"/>
              </a:avLst>
            </a:prstGeom>
            <a:solidFill>
              <a:srgbClr val="EBF2F8"/>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_0178"/>
            <p:cNvSpPr txBox="1"/>
            <p:nvPr/>
          </p:nvSpPr>
          <p:spPr>
            <a:xfrm>
              <a:off x="5376672" y="5193792"/>
              <a:ext cx="1115568" cy="420623"/>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233344"/>
                  </a:solidFill>
                  <a:latin typeface="DejaVu Sans"/>
                </a:rPr>
                <a:t>Flow head</a:t>
              </a:r>
            </a:p>
          </p:txBody>
        </p:sp>
      </p:grpSp>
      <p:grpSp>
        <p:nvGrpSpPr>
          <p:cNvPr id="1153" name="module_rect_0179"/>
          <p:cNvGrpSpPr/>
          <p:nvPr/>
        </p:nvGrpSpPr>
        <p:grpSpPr>
          <a:xfrm>
            <a:off x="6803136" y="5184648"/>
            <a:ext cx="1207008" cy="438912"/>
            <a:chOff x="6803136" y="5184648"/>
            <a:chExt cx="1207008" cy="438912"/>
          </a:xfrm>
        </p:grpSpPr>
        <p:sp>
          <p:nvSpPr>
            <p:cNvPr id="181" name="rect_0179"/>
            <p:cNvSpPr/>
            <p:nvPr/>
          </p:nvSpPr>
          <p:spPr>
            <a:xfrm>
              <a:off x="6803136" y="5184648"/>
              <a:ext cx="1207008" cy="438912"/>
            </a:xfrm>
            <a:prstGeom prst="roundRect">
              <a:avLst>
                <a:gd name="adj" fmla="val 12000"/>
              </a:avLst>
            </a:prstGeom>
            <a:solidFill>
              <a:srgbClr val="EAF4F2"/>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_0180"/>
            <p:cNvSpPr txBox="1"/>
            <p:nvPr/>
          </p:nvSpPr>
          <p:spPr>
            <a:xfrm>
              <a:off x="6848856" y="5193792"/>
              <a:ext cx="1115568" cy="420623"/>
            </a:xfrm>
            <a:prstGeom prst="rect">
              <a:avLst/>
            </a:prstGeom>
            <a:noFill/>
          </p:spPr>
          <p:txBody>
            <a:bodyPr wrap="none" lIns="0" rIns="0" tIns="0" bIns="0" anchor="ctr">
              <a:spAutoFit/>
            </a:bodyPr>
            <a:lstStyle/>
            <a:p>
              <a:pPr algn="ctr">
                <a:lnSpc>
                  <a:spcPts val="1581"/>
                </a:lnSpc>
                <a:spcBef>
                  <a:spcPts val="0"/>
                </a:spcBef>
                <a:spcAft>
                  <a:spcPts val="0"/>
                </a:spcAft>
              </a:pPr>
              <a:r>
                <a:rPr sz="1400" b="0">
                  <a:solidFill>
                    <a:srgbClr val="233344"/>
                  </a:solidFill>
                  <a:latin typeface="DejaVu Sans"/>
                </a:rPr>
                <a:t>Token head</a:t>
              </a:r>
            </a:p>
          </p:txBody>
        </p:sp>
      </p:grpSp>
      <p:grpSp>
        <p:nvGrpSpPr>
          <p:cNvPr id="1154" name="flow_head_trained"/>
          <p:cNvGrpSpPr/>
          <p:nvPr/>
        </p:nvGrpSpPr>
        <p:grpSpPr>
          <a:xfrm>
            <a:off x="6362395" y="5014570"/>
            <a:ext cx="133502" cy="159106"/>
            <a:chOff x="6362395" y="5014570"/>
            <a:chExt cx="133502" cy="159106"/>
          </a:xfrm>
        </p:grpSpPr>
        <p:sp>
          <p:nvSpPr>
            <p:cNvPr id="183" name="path_0181"/>
            <p:cNvSpPr/>
            <p:nvPr/>
          </p:nvSpPr>
          <p:spPr>
            <a:xfrm>
              <a:off x="6362395" y="5014570"/>
              <a:ext cx="133502" cy="159106"/>
            </a:xfrm>
            <a:custGeom>
              <a:avLst/>
              <a:gdLst/>
              <a:ahLst/>
              <a:cxnLst/>
              <a:rect l="l" t="t" r="r" b="b"/>
              <a:pathLst>
                <a:path w="146" h="174">
                  <a:moveTo>
                    <a:pt x="76" y="0"/>
                  </a:moveTo>
                  <a:lnTo>
                    <a:pt x="94" y="30"/>
                  </a:lnTo>
                  <a:lnTo>
                    <a:pt x="92" y="57"/>
                  </a:lnTo>
                  <a:lnTo>
                    <a:pt x="119" y="43"/>
                  </a:lnTo>
                  <a:lnTo>
                    <a:pt x="137" y="73"/>
                  </a:lnTo>
                  <a:lnTo>
                    <a:pt x="146" y="106"/>
                  </a:lnTo>
                  <a:lnTo>
                    <a:pt x="140" y="138"/>
                  </a:lnTo>
                  <a:lnTo>
                    <a:pt x="121" y="163"/>
                  </a:lnTo>
                  <a:lnTo>
                    <a:pt x="85" y="174"/>
                  </a:lnTo>
                  <a:lnTo>
                    <a:pt x="45" y="169"/>
                  </a:lnTo>
                  <a:lnTo>
                    <a:pt x="14" y="151"/>
                  </a:lnTo>
                  <a:lnTo>
                    <a:pt x="0" y="118"/>
                  </a:lnTo>
                  <a:lnTo>
                    <a:pt x="7" y="82"/>
                  </a:lnTo>
                  <a:lnTo>
                    <a:pt x="31" y="54"/>
                  </a:lnTo>
                  <a:lnTo>
                    <a:pt x="27" y="91"/>
                  </a:lnTo>
                  <a:lnTo>
                    <a:pt x="52" y="66"/>
                  </a:lnTo>
                  <a:lnTo>
                    <a:pt x="63" y="37"/>
                  </a:lnTo>
                  <a:close/>
                </a:path>
              </a:pathLst>
            </a:custGeom>
            <a:solidFill>
              <a:srgbClr val="EB8841"/>
            </a:solidFill>
            <a:ln w="8255">
              <a:solidFill>
                <a:srgbClr val="DC77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path_0182"/>
            <p:cNvSpPr/>
            <p:nvPr/>
          </p:nvSpPr>
          <p:spPr>
            <a:xfrm>
              <a:off x="6401714" y="5084978"/>
              <a:ext cx="61265" cy="82296"/>
            </a:xfrm>
            <a:custGeom>
              <a:avLst/>
              <a:gdLst/>
              <a:ahLst/>
              <a:cxnLst/>
              <a:rect l="l" t="t" r="r" b="b"/>
              <a:pathLst>
                <a:path w="67" h="90">
                  <a:moveTo>
                    <a:pt x="36" y="0"/>
                  </a:moveTo>
                  <a:lnTo>
                    <a:pt x="61" y="31"/>
                  </a:lnTo>
                  <a:lnTo>
                    <a:pt x="67" y="59"/>
                  </a:lnTo>
                  <a:lnTo>
                    <a:pt x="56" y="81"/>
                  </a:lnTo>
                  <a:lnTo>
                    <a:pt x="33" y="90"/>
                  </a:lnTo>
                  <a:lnTo>
                    <a:pt x="7" y="77"/>
                  </a:lnTo>
                  <a:lnTo>
                    <a:pt x="0" y="52"/>
                  </a:lnTo>
                  <a:lnTo>
                    <a:pt x="11" y="27"/>
                  </a:lnTo>
                  <a:lnTo>
                    <a:pt x="18" y="56"/>
                  </a:lnTo>
                  <a:close/>
                </a:path>
              </a:pathLst>
            </a:custGeom>
            <a:solidFill>
              <a:srgbClr val="FFD37A"/>
            </a:solidFill>
            <a:ln w="2540">
              <a:solidFill>
                <a:srgbClr val="FFD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155" name="token_head_trained"/>
          <p:cNvGrpSpPr/>
          <p:nvPr/>
        </p:nvGrpSpPr>
        <p:grpSpPr>
          <a:xfrm>
            <a:off x="7825435" y="5014570"/>
            <a:ext cx="133502" cy="159106"/>
            <a:chOff x="7825435" y="5014570"/>
            <a:chExt cx="133502" cy="159106"/>
          </a:xfrm>
        </p:grpSpPr>
        <p:sp>
          <p:nvSpPr>
            <p:cNvPr id="185" name="path_0183"/>
            <p:cNvSpPr/>
            <p:nvPr/>
          </p:nvSpPr>
          <p:spPr>
            <a:xfrm>
              <a:off x="7825435" y="5014570"/>
              <a:ext cx="133502" cy="159106"/>
            </a:xfrm>
            <a:custGeom>
              <a:avLst/>
              <a:gdLst/>
              <a:ahLst/>
              <a:cxnLst/>
              <a:rect l="l" t="t" r="r" b="b"/>
              <a:pathLst>
                <a:path w="146" h="174">
                  <a:moveTo>
                    <a:pt x="76" y="0"/>
                  </a:moveTo>
                  <a:lnTo>
                    <a:pt x="94" y="30"/>
                  </a:lnTo>
                  <a:lnTo>
                    <a:pt x="92" y="57"/>
                  </a:lnTo>
                  <a:lnTo>
                    <a:pt x="119" y="43"/>
                  </a:lnTo>
                  <a:lnTo>
                    <a:pt x="137" y="73"/>
                  </a:lnTo>
                  <a:lnTo>
                    <a:pt x="146" y="106"/>
                  </a:lnTo>
                  <a:lnTo>
                    <a:pt x="140" y="138"/>
                  </a:lnTo>
                  <a:lnTo>
                    <a:pt x="121" y="163"/>
                  </a:lnTo>
                  <a:lnTo>
                    <a:pt x="85" y="174"/>
                  </a:lnTo>
                  <a:lnTo>
                    <a:pt x="45" y="169"/>
                  </a:lnTo>
                  <a:lnTo>
                    <a:pt x="14" y="151"/>
                  </a:lnTo>
                  <a:lnTo>
                    <a:pt x="0" y="118"/>
                  </a:lnTo>
                  <a:lnTo>
                    <a:pt x="7" y="82"/>
                  </a:lnTo>
                  <a:lnTo>
                    <a:pt x="31" y="54"/>
                  </a:lnTo>
                  <a:lnTo>
                    <a:pt x="27" y="91"/>
                  </a:lnTo>
                  <a:lnTo>
                    <a:pt x="52" y="66"/>
                  </a:lnTo>
                  <a:lnTo>
                    <a:pt x="63" y="37"/>
                  </a:lnTo>
                  <a:close/>
                </a:path>
              </a:pathLst>
            </a:custGeom>
            <a:solidFill>
              <a:srgbClr val="EB8841"/>
            </a:solidFill>
            <a:ln w="8255">
              <a:solidFill>
                <a:srgbClr val="DC77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path_0184"/>
            <p:cNvSpPr/>
            <p:nvPr/>
          </p:nvSpPr>
          <p:spPr>
            <a:xfrm>
              <a:off x="7864754" y="5084978"/>
              <a:ext cx="61265" cy="82296"/>
            </a:xfrm>
            <a:custGeom>
              <a:avLst/>
              <a:gdLst/>
              <a:ahLst/>
              <a:cxnLst/>
              <a:rect l="l" t="t" r="r" b="b"/>
              <a:pathLst>
                <a:path w="67" h="90">
                  <a:moveTo>
                    <a:pt x="36" y="0"/>
                  </a:moveTo>
                  <a:lnTo>
                    <a:pt x="61" y="31"/>
                  </a:lnTo>
                  <a:lnTo>
                    <a:pt x="67" y="59"/>
                  </a:lnTo>
                  <a:lnTo>
                    <a:pt x="56" y="81"/>
                  </a:lnTo>
                  <a:lnTo>
                    <a:pt x="33" y="90"/>
                  </a:lnTo>
                  <a:lnTo>
                    <a:pt x="7" y="77"/>
                  </a:lnTo>
                  <a:lnTo>
                    <a:pt x="0" y="52"/>
                  </a:lnTo>
                  <a:lnTo>
                    <a:pt x="11" y="27"/>
                  </a:lnTo>
                  <a:lnTo>
                    <a:pt x="18" y="56"/>
                  </a:lnTo>
                  <a:close/>
                </a:path>
              </a:pathLst>
            </a:custGeom>
            <a:solidFill>
              <a:srgbClr val="FFD37A"/>
            </a:solidFill>
            <a:ln w="2540">
              <a:solidFill>
                <a:srgbClr val="FFD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156" name="stage_3_heading"/>
          <p:cNvGrpSpPr/>
          <p:nvPr/>
        </p:nvGrpSpPr>
        <p:grpSpPr>
          <a:xfrm>
            <a:off x="8366760" y="210312"/>
            <a:ext cx="4023360" cy="539496"/>
            <a:chOff x="8366760" y="210312"/>
            <a:chExt cx="4023360" cy="539496"/>
          </a:xfrm>
        </p:grpSpPr>
        <p:sp>
          <p:nvSpPr>
            <p:cNvPr id="193" name="rect_0191"/>
            <p:cNvSpPr/>
            <p:nvPr/>
          </p:nvSpPr>
          <p:spPr>
            <a:xfrm>
              <a:off x="8366760" y="210312"/>
              <a:ext cx="4023360" cy="539496"/>
            </a:xfrm>
            <a:prstGeom prst="roundRect">
              <a:avLst>
                <a:gd name="adj" fmla="val 12000"/>
              </a:avLst>
            </a:prstGeom>
            <a:solidFill>
              <a:srgbClr val="F3F6F9"/>
            </a:solidFill>
            <a:ln w="1270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_0192"/>
            <p:cNvSpPr txBox="1"/>
            <p:nvPr/>
          </p:nvSpPr>
          <p:spPr>
            <a:xfrm>
              <a:off x="8485632" y="237744"/>
              <a:ext cx="274320" cy="457200"/>
            </a:xfrm>
            <a:prstGeom prst="rect">
              <a:avLst/>
            </a:prstGeom>
            <a:noFill/>
          </p:spPr>
          <p:txBody>
            <a:bodyPr wrap="none" lIns="0" rIns="0" tIns="0" bIns="0" anchor="ctr">
              <a:spAutoFit/>
            </a:bodyPr>
            <a:lstStyle/>
            <a:p>
              <a:pPr algn="ctr">
                <a:lnSpc>
                  <a:spcPts val="2372"/>
                </a:lnSpc>
                <a:spcBef>
                  <a:spcPts val="0"/>
                </a:spcBef>
                <a:spcAft>
                  <a:spcPts val="0"/>
                </a:spcAft>
              </a:pPr>
              <a:r>
                <a:rPr sz="2100" b="1">
                  <a:solidFill>
                    <a:srgbClr val="63758A"/>
                  </a:solidFill>
                  <a:latin typeface="DejaVu Sans"/>
                </a:rPr>
                <a:t>3</a:t>
              </a:r>
            </a:p>
          </p:txBody>
        </p:sp>
        <p:sp>
          <p:nvSpPr>
            <p:cNvPr id="195" name="text_0193"/>
            <p:cNvSpPr txBox="1"/>
            <p:nvPr/>
          </p:nvSpPr>
          <p:spPr>
            <a:xfrm>
              <a:off x="8814816" y="237744"/>
              <a:ext cx="3502152" cy="457200"/>
            </a:xfrm>
            <a:prstGeom prst="rect">
              <a:avLst/>
            </a:prstGeom>
            <a:noFill/>
          </p:spPr>
          <p:txBody>
            <a:bodyPr wrap="none" lIns="0" rIns="0" tIns="0" bIns="0" anchor="ctr">
              <a:spAutoFit/>
            </a:bodyPr>
            <a:lstStyle/>
            <a:p>
              <a:pPr algn="l">
                <a:lnSpc>
                  <a:spcPts val="2033"/>
                </a:lnSpc>
                <a:spcBef>
                  <a:spcPts val="0"/>
                </a:spcBef>
                <a:spcAft>
                  <a:spcPts val="0"/>
                </a:spcAft>
              </a:pPr>
              <a:r>
                <a:rPr sz="1800" b="1">
                  <a:solidFill>
                    <a:srgbClr val="233344"/>
                  </a:solidFill>
                  <a:latin typeface="DejaVu Sans"/>
                </a:rPr>
                <a:t>Async inference</a:t>
              </a:r>
            </a:p>
          </p:txBody>
        </p:sp>
      </p:grpSp>
      <p:grpSp>
        <p:nvGrpSpPr>
          <p:cNvPr id="1157" name="module_rect_0194"/>
          <p:cNvGrpSpPr/>
          <p:nvPr/>
        </p:nvGrpSpPr>
        <p:grpSpPr>
          <a:xfrm>
            <a:off x="8522208" y="1033271"/>
            <a:ext cx="3712463" cy="393192"/>
            <a:chOff x="8522208" y="1033271"/>
            <a:chExt cx="3712463" cy="393192"/>
          </a:xfrm>
        </p:grpSpPr>
        <p:sp>
          <p:nvSpPr>
            <p:cNvPr id="196" name="rect_0194"/>
            <p:cNvSpPr/>
            <p:nvPr/>
          </p:nvSpPr>
          <p:spPr>
            <a:xfrm>
              <a:off x="8522208" y="1033271"/>
              <a:ext cx="3712463" cy="393192"/>
            </a:xfrm>
            <a:prstGeom prst="roundRect">
              <a:avLst>
                <a:gd name="adj" fmla="val 12000"/>
              </a:avLst>
            </a:prstGeom>
            <a:solidFill>
              <a:srgbClr val="F3F1F7"/>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_0195"/>
            <p:cNvSpPr txBox="1"/>
            <p:nvPr/>
          </p:nvSpPr>
          <p:spPr>
            <a:xfrm>
              <a:off x="8567928" y="1042415"/>
              <a:ext cx="3621023" cy="374904"/>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Encode question once → cache c</a:t>
              </a:r>
            </a:p>
          </p:txBody>
        </p:sp>
      </p:grpSp>
      <p:grpSp>
        <p:nvGrpSpPr>
          <p:cNvPr id="1158" name="inference_noise_editable_token_strips"/>
          <p:cNvGrpSpPr/>
          <p:nvPr/>
        </p:nvGrpSpPr>
        <p:grpSpPr>
          <a:xfrm>
            <a:off x="9025128" y="4105656"/>
            <a:ext cx="630934" cy="1298448"/>
            <a:chOff x="9025128" y="4105656"/>
            <a:chExt cx="630934" cy="1298448"/>
          </a:xfrm>
        </p:grpSpPr>
        <p:sp>
          <p:nvSpPr>
            <p:cNvPr id="225" name="inference_noise_token1_L32_solid"/>
            <p:cNvSpPr/>
            <p:nvPr/>
          </p:nvSpPr>
          <p:spPr>
            <a:xfrm>
              <a:off x="9025128" y="4105656"/>
              <a:ext cx="188975" cy="649224"/>
            </a:xfrm>
            <a:prstGeom prst="rect">
              <a:avLst/>
            </a:prstGeom>
            <a:solidFill>
              <a:srgbClr val="2C9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_0224"/>
            <p:cNvSpPr/>
            <p:nvPr/>
          </p:nvSpPr>
          <p:spPr>
            <a:xfrm>
              <a:off x="9025128" y="410565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_0225"/>
            <p:cNvSpPr/>
            <p:nvPr/>
          </p:nvSpPr>
          <p:spPr>
            <a:xfrm>
              <a:off x="9056624" y="410565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_0226"/>
            <p:cNvSpPr/>
            <p:nvPr/>
          </p:nvSpPr>
          <p:spPr>
            <a:xfrm>
              <a:off x="9088120" y="410565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_0227"/>
            <p:cNvSpPr/>
            <p:nvPr/>
          </p:nvSpPr>
          <p:spPr>
            <a:xfrm>
              <a:off x="9119616" y="4105656"/>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_0228"/>
            <p:cNvSpPr/>
            <p:nvPr/>
          </p:nvSpPr>
          <p:spPr>
            <a:xfrm>
              <a:off x="9182608" y="410565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_0229"/>
            <p:cNvSpPr/>
            <p:nvPr/>
          </p:nvSpPr>
          <p:spPr>
            <a:xfrm>
              <a:off x="9025128" y="413270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_0230"/>
            <p:cNvSpPr/>
            <p:nvPr/>
          </p:nvSpPr>
          <p:spPr>
            <a:xfrm>
              <a:off x="9056624" y="413270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_0231"/>
            <p:cNvSpPr/>
            <p:nvPr/>
          </p:nvSpPr>
          <p:spPr>
            <a:xfrm>
              <a:off x="9088120" y="413270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_0232"/>
            <p:cNvSpPr/>
            <p:nvPr/>
          </p:nvSpPr>
          <p:spPr>
            <a:xfrm>
              <a:off x="9119616" y="413270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_0233"/>
            <p:cNvSpPr/>
            <p:nvPr/>
          </p:nvSpPr>
          <p:spPr>
            <a:xfrm>
              <a:off x="9151112" y="413270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_0234"/>
            <p:cNvSpPr/>
            <p:nvPr/>
          </p:nvSpPr>
          <p:spPr>
            <a:xfrm>
              <a:off x="9182608" y="413270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_0235"/>
            <p:cNvSpPr/>
            <p:nvPr/>
          </p:nvSpPr>
          <p:spPr>
            <a:xfrm>
              <a:off x="9025128" y="415975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_0236"/>
            <p:cNvSpPr/>
            <p:nvPr/>
          </p:nvSpPr>
          <p:spPr>
            <a:xfrm>
              <a:off x="9056624" y="415975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_0237"/>
            <p:cNvSpPr/>
            <p:nvPr/>
          </p:nvSpPr>
          <p:spPr>
            <a:xfrm>
              <a:off x="9088120" y="4159758"/>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_0238"/>
            <p:cNvSpPr/>
            <p:nvPr/>
          </p:nvSpPr>
          <p:spPr>
            <a:xfrm>
              <a:off x="9151112" y="415975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_0239"/>
            <p:cNvSpPr/>
            <p:nvPr/>
          </p:nvSpPr>
          <p:spPr>
            <a:xfrm>
              <a:off x="9182608" y="415975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_0240"/>
            <p:cNvSpPr/>
            <p:nvPr/>
          </p:nvSpPr>
          <p:spPr>
            <a:xfrm>
              <a:off x="9025128" y="418680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_0241"/>
            <p:cNvSpPr/>
            <p:nvPr/>
          </p:nvSpPr>
          <p:spPr>
            <a:xfrm>
              <a:off x="9056624" y="418680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_0242"/>
            <p:cNvSpPr/>
            <p:nvPr/>
          </p:nvSpPr>
          <p:spPr>
            <a:xfrm>
              <a:off x="9088120" y="418680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_0243"/>
            <p:cNvSpPr/>
            <p:nvPr/>
          </p:nvSpPr>
          <p:spPr>
            <a:xfrm>
              <a:off x="9119616" y="4186809"/>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_0244"/>
            <p:cNvSpPr/>
            <p:nvPr/>
          </p:nvSpPr>
          <p:spPr>
            <a:xfrm>
              <a:off x="9182608" y="418680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_0245"/>
            <p:cNvSpPr/>
            <p:nvPr/>
          </p:nvSpPr>
          <p:spPr>
            <a:xfrm>
              <a:off x="9025128" y="4213860"/>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_0246"/>
            <p:cNvSpPr/>
            <p:nvPr/>
          </p:nvSpPr>
          <p:spPr>
            <a:xfrm>
              <a:off x="9119616" y="4213860"/>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_0247"/>
            <p:cNvSpPr/>
            <p:nvPr/>
          </p:nvSpPr>
          <p:spPr>
            <a:xfrm>
              <a:off x="9182608" y="421386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_0248"/>
            <p:cNvSpPr/>
            <p:nvPr/>
          </p:nvSpPr>
          <p:spPr>
            <a:xfrm>
              <a:off x="9025128" y="4240911"/>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_0249"/>
            <p:cNvSpPr/>
            <p:nvPr/>
          </p:nvSpPr>
          <p:spPr>
            <a:xfrm>
              <a:off x="9119616" y="4240911"/>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_0250"/>
            <p:cNvSpPr/>
            <p:nvPr/>
          </p:nvSpPr>
          <p:spPr>
            <a:xfrm>
              <a:off x="9025128" y="4267962"/>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_0251"/>
            <p:cNvSpPr/>
            <p:nvPr/>
          </p:nvSpPr>
          <p:spPr>
            <a:xfrm>
              <a:off x="9088120" y="426796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_0252"/>
            <p:cNvSpPr/>
            <p:nvPr/>
          </p:nvSpPr>
          <p:spPr>
            <a:xfrm>
              <a:off x="9119616" y="4267962"/>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_0253"/>
            <p:cNvSpPr/>
            <p:nvPr/>
          </p:nvSpPr>
          <p:spPr>
            <a:xfrm>
              <a:off x="9025128" y="4295013"/>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_0254"/>
            <p:cNvSpPr/>
            <p:nvPr/>
          </p:nvSpPr>
          <p:spPr>
            <a:xfrm>
              <a:off x="9119616" y="429501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_0255"/>
            <p:cNvSpPr/>
            <p:nvPr/>
          </p:nvSpPr>
          <p:spPr>
            <a:xfrm>
              <a:off x="9151112" y="4295013"/>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_0256"/>
            <p:cNvSpPr/>
            <p:nvPr/>
          </p:nvSpPr>
          <p:spPr>
            <a:xfrm>
              <a:off x="9025128" y="432206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_0257"/>
            <p:cNvSpPr/>
            <p:nvPr/>
          </p:nvSpPr>
          <p:spPr>
            <a:xfrm>
              <a:off x="9056624" y="432206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_0258"/>
            <p:cNvSpPr/>
            <p:nvPr/>
          </p:nvSpPr>
          <p:spPr>
            <a:xfrm>
              <a:off x="9088120" y="432206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_0259"/>
            <p:cNvSpPr/>
            <p:nvPr/>
          </p:nvSpPr>
          <p:spPr>
            <a:xfrm>
              <a:off x="9119616" y="4322064"/>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_0260"/>
            <p:cNvSpPr/>
            <p:nvPr/>
          </p:nvSpPr>
          <p:spPr>
            <a:xfrm>
              <a:off x="9182608" y="432206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_0261"/>
            <p:cNvSpPr/>
            <p:nvPr/>
          </p:nvSpPr>
          <p:spPr>
            <a:xfrm>
              <a:off x="9025128" y="4349115"/>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_0262"/>
            <p:cNvSpPr/>
            <p:nvPr/>
          </p:nvSpPr>
          <p:spPr>
            <a:xfrm>
              <a:off x="9088120" y="4349115"/>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_0263"/>
            <p:cNvSpPr/>
            <p:nvPr/>
          </p:nvSpPr>
          <p:spPr>
            <a:xfrm>
              <a:off x="9025128" y="437616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rect_0264"/>
            <p:cNvSpPr/>
            <p:nvPr/>
          </p:nvSpPr>
          <p:spPr>
            <a:xfrm>
              <a:off x="9119616" y="437616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rect_0265"/>
            <p:cNvSpPr/>
            <p:nvPr/>
          </p:nvSpPr>
          <p:spPr>
            <a:xfrm>
              <a:off x="9151112" y="437616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rect_0266"/>
            <p:cNvSpPr/>
            <p:nvPr/>
          </p:nvSpPr>
          <p:spPr>
            <a:xfrm>
              <a:off x="9182608" y="437616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_0267"/>
            <p:cNvSpPr/>
            <p:nvPr/>
          </p:nvSpPr>
          <p:spPr>
            <a:xfrm>
              <a:off x="9025128" y="4403217"/>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rect_0268"/>
            <p:cNvSpPr/>
            <p:nvPr/>
          </p:nvSpPr>
          <p:spPr>
            <a:xfrm>
              <a:off x="9119616" y="440321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ect_0269"/>
            <p:cNvSpPr/>
            <p:nvPr/>
          </p:nvSpPr>
          <p:spPr>
            <a:xfrm>
              <a:off x="9151112" y="4403217"/>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rect_0270"/>
            <p:cNvSpPr/>
            <p:nvPr/>
          </p:nvSpPr>
          <p:spPr>
            <a:xfrm>
              <a:off x="9025128" y="4430268"/>
              <a:ext cx="18897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rect_0271"/>
            <p:cNvSpPr/>
            <p:nvPr/>
          </p:nvSpPr>
          <p:spPr>
            <a:xfrm>
              <a:off x="9025128" y="4457319"/>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ect_0272"/>
            <p:cNvSpPr/>
            <p:nvPr/>
          </p:nvSpPr>
          <p:spPr>
            <a:xfrm>
              <a:off x="9151112" y="4457319"/>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ect_0273"/>
            <p:cNvSpPr/>
            <p:nvPr/>
          </p:nvSpPr>
          <p:spPr>
            <a:xfrm>
              <a:off x="9025128" y="4484370"/>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rect_0274"/>
            <p:cNvSpPr/>
            <p:nvPr/>
          </p:nvSpPr>
          <p:spPr>
            <a:xfrm>
              <a:off x="9088120" y="448437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rect_0275"/>
            <p:cNvSpPr/>
            <p:nvPr/>
          </p:nvSpPr>
          <p:spPr>
            <a:xfrm>
              <a:off x="9119616" y="448437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_0276"/>
            <p:cNvSpPr/>
            <p:nvPr/>
          </p:nvSpPr>
          <p:spPr>
            <a:xfrm>
              <a:off x="9151112" y="448437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rect_0277"/>
            <p:cNvSpPr/>
            <p:nvPr/>
          </p:nvSpPr>
          <p:spPr>
            <a:xfrm>
              <a:off x="9182608" y="448437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_0278"/>
            <p:cNvSpPr/>
            <p:nvPr/>
          </p:nvSpPr>
          <p:spPr>
            <a:xfrm>
              <a:off x="9025128" y="4511421"/>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_0279"/>
            <p:cNvSpPr/>
            <p:nvPr/>
          </p:nvSpPr>
          <p:spPr>
            <a:xfrm>
              <a:off x="9088120" y="451142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rect_0280"/>
            <p:cNvSpPr/>
            <p:nvPr/>
          </p:nvSpPr>
          <p:spPr>
            <a:xfrm>
              <a:off x="9119616" y="451142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rect_0281"/>
            <p:cNvSpPr/>
            <p:nvPr/>
          </p:nvSpPr>
          <p:spPr>
            <a:xfrm>
              <a:off x="9151112" y="451142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rect_0282"/>
            <p:cNvSpPr/>
            <p:nvPr/>
          </p:nvSpPr>
          <p:spPr>
            <a:xfrm>
              <a:off x="9182608" y="451142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_0283"/>
            <p:cNvSpPr/>
            <p:nvPr/>
          </p:nvSpPr>
          <p:spPr>
            <a:xfrm>
              <a:off x="9025128" y="453847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_0284"/>
            <p:cNvSpPr/>
            <p:nvPr/>
          </p:nvSpPr>
          <p:spPr>
            <a:xfrm>
              <a:off x="9056624" y="453847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ect_0285"/>
            <p:cNvSpPr/>
            <p:nvPr/>
          </p:nvSpPr>
          <p:spPr>
            <a:xfrm>
              <a:off x="9088120" y="4538472"/>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ect_0286"/>
            <p:cNvSpPr/>
            <p:nvPr/>
          </p:nvSpPr>
          <p:spPr>
            <a:xfrm>
              <a:off x="9151112" y="4538472"/>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ect_0287"/>
            <p:cNvSpPr/>
            <p:nvPr/>
          </p:nvSpPr>
          <p:spPr>
            <a:xfrm>
              <a:off x="9025128" y="4565523"/>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ect_0288"/>
            <p:cNvSpPr/>
            <p:nvPr/>
          </p:nvSpPr>
          <p:spPr>
            <a:xfrm>
              <a:off x="9119616" y="4565523"/>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ect_0289"/>
            <p:cNvSpPr/>
            <p:nvPr/>
          </p:nvSpPr>
          <p:spPr>
            <a:xfrm>
              <a:off x="9182608" y="456552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rect_0290"/>
            <p:cNvSpPr/>
            <p:nvPr/>
          </p:nvSpPr>
          <p:spPr>
            <a:xfrm>
              <a:off x="9025128" y="459257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rect_0291"/>
            <p:cNvSpPr/>
            <p:nvPr/>
          </p:nvSpPr>
          <p:spPr>
            <a:xfrm>
              <a:off x="9056624" y="4592574"/>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rect_0292"/>
            <p:cNvSpPr/>
            <p:nvPr/>
          </p:nvSpPr>
          <p:spPr>
            <a:xfrm>
              <a:off x="9151112" y="4592574"/>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ect_0293"/>
            <p:cNvSpPr/>
            <p:nvPr/>
          </p:nvSpPr>
          <p:spPr>
            <a:xfrm>
              <a:off x="9025128" y="461962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rect_0294"/>
            <p:cNvSpPr/>
            <p:nvPr/>
          </p:nvSpPr>
          <p:spPr>
            <a:xfrm>
              <a:off x="9056624" y="461962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rect_0295"/>
            <p:cNvSpPr/>
            <p:nvPr/>
          </p:nvSpPr>
          <p:spPr>
            <a:xfrm>
              <a:off x="9088120" y="461962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ect_0296"/>
            <p:cNvSpPr/>
            <p:nvPr/>
          </p:nvSpPr>
          <p:spPr>
            <a:xfrm>
              <a:off x="9119616" y="461962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rect_0297"/>
            <p:cNvSpPr/>
            <p:nvPr/>
          </p:nvSpPr>
          <p:spPr>
            <a:xfrm>
              <a:off x="9151112" y="461962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ect_0298"/>
            <p:cNvSpPr/>
            <p:nvPr/>
          </p:nvSpPr>
          <p:spPr>
            <a:xfrm>
              <a:off x="9182608" y="461962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rect_0299"/>
            <p:cNvSpPr/>
            <p:nvPr/>
          </p:nvSpPr>
          <p:spPr>
            <a:xfrm>
              <a:off x="9025128" y="464667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ect_0300"/>
            <p:cNvSpPr/>
            <p:nvPr/>
          </p:nvSpPr>
          <p:spPr>
            <a:xfrm>
              <a:off x="9056624" y="4646676"/>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ect_0301"/>
            <p:cNvSpPr/>
            <p:nvPr/>
          </p:nvSpPr>
          <p:spPr>
            <a:xfrm>
              <a:off x="9151112" y="464667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rect_0302"/>
            <p:cNvSpPr/>
            <p:nvPr/>
          </p:nvSpPr>
          <p:spPr>
            <a:xfrm>
              <a:off x="9182608" y="464667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rect_0303"/>
            <p:cNvSpPr/>
            <p:nvPr/>
          </p:nvSpPr>
          <p:spPr>
            <a:xfrm>
              <a:off x="9025128" y="467372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ect_0304"/>
            <p:cNvSpPr/>
            <p:nvPr/>
          </p:nvSpPr>
          <p:spPr>
            <a:xfrm>
              <a:off x="9056624" y="4673727"/>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ect_0305"/>
            <p:cNvSpPr/>
            <p:nvPr/>
          </p:nvSpPr>
          <p:spPr>
            <a:xfrm>
              <a:off x="9182608" y="467372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_0306"/>
            <p:cNvSpPr/>
            <p:nvPr/>
          </p:nvSpPr>
          <p:spPr>
            <a:xfrm>
              <a:off x="9025128" y="470077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_0307"/>
            <p:cNvSpPr/>
            <p:nvPr/>
          </p:nvSpPr>
          <p:spPr>
            <a:xfrm>
              <a:off x="9056624" y="4700778"/>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rect_0308"/>
            <p:cNvSpPr/>
            <p:nvPr/>
          </p:nvSpPr>
          <p:spPr>
            <a:xfrm>
              <a:off x="9182608" y="470077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rect_0309"/>
            <p:cNvSpPr/>
            <p:nvPr/>
          </p:nvSpPr>
          <p:spPr>
            <a:xfrm>
              <a:off x="9025128" y="472782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ect_0310"/>
            <p:cNvSpPr/>
            <p:nvPr/>
          </p:nvSpPr>
          <p:spPr>
            <a:xfrm>
              <a:off x="9056624" y="4727829"/>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rect_0311"/>
            <p:cNvSpPr/>
            <p:nvPr/>
          </p:nvSpPr>
          <p:spPr>
            <a:xfrm>
              <a:off x="9119616" y="472782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rect_0312"/>
            <p:cNvSpPr/>
            <p:nvPr/>
          </p:nvSpPr>
          <p:spPr>
            <a:xfrm>
              <a:off x="9151112" y="4727829"/>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inference_noise_token1_L24_solid"/>
            <p:cNvSpPr/>
            <p:nvPr/>
          </p:nvSpPr>
          <p:spPr>
            <a:xfrm>
              <a:off x="9025128" y="4754880"/>
              <a:ext cx="188975" cy="324612"/>
            </a:xfrm>
            <a:prstGeom prst="rect">
              <a:avLst/>
            </a:prstGeom>
            <a:solidFill>
              <a:srgbClr val="C88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rect_0314"/>
            <p:cNvSpPr/>
            <p:nvPr/>
          </p:nvSpPr>
          <p:spPr>
            <a:xfrm>
              <a:off x="9025128" y="475488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rect_0315"/>
            <p:cNvSpPr/>
            <p:nvPr/>
          </p:nvSpPr>
          <p:spPr>
            <a:xfrm>
              <a:off x="9056624" y="4754880"/>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rect_0316"/>
            <p:cNvSpPr/>
            <p:nvPr/>
          </p:nvSpPr>
          <p:spPr>
            <a:xfrm>
              <a:off x="9151112" y="4754880"/>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rect_0317"/>
            <p:cNvSpPr/>
            <p:nvPr/>
          </p:nvSpPr>
          <p:spPr>
            <a:xfrm>
              <a:off x="9025128" y="4781931"/>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rect_0318"/>
            <p:cNvSpPr/>
            <p:nvPr/>
          </p:nvSpPr>
          <p:spPr>
            <a:xfrm>
              <a:off x="9151112" y="4781931"/>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rect_0319"/>
            <p:cNvSpPr/>
            <p:nvPr/>
          </p:nvSpPr>
          <p:spPr>
            <a:xfrm>
              <a:off x="9025128" y="480898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rect_0320"/>
            <p:cNvSpPr/>
            <p:nvPr/>
          </p:nvSpPr>
          <p:spPr>
            <a:xfrm>
              <a:off x="9056624" y="480898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rect_0321"/>
            <p:cNvSpPr/>
            <p:nvPr/>
          </p:nvSpPr>
          <p:spPr>
            <a:xfrm>
              <a:off x="9088120" y="4808982"/>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rect_0322"/>
            <p:cNvSpPr/>
            <p:nvPr/>
          </p:nvSpPr>
          <p:spPr>
            <a:xfrm>
              <a:off x="9151112" y="4808982"/>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rect_0323"/>
            <p:cNvSpPr/>
            <p:nvPr/>
          </p:nvSpPr>
          <p:spPr>
            <a:xfrm>
              <a:off x="9025128" y="4836033"/>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rect_0324"/>
            <p:cNvSpPr/>
            <p:nvPr/>
          </p:nvSpPr>
          <p:spPr>
            <a:xfrm>
              <a:off x="9088120" y="4836033"/>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rect_0325"/>
            <p:cNvSpPr/>
            <p:nvPr/>
          </p:nvSpPr>
          <p:spPr>
            <a:xfrm>
              <a:off x="9151112" y="4836033"/>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rect_0326"/>
            <p:cNvSpPr/>
            <p:nvPr/>
          </p:nvSpPr>
          <p:spPr>
            <a:xfrm>
              <a:off x="9025128" y="486308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rect_0327"/>
            <p:cNvSpPr/>
            <p:nvPr/>
          </p:nvSpPr>
          <p:spPr>
            <a:xfrm>
              <a:off x="9056624" y="4863084"/>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rect_0328"/>
            <p:cNvSpPr/>
            <p:nvPr/>
          </p:nvSpPr>
          <p:spPr>
            <a:xfrm>
              <a:off x="9182608" y="486308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rect_0329"/>
            <p:cNvSpPr/>
            <p:nvPr/>
          </p:nvSpPr>
          <p:spPr>
            <a:xfrm>
              <a:off x="9025128" y="489013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rect_0330"/>
            <p:cNvSpPr/>
            <p:nvPr/>
          </p:nvSpPr>
          <p:spPr>
            <a:xfrm>
              <a:off x="9056624" y="4890135"/>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rect_0331"/>
            <p:cNvSpPr/>
            <p:nvPr/>
          </p:nvSpPr>
          <p:spPr>
            <a:xfrm>
              <a:off x="9119616" y="4890135"/>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rect_0332"/>
            <p:cNvSpPr/>
            <p:nvPr/>
          </p:nvSpPr>
          <p:spPr>
            <a:xfrm>
              <a:off x="9025128" y="4917186"/>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rect_0333"/>
            <p:cNvSpPr/>
            <p:nvPr/>
          </p:nvSpPr>
          <p:spPr>
            <a:xfrm>
              <a:off x="9088120" y="4917186"/>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rect_0334"/>
            <p:cNvSpPr/>
            <p:nvPr/>
          </p:nvSpPr>
          <p:spPr>
            <a:xfrm>
              <a:off x="9182608" y="491718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rect_0335"/>
            <p:cNvSpPr/>
            <p:nvPr/>
          </p:nvSpPr>
          <p:spPr>
            <a:xfrm>
              <a:off x="9025128" y="494423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rect_0336"/>
            <p:cNvSpPr/>
            <p:nvPr/>
          </p:nvSpPr>
          <p:spPr>
            <a:xfrm>
              <a:off x="9056624" y="4944237"/>
              <a:ext cx="157479"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rect_0337"/>
            <p:cNvSpPr/>
            <p:nvPr/>
          </p:nvSpPr>
          <p:spPr>
            <a:xfrm>
              <a:off x="9025128" y="497128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rect_0338"/>
            <p:cNvSpPr/>
            <p:nvPr/>
          </p:nvSpPr>
          <p:spPr>
            <a:xfrm>
              <a:off x="9056624" y="497128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rect_0339"/>
            <p:cNvSpPr/>
            <p:nvPr/>
          </p:nvSpPr>
          <p:spPr>
            <a:xfrm>
              <a:off x="9088120" y="4971288"/>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rect_0340"/>
            <p:cNvSpPr/>
            <p:nvPr/>
          </p:nvSpPr>
          <p:spPr>
            <a:xfrm>
              <a:off x="9182608" y="497128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rect_0341"/>
            <p:cNvSpPr/>
            <p:nvPr/>
          </p:nvSpPr>
          <p:spPr>
            <a:xfrm>
              <a:off x="9025128" y="499833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rect_0342"/>
            <p:cNvSpPr/>
            <p:nvPr/>
          </p:nvSpPr>
          <p:spPr>
            <a:xfrm>
              <a:off x="9056624" y="499833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rect_0343"/>
            <p:cNvSpPr/>
            <p:nvPr/>
          </p:nvSpPr>
          <p:spPr>
            <a:xfrm>
              <a:off x="9088120" y="499833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rect_0344"/>
            <p:cNvSpPr/>
            <p:nvPr/>
          </p:nvSpPr>
          <p:spPr>
            <a:xfrm>
              <a:off x="9119616" y="4998339"/>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rect_0345"/>
            <p:cNvSpPr/>
            <p:nvPr/>
          </p:nvSpPr>
          <p:spPr>
            <a:xfrm>
              <a:off x="9182608" y="499833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rect_0346"/>
            <p:cNvSpPr/>
            <p:nvPr/>
          </p:nvSpPr>
          <p:spPr>
            <a:xfrm>
              <a:off x="9025128" y="5025390"/>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rect_0347"/>
            <p:cNvSpPr/>
            <p:nvPr/>
          </p:nvSpPr>
          <p:spPr>
            <a:xfrm>
              <a:off x="9088120" y="502539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rect_0348"/>
            <p:cNvSpPr/>
            <p:nvPr/>
          </p:nvSpPr>
          <p:spPr>
            <a:xfrm>
              <a:off x="9119616" y="5025390"/>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rect_0349"/>
            <p:cNvSpPr/>
            <p:nvPr/>
          </p:nvSpPr>
          <p:spPr>
            <a:xfrm>
              <a:off x="9182608" y="502539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rect_0350"/>
            <p:cNvSpPr/>
            <p:nvPr/>
          </p:nvSpPr>
          <p:spPr>
            <a:xfrm>
              <a:off x="9025128" y="505244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rect_0351"/>
            <p:cNvSpPr/>
            <p:nvPr/>
          </p:nvSpPr>
          <p:spPr>
            <a:xfrm>
              <a:off x="9056624" y="505244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rect_0352"/>
            <p:cNvSpPr/>
            <p:nvPr/>
          </p:nvSpPr>
          <p:spPr>
            <a:xfrm>
              <a:off x="9088120" y="5052441"/>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inference_noise_token1_L16_solid"/>
            <p:cNvSpPr/>
            <p:nvPr/>
          </p:nvSpPr>
          <p:spPr>
            <a:xfrm>
              <a:off x="9025128" y="5079492"/>
              <a:ext cx="188975" cy="324612"/>
            </a:xfrm>
            <a:prstGeom prst="rect">
              <a:avLst/>
            </a:prstGeom>
            <a:solidFill>
              <a:srgbClr val="36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rect_0354"/>
            <p:cNvSpPr/>
            <p:nvPr/>
          </p:nvSpPr>
          <p:spPr>
            <a:xfrm>
              <a:off x="9025128"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_0355"/>
            <p:cNvSpPr/>
            <p:nvPr/>
          </p:nvSpPr>
          <p:spPr>
            <a:xfrm>
              <a:off x="9056624" y="5079492"/>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rect_0356"/>
            <p:cNvSpPr/>
            <p:nvPr/>
          </p:nvSpPr>
          <p:spPr>
            <a:xfrm>
              <a:off x="9182608"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rect_0357"/>
            <p:cNvSpPr/>
            <p:nvPr/>
          </p:nvSpPr>
          <p:spPr>
            <a:xfrm>
              <a:off x="9025128" y="5106542"/>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rect_0358"/>
            <p:cNvSpPr/>
            <p:nvPr/>
          </p:nvSpPr>
          <p:spPr>
            <a:xfrm>
              <a:off x="9151112" y="5106542"/>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rect_0359"/>
            <p:cNvSpPr/>
            <p:nvPr/>
          </p:nvSpPr>
          <p:spPr>
            <a:xfrm>
              <a:off x="9025128" y="513359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rect_0360"/>
            <p:cNvSpPr/>
            <p:nvPr/>
          </p:nvSpPr>
          <p:spPr>
            <a:xfrm>
              <a:off x="9056624" y="5133594"/>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rect_0361"/>
            <p:cNvSpPr/>
            <p:nvPr/>
          </p:nvSpPr>
          <p:spPr>
            <a:xfrm>
              <a:off x="9182608" y="513359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rect_0362"/>
            <p:cNvSpPr/>
            <p:nvPr/>
          </p:nvSpPr>
          <p:spPr>
            <a:xfrm>
              <a:off x="9025128" y="516064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rect_0363"/>
            <p:cNvSpPr/>
            <p:nvPr/>
          </p:nvSpPr>
          <p:spPr>
            <a:xfrm>
              <a:off x="9056624" y="5160645"/>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rect_0364"/>
            <p:cNvSpPr/>
            <p:nvPr/>
          </p:nvSpPr>
          <p:spPr>
            <a:xfrm>
              <a:off x="9119616" y="516064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rect_0365"/>
            <p:cNvSpPr/>
            <p:nvPr/>
          </p:nvSpPr>
          <p:spPr>
            <a:xfrm>
              <a:off x="9151112" y="516064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rect_0366"/>
            <p:cNvSpPr/>
            <p:nvPr/>
          </p:nvSpPr>
          <p:spPr>
            <a:xfrm>
              <a:off x="9182608" y="516064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rect_0367"/>
            <p:cNvSpPr/>
            <p:nvPr/>
          </p:nvSpPr>
          <p:spPr>
            <a:xfrm>
              <a:off x="9025128" y="5187696"/>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rect_0368"/>
            <p:cNvSpPr/>
            <p:nvPr/>
          </p:nvSpPr>
          <p:spPr>
            <a:xfrm>
              <a:off x="9151112" y="518769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rect_0369"/>
            <p:cNvSpPr/>
            <p:nvPr/>
          </p:nvSpPr>
          <p:spPr>
            <a:xfrm>
              <a:off x="9182608" y="518769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rect_0370"/>
            <p:cNvSpPr/>
            <p:nvPr/>
          </p:nvSpPr>
          <p:spPr>
            <a:xfrm>
              <a:off x="9025128"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rect_0371"/>
            <p:cNvSpPr/>
            <p:nvPr/>
          </p:nvSpPr>
          <p:spPr>
            <a:xfrm>
              <a:off x="9056624" y="521474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rect_0372"/>
            <p:cNvSpPr/>
            <p:nvPr/>
          </p:nvSpPr>
          <p:spPr>
            <a:xfrm>
              <a:off x="9088120"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rect_0373"/>
            <p:cNvSpPr/>
            <p:nvPr/>
          </p:nvSpPr>
          <p:spPr>
            <a:xfrm>
              <a:off x="9119616" y="5214746"/>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rect_0374"/>
            <p:cNvSpPr/>
            <p:nvPr/>
          </p:nvSpPr>
          <p:spPr>
            <a:xfrm>
              <a:off x="9182608"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rect_0375"/>
            <p:cNvSpPr/>
            <p:nvPr/>
          </p:nvSpPr>
          <p:spPr>
            <a:xfrm>
              <a:off x="9025128" y="524179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rect_0376"/>
            <p:cNvSpPr/>
            <p:nvPr/>
          </p:nvSpPr>
          <p:spPr>
            <a:xfrm>
              <a:off x="9056624"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rect_0377"/>
            <p:cNvSpPr/>
            <p:nvPr/>
          </p:nvSpPr>
          <p:spPr>
            <a:xfrm>
              <a:off x="9088120" y="5241798"/>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rect_0378"/>
            <p:cNvSpPr/>
            <p:nvPr/>
          </p:nvSpPr>
          <p:spPr>
            <a:xfrm>
              <a:off x="9151112"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rect_0379"/>
            <p:cNvSpPr/>
            <p:nvPr/>
          </p:nvSpPr>
          <p:spPr>
            <a:xfrm>
              <a:off x="9182608" y="524179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rect_0380"/>
            <p:cNvSpPr/>
            <p:nvPr/>
          </p:nvSpPr>
          <p:spPr>
            <a:xfrm>
              <a:off x="9025128" y="526884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rect_0381"/>
            <p:cNvSpPr/>
            <p:nvPr/>
          </p:nvSpPr>
          <p:spPr>
            <a:xfrm>
              <a:off x="9056624" y="5268849"/>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rect_0382"/>
            <p:cNvSpPr/>
            <p:nvPr/>
          </p:nvSpPr>
          <p:spPr>
            <a:xfrm>
              <a:off x="9119616" y="5268849"/>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rect_0383"/>
            <p:cNvSpPr/>
            <p:nvPr/>
          </p:nvSpPr>
          <p:spPr>
            <a:xfrm>
              <a:off x="9025128"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rect_0384"/>
            <p:cNvSpPr/>
            <p:nvPr/>
          </p:nvSpPr>
          <p:spPr>
            <a:xfrm>
              <a:off x="9056624" y="529589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rect_0385"/>
            <p:cNvSpPr/>
            <p:nvPr/>
          </p:nvSpPr>
          <p:spPr>
            <a:xfrm>
              <a:off x="9088120" y="5295899"/>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rect_0386"/>
            <p:cNvSpPr/>
            <p:nvPr/>
          </p:nvSpPr>
          <p:spPr>
            <a:xfrm>
              <a:off x="9151112" y="5295899"/>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rect_0387"/>
            <p:cNvSpPr/>
            <p:nvPr/>
          </p:nvSpPr>
          <p:spPr>
            <a:xfrm>
              <a:off x="9025128"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0" name="rect_0388"/>
            <p:cNvSpPr/>
            <p:nvPr/>
          </p:nvSpPr>
          <p:spPr>
            <a:xfrm>
              <a:off x="9056624" y="5322951"/>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1" name="rect_0389"/>
            <p:cNvSpPr/>
            <p:nvPr/>
          </p:nvSpPr>
          <p:spPr>
            <a:xfrm>
              <a:off x="9119616"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rect_0390"/>
            <p:cNvSpPr/>
            <p:nvPr/>
          </p:nvSpPr>
          <p:spPr>
            <a:xfrm>
              <a:off x="9151112" y="532295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3" name="rect_0391"/>
            <p:cNvSpPr/>
            <p:nvPr/>
          </p:nvSpPr>
          <p:spPr>
            <a:xfrm>
              <a:off x="9182608"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rect_0392"/>
            <p:cNvSpPr/>
            <p:nvPr/>
          </p:nvSpPr>
          <p:spPr>
            <a:xfrm>
              <a:off x="9025128"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rect_0393"/>
            <p:cNvSpPr/>
            <p:nvPr/>
          </p:nvSpPr>
          <p:spPr>
            <a:xfrm>
              <a:off x="9056624"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6" name="rect_0394"/>
            <p:cNvSpPr/>
            <p:nvPr/>
          </p:nvSpPr>
          <p:spPr>
            <a:xfrm>
              <a:off x="9088120"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rect_0395"/>
            <p:cNvSpPr/>
            <p:nvPr/>
          </p:nvSpPr>
          <p:spPr>
            <a:xfrm>
              <a:off x="9119616" y="5350002"/>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rect_0396"/>
            <p:cNvSpPr/>
            <p:nvPr/>
          </p:nvSpPr>
          <p:spPr>
            <a:xfrm>
              <a:off x="9182608"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rect_0397"/>
            <p:cNvSpPr/>
            <p:nvPr/>
          </p:nvSpPr>
          <p:spPr>
            <a:xfrm>
              <a:off x="9025128" y="537705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0" name="rect_0398"/>
            <p:cNvSpPr/>
            <p:nvPr/>
          </p:nvSpPr>
          <p:spPr>
            <a:xfrm>
              <a:off x="9056624" y="5377053"/>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rect_0399"/>
            <p:cNvSpPr/>
            <p:nvPr/>
          </p:nvSpPr>
          <p:spPr>
            <a:xfrm>
              <a:off x="9119616" y="5377053"/>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inference_noise_token1_bold_boundary"/>
            <p:cNvSpPr/>
            <p:nvPr/>
          </p:nvSpPr>
          <p:spPr>
            <a:xfrm>
              <a:off x="9025128" y="4105656"/>
              <a:ext cx="188975" cy="1298448"/>
            </a:xfrm>
            <a:prstGeom prst="rect">
              <a:avLst/>
            </a:prstGeom>
            <a:noFill/>
            <a:ln w="2032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nference_noise_token2_L32_solid"/>
            <p:cNvSpPr/>
            <p:nvPr/>
          </p:nvSpPr>
          <p:spPr>
            <a:xfrm>
              <a:off x="9246108" y="4105656"/>
              <a:ext cx="188975" cy="649224"/>
            </a:xfrm>
            <a:prstGeom prst="rect">
              <a:avLst/>
            </a:prstGeom>
            <a:solidFill>
              <a:srgbClr val="2C9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rect_0402"/>
            <p:cNvSpPr/>
            <p:nvPr/>
          </p:nvSpPr>
          <p:spPr>
            <a:xfrm>
              <a:off x="9246108" y="410565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rect_0403"/>
            <p:cNvSpPr/>
            <p:nvPr/>
          </p:nvSpPr>
          <p:spPr>
            <a:xfrm>
              <a:off x="9277604" y="4105656"/>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rect_0404"/>
            <p:cNvSpPr/>
            <p:nvPr/>
          </p:nvSpPr>
          <p:spPr>
            <a:xfrm>
              <a:off x="9340596" y="410565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rect_0405"/>
            <p:cNvSpPr/>
            <p:nvPr/>
          </p:nvSpPr>
          <p:spPr>
            <a:xfrm>
              <a:off x="9372092" y="4105656"/>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rect_0406"/>
            <p:cNvSpPr/>
            <p:nvPr/>
          </p:nvSpPr>
          <p:spPr>
            <a:xfrm>
              <a:off x="9246108" y="413270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rect_0407"/>
            <p:cNvSpPr/>
            <p:nvPr/>
          </p:nvSpPr>
          <p:spPr>
            <a:xfrm>
              <a:off x="9277604" y="4132707"/>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rect_0408"/>
            <p:cNvSpPr/>
            <p:nvPr/>
          </p:nvSpPr>
          <p:spPr>
            <a:xfrm>
              <a:off x="9340596" y="413270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rect_0409"/>
            <p:cNvSpPr/>
            <p:nvPr/>
          </p:nvSpPr>
          <p:spPr>
            <a:xfrm>
              <a:off x="9372092" y="413270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rect_0410"/>
            <p:cNvSpPr/>
            <p:nvPr/>
          </p:nvSpPr>
          <p:spPr>
            <a:xfrm>
              <a:off x="9403588" y="413270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rect_0411"/>
            <p:cNvSpPr/>
            <p:nvPr/>
          </p:nvSpPr>
          <p:spPr>
            <a:xfrm>
              <a:off x="9246108" y="4159758"/>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rect_0412"/>
            <p:cNvSpPr/>
            <p:nvPr/>
          </p:nvSpPr>
          <p:spPr>
            <a:xfrm>
              <a:off x="9372092" y="4159758"/>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rect_0413"/>
            <p:cNvSpPr/>
            <p:nvPr/>
          </p:nvSpPr>
          <p:spPr>
            <a:xfrm>
              <a:off x="9246108" y="4186809"/>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rect_0414"/>
            <p:cNvSpPr/>
            <p:nvPr/>
          </p:nvSpPr>
          <p:spPr>
            <a:xfrm>
              <a:off x="9309100" y="418680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rect_0415"/>
            <p:cNvSpPr/>
            <p:nvPr/>
          </p:nvSpPr>
          <p:spPr>
            <a:xfrm>
              <a:off x="9340596" y="4186809"/>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rect_0416"/>
            <p:cNvSpPr/>
            <p:nvPr/>
          </p:nvSpPr>
          <p:spPr>
            <a:xfrm>
              <a:off x="9246108" y="421386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rect_0417"/>
            <p:cNvSpPr/>
            <p:nvPr/>
          </p:nvSpPr>
          <p:spPr>
            <a:xfrm>
              <a:off x="9277604" y="4213860"/>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rect_0418"/>
            <p:cNvSpPr/>
            <p:nvPr/>
          </p:nvSpPr>
          <p:spPr>
            <a:xfrm>
              <a:off x="9372092" y="421386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rect_0419"/>
            <p:cNvSpPr/>
            <p:nvPr/>
          </p:nvSpPr>
          <p:spPr>
            <a:xfrm>
              <a:off x="9403588" y="421386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rect_0420"/>
            <p:cNvSpPr/>
            <p:nvPr/>
          </p:nvSpPr>
          <p:spPr>
            <a:xfrm>
              <a:off x="9246108" y="4240911"/>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rect_0421"/>
            <p:cNvSpPr/>
            <p:nvPr/>
          </p:nvSpPr>
          <p:spPr>
            <a:xfrm>
              <a:off x="9340596" y="424091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rect_0422"/>
            <p:cNvSpPr/>
            <p:nvPr/>
          </p:nvSpPr>
          <p:spPr>
            <a:xfrm>
              <a:off x="9372092" y="424091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rect_0423"/>
            <p:cNvSpPr/>
            <p:nvPr/>
          </p:nvSpPr>
          <p:spPr>
            <a:xfrm>
              <a:off x="9403588" y="424091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rect_0424"/>
            <p:cNvSpPr/>
            <p:nvPr/>
          </p:nvSpPr>
          <p:spPr>
            <a:xfrm>
              <a:off x="9246108" y="4267962"/>
              <a:ext cx="157479"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rect_0425"/>
            <p:cNvSpPr/>
            <p:nvPr/>
          </p:nvSpPr>
          <p:spPr>
            <a:xfrm>
              <a:off x="9403588" y="426796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rect_0426"/>
            <p:cNvSpPr/>
            <p:nvPr/>
          </p:nvSpPr>
          <p:spPr>
            <a:xfrm>
              <a:off x="9246108" y="4295013"/>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rect_0427"/>
            <p:cNvSpPr/>
            <p:nvPr/>
          </p:nvSpPr>
          <p:spPr>
            <a:xfrm>
              <a:off x="9309100" y="429501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rect_0428"/>
            <p:cNvSpPr/>
            <p:nvPr/>
          </p:nvSpPr>
          <p:spPr>
            <a:xfrm>
              <a:off x="9340596" y="4295013"/>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rect_0429"/>
            <p:cNvSpPr/>
            <p:nvPr/>
          </p:nvSpPr>
          <p:spPr>
            <a:xfrm>
              <a:off x="9246108" y="4322064"/>
              <a:ext cx="157479"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rect_0430"/>
            <p:cNvSpPr/>
            <p:nvPr/>
          </p:nvSpPr>
          <p:spPr>
            <a:xfrm>
              <a:off x="9403588" y="432206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rect_0431"/>
            <p:cNvSpPr/>
            <p:nvPr/>
          </p:nvSpPr>
          <p:spPr>
            <a:xfrm>
              <a:off x="9246108" y="434911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rect_0432"/>
            <p:cNvSpPr/>
            <p:nvPr/>
          </p:nvSpPr>
          <p:spPr>
            <a:xfrm>
              <a:off x="9277604" y="434911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rect_0433"/>
            <p:cNvSpPr/>
            <p:nvPr/>
          </p:nvSpPr>
          <p:spPr>
            <a:xfrm>
              <a:off x="9309100" y="4349115"/>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rect_0434"/>
            <p:cNvSpPr/>
            <p:nvPr/>
          </p:nvSpPr>
          <p:spPr>
            <a:xfrm>
              <a:off x="9372092" y="4349115"/>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rect_0435"/>
            <p:cNvSpPr/>
            <p:nvPr/>
          </p:nvSpPr>
          <p:spPr>
            <a:xfrm>
              <a:off x="9246108" y="437616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rect_0436"/>
            <p:cNvSpPr/>
            <p:nvPr/>
          </p:nvSpPr>
          <p:spPr>
            <a:xfrm>
              <a:off x="9277604" y="437616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rect_0437"/>
            <p:cNvSpPr/>
            <p:nvPr/>
          </p:nvSpPr>
          <p:spPr>
            <a:xfrm>
              <a:off x="9309100" y="437616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rect_0438"/>
            <p:cNvSpPr/>
            <p:nvPr/>
          </p:nvSpPr>
          <p:spPr>
            <a:xfrm>
              <a:off x="9403588" y="437616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rect_0439"/>
            <p:cNvSpPr/>
            <p:nvPr/>
          </p:nvSpPr>
          <p:spPr>
            <a:xfrm>
              <a:off x="9246108" y="4403217"/>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rect_0440"/>
            <p:cNvSpPr/>
            <p:nvPr/>
          </p:nvSpPr>
          <p:spPr>
            <a:xfrm>
              <a:off x="9340596" y="440321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rect_0441"/>
            <p:cNvSpPr/>
            <p:nvPr/>
          </p:nvSpPr>
          <p:spPr>
            <a:xfrm>
              <a:off x="9372092" y="440321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rect_0442"/>
            <p:cNvSpPr/>
            <p:nvPr/>
          </p:nvSpPr>
          <p:spPr>
            <a:xfrm>
              <a:off x="9403588" y="440321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rect_0443"/>
            <p:cNvSpPr/>
            <p:nvPr/>
          </p:nvSpPr>
          <p:spPr>
            <a:xfrm>
              <a:off x="9246108" y="4430268"/>
              <a:ext cx="18897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rect_0444"/>
            <p:cNvSpPr/>
            <p:nvPr/>
          </p:nvSpPr>
          <p:spPr>
            <a:xfrm>
              <a:off x="9246108" y="4457319"/>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rect_0445"/>
            <p:cNvSpPr/>
            <p:nvPr/>
          </p:nvSpPr>
          <p:spPr>
            <a:xfrm>
              <a:off x="9309100" y="4457319"/>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rect_0446"/>
            <p:cNvSpPr/>
            <p:nvPr/>
          </p:nvSpPr>
          <p:spPr>
            <a:xfrm>
              <a:off x="9372092" y="445731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rect_0447"/>
            <p:cNvSpPr/>
            <p:nvPr/>
          </p:nvSpPr>
          <p:spPr>
            <a:xfrm>
              <a:off x="9403588" y="445731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rect_0448"/>
            <p:cNvSpPr/>
            <p:nvPr/>
          </p:nvSpPr>
          <p:spPr>
            <a:xfrm>
              <a:off x="9246108" y="4484370"/>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rect_0449"/>
            <p:cNvSpPr/>
            <p:nvPr/>
          </p:nvSpPr>
          <p:spPr>
            <a:xfrm>
              <a:off x="9340596" y="448437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rect_0450"/>
            <p:cNvSpPr/>
            <p:nvPr/>
          </p:nvSpPr>
          <p:spPr>
            <a:xfrm>
              <a:off x="9372092" y="4484370"/>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rect_0451"/>
            <p:cNvSpPr/>
            <p:nvPr/>
          </p:nvSpPr>
          <p:spPr>
            <a:xfrm>
              <a:off x="9246108" y="451142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rect_0452"/>
            <p:cNvSpPr/>
            <p:nvPr/>
          </p:nvSpPr>
          <p:spPr>
            <a:xfrm>
              <a:off x="9277604" y="4511421"/>
              <a:ext cx="157479"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rect_0453"/>
            <p:cNvSpPr/>
            <p:nvPr/>
          </p:nvSpPr>
          <p:spPr>
            <a:xfrm>
              <a:off x="9246108" y="453847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rect_0454"/>
            <p:cNvSpPr/>
            <p:nvPr/>
          </p:nvSpPr>
          <p:spPr>
            <a:xfrm>
              <a:off x="9277604" y="453847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rect_0455"/>
            <p:cNvSpPr/>
            <p:nvPr/>
          </p:nvSpPr>
          <p:spPr>
            <a:xfrm>
              <a:off x="9309100" y="453847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rect_0456"/>
            <p:cNvSpPr/>
            <p:nvPr/>
          </p:nvSpPr>
          <p:spPr>
            <a:xfrm>
              <a:off x="9340596" y="453847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rect_0457"/>
            <p:cNvSpPr/>
            <p:nvPr/>
          </p:nvSpPr>
          <p:spPr>
            <a:xfrm>
              <a:off x="9372092" y="453847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rect_0458"/>
            <p:cNvSpPr/>
            <p:nvPr/>
          </p:nvSpPr>
          <p:spPr>
            <a:xfrm>
              <a:off x="9403588" y="453847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rect_0459"/>
            <p:cNvSpPr/>
            <p:nvPr/>
          </p:nvSpPr>
          <p:spPr>
            <a:xfrm>
              <a:off x="9246108" y="456552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rect_0460"/>
            <p:cNvSpPr/>
            <p:nvPr/>
          </p:nvSpPr>
          <p:spPr>
            <a:xfrm>
              <a:off x="9277604" y="4565523"/>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rect_0461"/>
            <p:cNvSpPr/>
            <p:nvPr/>
          </p:nvSpPr>
          <p:spPr>
            <a:xfrm>
              <a:off x="9372092" y="456552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rect_0462"/>
            <p:cNvSpPr/>
            <p:nvPr/>
          </p:nvSpPr>
          <p:spPr>
            <a:xfrm>
              <a:off x="9403588" y="456552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rect_0463"/>
            <p:cNvSpPr/>
            <p:nvPr/>
          </p:nvSpPr>
          <p:spPr>
            <a:xfrm>
              <a:off x="9246108" y="459257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rect_0464"/>
            <p:cNvSpPr/>
            <p:nvPr/>
          </p:nvSpPr>
          <p:spPr>
            <a:xfrm>
              <a:off x="9277604" y="4592574"/>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rect_0465"/>
            <p:cNvSpPr/>
            <p:nvPr/>
          </p:nvSpPr>
          <p:spPr>
            <a:xfrm>
              <a:off x="9340596" y="459257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rect_0466"/>
            <p:cNvSpPr/>
            <p:nvPr/>
          </p:nvSpPr>
          <p:spPr>
            <a:xfrm>
              <a:off x="9372092" y="459257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rect_0467"/>
            <p:cNvSpPr/>
            <p:nvPr/>
          </p:nvSpPr>
          <p:spPr>
            <a:xfrm>
              <a:off x="9403588" y="459257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rect_0468"/>
            <p:cNvSpPr/>
            <p:nvPr/>
          </p:nvSpPr>
          <p:spPr>
            <a:xfrm>
              <a:off x="9246108" y="461962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rect_0469"/>
            <p:cNvSpPr/>
            <p:nvPr/>
          </p:nvSpPr>
          <p:spPr>
            <a:xfrm>
              <a:off x="9277604" y="461962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rect_0470"/>
            <p:cNvSpPr/>
            <p:nvPr/>
          </p:nvSpPr>
          <p:spPr>
            <a:xfrm>
              <a:off x="9309100" y="461962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rect_0471"/>
            <p:cNvSpPr/>
            <p:nvPr/>
          </p:nvSpPr>
          <p:spPr>
            <a:xfrm>
              <a:off x="9340596" y="4619625"/>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rect_0472"/>
            <p:cNvSpPr/>
            <p:nvPr/>
          </p:nvSpPr>
          <p:spPr>
            <a:xfrm>
              <a:off x="9403588" y="461962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rect_0473"/>
            <p:cNvSpPr/>
            <p:nvPr/>
          </p:nvSpPr>
          <p:spPr>
            <a:xfrm>
              <a:off x="9246108" y="464667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rect_0474"/>
            <p:cNvSpPr/>
            <p:nvPr/>
          </p:nvSpPr>
          <p:spPr>
            <a:xfrm>
              <a:off x="9277604" y="464667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rect_0475"/>
            <p:cNvSpPr/>
            <p:nvPr/>
          </p:nvSpPr>
          <p:spPr>
            <a:xfrm>
              <a:off x="9309100" y="464667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rect_0476"/>
            <p:cNvSpPr/>
            <p:nvPr/>
          </p:nvSpPr>
          <p:spPr>
            <a:xfrm>
              <a:off x="9340596" y="464667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rect_0477"/>
            <p:cNvSpPr/>
            <p:nvPr/>
          </p:nvSpPr>
          <p:spPr>
            <a:xfrm>
              <a:off x="9372092" y="464667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rect_0478"/>
            <p:cNvSpPr/>
            <p:nvPr/>
          </p:nvSpPr>
          <p:spPr>
            <a:xfrm>
              <a:off x="9403588" y="464667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rect_0479"/>
            <p:cNvSpPr/>
            <p:nvPr/>
          </p:nvSpPr>
          <p:spPr>
            <a:xfrm>
              <a:off x="9246108" y="467372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rect_0480"/>
            <p:cNvSpPr/>
            <p:nvPr/>
          </p:nvSpPr>
          <p:spPr>
            <a:xfrm>
              <a:off x="9277604" y="467372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rect_0481"/>
            <p:cNvSpPr/>
            <p:nvPr/>
          </p:nvSpPr>
          <p:spPr>
            <a:xfrm>
              <a:off x="9309100" y="467372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rect_0482"/>
            <p:cNvSpPr/>
            <p:nvPr/>
          </p:nvSpPr>
          <p:spPr>
            <a:xfrm>
              <a:off x="9340596" y="4673727"/>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rect_0483"/>
            <p:cNvSpPr/>
            <p:nvPr/>
          </p:nvSpPr>
          <p:spPr>
            <a:xfrm>
              <a:off x="9246108" y="470077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rect_0484"/>
            <p:cNvSpPr/>
            <p:nvPr/>
          </p:nvSpPr>
          <p:spPr>
            <a:xfrm>
              <a:off x="9277604" y="4700778"/>
              <a:ext cx="157479"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rect_0485"/>
            <p:cNvSpPr/>
            <p:nvPr/>
          </p:nvSpPr>
          <p:spPr>
            <a:xfrm>
              <a:off x="9246108" y="472782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rect_0486"/>
            <p:cNvSpPr/>
            <p:nvPr/>
          </p:nvSpPr>
          <p:spPr>
            <a:xfrm>
              <a:off x="9277604" y="4727829"/>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rect_0487"/>
            <p:cNvSpPr/>
            <p:nvPr/>
          </p:nvSpPr>
          <p:spPr>
            <a:xfrm>
              <a:off x="9403588" y="472782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nference_noise_token2_L24_solid"/>
            <p:cNvSpPr/>
            <p:nvPr/>
          </p:nvSpPr>
          <p:spPr>
            <a:xfrm>
              <a:off x="9246108" y="4754880"/>
              <a:ext cx="188975" cy="324612"/>
            </a:xfrm>
            <a:prstGeom prst="rect">
              <a:avLst/>
            </a:prstGeom>
            <a:solidFill>
              <a:srgbClr val="C88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rect_0489"/>
            <p:cNvSpPr/>
            <p:nvPr/>
          </p:nvSpPr>
          <p:spPr>
            <a:xfrm>
              <a:off x="9246108" y="4754880"/>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rect_0490"/>
            <p:cNvSpPr/>
            <p:nvPr/>
          </p:nvSpPr>
          <p:spPr>
            <a:xfrm>
              <a:off x="9372092" y="475488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rect_0491"/>
            <p:cNvSpPr/>
            <p:nvPr/>
          </p:nvSpPr>
          <p:spPr>
            <a:xfrm>
              <a:off x="9403588" y="475488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rect_0492"/>
            <p:cNvSpPr/>
            <p:nvPr/>
          </p:nvSpPr>
          <p:spPr>
            <a:xfrm>
              <a:off x="9246108" y="478193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rect_0493"/>
            <p:cNvSpPr/>
            <p:nvPr/>
          </p:nvSpPr>
          <p:spPr>
            <a:xfrm>
              <a:off x="9277604" y="4781931"/>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rect_0494"/>
            <p:cNvSpPr/>
            <p:nvPr/>
          </p:nvSpPr>
          <p:spPr>
            <a:xfrm>
              <a:off x="9403588" y="478193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rect_0495"/>
            <p:cNvSpPr/>
            <p:nvPr/>
          </p:nvSpPr>
          <p:spPr>
            <a:xfrm>
              <a:off x="9246108" y="4808982"/>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rect_0496"/>
            <p:cNvSpPr/>
            <p:nvPr/>
          </p:nvSpPr>
          <p:spPr>
            <a:xfrm>
              <a:off x="9309100" y="480898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rect_0497"/>
            <p:cNvSpPr/>
            <p:nvPr/>
          </p:nvSpPr>
          <p:spPr>
            <a:xfrm>
              <a:off x="9340596" y="480898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rect_0498"/>
            <p:cNvSpPr/>
            <p:nvPr/>
          </p:nvSpPr>
          <p:spPr>
            <a:xfrm>
              <a:off x="9372092" y="4808982"/>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rect_0499"/>
            <p:cNvSpPr/>
            <p:nvPr/>
          </p:nvSpPr>
          <p:spPr>
            <a:xfrm>
              <a:off x="9246108" y="4836033"/>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rect_0500"/>
            <p:cNvSpPr/>
            <p:nvPr/>
          </p:nvSpPr>
          <p:spPr>
            <a:xfrm>
              <a:off x="9372092" y="483603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rect_0501"/>
            <p:cNvSpPr/>
            <p:nvPr/>
          </p:nvSpPr>
          <p:spPr>
            <a:xfrm>
              <a:off x="9403588" y="483603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_0502"/>
            <p:cNvSpPr/>
            <p:nvPr/>
          </p:nvSpPr>
          <p:spPr>
            <a:xfrm>
              <a:off x="9246108" y="486308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_0503"/>
            <p:cNvSpPr/>
            <p:nvPr/>
          </p:nvSpPr>
          <p:spPr>
            <a:xfrm>
              <a:off x="9277604" y="486308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_0504"/>
            <p:cNvSpPr/>
            <p:nvPr/>
          </p:nvSpPr>
          <p:spPr>
            <a:xfrm>
              <a:off x="9309100" y="486308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_0505"/>
            <p:cNvSpPr/>
            <p:nvPr/>
          </p:nvSpPr>
          <p:spPr>
            <a:xfrm>
              <a:off x="9340596" y="4863084"/>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_0506"/>
            <p:cNvSpPr/>
            <p:nvPr/>
          </p:nvSpPr>
          <p:spPr>
            <a:xfrm>
              <a:off x="9246108" y="4890135"/>
              <a:ext cx="157479"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_0507"/>
            <p:cNvSpPr/>
            <p:nvPr/>
          </p:nvSpPr>
          <p:spPr>
            <a:xfrm>
              <a:off x="9403588" y="489013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_0508"/>
            <p:cNvSpPr/>
            <p:nvPr/>
          </p:nvSpPr>
          <p:spPr>
            <a:xfrm>
              <a:off x="9246108" y="491718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_0509"/>
            <p:cNvSpPr/>
            <p:nvPr/>
          </p:nvSpPr>
          <p:spPr>
            <a:xfrm>
              <a:off x="9277604" y="491718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rect_0510"/>
            <p:cNvSpPr/>
            <p:nvPr/>
          </p:nvSpPr>
          <p:spPr>
            <a:xfrm>
              <a:off x="9309100" y="4917186"/>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rect_0511"/>
            <p:cNvSpPr/>
            <p:nvPr/>
          </p:nvSpPr>
          <p:spPr>
            <a:xfrm>
              <a:off x="9246108" y="494423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rect_0512"/>
            <p:cNvSpPr/>
            <p:nvPr/>
          </p:nvSpPr>
          <p:spPr>
            <a:xfrm>
              <a:off x="9277604" y="4944237"/>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rect_0513"/>
            <p:cNvSpPr/>
            <p:nvPr/>
          </p:nvSpPr>
          <p:spPr>
            <a:xfrm>
              <a:off x="9403588" y="494423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rect_0514"/>
            <p:cNvSpPr/>
            <p:nvPr/>
          </p:nvSpPr>
          <p:spPr>
            <a:xfrm>
              <a:off x="9246108" y="4971288"/>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rect_0515"/>
            <p:cNvSpPr/>
            <p:nvPr/>
          </p:nvSpPr>
          <p:spPr>
            <a:xfrm>
              <a:off x="9340596" y="497128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rect_0516"/>
            <p:cNvSpPr/>
            <p:nvPr/>
          </p:nvSpPr>
          <p:spPr>
            <a:xfrm>
              <a:off x="9372092" y="497128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rect_0517"/>
            <p:cNvSpPr/>
            <p:nvPr/>
          </p:nvSpPr>
          <p:spPr>
            <a:xfrm>
              <a:off x="9403588" y="497128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rect_0518"/>
            <p:cNvSpPr/>
            <p:nvPr/>
          </p:nvSpPr>
          <p:spPr>
            <a:xfrm>
              <a:off x="9246108" y="4998339"/>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rect_0519"/>
            <p:cNvSpPr/>
            <p:nvPr/>
          </p:nvSpPr>
          <p:spPr>
            <a:xfrm>
              <a:off x="9372092" y="499833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rect_0520"/>
            <p:cNvSpPr/>
            <p:nvPr/>
          </p:nvSpPr>
          <p:spPr>
            <a:xfrm>
              <a:off x="9403588" y="499833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rect_0521"/>
            <p:cNvSpPr/>
            <p:nvPr/>
          </p:nvSpPr>
          <p:spPr>
            <a:xfrm>
              <a:off x="9246108" y="5025390"/>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rect_0522"/>
            <p:cNvSpPr/>
            <p:nvPr/>
          </p:nvSpPr>
          <p:spPr>
            <a:xfrm>
              <a:off x="9372092" y="5025390"/>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rect_0523"/>
            <p:cNvSpPr/>
            <p:nvPr/>
          </p:nvSpPr>
          <p:spPr>
            <a:xfrm>
              <a:off x="9246108" y="505244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rect_0524"/>
            <p:cNvSpPr/>
            <p:nvPr/>
          </p:nvSpPr>
          <p:spPr>
            <a:xfrm>
              <a:off x="9277604" y="505244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rect_0525"/>
            <p:cNvSpPr/>
            <p:nvPr/>
          </p:nvSpPr>
          <p:spPr>
            <a:xfrm>
              <a:off x="9309100" y="505244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rect_0526"/>
            <p:cNvSpPr/>
            <p:nvPr/>
          </p:nvSpPr>
          <p:spPr>
            <a:xfrm>
              <a:off x="9340596" y="505244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rect_0527"/>
            <p:cNvSpPr/>
            <p:nvPr/>
          </p:nvSpPr>
          <p:spPr>
            <a:xfrm>
              <a:off x="9372092" y="505244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rect_0528"/>
            <p:cNvSpPr/>
            <p:nvPr/>
          </p:nvSpPr>
          <p:spPr>
            <a:xfrm>
              <a:off x="9403588" y="505244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nference_noise_token2_L16_solid"/>
            <p:cNvSpPr/>
            <p:nvPr/>
          </p:nvSpPr>
          <p:spPr>
            <a:xfrm>
              <a:off x="9246108" y="5079492"/>
              <a:ext cx="188975" cy="324612"/>
            </a:xfrm>
            <a:prstGeom prst="rect">
              <a:avLst/>
            </a:prstGeom>
            <a:solidFill>
              <a:srgbClr val="36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rect_0530"/>
            <p:cNvSpPr/>
            <p:nvPr/>
          </p:nvSpPr>
          <p:spPr>
            <a:xfrm>
              <a:off x="9246108"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rect_0531"/>
            <p:cNvSpPr/>
            <p:nvPr/>
          </p:nvSpPr>
          <p:spPr>
            <a:xfrm>
              <a:off x="9277604" y="5079492"/>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rect_0532"/>
            <p:cNvSpPr/>
            <p:nvPr/>
          </p:nvSpPr>
          <p:spPr>
            <a:xfrm>
              <a:off x="9340596"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rect_0533"/>
            <p:cNvSpPr/>
            <p:nvPr/>
          </p:nvSpPr>
          <p:spPr>
            <a:xfrm>
              <a:off x="9372092" y="507949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rect_0534"/>
            <p:cNvSpPr/>
            <p:nvPr/>
          </p:nvSpPr>
          <p:spPr>
            <a:xfrm>
              <a:off x="9403588"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rect_0535"/>
            <p:cNvSpPr/>
            <p:nvPr/>
          </p:nvSpPr>
          <p:spPr>
            <a:xfrm>
              <a:off x="9246108" y="510654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rect_0536"/>
            <p:cNvSpPr/>
            <p:nvPr/>
          </p:nvSpPr>
          <p:spPr>
            <a:xfrm>
              <a:off x="9277604" y="5106542"/>
              <a:ext cx="157479"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rect_0537"/>
            <p:cNvSpPr/>
            <p:nvPr/>
          </p:nvSpPr>
          <p:spPr>
            <a:xfrm>
              <a:off x="9246108" y="513359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rect_0538"/>
            <p:cNvSpPr/>
            <p:nvPr/>
          </p:nvSpPr>
          <p:spPr>
            <a:xfrm>
              <a:off x="9277604" y="513359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rect_0539"/>
            <p:cNvSpPr/>
            <p:nvPr/>
          </p:nvSpPr>
          <p:spPr>
            <a:xfrm>
              <a:off x="9309100" y="5133594"/>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rect_0540"/>
            <p:cNvSpPr/>
            <p:nvPr/>
          </p:nvSpPr>
          <p:spPr>
            <a:xfrm>
              <a:off x="9372092" y="5133594"/>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rect_0541"/>
            <p:cNvSpPr/>
            <p:nvPr/>
          </p:nvSpPr>
          <p:spPr>
            <a:xfrm>
              <a:off x="9246108" y="5160645"/>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rect_0542"/>
            <p:cNvSpPr/>
            <p:nvPr/>
          </p:nvSpPr>
          <p:spPr>
            <a:xfrm>
              <a:off x="9340596" y="516064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_0543"/>
            <p:cNvSpPr/>
            <p:nvPr/>
          </p:nvSpPr>
          <p:spPr>
            <a:xfrm>
              <a:off x="9372092" y="516064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rect_0544"/>
            <p:cNvSpPr/>
            <p:nvPr/>
          </p:nvSpPr>
          <p:spPr>
            <a:xfrm>
              <a:off x="9403588" y="516064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rect_0545"/>
            <p:cNvSpPr/>
            <p:nvPr/>
          </p:nvSpPr>
          <p:spPr>
            <a:xfrm>
              <a:off x="9246108" y="518769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rect_0546"/>
            <p:cNvSpPr/>
            <p:nvPr/>
          </p:nvSpPr>
          <p:spPr>
            <a:xfrm>
              <a:off x="9277604" y="518769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rect_0547"/>
            <p:cNvSpPr/>
            <p:nvPr/>
          </p:nvSpPr>
          <p:spPr>
            <a:xfrm>
              <a:off x="9372092" y="518769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rect_0548"/>
            <p:cNvSpPr/>
            <p:nvPr/>
          </p:nvSpPr>
          <p:spPr>
            <a:xfrm>
              <a:off x="9403588" y="518769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rect_0549"/>
            <p:cNvSpPr/>
            <p:nvPr/>
          </p:nvSpPr>
          <p:spPr>
            <a:xfrm>
              <a:off x="9246108"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rect_0550"/>
            <p:cNvSpPr/>
            <p:nvPr/>
          </p:nvSpPr>
          <p:spPr>
            <a:xfrm>
              <a:off x="9277604" y="521474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rect_0551"/>
            <p:cNvSpPr/>
            <p:nvPr/>
          </p:nvSpPr>
          <p:spPr>
            <a:xfrm>
              <a:off x="9309100"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rect_0552"/>
            <p:cNvSpPr/>
            <p:nvPr/>
          </p:nvSpPr>
          <p:spPr>
            <a:xfrm>
              <a:off x="9340596" y="521474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rect_0553"/>
            <p:cNvSpPr/>
            <p:nvPr/>
          </p:nvSpPr>
          <p:spPr>
            <a:xfrm>
              <a:off x="9246108" y="524179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rect_0554"/>
            <p:cNvSpPr/>
            <p:nvPr/>
          </p:nvSpPr>
          <p:spPr>
            <a:xfrm>
              <a:off x="9277604"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rect_0555"/>
            <p:cNvSpPr/>
            <p:nvPr/>
          </p:nvSpPr>
          <p:spPr>
            <a:xfrm>
              <a:off x="9309100" y="5241798"/>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rect_0556"/>
            <p:cNvSpPr/>
            <p:nvPr/>
          </p:nvSpPr>
          <p:spPr>
            <a:xfrm>
              <a:off x="9403588"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rect_0557"/>
            <p:cNvSpPr/>
            <p:nvPr/>
          </p:nvSpPr>
          <p:spPr>
            <a:xfrm>
              <a:off x="9246108" y="526884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rect_0558"/>
            <p:cNvSpPr/>
            <p:nvPr/>
          </p:nvSpPr>
          <p:spPr>
            <a:xfrm>
              <a:off x="9277604" y="5268849"/>
              <a:ext cx="157479"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rect_0559"/>
            <p:cNvSpPr/>
            <p:nvPr/>
          </p:nvSpPr>
          <p:spPr>
            <a:xfrm>
              <a:off x="9246108"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rect_0560"/>
            <p:cNvSpPr/>
            <p:nvPr/>
          </p:nvSpPr>
          <p:spPr>
            <a:xfrm>
              <a:off x="9277604" y="529589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rect_0561"/>
            <p:cNvSpPr/>
            <p:nvPr/>
          </p:nvSpPr>
          <p:spPr>
            <a:xfrm>
              <a:off x="9309100" y="5295899"/>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rect_0562"/>
            <p:cNvSpPr/>
            <p:nvPr/>
          </p:nvSpPr>
          <p:spPr>
            <a:xfrm>
              <a:off x="9246108"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rect_0563"/>
            <p:cNvSpPr/>
            <p:nvPr/>
          </p:nvSpPr>
          <p:spPr>
            <a:xfrm>
              <a:off x="9277604" y="532295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rect_0564"/>
            <p:cNvSpPr/>
            <p:nvPr/>
          </p:nvSpPr>
          <p:spPr>
            <a:xfrm>
              <a:off x="9309100"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rect_0565"/>
            <p:cNvSpPr/>
            <p:nvPr/>
          </p:nvSpPr>
          <p:spPr>
            <a:xfrm>
              <a:off x="9340596" y="5322951"/>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rect_0566"/>
            <p:cNvSpPr/>
            <p:nvPr/>
          </p:nvSpPr>
          <p:spPr>
            <a:xfrm>
              <a:off x="9403588"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rect_0567"/>
            <p:cNvSpPr/>
            <p:nvPr/>
          </p:nvSpPr>
          <p:spPr>
            <a:xfrm>
              <a:off x="9246108"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rect_0568"/>
            <p:cNvSpPr/>
            <p:nvPr/>
          </p:nvSpPr>
          <p:spPr>
            <a:xfrm>
              <a:off x="9277604"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rect_0569"/>
            <p:cNvSpPr/>
            <p:nvPr/>
          </p:nvSpPr>
          <p:spPr>
            <a:xfrm>
              <a:off x="9309100"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rect_0570"/>
            <p:cNvSpPr/>
            <p:nvPr/>
          </p:nvSpPr>
          <p:spPr>
            <a:xfrm>
              <a:off x="9340596"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rect_0571"/>
            <p:cNvSpPr/>
            <p:nvPr/>
          </p:nvSpPr>
          <p:spPr>
            <a:xfrm>
              <a:off x="9372092"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rect_0572"/>
            <p:cNvSpPr/>
            <p:nvPr/>
          </p:nvSpPr>
          <p:spPr>
            <a:xfrm>
              <a:off x="9403588"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rect_0573"/>
            <p:cNvSpPr/>
            <p:nvPr/>
          </p:nvSpPr>
          <p:spPr>
            <a:xfrm>
              <a:off x="9246108" y="5377053"/>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rect_0574"/>
            <p:cNvSpPr/>
            <p:nvPr/>
          </p:nvSpPr>
          <p:spPr>
            <a:xfrm>
              <a:off x="9340596" y="5377053"/>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nference_noise_token2_bold_boundary"/>
            <p:cNvSpPr/>
            <p:nvPr/>
          </p:nvSpPr>
          <p:spPr>
            <a:xfrm>
              <a:off x="9246108" y="4105656"/>
              <a:ext cx="188975" cy="1298448"/>
            </a:xfrm>
            <a:prstGeom prst="rect">
              <a:avLst/>
            </a:prstGeom>
            <a:noFill/>
            <a:ln w="2032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nference_noise_token3_L32_solid"/>
            <p:cNvSpPr/>
            <p:nvPr/>
          </p:nvSpPr>
          <p:spPr>
            <a:xfrm>
              <a:off x="9467087" y="4105656"/>
              <a:ext cx="188975" cy="649224"/>
            </a:xfrm>
            <a:prstGeom prst="rect">
              <a:avLst/>
            </a:prstGeom>
            <a:solidFill>
              <a:srgbClr val="2C9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rect_0577"/>
            <p:cNvSpPr/>
            <p:nvPr/>
          </p:nvSpPr>
          <p:spPr>
            <a:xfrm>
              <a:off x="9467087" y="4105656"/>
              <a:ext cx="157479"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rect_0578"/>
            <p:cNvSpPr/>
            <p:nvPr/>
          </p:nvSpPr>
          <p:spPr>
            <a:xfrm>
              <a:off x="9624567" y="410565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rect_0579"/>
            <p:cNvSpPr/>
            <p:nvPr/>
          </p:nvSpPr>
          <p:spPr>
            <a:xfrm>
              <a:off x="9467087" y="413270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rect_0580"/>
            <p:cNvSpPr/>
            <p:nvPr/>
          </p:nvSpPr>
          <p:spPr>
            <a:xfrm>
              <a:off x="9498583" y="413270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rect_0581"/>
            <p:cNvSpPr/>
            <p:nvPr/>
          </p:nvSpPr>
          <p:spPr>
            <a:xfrm>
              <a:off x="9530079" y="4132707"/>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rect_0582"/>
            <p:cNvSpPr/>
            <p:nvPr/>
          </p:nvSpPr>
          <p:spPr>
            <a:xfrm>
              <a:off x="9593071" y="4132707"/>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rect_0583"/>
            <p:cNvSpPr/>
            <p:nvPr/>
          </p:nvSpPr>
          <p:spPr>
            <a:xfrm>
              <a:off x="9467087" y="415975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rect_0584"/>
            <p:cNvSpPr/>
            <p:nvPr/>
          </p:nvSpPr>
          <p:spPr>
            <a:xfrm>
              <a:off x="9498583" y="415975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rect_0585"/>
            <p:cNvSpPr/>
            <p:nvPr/>
          </p:nvSpPr>
          <p:spPr>
            <a:xfrm>
              <a:off x="9530079" y="415975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rect_0586"/>
            <p:cNvSpPr/>
            <p:nvPr/>
          </p:nvSpPr>
          <p:spPr>
            <a:xfrm>
              <a:off x="9561575" y="4159758"/>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rect_0587"/>
            <p:cNvSpPr/>
            <p:nvPr/>
          </p:nvSpPr>
          <p:spPr>
            <a:xfrm>
              <a:off x="9467087" y="4186809"/>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rect_0588"/>
            <p:cNvSpPr/>
            <p:nvPr/>
          </p:nvSpPr>
          <p:spPr>
            <a:xfrm>
              <a:off x="9530079" y="4186809"/>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rect_0589"/>
            <p:cNvSpPr/>
            <p:nvPr/>
          </p:nvSpPr>
          <p:spPr>
            <a:xfrm>
              <a:off x="9624567" y="418680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rect_0590"/>
            <p:cNvSpPr/>
            <p:nvPr/>
          </p:nvSpPr>
          <p:spPr>
            <a:xfrm>
              <a:off x="9467087" y="4213860"/>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rect_0591"/>
            <p:cNvSpPr/>
            <p:nvPr/>
          </p:nvSpPr>
          <p:spPr>
            <a:xfrm>
              <a:off x="9561575" y="421386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rect_0592"/>
            <p:cNvSpPr/>
            <p:nvPr/>
          </p:nvSpPr>
          <p:spPr>
            <a:xfrm>
              <a:off x="9593071" y="4213860"/>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rect_0593"/>
            <p:cNvSpPr/>
            <p:nvPr/>
          </p:nvSpPr>
          <p:spPr>
            <a:xfrm>
              <a:off x="9467087" y="424091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rect_0594"/>
            <p:cNvSpPr/>
            <p:nvPr/>
          </p:nvSpPr>
          <p:spPr>
            <a:xfrm>
              <a:off x="9498583" y="424091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rect_0595"/>
            <p:cNvSpPr/>
            <p:nvPr/>
          </p:nvSpPr>
          <p:spPr>
            <a:xfrm>
              <a:off x="9530079" y="424091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rect_0596"/>
            <p:cNvSpPr/>
            <p:nvPr/>
          </p:nvSpPr>
          <p:spPr>
            <a:xfrm>
              <a:off x="9561575" y="4240911"/>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rect_0597"/>
            <p:cNvSpPr/>
            <p:nvPr/>
          </p:nvSpPr>
          <p:spPr>
            <a:xfrm>
              <a:off x="9624567" y="424091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rect_0598"/>
            <p:cNvSpPr/>
            <p:nvPr/>
          </p:nvSpPr>
          <p:spPr>
            <a:xfrm>
              <a:off x="9467087" y="4267962"/>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rect_0599"/>
            <p:cNvSpPr/>
            <p:nvPr/>
          </p:nvSpPr>
          <p:spPr>
            <a:xfrm>
              <a:off x="9561575" y="4267962"/>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rect_0600"/>
            <p:cNvSpPr/>
            <p:nvPr/>
          </p:nvSpPr>
          <p:spPr>
            <a:xfrm>
              <a:off x="9624567" y="426796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rect_0601"/>
            <p:cNvSpPr/>
            <p:nvPr/>
          </p:nvSpPr>
          <p:spPr>
            <a:xfrm>
              <a:off x="9467087" y="429501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rect_0602"/>
            <p:cNvSpPr/>
            <p:nvPr/>
          </p:nvSpPr>
          <p:spPr>
            <a:xfrm>
              <a:off x="9498583" y="429501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rect_0603"/>
            <p:cNvSpPr/>
            <p:nvPr/>
          </p:nvSpPr>
          <p:spPr>
            <a:xfrm>
              <a:off x="9530079" y="429501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rect_0604"/>
            <p:cNvSpPr/>
            <p:nvPr/>
          </p:nvSpPr>
          <p:spPr>
            <a:xfrm>
              <a:off x="9561575" y="4295013"/>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rect_0605"/>
            <p:cNvSpPr/>
            <p:nvPr/>
          </p:nvSpPr>
          <p:spPr>
            <a:xfrm>
              <a:off x="9467087" y="4322064"/>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rect_0606"/>
            <p:cNvSpPr/>
            <p:nvPr/>
          </p:nvSpPr>
          <p:spPr>
            <a:xfrm>
              <a:off x="9530079" y="432206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rect_0607"/>
            <p:cNvSpPr/>
            <p:nvPr/>
          </p:nvSpPr>
          <p:spPr>
            <a:xfrm>
              <a:off x="9561575" y="432206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rect_0608"/>
            <p:cNvSpPr/>
            <p:nvPr/>
          </p:nvSpPr>
          <p:spPr>
            <a:xfrm>
              <a:off x="9593071" y="4322064"/>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rect_0609"/>
            <p:cNvSpPr/>
            <p:nvPr/>
          </p:nvSpPr>
          <p:spPr>
            <a:xfrm>
              <a:off x="9467087" y="4349115"/>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rect_0610"/>
            <p:cNvSpPr/>
            <p:nvPr/>
          </p:nvSpPr>
          <p:spPr>
            <a:xfrm>
              <a:off x="9561575" y="4349115"/>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rect_0611"/>
            <p:cNvSpPr/>
            <p:nvPr/>
          </p:nvSpPr>
          <p:spPr>
            <a:xfrm>
              <a:off x="9624567" y="434911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rect_0612"/>
            <p:cNvSpPr/>
            <p:nvPr/>
          </p:nvSpPr>
          <p:spPr>
            <a:xfrm>
              <a:off x="9467087" y="437616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rect_0613"/>
            <p:cNvSpPr/>
            <p:nvPr/>
          </p:nvSpPr>
          <p:spPr>
            <a:xfrm>
              <a:off x="9498583" y="437616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rect_0614"/>
            <p:cNvSpPr/>
            <p:nvPr/>
          </p:nvSpPr>
          <p:spPr>
            <a:xfrm>
              <a:off x="9593071" y="4376166"/>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rect_0615"/>
            <p:cNvSpPr/>
            <p:nvPr/>
          </p:nvSpPr>
          <p:spPr>
            <a:xfrm>
              <a:off x="9467087" y="4403217"/>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rect_0616"/>
            <p:cNvSpPr/>
            <p:nvPr/>
          </p:nvSpPr>
          <p:spPr>
            <a:xfrm>
              <a:off x="9530079" y="4403217"/>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rect_0617"/>
            <p:cNvSpPr/>
            <p:nvPr/>
          </p:nvSpPr>
          <p:spPr>
            <a:xfrm>
              <a:off x="9593071" y="4403217"/>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rect_0618"/>
            <p:cNvSpPr/>
            <p:nvPr/>
          </p:nvSpPr>
          <p:spPr>
            <a:xfrm>
              <a:off x="9467087" y="4430268"/>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rect_0619"/>
            <p:cNvSpPr/>
            <p:nvPr/>
          </p:nvSpPr>
          <p:spPr>
            <a:xfrm>
              <a:off x="9561575" y="4430268"/>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rect_0620"/>
            <p:cNvSpPr/>
            <p:nvPr/>
          </p:nvSpPr>
          <p:spPr>
            <a:xfrm>
              <a:off x="9624567" y="443026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rect_0621"/>
            <p:cNvSpPr/>
            <p:nvPr/>
          </p:nvSpPr>
          <p:spPr>
            <a:xfrm>
              <a:off x="9467087" y="4457319"/>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rect_0622"/>
            <p:cNvSpPr/>
            <p:nvPr/>
          </p:nvSpPr>
          <p:spPr>
            <a:xfrm>
              <a:off x="9530079" y="445731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rect_0623"/>
            <p:cNvSpPr/>
            <p:nvPr/>
          </p:nvSpPr>
          <p:spPr>
            <a:xfrm>
              <a:off x="9561575" y="4457319"/>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rect_0624"/>
            <p:cNvSpPr/>
            <p:nvPr/>
          </p:nvSpPr>
          <p:spPr>
            <a:xfrm>
              <a:off x="9624567" y="445731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rect_0625"/>
            <p:cNvSpPr/>
            <p:nvPr/>
          </p:nvSpPr>
          <p:spPr>
            <a:xfrm>
              <a:off x="9467087" y="4484370"/>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rect_0626"/>
            <p:cNvSpPr/>
            <p:nvPr/>
          </p:nvSpPr>
          <p:spPr>
            <a:xfrm>
              <a:off x="9530079" y="448437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rect_0627"/>
            <p:cNvSpPr/>
            <p:nvPr/>
          </p:nvSpPr>
          <p:spPr>
            <a:xfrm>
              <a:off x="9561575" y="4484370"/>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rect_0628"/>
            <p:cNvSpPr/>
            <p:nvPr/>
          </p:nvSpPr>
          <p:spPr>
            <a:xfrm>
              <a:off x="9467087" y="4511421"/>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rect_0629"/>
            <p:cNvSpPr/>
            <p:nvPr/>
          </p:nvSpPr>
          <p:spPr>
            <a:xfrm>
              <a:off x="9530079" y="451142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rect_0630"/>
            <p:cNvSpPr/>
            <p:nvPr/>
          </p:nvSpPr>
          <p:spPr>
            <a:xfrm>
              <a:off x="9561575" y="451142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rect_0631"/>
            <p:cNvSpPr/>
            <p:nvPr/>
          </p:nvSpPr>
          <p:spPr>
            <a:xfrm>
              <a:off x="9593071" y="4511421"/>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rect_0632"/>
            <p:cNvSpPr/>
            <p:nvPr/>
          </p:nvSpPr>
          <p:spPr>
            <a:xfrm>
              <a:off x="9467087" y="4538472"/>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rect_0633"/>
            <p:cNvSpPr/>
            <p:nvPr/>
          </p:nvSpPr>
          <p:spPr>
            <a:xfrm>
              <a:off x="9530079" y="453847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rect_0634"/>
            <p:cNvSpPr/>
            <p:nvPr/>
          </p:nvSpPr>
          <p:spPr>
            <a:xfrm>
              <a:off x="9561575" y="4538472"/>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rect_0635"/>
            <p:cNvSpPr/>
            <p:nvPr/>
          </p:nvSpPr>
          <p:spPr>
            <a:xfrm>
              <a:off x="9467087" y="456552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rect_0636"/>
            <p:cNvSpPr/>
            <p:nvPr/>
          </p:nvSpPr>
          <p:spPr>
            <a:xfrm>
              <a:off x="9498583" y="4565523"/>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rect_0637"/>
            <p:cNvSpPr/>
            <p:nvPr/>
          </p:nvSpPr>
          <p:spPr>
            <a:xfrm>
              <a:off x="9561575" y="456552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rect_0638"/>
            <p:cNvSpPr/>
            <p:nvPr/>
          </p:nvSpPr>
          <p:spPr>
            <a:xfrm>
              <a:off x="9593071" y="4565523"/>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rect_0639"/>
            <p:cNvSpPr/>
            <p:nvPr/>
          </p:nvSpPr>
          <p:spPr>
            <a:xfrm>
              <a:off x="9467087" y="4592574"/>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rect_0640"/>
            <p:cNvSpPr/>
            <p:nvPr/>
          </p:nvSpPr>
          <p:spPr>
            <a:xfrm>
              <a:off x="9530079" y="459257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rect_0641"/>
            <p:cNvSpPr/>
            <p:nvPr/>
          </p:nvSpPr>
          <p:spPr>
            <a:xfrm>
              <a:off x="9561575" y="4592574"/>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rect_0642"/>
            <p:cNvSpPr/>
            <p:nvPr/>
          </p:nvSpPr>
          <p:spPr>
            <a:xfrm>
              <a:off x="9467087" y="461962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rect_0643"/>
            <p:cNvSpPr/>
            <p:nvPr/>
          </p:nvSpPr>
          <p:spPr>
            <a:xfrm>
              <a:off x="9498583" y="461962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rect_0644"/>
            <p:cNvSpPr/>
            <p:nvPr/>
          </p:nvSpPr>
          <p:spPr>
            <a:xfrm>
              <a:off x="9530079" y="461962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rect_0645"/>
            <p:cNvSpPr/>
            <p:nvPr/>
          </p:nvSpPr>
          <p:spPr>
            <a:xfrm>
              <a:off x="9561575" y="4619625"/>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rect_0646"/>
            <p:cNvSpPr/>
            <p:nvPr/>
          </p:nvSpPr>
          <p:spPr>
            <a:xfrm>
              <a:off x="9624567" y="461962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rect_0647"/>
            <p:cNvSpPr/>
            <p:nvPr/>
          </p:nvSpPr>
          <p:spPr>
            <a:xfrm>
              <a:off x="9467087" y="4646676"/>
              <a:ext cx="18897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rect_0648"/>
            <p:cNvSpPr/>
            <p:nvPr/>
          </p:nvSpPr>
          <p:spPr>
            <a:xfrm>
              <a:off x="9467087" y="4673727"/>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rect_0649"/>
            <p:cNvSpPr/>
            <p:nvPr/>
          </p:nvSpPr>
          <p:spPr>
            <a:xfrm>
              <a:off x="9593071" y="467372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rect_0650"/>
            <p:cNvSpPr/>
            <p:nvPr/>
          </p:nvSpPr>
          <p:spPr>
            <a:xfrm>
              <a:off x="9624567" y="467372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rect_0651"/>
            <p:cNvSpPr/>
            <p:nvPr/>
          </p:nvSpPr>
          <p:spPr>
            <a:xfrm>
              <a:off x="9467087" y="470077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rect_0652"/>
            <p:cNvSpPr/>
            <p:nvPr/>
          </p:nvSpPr>
          <p:spPr>
            <a:xfrm>
              <a:off x="9498583" y="4700778"/>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rect_0653"/>
            <p:cNvSpPr/>
            <p:nvPr/>
          </p:nvSpPr>
          <p:spPr>
            <a:xfrm>
              <a:off x="9593071" y="4700778"/>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rect_0654"/>
            <p:cNvSpPr/>
            <p:nvPr/>
          </p:nvSpPr>
          <p:spPr>
            <a:xfrm>
              <a:off x="9467087" y="4727829"/>
              <a:ext cx="157479"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rect_0655"/>
            <p:cNvSpPr/>
            <p:nvPr/>
          </p:nvSpPr>
          <p:spPr>
            <a:xfrm>
              <a:off x="9624567" y="472782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nference_noise_token3_L24_solid"/>
            <p:cNvSpPr/>
            <p:nvPr/>
          </p:nvSpPr>
          <p:spPr>
            <a:xfrm>
              <a:off x="9467087" y="4754880"/>
              <a:ext cx="188975" cy="324612"/>
            </a:xfrm>
            <a:prstGeom prst="rect">
              <a:avLst/>
            </a:prstGeom>
            <a:solidFill>
              <a:srgbClr val="C88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rect_0657"/>
            <p:cNvSpPr/>
            <p:nvPr/>
          </p:nvSpPr>
          <p:spPr>
            <a:xfrm>
              <a:off x="9467087" y="475488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rect_0658"/>
            <p:cNvSpPr/>
            <p:nvPr/>
          </p:nvSpPr>
          <p:spPr>
            <a:xfrm>
              <a:off x="9498583" y="475488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rect_0659"/>
            <p:cNvSpPr/>
            <p:nvPr/>
          </p:nvSpPr>
          <p:spPr>
            <a:xfrm>
              <a:off x="9530079" y="4754880"/>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rect_0660"/>
            <p:cNvSpPr/>
            <p:nvPr/>
          </p:nvSpPr>
          <p:spPr>
            <a:xfrm>
              <a:off x="9593071" y="475488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rect_0661"/>
            <p:cNvSpPr/>
            <p:nvPr/>
          </p:nvSpPr>
          <p:spPr>
            <a:xfrm>
              <a:off x="9624567" y="475488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rect_0662"/>
            <p:cNvSpPr/>
            <p:nvPr/>
          </p:nvSpPr>
          <p:spPr>
            <a:xfrm>
              <a:off x="9467087" y="478193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rect_0663"/>
            <p:cNvSpPr/>
            <p:nvPr/>
          </p:nvSpPr>
          <p:spPr>
            <a:xfrm>
              <a:off x="9498583" y="4781931"/>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rect_0664"/>
            <p:cNvSpPr/>
            <p:nvPr/>
          </p:nvSpPr>
          <p:spPr>
            <a:xfrm>
              <a:off x="9593071" y="4781931"/>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rect_0665"/>
            <p:cNvSpPr/>
            <p:nvPr/>
          </p:nvSpPr>
          <p:spPr>
            <a:xfrm>
              <a:off x="9467087" y="480898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rect_0666"/>
            <p:cNvSpPr/>
            <p:nvPr/>
          </p:nvSpPr>
          <p:spPr>
            <a:xfrm>
              <a:off x="9498583" y="480898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rect_0667"/>
            <p:cNvSpPr/>
            <p:nvPr/>
          </p:nvSpPr>
          <p:spPr>
            <a:xfrm>
              <a:off x="9530079" y="480898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rect_0668"/>
            <p:cNvSpPr/>
            <p:nvPr/>
          </p:nvSpPr>
          <p:spPr>
            <a:xfrm>
              <a:off x="9561575" y="480898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rect_0669"/>
            <p:cNvSpPr/>
            <p:nvPr/>
          </p:nvSpPr>
          <p:spPr>
            <a:xfrm>
              <a:off x="9593071" y="4808982"/>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rect_0670"/>
            <p:cNvSpPr/>
            <p:nvPr/>
          </p:nvSpPr>
          <p:spPr>
            <a:xfrm>
              <a:off x="9467087" y="4836033"/>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rect_0671"/>
            <p:cNvSpPr/>
            <p:nvPr/>
          </p:nvSpPr>
          <p:spPr>
            <a:xfrm>
              <a:off x="9593071" y="4836033"/>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rect_0672"/>
            <p:cNvSpPr/>
            <p:nvPr/>
          </p:nvSpPr>
          <p:spPr>
            <a:xfrm>
              <a:off x="9467087" y="4863084"/>
              <a:ext cx="18897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rect_0673"/>
            <p:cNvSpPr/>
            <p:nvPr/>
          </p:nvSpPr>
          <p:spPr>
            <a:xfrm>
              <a:off x="9467087" y="489013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rect_0674"/>
            <p:cNvSpPr/>
            <p:nvPr/>
          </p:nvSpPr>
          <p:spPr>
            <a:xfrm>
              <a:off x="9498583" y="4890135"/>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rect_0675"/>
            <p:cNvSpPr/>
            <p:nvPr/>
          </p:nvSpPr>
          <p:spPr>
            <a:xfrm>
              <a:off x="9561575" y="4890135"/>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rect_0676"/>
            <p:cNvSpPr/>
            <p:nvPr/>
          </p:nvSpPr>
          <p:spPr>
            <a:xfrm>
              <a:off x="9624567" y="489013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rect_0677"/>
            <p:cNvSpPr/>
            <p:nvPr/>
          </p:nvSpPr>
          <p:spPr>
            <a:xfrm>
              <a:off x="9467087" y="4917186"/>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rect_0678"/>
            <p:cNvSpPr/>
            <p:nvPr/>
          </p:nvSpPr>
          <p:spPr>
            <a:xfrm>
              <a:off x="9530079" y="4917186"/>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rect_0679"/>
            <p:cNvSpPr/>
            <p:nvPr/>
          </p:nvSpPr>
          <p:spPr>
            <a:xfrm>
              <a:off x="9467087" y="4944237"/>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rect_0680"/>
            <p:cNvSpPr/>
            <p:nvPr/>
          </p:nvSpPr>
          <p:spPr>
            <a:xfrm>
              <a:off x="9530079" y="4944237"/>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rect_0681"/>
            <p:cNvSpPr/>
            <p:nvPr/>
          </p:nvSpPr>
          <p:spPr>
            <a:xfrm>
              <a:off x="9593071" y="4944237"/>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rect_0682"/>
            <p:cNvSpPr/>
            <p:nvPr/>
          </p:nvSpPr>
          <p:spPr>
            <a:xfrm>
              <a:off x="9467087" y="4971288"/>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rect_0683"/>
            <p:cNvSpPr/>
            <p:nvPr/>
          </p:nvSpPr>
          <p:spPr>
            <a:xfrm>
              <a:off x="9530079" y="4971288"/>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rect_0684"/>
            <p:cNvSpPr/>
            <p:nvPr/>
          </p:nvSpPr>
          <p:spPr>
            <a:xfrm>
              <a:off x="9593071" y="4971288"/>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rect_0685"/>
            <p:cNvSpPr/>
            <p:nvPr/>
          </p:nvSpPr>
          <p:spPr>
            <a:xfrm>
              <a:off x="9467087" y="4998339"/>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rect_0686"/>
            <p:cNvSpPr/>
            <p:nvPr/>
          </p:nvSpPr>
          <p:spPr>
            <a:xfrm>
              <a:off x="9530079" y="499833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rect_0687"/>
            <p:cNvSpPr/>
            <p:nvPr/>
          </p:nvSpPr>
          <p:spPr>
            <a:xfrm>
              <a:off x="9561575" y="499833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rect_0688"/>
            <p:cNvSpPr/>
            <p:nvPr/>
          </p:nvSpPr>
          <p:spPr>
            <a:xfrm>
              <a:off x="9593071" y="499833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rect_0689"/>
            <p:cNvSpPr/>
            <p:nvPr/>
          </p:nvSpPr>
          <p:spPr>
            <a:xfrm>
              <a:off x="9624567" y="499833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rect_0690"/>
            <p:cNvSpPr/>
            <p:nvPr/>
          </p:nvSpPr>
          <p:spPr>
            <a:xfrm>
              <a:off x="9467087" y="502539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rect_0691"/>
            <p:cNvSpPr/>
            <p:nvPr/>
          </p:nvSpPr>
          <p:spPr>
            <a:xfrm>
              <a:off x="9498583" y="5025390"/>
              <a:ext cx="157479"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rect_0692"/>
            <p:cNvSpPr/>
            <p:nvPr/>
          </p:nvSpPr>
          <p:spPr>
            <a:xfrm>
              <a:off x="9467087" y="505244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rect_0693"/>
            <p:cNvSpPr/>
            <p:nvPr/>
          </p:nvSpPr>
          <p:spPr>
            <a:xfrm>
              <a:off x="9498583" y="5052441"/>
              <a:ext cx="157479"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nference_noise_token3_L16_solid"/>
            <p:cNvSpPr/>
            <p:nvPr/>
          </p:nvSpPr>
          <p:spPr>
            <a:xfrm>
              <a:off x="9467087" y="5079492"/>
              <a:ext cx="188975" cy="324612"/>
            </a:xfrm>
            <a:prstGeom prst="rect">
              <a:avLst/>
            </a:prstGeom>
            <a:solidFill>
              <a:srgbClr val="36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rect_0695"/>
            <p:cNvSpPr/>
            <p:nvPr/>
          </p:nvSpPr>
          <p:spPr>
            <a:xfrm>
              <a:off x="9467087" y="507949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rect_0696"/>
            <p:cNvSpPr/>
            <p:nvPr/>
          </p:nvSpPr>
          <p:spPr>
            <a:xfrm>
              <a:off x="9498583" y="5079492"/>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rect_0697"/>
            <p:cNvSpPr/>
            <p:nvPr/>
          </p:nvSpPr>
          <p:spPr>
            <a:xfrm>
              <a:off x="9561575" y="5079492"/>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rect_0698"/>
            <p:cNvSpPr/>
            <p:nvPr/>
          </p:nvSpPr>
          <p:spPr>
            <a:xfrm>
              <a:off x="9467087" y="5106542"/>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rect_0699"/>
            <p:cNvSpPr/>
            <p:nvPr/>
          </p:nvSpPr>
          <p:spPr>
            <a:xfrm>
              <a:off x="9593071" y="5106542"/>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rect_0700"/>
            <p:cNvSpPr/>
            <p:nvPr/>
          </p:nvSpPr>
          <p:spPr>
            <a:xfrm>
              <a:off x="9467087" y="5133594"/>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rect_0701"/>
            <p:cNvSpPr/>
            <p:nvPr/>
          </p:nvSpPr>
          <p:spPr>
            <a:xfrm>
              <a:off x="9561575" y="513359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rect_0702"/>
            <p:cNvSpPr/>
            <p:nvPr/>
          </p:nvSpPr>
          <p:spPr>
            <a:xfrm>
              <a:off x="9593071" y="5133594"/>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rect_0703"/>
            <p:cNvSpPr/>
            <p:nvPr/>
          </p:nvSpPr>
          <p:spPr>
            <a:xfrm>
              <a:off x="9467087" y="5160645"/>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rect_0704"/>
            <p:cNvSpPr/>
            <p:nvPr/>
          </p:nvSpPr>
          <p:spPr>
            <a:xfrm>
              <a:off x="9561575" y="516064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rect_0705"/>
            <p:cNvSpPr/>
            <p:nvPr/>
          </p:nvSpPr>
          <p:spPr>
            <a:xfrm>
              <a:off x="9593071" y="516064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rect_0706"/>
            <p:cNvSpPr/>
            <p:nvPr/>
          </p:nvSpPr>
          <p:spPr>
            <a:xfrm>
              <a:off x="9624567" y="516064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rect_0707"/>
            <p:cNvSpPr/>
            <p:nvPr/>
          </p:nvSpPr>
          <p:spPr>
            <a:xfrm>
              <a:off x="9467087" y="5187696"/>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rect_0708"/>
            <p:cNvSpPr/>
            <p:nvPr/>
          </p:nvSpPr>
          <p:spPr>
            <a:xfrm>
              <a:off x="9561575" y="518769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rect_0709"/>
            <p:cNvSpPr/>
            <p:nvPr/>
          </p:nvSpPr>
          <p:spPr>
            <a:xfrm>
              <a:off x="9467087"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rect_0710"/>
            <p:cNvSpPr/>
            <p:nvPr/>
          </p:nvSpPr>
          <p:spPr>
            <a:xfrm>
              <a:off x="9498583" y="521474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rect_0711"/>
            <p:cNvSpPr/>
            <p:nvPr/>
          </p:nvSpPr>
          <p:spPr>
            <a:xfrm>
              <a:off x="9593071" y="5214746"/>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rect_0712"/>
            <p:cNvSpPr/>
            <p:nvPr/>
          </p:nvSpPr>
          <p:spPr>
            <a:xfrm>
              <a:off x="9467087" y="524179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rect_0713"/>
            <p:cNvSpPr/>
            <p:nvPr/>
          </p:nvSpPr>
          <p:spPr>
            <a:xfrm>
              <a:off x="9498583"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rect_0714"/>
            <p:cNvSpPr/>
            <p:nvPr/>
          </p:nvSpPr>
          <p:spPr>
            <a:xfrm>
              <a:off x="9530079" y="524179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rect_0715"/>
            <p:cNvSpPr/>
            <p:nvPr/>
          </p:nvSpPr>
          <p:spPr>
            <a:xfrm>
              <a:off x="9561575"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rect_0716"/>
            <p:cNvSpPr/>
            <p:nvPr/>
          </p:nvSpPr>
          <p:spPr>
            <a:xfrm>
              <a:off x="9593071" y="5241798"/>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rect_0717"/>
            <p:cNvSpPr/>
            <p:nvPr/>
          </p:nvSpPr>
          <p:spPr>
            <a:xfrm>
              <a:off x="9467087" y="526884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rect_0718"/>
            <p:cNvSpPr/>
            <p:nvPr/>
          </p:nvSpPr>
          <p:spPr>
            <a:xfrm>
              <a:off x="9498583" y="5268849"/>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rect_0719"/>
            <p:cNvSpPr/>
            <p:nvPr/>
          </p:nvSpPr>
          <p:spPr>
            <a:xfrm>
              <a:off x="9624567" y="526884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rect_0720"/>
            <p:cNvSpPr/>
            <p:nvPr/>
          </p:nvSpPr>
          <p:spPr>
            <a:xfrm>
              <a:off x="9467087"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rect_0721"/>
            <p:cNvSpPr/>
            <p:nvPr/>
          </p:nvSpPr>
          <p:spPr>
            <a:xfrm>
              <a:off x="9498583" y="529589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rect_0722"/>
            <p:cNvSpPr/>
            <p:nvPr/>
          </p:nvSpPr>
          <p:spPr>
            <a:xfrm>
              <a:off x="9530079"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rect_0723"/>
            <p:cNvSpPr/>
            <p:nvPr/>
          </p:nvSpPr>
          <p:spPr>
            <a:xfrm>
              <a:off x="9561575" y="5295899"/>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rect_0724"/>
            <p:cNvSpPr/>
            <p:nvPr/>
          </p:nvSpPr>
          <p:spPr>
            <a:xfrm>
              <a:off x="9467087" y="5322951"/>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rect_0725"/>
            <p:cNvSpPr/>
            <p:nvPr/>
          </p:nvSpPr>
          <p:spPr>
            <a:xfrm>
              <a:off x="9530079" y="532295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rect_0726"/>
            <p:cNvSpPr/>
            <p:nvPr/>
          </p:nvSpPr>
          <p:spPr>
            <a:xfrm>
              <a:off x="9561575" y="5322951"/>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rect_0727"/>
            <p:cNvSpPr/>
            <p:nvPr/>
          </p:nvSpPr>
          <p:spPr>
            <a:xfrm>
              <a:off x="9467087"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rect_0728"/>
            <p:cNvSpPr/>
            <p:nvPr/>
          </p:nvSpPr>
          <p:spPr>
            <a:xfrm>
              <a:off x="9498583"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rect_0729"/>
            <p:cNvSpPr/>
            <p:nvPr/>
          </p:nvSpPr>
          <p:spPr>
            <a:xfrm>
              <a:off x="9530079"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rect_0730"/>
            <p:cNvSpPr/>
            <p:nvPr/>
          </p:nvSpPr>
          <p:spPr>
            <a:xfrm>
              <a:off x="9561575"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rect_0731"/>
            <p:cNvSpPr/>
            <p:nvPr/>
          </p:nvSpPr>
          <p:spPr>
            <a:xfrm>
              <a:off x="9593071" y="5350002"/>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rect_0732"/>
            <p:cNvSpPr/>
            <p:nvPr/>
          </p:nvSpPr>
          <p:spPr>
            <a:xfrm>
              <a:off x="9467087" y="537705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rect_0733"/>
            <p:cNvSpPr/>
            <p:nvPr/>
          </p:nvSpPr>
          <p:spPr>
            <a:xfrm>
              <a:off x="9498583" y="537705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rect_0734"/>
            <p:cNvSpPr/>
            <p:nvPr/>
          </p:nvSpPr>
          <p:spPr>
            <a:xfrm>
              <a:off x="9530079" y="5377053"/>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rect_0735"/>
            <p:cNvSpPr/>
            <p:nvPr/>
          </p:nvSpPr>
          <p:spPr>
            <a:xfrm>
              <a:off x="9593071" y="537705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rect_0736"/>
            <p:cNvSpPr/>
            <p:nvPr/>
          </p:nvSpPr>
          <p:spPr>
            <a:xfrm>
              <a:off x="9624567" y="537705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nference_noise_token3_bold_boundary"/>
            <p:cNvSpPr/>
            <p:nvPr/>
          </p:nvSpPr>
          <p:spPr>
            <a:xfrm>
              <a:off x="9467087" y="4105656"/>
              <a:ext cx="188975" cy="1298448"/>
            </a:xfrm>
            <a:prstGeom prst="rect">
              <a:avLst/>
            </a:prstGeom>
            <a:noFill/>
            <a:ln w="2032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159" name="inference_early_editable_token_strips"/>
          <p:cNvGrpSpPr/>
          <p:nvPr/>
        </p:nvGrpSpPr>
        <p:grpSpPr>
          <a:xfrm>
            <a:off x="9838944" y="4105656"/>
            <a:ext cx="630935" cy="1298448"/>
            <a:chOff x="9838944" y="4105656"/>
            <a:chExt cx="630935" cy="1298448"/>
          </a:xfrm>
        </p:grpSpPr>
        <p:sp>
          <p:nvSpPr>
            <p:cNvPr id="742" name="inference_early_token1_L32_solid"/>
            <p:cNvSpPr/>
            <p:nvPr/>
          </p:nvSpPr>
          <p:spPr>
            <a:xfrm>
              <a:off x="9838944" y="4105656"/>
              <a:ext cx="188975" cy="649224"/>
            </a:xfrm>
            <a:prstGeom prst="rect">
              <a:avLst/>
            </a:prstGeom>
            <a:solidFill>
              <a:srgbClr val="2C9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rect_0741"/>
            <p:cNvSpPr/>
            <p:nvPr/>
          </p:nvSpPr>
          <p:spPr>
            <a:xfrm>
              <a:off x="9933432" y="413270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rect_0742"/>
            <p:cNvSpPr/>
            <p:nvPr/>
          </p:nvSpPr>
          <p:spPr>
            <a:xfrm>
              <a:off x="9964928" y="415975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rect_0743"/>
            <p:cNvSpPr/>
            <p:nvPr/>
          </p:nvSpPr>
          <p:spPr>
            <a:xfrm>
              <a:off x="9901936" y="418680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rect_0744"/>
            <p:cNvSpPr/>
            <p:nvPr/>
          </p:nvSpPr>
          <p:spPr>
            <a:xfrm>
              <a:off x="9838944" y="424091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rect_0745"/>
            <p:cNvSpPr/>
            <p:nvPr/>
          </p:nvSpPr>
          <p:spPr>
            <a:xfrm>
              <a:off x="9870440" y="434911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rect_0746"/>
            <p:cNvSpPr/>
            <p:nvPr/>
          </p:nvSpPr>
          <p:spPr>
            <a:xfrm>
              <a:off x="9901936" y="448437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rect_0747"/>
            <p:cNvSpPr/>
            <p:nvPr/>
          </p:nvSpPr>
          <p:spPr>
            <a:xfrm>
              <a:off x="9996424" y="451142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rect_0748"/>
            <p:cNvSpPr/>
            <p:nvPr/>
          </p:nvSpPr>
          <p:spPr>
            <a:xfrm>
              <a:off x="9996424" y="461962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rect_0749"/>
            <p:cNvSpPr/>
            <p:nvPr/>
          </p:nvSpPr>
          <p:spPr>
            <a:xfrm>
              <a:off x="9964928" y="472782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nference_early_token1_L24_solid"/>
            <p:cNvSpPr/>
            <p:nvPr/>
          </p:nvSpPr>
          <p:spPr>
            <a:xfrm>
              <a:off x="9838944" y="4754880"/>
              <a:ext cx="188975" cy="324612"/>
            </a:xfrm>
            <a:prstGeom prst="rect">
              <a:avLst/>
            </a:prstGeom>
            <a:solidFill>
              <a:srgbClr val="C88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rect_0751"/>
            <p:cNvSpPr/>
            <p:nvPr/>
          </p:nvSpPr>
          <p:spPr>
            <a:xfrm>
              <a:off x="9838944" y="475488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rect_0752"/>
            <p:cNvSpPr/>
            <p:nvPr/>
          </p:nvSpPr>
          <p:spPr>
            <a:xfrm>
              <a:off x="9901936" y="4781931"/>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rect_0753"/>
            <p:cNvSpPr/>
            <p:nvPr/>
          </p:nvSpPr>
          <p:spPr>
            <a:xfrm>
              <a:off x="9964928" y="4781931"/>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rect_0754"/>
            <p:cNvSpPr/>
            <p:nvPr/>
          </p:nvSpPr>
          <p:spPr>
            <a:xfrm>
              <a:off x="9838944" y="480898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rect_0755"/>
            <p:cNvSpPr/>
            <p:nvPr/>
          </p:nvSpPr>
          <p:spPr>
            <a:xfrm>
              <a:off x="9870440" y="483603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rect_0756"/>
            <p:cNvSpPr/>
            <p:nvPr/>
          </p:nvSpPr>
          <p:spPr>
            <a:xfrm>
              <a:off x="9901936" y="4836033"/>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rect_0757"/>
            <p:cNvSpPr/>
            <p:nvPr/>
          </p:nvSpPr>
          <p:spPr>
            <a:xfrm>
              <a:off x="9964928" y="4836033"/>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rect_0758"/>
            <p:cNvSpPr/>
            <p:nvPr/>
          </p:nvSpPr>
          <p:spPr>
            <a:xfrm>
              <a:off x="9901936" y="486308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rect_0759"/>
            <p:cNvSpPr/>
            <p:nvPr/>
          </p:nvSpPr>
          <p:spPr>
            <a:xfrm>
              <a:off x="9996424" y="486308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rect_0760"/>
            <p:cNvSpPr/>
            <p:nvPr/>
          </p:nvSpPr>
          <p:spPr>
            <a:xfrm>
              <a:off x="9838944" y="489013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rect_0761"/>
            <p:cNvSpPr/>
            <p:nvPr/>
          </p:nvSpPr>
          <p:spPr>
            <a:xfrm>
              <a:off x="9901936" y="489013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rect_0762"/>
            <p:cNvSpPr/>
            <p:nvPr/>
          </p:nvSpPr>
          <p:spPr>
            <a:xfrm>
              <a:off x="9933432" y="489013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rect_0763"/>
            <p:cNvSpPr/>
            <p:nvPr/>
          </p:nvSpPr>
          <p:spPr>
            <a:xfrm>
              <a:off x="9838944" y="4917186"/>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rect_0764"/>
            <p:cNvSpPr/>
            <p:nvPr/>
          </p:nvSpPr>
          <p:spPr>
            <a:xfrm>
              <a:off x="9901936" y="491718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rect_0765"/>
            <p:cNvSpPr/>
            <p:nvPr/>
          </p:nvSpPr>
          <p:spPr>
            <a:xfrm>
              <a:off x="9838944" y="494423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rect_0766"/>
            <p:cNvSpPr/>
            <p:nvPr/>
          </p:nvSpPr>
          <p:spPr>
            <a:xfrm>
              <a:off x="9870440" y="4944237"/>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rect_0767"/>
            <p:cNvSpPr/>
            <p:nvPr/>
          </p:nvSpPr>
          <p:spPr>
            <a:xfrm>
              <a:off x="9996424" y="494423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rect_0768"/>
            <p:cNvSpPr/>
            <p:nvPr/>
          </p:nvSpPr>
          <p:spPr>
            <a:xfrm>
              <a:off x="9838944" y="497128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rect_0769"/>
            <p:cNvSpPr/>
            <p:nvPr/>
          </p:nvSpPr>
          <p:spPr>
            <a:xfrm>
              <a:off x="9870440" y="497128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rect_0770"/>
            <p:cNvSpPr/>
            <p:nvPr/>
          </p:nvSpPr>
          <p:spPr>
            <a:xfrm>
              <a:off x="9933432" y="497128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rect_0771"/>
            <p:cNvSpPr/>
            <p:nvPr/>
          </p:nvSpPr>
          <p:spPr>
            <a:xfrm>
              <a:off x="9838944" y="499833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rect_0772"/>
            <p:cNvSpPr/>
            <p:nvPr/>
          </p:nvSpPr>
          <p:spPr>
            <a:xfrm>
              <a:off x="9870440" y="499833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rect_0773"/>
            <p:cNvSpPr/>
            <p:nvPr/>
          </p:nvSpPr>
          <p:spPr>
            <a:xfrm>
              <a:off x="9901936" y="499833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rect_0774"/>
            <p:cNvSpPr/>
            <p:nvPr/>
          </p:nvSpPr>
          <p:spPr>
            <a:xfrm>
              <a:off x="9964928" y="499833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rect_0775"/>
            <p:cNvSpPr/>
            <p:nvPr/>
          </p:nvSpPr>
          <p:spPr>
            <a:xfrm>
              <a:off x="9996424" y="499833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rect_0776"/>
            <p:cNvSpPr/>
            <p:nvPr/>
          </p:nvSpPr>
          <p:spPr>
            <a:xfrm>
              <a:off x="9870440" y="502539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rect_0777"/>
            <p:cNvSpPr/>
            <p:nvPr/>
          </p:nvSpPr>
          <p:spPr>
            <a:xfrm>
              <a:off x="9901936" y="502539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rect_0778"/>
            <p:cNvSpPr/>
            <p:nvPr/>
          </p:nvSpPr>
          <p:spPr>
            <a:xfrm>
              <a:off x="9964928" y="502539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rect_0779"/>
            <p:cNvSpPr/>
            <p:nvPr/>
          </p:nvSpPr>
          <p:spPr>
            <a:xfrm>
              <a:off x="9838944" y="505244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rect_0780"/>
            <p:cNvSpPr/>
            <p:nvPr/>
          </p:nvSpPr>
          <p:spPr>
            <a:xfrm>
              <a:off x="9901936" y="5052441"/>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nference_early_token1_L16_solid"/>
            <p:cNvSpPr/>
            <p:nvPr/>
          </p:nvSpPr>
          <p:spPr>
            <a:xfrm>
              <a:off x="9838944" y="5079492"/>
              <a:ext cx="188975" cy="324612"/>
            </a:xfrm>
            <a:prstGeom prst="rect">
              <a:avLst/>
            </a:prstGeom>
            <a:solidFill>
              <a:srgbClr val="36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rect_0782"/>
            <p:cNvSpPr/>
            <p:nvPr/>
          </p:nvSpPr>
          <p:spPr>
            <a:xfrm>
              <a:off x="9838944"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rect_0783"/>
            <p:cNvSpPr/>
            <p:nvPr/>
          </p:nvSpPr>
          <p:spPr>
            <a:xfrm>
              <a:off x="9870440" y="5079492"/>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rect_0784"/>
            <p:cNvSpPr/>
            <p:nvPr/>
          </p:nvSpPr>
          <p:spPr>
            <a:xfrm>
              <a:off x="9996424"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rect_0785"/>
            <p:cNvSpPr/>
            <p:nvPr/>
          </p:nvSpPr>
          <p:spPr>
            <a:xfrm>
              <a:off x="9838944" y="5106542"/>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rect_0786"/>
            <p:cNvSpPr/>
            <p:nvPr/>
          </p:nvSpPr>
          <p:spPr>
            <a:xfrm>
              <a:off x="9964928" y="510654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rect_0787"/>
            <p:cNvSpPr/>
            <p:nvPr/>
          </p:nvSpPr>
          <p:spPr>
            <a:xfrm>
              <a:off x="9838944" y="513359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rect_0788"/>
            <p:cNvSpPr/>
            <p:nvPr/>
          </p:nvSpPr>
          <p:spPr>
            <a:xfrm>
              <a:off x="9870440" y="5133594"/>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rect_0789"/>
            <p:cNvSpPr/>
            <p:nvPr/>
          </p:nvSpPr>
          <p:spPr>
            <a:xfrm>
              <a:off x="9996424" y="513359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rect_0790"/>
            <p:cNvSpPr/>
            <p:nvPr/>
          </p:nvSpPr>
          <p:spPr>
            <a:xfrm>
              <a:off x="9838944" y="516064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rect_0791"/>
            <p:cNvSpPr/>
            <p:nvPr/>
          </p:nvSpPr>
          <p:spPr>
            <a:xfrm>
              <a:off x="9870440" y="5160645"/>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rect_0792"/>
            <p:cNvSpPr/>
            <p:nvPr/>
          </p:nvSpPr>
          <p:spPr>
            <a:xfrm>
              <a:off x="9964928" y="516064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rect_0793"/>
            <p:cNvSpPr/>
            <p:nvPr/>
          </p:nvSpPr>
          <p:spPr>
            <a:xfrm>
              <a:off x="9996424" y="516064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rect_0794"/>
            <p:cNvSpPr/>
            <p:nvPr/>
          </p:nvSpPr>
          <p:spPr>
            <a:xfrm>
              <a:off x="9838944" y="5187696"/>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rect_0795"/>
            <p:cNvSpPr/>
            <p:nvPr/>
          </p:nvSpPr>
          <p:spPr>
            <a:xfrm>
              <a:off x="9964928" y="518769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rect_0796"/>
            <p:cNvSpPr/>
            <p:nvPr/>
          </p:nvSpPr>
          <p:spPr>
            <a:xfrm>
              <a:off x="9996424" y="518769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rect_0797"/>
            <p:cNvSpPr/>
            <p:nvPr/>
          </p:nvSpPr>
          <p:spPr>
            <a:xfrm>
              <a:off x="9838944"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rect_0798"/>
            <p:cNvSpPr/>
            <p:nvPr/>
          </p:nvSpPr>
          <p:spPr>
            <a:xfrm>
              <a:off x="9870440" y="521474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rect_0799"/>
            <p:cNvSpPr/>
            <p:nvPr/>
          </p:nvSpPr>
          <p:spPr>
            <a:xfrm>
              <a:off x="9901936"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rect_0800"/>
            <p:cNvSpPr/>
            <p:nvPr/>
          </p:nvSpPr>
          <p:spPr>
            <a:xfrm>
              <a:off x="9933432" y="5214746"/>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rect_0801"/>
            <p:cNvSpPr/>
            <p:nvPr/>
          </p:nvSpPr>
          <p:spPr>
            <a:xfrm>
              <a:off x="9996424"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rect_0802"/>
            <p:cNvSpPr/>
            <p:nvPr/>
          </p:nvSpPr>
          <p:spPr>
            <a:xfrm>
              <a:off x="9838944" y="524179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rect_0803"/>
            <p:cNvSpPr/>
            <p:nvPr/>
          </p:nvSpPr>
          <p:spPr>
            <a:xfrm>
              <a:off x="9870440"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rect_0804"/>
            <p:cNvSpPr/>
            <p:nvPr/>
          </p:nvSpPr>
          <p:spPr>
            <a:xfrm>
              <a:off x="9901936" y="5241798"/>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rect_0805"/>
            <p:cNvSpPr/>
            <p:nvPr/>
          </p:nvSpPr>
          <p:spPr>
            <a:xfrm>
              <a:off x="9964928"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rect_0806"/>
            <p:cNvSpPr/>
            <p:nvPr/>
          </p:nvSpPr>
          <p:spPr>
            <a:xfrm>
              <a:off x="9996424" y="524179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rect_0807"/>
            <p:cNvSpPr/>
            <p:nvPr/>
          </p:nvSpPr>
          <p:spPr>
            <a:xfrm>
              <a:off x="9870440" y="5268849"/>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rect_0808"/>
            <p:cNvSpPr/>
            <p:nvPr/>
          </p:nvSpPr>
          <p:spPr>
            <a:xfrm>
              <a:off x="9964928" y="5268849"/>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rect_0809"/>
            <p:cNvSpPr/>
            <p:nvPr/>
          </p:nvSpPr>
          <p:spPr>
            <a:xfrm>
              <a:off x="9838944"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rect_0810"/>
            <p:cNvSpPr/>
            <p:nvPr/>
          </p:nvSpPr>
          <p:spPr>
            <a:xfrm>
              <a:off x="9870440" y="529589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rect_0811"/>
            <p:cNvSpPr/>
            <p:nvPr/>
          </p:nvSpPr>
          <p:spPr>
            <a:xfrm>
              <a:off x="9901936"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rect_0812"/>
            <p:cNvSpPr/>
            <p:nvPr/>
          </p:nvSpPr>
          <p:spPr>
            <a:xfrm>
              <a:off x="9964928" y="5295899"/>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rect_0813"/>
            <p:cNvSpPr/>
            <p:nvPr/>
          </p:nvSpPr>
          <p:spPr>
            <a:xfrm>
              <a:off x="9838944"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rect_0814"/>
            <p:cNvSpPr/>
            <p:nvPr/>
          </p:nvSpPr>
          <p:spPr>
            <a:xfrm>
              <a:off x="9870440" y="5322951"/>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rect_0815"/>
            <p:cNvSpPr/>
            <p:nvPr/>
          </p:nvSpPr>
          <p:spPr>
            <a:xfrm>
              <a:off x="9933432"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rect_0816"/>
            <p:cNvSpPr/>
            <p:nvPr/>
          </p:nvSpPr>
          <p:spPr>
            <a:xfrm>
              <a:off x="9964928" y="532295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rect_0817"/>
            <p:cNvSpPr/>
            <p:nvPr/>
          </p:nvSpPr>
          <p:spPr>
            <a:xfrm>
              <a:off x="9996424"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rect_0818"/>
            <p:cNvSpPr/>
            <p:nvPr/>
          </p:nvSpPr>
          <p:spPr>
            <a:xfrm>
              <a:off x="9838944"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rect_0819"/>
            <p:cNvSpPr/>
            <p:nvPr/>
          </p:nvSpPr>
          <p:spPr>
            <a:xfrm>
              <a:off x="9870440"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rect_0820"/>
            <p:cNvSpPr/>
            <p:nvPr/>
          </p:nvSpPr>
          <p:spPr>
            <a:xfrm>
              <a:off x="9901936"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rect_0821"/>
            <p:cNvSpPr/>
            <p:nvPr/>
          </p:nvSpPr>
          <p:spPr>
            <a:xfrm>
              <a:off x="9933432" y="5350002"/>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rect_0822"/>
            <p:cNvSpPr/>
            <p:nvPr/>
          </p:nvSpPr>
          <p:spPr>
            <a:xfrm>
              <a:off x="9996424"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rect_0823"/>
            <p:cNvSpPr/>
            <p:nvPr/>
          </p:nvSpPr>
          <p:spPr>
            <a:xfrm>
              <a:off x="9870440" y="5377053"/>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rect_0824"/>
            <p:cNvSpPr/>
            <p:nvPr/>
          </p:nvSpPr>
          <p:spPr>
            <a:xfrm>
              <a:off x="9933432" y="5377053"/>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nference_early_token1_bold_boundary"/>
            <p:cNvSpPr/>
            <p:nvPr/>
          </p:nvSpPr>
          <p:spPr>
            <a:xfrm>
              <a:off x="9838944" y="4105656"/>
              <a:ext cx="188975" cy="1298448"/>
            </a:xfrm>
            <a:prstGeom prst="rect">
              <a:avLst/>
            </a:prstGeom>
            <a:noFill/>
            <a:ln w="2032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nference_early_token2_L32_solid"/>
            <p:cNvSpPr/>
            <p:nvPr/>
          </p:nvSpPr>
          <p:spPr>
            <a:xfrm>
              <a:off x="10059924" y="4105656"/>
              <a:ext cx="188975" cy="649224"/>
            </a:xfrm>
            <a:prstGeom prst="rect">
              <a:avLst/>
            </a:prstGeom>
            <a:solidFill>
              <a:srgbClr val="2C9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rect_0827"/>
            <p:cNvSpPr/>
            <p:nvPr/>
          </p:nvSpPr>
          <p:spPr>
            <a:xfrm>
              <a:off x="10122916" y="413270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rect_0828"/>
            <p:cNvSpPr/>
            <p:nvPr/>
          </p:nvSpPr>
          <p:spPr>
            <a:xfrm>
              <a:off x="10217404" y="424091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rect_0829"/>
            <p:cNvSpPr/>
            <p:nvPr/>
          </p:nvSpPr>
          <p:spPr>
            <a:xfrm>
              <a:off x="10059924" y="461962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nference_early_token2_L24_solid"/>
            <p:cNvSpPr/>
            <p:nvPr/>
          </p:nvSpPr>
          <p:spPr>
            <a:xfrm>
              <a:off x="10059924" y="4754880"/>
              <a:ext cx="188975" cy="324612"/>
            </a:xfrm>
            <a:prstGeom prst="rect">
              <a:avLst/>
            </a:prstGeom>
            <a:solidFill>
              <a:srgbClr val="C88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rect_0831"/>
            <p:cNvSpPr/>
            <p:nvPr/>
          </p:nvSpPr>
          <p:spPr>
            <a:xfrm>
              <a:off x="10091420" y="475488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rect_0832"/>
            <p:cNvSpPr/>
            <p:nvPr/>
          </p:nvSpPr>
          <p:spPr>
            <a:xfrm>
              <a:off x="10154412" y="475488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rect_0833"/>
            <p:cNvSpPr/>
            <p:nvPr/>
          </p:nvSpPr>
          <p:spPr>
            <a:xfrm>
              <a:off x="10185908" y="475488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rect_0834"/>
            <p:cNvSpPr/>
            <p:nvPr/>
          </p:nvSpPr>
          <p:spPr>
            <a:xfrm>
              <a:off x="10059924" y="478193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rect_0835"/>
            <p:cNvSpPr/>
            <p:nvPr/>
          </p:nvSpPr>
          <p:spPr>
            <a:xfrm>
              <a:off x="10091420" y="4781931"/>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rect_0836"/>
            <p:cNvSpPr/>
            <p:nvPr/>
          </p:nvSpPr>
          <p:spPr>
            <a:xfrm>
              <a:off x="10185908" y="478193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rect_0837"/>
            <p:cNvSpPr/>
            <p:nvPr/>
          </p:nvSpPr>
          <p:spPr>
            <a:xfrm>
              <a:off x="10217404" y="478193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rect_0838"/>
            <p:cNvSpPr/>
            <p:nvPr/>
          </p:nvSpPr>
          <p:spPr>
            <a:xfrm>
              <a:off x="10059924" y="480898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rect_0839"/>
            <p:cNvSpPr/>
            <p:nvPr/>
          </p:nvSpPr>
          <p:spPr>
            <a:xfrm>
              <a:off x="10122916" y="480898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rect_0840"/>
            <p:cNvSpPr/>
            <p:nvPr/>
          </p:nvSpPr>
          <p:spPr>
            <a:xfrm>
              <a:off x="10185908" y="4808982"/>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rect_0841"/>
            <p:cNvSpPr/>
            <p:nvPr/>
          </p:nvSpPr>
          <p:spPr>
            <a:xfrm>
              <a:off x="10122916" y="4836033"/>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rect_0842"/>
            <p:cNvSpPr/>
            <p:nvPr/>
          </p:nvSpPr>
          <p:spPr>
            <a:xfrm>
              <a:off x="10185908" y="483603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rect_0843"/>
            <p:cNvSpPr/>
            <p:nvPr/>
          </p:nvSpPr>
          <p:spPr>
            <a:xfrm>
              <a:off x="10217404" y="483603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rect_0844"/>
            <p:cNvSpPr/>
            <p:nvPr/>
          </p:nvSpPr>
          <p:spPr>
            <a:xfrm>
              <a:off x="10059924" y="486308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rect_0845"/>
            <p:cNvSpPr/>
            <p:nvPr/>
          </p:nvSpPr>
          <p:spPr>
            <a:xfrm>
              <a:off x="10154412" y="486308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rect_0846"/>
            <p:cNvSpPr/>
            <p:nvPr/>
          </p:nvSpPr>
          <p:spPr>
            <a:xfrm>
              <a:off x="10217404" y="486308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rect_0847"/>
            <p:cNvSpPr/>
            <p:nvPr/>
          </p:nvSpPr>
          <p:spPr>
            <a:xfrm>
              <a:off x="10091420" y="489013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rect_0848"/>
            <p:cNvSpPr/>
            <p:nvPr/>
          </p:nvSpPr>
          <p:spPr>
            <a:xfrm>
              <a:off x="10185908" y="489013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rect_0849"/>
            <p:cNvSpPr/>
            <p:nvPr/>
          </p:nvSpPr>
          <p:spPr>
            <a:xfrm>
              <a:off x="10217404" y="489013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rect_0850"/>
            <p:cNvSpPr/>
            <p:nvPr/>
          </p:nvSpPr>
          <p:spPr>
            <a:xfrm>
              <a:off x="10059924" y="491718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rect_0851"/>
            <p:cNvSpPr/>
            <p:nvPr/>
          </p:nvSpPr>
          <p:spPr>
            <a:xfrm>
              <a:off x="10091420" y="491718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rect_0852"/>
            <p:cNvSpPr/>
            <p:nvPr/>
          </p:nvSpPr>
          <p:spPr>
            <a:xfrm>
              <a:off x="10122916" y="4917186"/>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rect_0853"/>
            <p:cNvSpPr/>
            <p:nvPr/>
          </p:nvSpPr>
          <p:spPr>
            <a:xfrm>
              <a:off x="10059924" y="494423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rect_0854"/>
            <p:cNvSpPr/>
            <p:nvPr/>
          </p:nvSpPr>
          <p:spPr>
            <a:xfrm>
              <a:off x="10091420" y="494423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rect_0855"/>
            <p:cNvSpPr/>
            <p:nvPr/>
          </p:nvSpPr>
          <p:spPr>
            <a:xfrm>
              <a:off x="10185908" y="494423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rect_0856"/>
            <p:cNvSpPr/>
            <p:nvPr/>
          </p:nvSpPr>
          <p:spPr>
            <a:xfrm>
              <a:off x="10091420" y="497128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rect_0857"/>
            <p:cNvSpPr/>
            <p:nvPr/>
          </p:nvSpPr>
          <p:spPr>
            <a:xfrm>
              <a:off x="10154412" y="497128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rect_0858"/>
            <p:cNvSpPr/>
            <p:nvPr/>
          </p:nvSpPr>
          <p:spPr>
            <a:xfrm>
              <a:off x="10185908" y="497128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rect_0859"/>
            <p:cNvSpPr/>
            <p:nvPr/>
          </p:nvSpPr>
          <p:spPr>
            <a:xfrm>
              <a:off x="10091420" y="4998339"/>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rect_0860"/>
            <p:cNvSpPr/>
            <p:nvPr/>
          </p:nvSpPr>
          <p:spPr>
            <a:xfrm>
              <a:off x="10217404" y="499833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rect_0861"/>
            <p:cNvSpPr/>
            <p:nvPr/>
          </p:nvSpPr>
          <p:spPr>
            <a:xfrm>
              <a:off x="10059924" y="5025390"/>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rect_0862"/>
            <p:cNvSpPr/>
            <p:nvPr/>
          </p:nvSpPr>
          <p:spPr>
            <a:xfrm>
              <a:off x="10154412" y="502539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rect_0863"/>
            <p:cNvSpPr/>
            <p:nvPr/>
          </p:nvSpPr>
          <p:spPr>
            <a:xfrm>
              <a:off x="10185908" y="502539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rect_0864"/>
            <p:cNvSpPr/>
            <p:nvPr/>
          </p:nvSpPr>
          <p:spPr>
            <a:xfrm>
              <a:off x="10059924" y="505244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rect_0865"/>
            <p:cNvSpPr/>
            <p:nvPr/>
          </p:nvSpPr>
          <p:spPr>
            <a:xfrm>
              <a:off x="10091420" y="505244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rect_0866"/>
            <p:cNvSpPr/>
            <p:nvPr/>
          </p:nvSpPr>
          <p:spPr>
            <a:xfrm>
              <a:off x="10122916" y="505244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rect_0867"/>
            <p:cNvSpPr/>
            <p:nvPr/>
          </p:nvSpPr>
          <p:spPr>
            <a:xfrm>
              <a:off x="10217404" y="505244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nference_early_token2_L16_solid"/>
            <p:cNvSpPr/>
            <p:nvPr/>
          </p:nvSpPr>
          <p:spPr>
            <a:xfrm>
              <a:off x="10059924" y="5079492"/>
              <a:ext cx="188975" cy="324612"/>
            </a:xfrm>
            <a:prstGeom prst="rect">
              <a:avLst/>
            </a:prstGeom>
            <a:solidFill>
              <a:srgbClr val="36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rect_0869"/>
            <p:cNvSpPr/>
            <p:nvPr/>
          </p:nvSpPr>
          <p:spPr>
            <a:xfrm>
              <a:off x="10059924"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rect_0870"/>
            <p:cNvSpPr/>
            <p:nvPr/>
          </p:nvSpPr>
          <p:spPr>
            <a:xfrm>
              <a:off x="10122916" y="507949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rect_0871"/>
            <p:cNvSpPr/>
            <p:nvPr/>
          </p:nvSpPr>
          <p:spPr>
            <a:xfrm>
              <a:off x="10154412"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rect_0872"/>
            <p:cNvSpPr/>
            <p:nvPr/>
          </p:nvSpPr>
          <p:spPr>
            <a:xfrm>
              <a:off x="10185908" y="507949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rect_0873"/>
            <p:cNvSpPr/>
            <p:nvPr/>
          </p:nvSpPr>
          <p:spPr>
            <a:xfrm>
              <a:off x="10059924" y="510654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rect_0874"/>
            <p:cNvSpPr/>
            <p:nvPr/>
          </p:nvSpPr>
          <p:spPr>
            <a:xfrm>
              <a:off x="10091420" y="5106542"/>
              <a:ext cx="157479"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rect_0875"/>
            <p:cNvSpPr/>
            <p:nvPr/>
          </p:nvSpPr>
          <p:spPr>
            <a:xfrm>
              <a:off x="10059924" y="513359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rect_0876"/>
            <p:cNvSpPr/>
            <p:nvPr/>
          </p:nvSpPr>
          <p:spPr>
            <a:xfrm>
              <a:off x="10091420" y="513359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rect_0877"/>
            <p:cNvSpPr/>
            <p:nvPr/>
          </p:nvSpPr>
          <p:spPr>
            <a:xfrm>
              <a:off x="10122916" y="5133594"/>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rect_0878"/>
            <p:cNvSpPr/>
            <p:nvPr/>
          </p:nvSpPr>
          <p:spPr>
            <a:xfrm>
              <a:off x="10185908" y="5133594"/>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rect_0879"/>
            <p:cNvSpPr/>
            <p:nvPr/>
          </p:nvSpPr>
          <p:spPr>
            <a:xfrm>
              <a:off x="10059924" y="5160645"/>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rect_0880"/>
            <p:cNvSpPr/>
            <p:nvPr/>
          </p:nvSpPr>
          <p:spPr>
            <a:xfrm>
              <a:off x="10154412" y="516064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rect_0881"/>
            <p:cNvSpPr/>
            <p:nvPr/>
          </p:nvSpPr>
          <p:spPr>
            <a:xfrm>
              <a:off x="10217404" y="516064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rect_0882"/>
            <p:cNvSpPr/>
            <p:nvPr/>
          </p:nvSpPr>
          <p:spPr>
            <a:xfrm>
              <a:off x="10091420" y="518769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rect_0883"/>
            <p:cNvSpPr/>
            <p:nvPr/>
          </p:nvSpPr>
          <p:spPr>
            <a:xfrm>
              <a:off x="10185908" y="518769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rect_0884"/>
            <p:cNvSpPr/>
            <p:nvPr/>
          </p:nvSpPr>
          <p:spPr>
            <a:xfrm>
              <a:off x="10217404" y="518769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rect_0885"/>
            <p:cNvSpPr/>
            <p:nvPr/>
          </p:nvSpPr>
          <p:spPr>
            <a:xfrm>
              <a:off x="10059924"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rect_0886"/>
            <p:cNvSpPr/>
            <p:nvPr/>
          </p:nvSpPr>
          <p:spPr>
            <a:xfrm>
              <a:off x="10091420" y="521474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rect_0887"/>
            <p:cNvSpPr/>
            <p:nvPr/>
          </p:nvSpPr>
          <p:spPr>
            <a:xfrm>
              <a:off x="10122916"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rect_0888"/>
            <p:cNvSpPr/>
            <p:nvPr/>
          </p:nvSpPr>
          <p:spPr>
            <a:xfrm>
              <a:off x="10154412" y="521474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rect_0889"/>
            <p:cNvSpPr/>
            <p:nvPr/>
          </p:nvSpPr>
          <p:spPr>
            <a:xfrm>
              <a:off x="10059924" y="524179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rect_0890"/>
            <p:cNvSpPr/>
            <p:nvPr/>
          </p:nvSpPr>
          <p:spPr>
            <a:xfrm>
              <a:off x="10091420"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rect_0891"/>
            <p:cNvSpPr/>
            <p:nvPr/>
          </p:nvSpPr>
          <p:spPr>
            <a:xfrm>
              <a:off x="10122916" y="5241798"/>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rect_0892"/>
            <p:cNvSpPr/>
            <p:nvPr/>
          </p:nvSpPr>
          <p:spPr>
            <a:xfrm>
              <a:off x="10217404"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rect_0893"/>
            <p:cNvSpPr/>
            <p:nvPr/>
          </p:nvSpPr>
          <p:spPr>
            <a:xfrm>
              <a:off x="10059924" y="526884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rect_0894"/>
            <p:cNvSpPr/>
            <p:nvPr/>
          </p:nvSpPr>
          <p:spPr>
            <a:xfrm>
              <a:off x="10091420" y="5268849"/>
              <a:ext cx="157479"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rect_0895"/>
            <p:cNvSpPr/>
            <p:nvPr/>
          </p:nvSpPr>
          <p:spPr>
            <a:xfrm>
              <a:off x="10059924"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rect_0896"/>
            <p:cNvSpPr/>
            <p:nvPr/>
          </p:nvSpPr>
          <p:spPr>
            <a:xfrm>
              <a:off x="10154412" y="5295899"/>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rect_0897"/>
            <p:cNvSpPr/>
            <p:nvPr/>
          </p:nvSpPr>
          <p:spPr>
            <a:xfrm>
              <a:off x="10059924"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rect_0898"/>
            <p:cNvSpPr/>
            <p:nvPr/>
          </p:nvSpPr>
          <p:spPr>
            <a:xfrm>
              <a:off x="10122916"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rect_0899"/>
            <p:cNvSpPr/>
            <p:nvPr/>
          </p:nvSpPr>
          <p:spPr>
            <a:xfrm>
              <a:off x="10154412" y="5322951"/>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rect_0900"/>
            <p:cNvSpPr/>
            <p:nvPr/>
          </p:nvSpPr>
          <p:spPr>
            <a:xfrm>
              <a:off x="10217404"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rect_0901"/>
            <p:cNvSpPr/>
            <p:nvPr/>
          </p:nvSpPr>
          <p:spPr>
            <a:xfrm>
              <a:off x="10059924"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rect_0902"/>
            <p:cNvSpPr/>
            <p:nvPr/>
          </p:nvSpPr>
          <p:spPr>
            <a:xfrm>
              <a:off x="10091420"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rect_0903"/>
            <p:cNvSpPr/>
            <p:nvPr/>
          </p:nvSpPr>
          <p:spPr>
            <a:xfrm>
              <a:off x="10154412"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rect_0904"/>
            <p:cNvSpPr/>
            <p:nvPr/>
          </p:nvSpPr>
          <p:spPr>
            <a:xfrm>
              <a:off x="10185908"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rect_0905"/>
            <p:cNvSpPr/>
            <p:nvPr/>
          </p:nvSpPr>
          <p:spPr>
            <a:xfrm>
              <a:off x="10217404"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rect_0906"/>
            <p:cNvSpPr/>
            <p:nvPr/>
          </p:nvSpPr>
          <p:spPr>
            <a:xfrm>
              <a:off x="10059924" y="5377053"/>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rect_0907"/>
            <p:cNvSpPr/>
            <p:nvPr/>
          </p:nvSpPr>
          <p:spPr>
            <a:xfrm>
              <a:off x="10154412" y="5377053"/>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nference_early_token2_bold_boundary"/>
            <p:cNvSpPr/>
            <p:nvPr/>
          </p:nvSpPr>
          <p:spPr>
            <a:xfrm>
              <a:off x="10059924" y="4105656"/>
              <a:ext cx="188975" cy="1298448"/>
            </a:xfrm>
            <a:prstGeom prst="rect">
              <a:avLst/>
            </a:prstGeom>
            <a:noFill/>
            <a:ln w="2032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nference_early_token3_L32_solid"/>
            <p:cNvSpPr/>
            <p:nvPr/>
          </p:nvSpPr>
          <p:spPr>
            <a:xfrm>
              <a:off x="10280903" y="4105656"/>
              <a:ext cx="188975" cy="649224"/>
            </a:xfrm>
            <a:prstGeom prst="rect">
              <a:avLst/>
            </a:prstGeom>
            <a:solidFill>
              <a:srgbClr val="2C9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rect_0910"/>
            <p:cNvSpPr/>
            <p:nvPr/>
          </p:nvSpPr>
          <p:spPr>
            <a:xfrm>
              <a:off x="10343896" y="415975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rect_0911"/>
            <p:cNvSpPr/>
            <p:nvPr/>
          </p:nvSpPr>
          <p:spPr>
            <a:xfrm>
              <a:off x="10375392" y="415975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rect_0912"/>
            <p:cNvSpPr/>
            <p:nvPr/>
          </p:nvSpPr>
          <p:spPr>
            <a:xfrm>
              <a:off x="10406888" y="426796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rect_0913"/>
            <p:cNvSpPr/>
            <p:nvPr/>
          </p:nvSpPr>
          <p:spPr>
            <a:xfrm>
              <a:off x="10280903" y="4403217"/>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rect_0914"/>
            <p:cNvSpPr/>
            <p:nvPr/>
          </p:nvSpPr>
          <p:spPr>
            <a:xfrm>
              <a:off x="10375392" y="448437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rect_0915"/>
            <p:cNvSpPr/>
            <p:nvPr/>
          </p:nvSpPr>
          <p:spPr>
            <a:xfrm>
              <a:off x="10312400" y="456552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nference_early_token3_L24_solid"/>
            <p:cNvSpPr/>
            <p:nvPr/>
          </p:nvSpPr>
          <p:spPr>
            <a:xfrm>
              <a:off x="10280903" y="4754880"/>
              <a:ext cx="188975" cy="324612"/>
            </a:xfrm>
            <a:prstGeom prst="rect">
              <a:avLst/>
            </a:prstGeom>
            <a:solidFill>
              <a:srgbClr val="C88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rect_0917"/>
            <p:cNvSpPr/>
            <p:nvPr/>
          </p:nvSpPr>
          <p:spPr>
            <a:xfrm>
              <a:off x="10312400" y="475488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rect_0918"/>
            <p:cNvSpPr/>
            <p:nvPr/>
          </p:nvSpPr>
          <p:spPr>
            <a:xfrm>
              <a:off x="10343896" y="4754880"/>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rect_0919"/>
            <p:cNvSpPr/>
            <p:nvPr/>
          </p:nvSpPr>
          <p:spPr>
            <a:xfrm>
              <a:off x="10406888" y="4754880"/>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rect_0920"/>
            <p:cNvSpPr/>
            <p:nvPr/>
          </p:nvSpPr>
          <p:spPr>
            <a:xfrm>
              <a:off x="10438384" y="475488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rect_0921"/>
            <p:cNvSpPr/>
            <p:nvPr/>
          </p:nvSpPr>
          <p:spPr>
            <a:xfrm>
              <a:off x="10280903" y="478193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rect_0922"/>
            <p:cNvSpPr/>
            <p:nvPr/>
          </p:nvSpPr>
          <p:spPr>
            <a:xfrm>
              <a:off x="10312400" y="478193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rect_0923"/>
            <p:cNvSpPr/>
            <p:nvPr/>
          </p:nvSpPr>
          <p:spPr>
            <a:xfrm>
              <a:off x="10280903" y="480898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rect_0924"/>
            <p:cNvSpPr/>
            <p:nvPr/>
          </p:nvSpPr>
          <p:spPr>
            <a:xfrm>
              <a:off x="10312400" y="480898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rect_0925"/>
            <p:cNvSpPr/>
            <p:nvPr/>
          </p:nvSpPr>
          <p:spPr>
            <a:xfrm>
              <a:off x="10343896" y="480898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rect_0926"/>
            <p:cNvSpPr/>
            <p:nvPr/>
          </p:nvSpPr>
          <p:spPr>
            <a:xfrm>
              <a:off x="10438384" y="480898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rect_0927"/>
            <p:cNvSpPr/>
            <p:nvPr/>
          </p:nvSpPr>
          <p:spPr>
            <a:xfrm>
              <a:off x="10280903" y="4836033"/>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rect_0928"/>
            <p:cNvSpPr/>
            <p:nvPr/>
          </p:nvSpPr>
          <p:spPr>
            <a:xfrm>
              <a:off x="10406888" y="483603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rect_0929"/>
            <p:cNvSpPr/>
            <p:nvPr/>
          </p:nvSpPr>
          <p:spPr>
            <a:xfrm>
              <a:off x="10280903" y="4863084"/>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rect_0930"/>
            <p:cNvSpPr/>
            <p:nvPr/>
          </p:nvSpPr>
          <p:spPr>
            <a:xfrm>
              <a:off x="10406888" y="4863084"/>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rect_0931"/>
            <p:cNvSpPr/>
            <p:nvPr/>
          </p:nvSpPr>
          <p:spPr>
            <a:xfrm>
              <a:off x="10312400" y="489013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rect_0932"/>
            <p:cNvSpPr/>
            <p:nvPr/>
          </p:nvSpPr>
          <p:spPr>
            <a:xfrm>
              <a:off x="10406888" y="489013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rect_0933"/>
            <p:cNvSpPr/>
            <p:nvPr/>
          </p:nvSpPr>
          <p:spPr>
            <a:xfrm>
              <a:off x="10438384" y="489013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rect_0934"/>
            <p:cNvSpPr/>
            <p:nvPr/>
          </p:nvSpPr>
          <p:spPr>
            <a:xfrm>
              <a:off x="10280903" y="4917186"/>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rect_0935"/>
            <p:cNvSpPr/>
            <p:nvPr/>
          </p:nvSpPr>
          <p:spPr>
            <a:xfrm>
              <a:off x="10406888" y="491718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rect_0936"/>
            <p:cNvSpPr/>
            <p:nvPr/>
          </p:nvSpPr>
          <p:spPr>
            <a:xfrm>
              <a:off x="10280903" y="4944237"/>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rect_0937"/>
            <p:cNvSpPr/>
            <p:nvPr/>
          </p:nvSpPr>
          <p:spPr>
            <a:xfrm>
              <a:off x="10406888" y="4944237"/>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rect_0938"/>
            <p:cNvSpPr/>
            <p:nvPr/>
          </p:nvSpPr>
          <p:spPr>
            <a:xfrm>
              <a:off x="10343896" y="4971288"/>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rect_0939"/>
            <p:cNvSpPr/>
            <p:nvPr/>
          </p:nvSpPr>
          <p:spPr>
            <a:xfrm>
              <a:off x="10406888" y="4971288"/>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rect_0940"/>
            <p:cNvSpPr/>
            <p:nvPr/>
          </p:nvSpPr>
          <p:spPr>
            <a:xfrm>
              <a:off x="10280903" y="4998339"/>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rect_0941"/>
            <p:cNvSpPr/>
            <p:nvPr/>
          </p:nvSpPr>
          <p:spPr>
            <a:xfrm>
              <a:off x="10375392" y="499833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rect_0942"/>
            <p:cNvSpPr/>
            <p:nvPr/>
          </p:nvSpPr>
          <p:spPr>
            <a:xfrm>
              <a:off x="10438384" y="499833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rect_0943"/>
            <p:cNvSpPr/>
            <p:nvPr/>
          </p:nvSpPr>
          <p:spPr>
            <a:xfrm>
              <a:off x="10312400" y="502539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rect_0944"/>
            <p:cNvSpPr/>
            <p:nvPr/>
          </p:nvSpPr>
          <p:spPr>
            <a:xfrm>
              <a:off x="10438384" y="502539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rect_0945"/>
            <p:cNvSpPr/>
            <p:nvPr/>
          </p:nvSpPr>
          <p:spPr>
            <a:xfrm>
              <a:off x="10312400" y="5052441"/>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rect_0946"/>
            <p:cNvSpPr/>
            <p:nvPr/>
          </p:nvSpPr>
          <p:spPr>
            <a:xfrm>
              <a:off x="10406888" y="5052441"/>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nference_early_token3_L16_solid"/>
            <p:cNvSpPr/>
            <p:nvPr/>
          </p:nvSpPr>
          <p:spPr>
            <a:xfrm>
              <a:off x="10280903" y="5079492"/>
              <a:ext cx="188975" cy="324612"/>
            </a:xfrm>
            <a:prstGeom prst="rect">
              <a:avLst/>
            </a:prstGeom>
            <a:solidFill>
              <a:srgbClr val="36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rect_0948"/>
            <p:cNvSpPr/>
            <p:nvPr/>
          </p:nvSpPr>
          <p:spPr>
            <a:xfrm>
              <a:off x="10280903" y="507949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rect_0949"/>
            <p:cNvSpPr/>
            <p:nvPr/>
          </p:nvSpPr>
          <p:spPr>
            <a:xfrm>
              <a:off x="10312400" y="5079492"/>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rect_0950"/>
            <p:cNvSpPr/>
            <p:nvPr/>
          </p:nvSpPr>
          <p:spPr>
            <a:xfrm>
              <a:off x="10375392" y="5079492"/>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rect_0951"/>
            <p:cNvSpPr/>
            <p:nvPr/>
          </p:nvSpPr>
          <p:spPr>
            <a:xfrm>
              <a:off x="10280903" y="5106542"/>
              <a:ext cx="125983"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rect_0952"/>
            <p:cNvSpPr/>
            <p:nvPr/>
          </p:nvSpPr>
          <p:spPr>
            <a:xfrm>
              <a:off x="10406888" y="5106542"/>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rect_0953"/>
            <p:cNvSpPr/>
            <p:nvPr/>
          </p:nvSpPr>
          <p:spPr>
            <a:xfrm>
              <a:off x="10280903" y="5133594"/>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rect_0954"/>
            <p:cNvSpPr/>
            <p:nvPr/>
          </p:nvSpPr>
          <p:spPr>
            <a:xfrm>
              <a:off x="10375392" y="513359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rect_0955"/>
            <p:cNvSpPr/>
            <p:nvPr/>
          </p:nvSpPr>
          <p:spPr>
            <a:xfrm>
              <a:off x="10406888" y="5133594"/>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rect_0956"/>
            <p:cNvSpPr/>
            <p:nvPr/>
          </p:nvSpPr>
          <p:spPr>
            <a:xfrm>
              <a:off x="10312400" y="5160645"/>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rect_0957"/>
            <p:cNvSpPr/>
            <p:nvPr/>
          </p:nvSpPr>
          <p:spPr>
            <a:xfrm>
              <a:off x="10375392" y="516064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rect_0958"/>
            <p:cNvSpPr/>
            <p:nvPr/>
          </p:nvSpPr>
          <p:spPr>
            <a:xfrm>
              <a:off x="10406888" y="516064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rect_0959"/>
            <p:cNvSpPr/>
            <p:nvPr/>
          </p:nvSpPr>
          <p:spPr>
            <a:xfrm>
              <a:off x="10280903" y="5187696"/>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rect_0960"/>
            <p:cNvSpPr/>
            <p:nvPr/>
          </p:nvSpPr>
          <p:spPr>
            <a:xfrm>
              <a:off x="10375392" y="518769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rect_0961"/>
            <p:cNvSpPr/>
            <p:nvPr/>
          </p:nvSpPr>
          <p:spPr>
            <a:xfrm>
              <a:off x="10280903"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rect_0962"/>
            <p:cNvSpPr/>
            <p:nvPr/>
          </p:nvSpPr>
          <p:spPr>
            <a:xfrm>
              <a:off x="10312400" y="521474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rect_0963"/>
            <p:cNvSpPr/>
            <p:nvPr/>
          </p:nvSpPr>
          <p:spPr>
            <a:xfrm>
              <a:off x="10406888" y="5214746"/>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rect_0964"/>
            <p:cNvSpPr/>
            <p:nvPr/>
          </p:nvSpPr>
          <p:spPr>
            <a:xfrm>
              <a:off x="10280903" y="524179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rect_0965"/>
            <p:cNvSpPr/>
            <p:nvPr/>
          </p:nvSpPr>
          <p:spPr>
            <a:xfrm>
              <a:off x="10312400"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rect_0966"/>
            <p:cNvSpPr/>
            <p:nvPr/>
          </p:nvSpPr>
          <p:spPr>
            <a:xfrm>
              <a:off x="10375392"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rect_0967"/>
            <p:cNvSpPr/>
            <p:nvPr/>
          </p:nvSpPr>
          <p:spPr>
            <a:xfrm>
              <a:off x="10406888" y="5241798"/>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rect_0968"/>
            <p:cNvSpPr/>
            <p:nvPr/>
          </p:nvSpPr>
          <p:spPr>
            <a:xfrm>
              <a:off x="10280903" y="526884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rect_0969"/>
            <p:cNvSpPr/>
            <p:nvPr/>
          </p:nvSpPr>
          <p:spPr>
            <a:xfrm>
              <a:off x="10312400" y="5268849"/>
              <a:ext cx="125983"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rect_0970"/>
            <p:cNvSpPr/>
            <p:nvPr/>
          </p:nvSpPr>
          <p:spPr>
            <a:xfrm>
              <a:off x="10438384" y="526884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rect_0971"/>
            <p:cNvSpPr/>
            <p:nvPr/>
          </p:nvSpPr>
          <p:spPr>
            <a:xfrm>
              <a:off x="10280903"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rect_0972"/>
            <p:cNvSpPr/>
            <p:nvPr/>
          </p:nvSpPr>
          <p:spPr>
            <a:xfrm>
              <a:off x="10312400" y="529589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rect_0973"/>
            <p:cNvSpPr/>
            <p:nvPr/>
          </p:nvSpPr>
          <p:spPr>
            <a:xfrm>
              <a:off x="10343896"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rect_0974"/>
            <p:cNvSpPr/>
            <p:nvPr/>
          </p:nvSpPr>
          <p:spPr>
            <a:xfrm>
              <a:off x="10375392" y="5295899"/>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rect_0975"/>
            <p:cNvSpPr/>
            <p:nvPr/>
          </p:nvSpPr>
          <p:spPr>
            <a:xfrm>
              <a:off x="10280903" y="5322951"/>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rect_0976"/>
            <p:cNvSpPr/>
            <p:nvPr/>
          </p:nvSpPr>
          <p:spPr>
            <a:xfrm>
              <a:off x="10343896" y="532295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rect_0977"/>
            <p:cNvSpPr/>
            <p:nvPr/>
          </p:nvSpPr>
          <p:spPr>
            <a:xfrm>
              <a:off x="10375392" y="5322951"/>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rect_0978"/>
            <p:cNvSpPr/>
            <p:nvPr/>
          </p:nvSpPr>
          <p:spPr>
            <a:xfrm>
              <a:off x="10280903"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rect_0979"/>
            <p:cNvSpPr/>
            <p:nvPr/>
          </p:nvSpPr>
          <p:spPr>
            <a:xfrm>
              <a:off x="10312400"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rect_0980"/>
            <p:cNvSpPr/>
            <p:nvPr/>
          </p:nvSpPr>
          <p:spPr>
            <a:xfrm>
              <a:off x="10343896"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rect_0981"/>
            <p:cNvSpPr/>
            <p:nvPr/>
          </p:nvSpPr>
          <p:spPr>
            <a:xfrm>
              <a:off x="10375392"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rect_0982"/>
            <p:cNvSpPr/>
            <p:nvPr/>
          </p:nvSpPr>
          <p:spPr>
            <a:xfrm>
              <a:off x="10406888" y="5350002"/>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rect_0983"/>
            <p:cNvSpPr/>
            <p:nvPr/>
          </p:nvSpPr>
          <p:spPr>
            <a:xfrm>
              <a:off x="10280903" y="537705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rect_0984"/>
            <p:cNvSpPr/>
            <p:nvPr/>
          </p:nvSpPr>
          <p:spPr>
            <a:xfrm>
              <a:off x="10312400" y="537705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rect_0985"/>
            <p:cNvSpPr/>
            <p:nvPr/>
          </p:nvSpPr>
          <p:spPr>
            <a:xfrm>
              <a:off x="10343896" y="5377053"/>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rect_0986"/>
            <p:cNvSpPr/>
            <p:nvPr/>
          </p:nvSpPr>
          <p:spPr>
            <a:xfrm>
              <a:off x="10438384" y="537705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nference_early_token3_bold_boundary"/>
            <p:cNvSpPr/>
            <p:nvPr/>
          </p:nvSpPr>
          <p:spPr>
            <a:xfrm>
              <a:off x="10280903" y="4105656"/>
              <a:ext cx="188975" cy="1298448"/>
            </a:xfrm>
            <a:prstGeom prst="rect">
              <a:avLst/>
            </a:prstGeom>
            <a:noFill/>
            <a:ln w="2032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160" name="inference_late_editable_token_strips"/>
          <p:cNvGrpSpPr/>
          <p:nvPr/>
        </p:nvGrpSpPr>
        <p:grpSpPr>
          <a:xfrm>
            <a:off x="10652759" y="4105656"/>
            <a:ext cx="630935" cy="1298448"/>
            <a:chOff x="10652759" y="4105656"/>
            <a:chExt cx="630935" cy="1298448"/>
          </a:xfrm>
        </p:grpSpPr>
        <p:sp>
          <p:nvSpPr>
            <p:cNvPr id="992" name="inference_late_token1_L32_solid"/>
            <p:cNvSpPr/>
            <p:nvPr/>
          </p:nvSpPr>
          <p:spPr>
            <a:xfrm>
              <a:off x="10652759" y="4105656"/>
              <a:ext cx="188975" cy="649224"/>
            </a:xfrm>
            <a:prstGeom prst="rect">
              <a:avLst/>
            </a:prstGeom>
            <a:solidFill>
              <a:srgbClr val="2C9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nference_late_token1_L24_solid"/>
            <p:cNvSpPr/>
            <p:nvPr/>
          </p:nvSpPr>
          <p:spPr>
            <a:xfrm>
              <a:off x="10652759" y="4754880"/>
              <a:ext cx="188975" cy="324612"/>
            </a:xfrm>
            <a:prstGeom prst="rect">
              <a:avLst/>
            </a:prstGeom>
            <a:solidFill>
              <a:srgbClr val="C88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rect_0992"/>
            <p:cNvSpPr/>
            <p:nvPr/>
          </p:nvSpPr>
          <p:spPr>
            <a:xfrm>
              <a:off x="10684255" y="483603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rect_0993"/>
            <p:cNvSpPr/>
            <p:nvPr/>
          </p:nvSpPr>
          <p:spPr>
            <a:xfrm>
              <a:off x="10715751" y="483603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rect_0994"/>
            <p:cNvSpPr/>
            <p:nvPr/>
          </p:nvSpPr>
          <p:spPr>
            <a:xfrm>
              <a:off x="10715751" y="489013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rect_0995"/>
            <p:cNvSpPr/>
            <p:nvPr/>
          </p:nvSpPr>
          <p:spPr>
            <a:xfrm>
              <a:off x="10684255" y="491718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rect_0996"/>
            <p:cNvSpPr/>
            <p:nvPr/>
          </p:nvSpPr>
          <p:spPr>
            <a:xfrm>
              <a:off x="10684255" y="497128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rect_0997"/>
            <p:cNvSpPr/>
            <p:nvPr/>
          </p:nvSpPr>
          <p:spPr>
            <a:xfrm>
              <a:off x="10810239" y="505244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nference_late_token1_L16_solid"/>
            <p:cNvSpPr/>
            <p:nvPr/>
          </p:nvSpPr>
          <p:spPr>
            <a:xfrm>
              <a:off x="10652759" y="5079492"/>
              <a:ext cx="188975" cy="324612"/>
            </a:xfrm>
            <a:prstGeom prst="rect">
              <a:avLst/>
            </a:prstGeom>
            <a:solidFill>
              <a:srgbClr val="36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rect_0999"/>
            <p:cNvSpPr/>
            <p:nvPr/>
          </p:nvSpPr>
          <p:spPr>
            <a:xfrm>
              <a:off x="10684255" y="5079492"/>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rect_1000"/>
            <p:cNvSpPr/>
            <p:nvPr/>
          </p:nvSpPr>
          <p:spPr>
            <a:xfrm>
              <a:off x="10810239"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rect_1001"/>
            <p:cNvSpPr/>
            <p:nvPr/>
          </p:nvSpPr>
          <p:spPr>
            <a:xfrm>
              <a:off x="10715751" y="510654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rect_1002"/>
            <p:cNvSpPr/>
            <p:nvPr/>
          </p:nvSpPr>
          <p:spPr>
            <a:xfrm>
              <a:off x="10778743" y="510654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rect_1003"/>
            <p:cNvSpPr/>
            <p:nvPr/>
          </p:nvSpPr>
          <p:spPr>
            <a:xfrm>
              <a:off x="10652759" y="513359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rect_1004"/>
            <p:cNvSpPr/>
            <p:nvPr/>
          </p:nvSpPr>
          <p:spPr>
            <a:xfrm>
              <a:off x="10684255" y="5133594"/>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rect_1005"/>
            <p:cNvSpPr/>
            <p:nvPr/>
          </p:nvSpPr>
          <p:spPr>
            <a:xfrm>
              <a:off x="10810239" y="513359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rect_1006"/>
            <p:cNvSpPr/>
            <p:nvPr/>
          </p:nvSpPr>
          <p:spPr>
            <a:xfrm>
              <a:off x="10652759" y="516064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rect_1007"/>
            <p:cNvSpPr/>
            <p:nvPr/>
          </p:nvSpPr>
          <p:spPr>
            <a:xfrm>
              <a:off x="10652759" y="5187696"/>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rect_1008"/>
            <p:cNvSpPr/>
            <p:nvPr/>
          </p:nvSpPr>
          <p:spPr>
            <a:xfrm>
              <a:off x="10810239" y="518769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rect_1009"/>
            <p:cNvSpPr/>
            <p:nvPr/>
          </p:nvSpPr>
          <p:spPr>
            <a:xfrm>
              <a:off x="10684255" y="521474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rect_1010"/>
            <p:cNvSpPr/>
            <p:nvPr/>
          </p:nvSpPr>
          <p:spPr>
            <a:xfrm>
              <a:off x="10715751"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rect_1011"/>
            <p:cNvSpPr/>
            <p:nvPr/>
          </p:nvSpPr>
          <p:spPr>
            <a:xfrm>
              <a:off x="10747247" y="521474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rect_1012"/>
            <p:cNvSpPr/>
            <p:nvPr/>
          </p:nvSpPr>
          <p:spPr>
            <a:xfrm>
              <a:off x="10684255"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rect_1013"/>
            <p:cNvSpPr/>
            <p:nvPr/>
          </p:nvSpPr>
          <p:spPr>
            <a:xfrm>
              <a:off x="10747247" y="524179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rect_1014"/>
            <p:cNvSpPr/>
            <p:nvPr/>
          </p:nvSpPr>
          <p:spPr>
            <a:xfrm>
              <a:off x="10778743"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rect_1015"/>
            <p:cNvSpPr/>
            <p:nvPr/>
          </p:nvSpPr>
          <p:spPr>
            <a:xfrm>
              <a:off x="10810239" y="524179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rect_1016"/>
            <p:cNvSpPr/>
            <p:nvPr/>
          </p:nvSpPr>
          <p:spPr>
            <a:xfrm>
              <a:off x="10778743" y="526884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rect_1017"/>
            <p:cNvSpPr/>
            <p:nvPr/>
          </p:nvSpPr>
          <p:spPr>
            <a:xfrm>
              <a:off x="10684255" y="529589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rect_1018"/>
            <p:cNvSpPr/>
            <p:nvPr/>
          </p:nvSpPr>
          <p:spPr>
            <a:xfrm>
              <a:off x="10715751"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rect_1019"/>
            <p:cNvSpPr/>
            <p:nvPr/>
          </p:nvSpPr>
          <p:spPr>
            <a:xfrm>
              <a:off x="10778743" y="5295899"/>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rect_1020"/>
            <p:cNvSpPr/>
            <p:nvPr/>
          </p:nvSpPr>
          <p:spPr>
            <a:xfrm>
              <a:off x="10652759"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rect_1021"/>
            <p:cNvSpPr/>
            <p:nvPr/>
          </p:nvSpPr>
          <p:spPr>
            <a:xfrm>
              <a:off x="10715751" y="532295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rect_1022"/>
            <p:cNvSpPr/>
            <p:nvPr/>
          </p:nvSpPr>
          <p:spPr>
            <a:xfrm>
              <a:off x="10778743" y="532295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rect_1023"/>
            <p:cNvSpPr/>
            <p:nvPr/>
          </p:nvSpPr>
          <p:spPr>
            <a:xfrm>
              <a:off x="10684255"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rect_1024"/>
            <p:cNvSpPr/>
            <p:nvPr/>
          </p:nvSpPr>
          <p:spPr>
            <a:xfrm>
              <a:off x="10810239"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rect_1025"/>
            <p:cNvSpPr/>
            <p:nvPr/>
          </p:nvSpPr>
          <p:spPr>
            <a:xfrm>
              <a:off x="10684255" y="5377053"/>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rect_1026"/>
            <p:cNvSpPr/>
            <p:nvPr/>
          </p:nvSpPr>
          <p:spPr>
            <a:xfrm>
              <a:off x="10747247" y="5377053"/>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nference_late_token1_bold_boundary"/>
            <p:cNvSpPr/>
            <p:nvPr/>
          </p:nvSpPr>
          <p:spPr>
            <a:xfrm>
              <a:off x="10652759" y="4105656"/>
              <a:ext cx="188975" cy="1298448"/>
            </a:xfrm>
            <a:prstGeom prst="rect">
              <a:avLst/>
            </a:prstGeom>
            <a:noFill/>
            <a:ln w="2032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nference_late_token2_L32_solid"/>
            <p:cNvSpPr/>
            <p:nvPr/>
          </p:nvSpPr>
          <p:spPr>
            <a:xfrm>
              <a:off x="10873740" y="4105656"/>
              <a:ext cx="188975" cy="649224"/>
            </a:xfrm>
            <a:prstGeom prst="rect">
              <a:avLst/>
            </a:prstGeom>
            <a:solidFill>
              <a:srgbClr val="2C9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nference_late_token2_L24_solid"/>
            <p:cNvSpPr/>
            <p:nvPr/>
          </p:nvSpPr>
          <p:spPr>
            <a:xfrm>
              <a:off x="10873740" y="4754880"/>
              <a:ext cx="188975" cy="324612"/>
            </a:xfrm>
            <a:prstGeom prst="rect">
              <a:avLst/>
            </a:prstGeom>
            <a:solidFill>
              <a:srgbClr val="C88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rect_1030"/>
            <p:cNvSpPr/>
            <p:nvPr/>
          </p:nvSpPr>
          <p:spPr>
            <a:xfrm>
              <a:off x="10873740" y="478193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rect_1031"/>
            <p:cNvSpPr/>
            <p:nvPr/>
          </p:nvSpPr>
          <p:spPr>
            <a:xfrm>
              <a:off x="10936732" y="480898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rect_1032"/>
            <p:cNvSpPr/>
            <p:nvPr/>
          </p:nvSpPr>
          <p:spPr>
            <a:xfrm>
              <a:off x="10999724" y="497128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rect_1033"/>
            <p:cNvSpPr/>
            <p:nvPr/>
          </p:nvSpPr>
          <p:spPr>
            <a:xfrm>
              <a:off x="10968228" y="502539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rect_1034"/>
            <p:cNvSpPr/>
            <p:nvPr/>
          </p:nvSpPr>
          <p:spPr>
            <a:xfrm>
              <a:off x="10873740" y="505244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nference_late_token2_L16_solid"/>
            <p:cNvSpPr/>
            <p:nvPr/>
          </p:nvSpPr>
          <p:spPr>
            <a:xfrm>
              <a:off x="10873740" y="5079492"/>
              <a:ext cx="188975" cy="324612"/>
            </a:xfrm>
            <a:prstGeom prst="rect">
              <a:avLst/>
            </a:prstGeom>
            <a:solidFill>
              <a:srgbClr val="36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rect_1036"/>
            <p:cNvSpPr/>
            <p:nvPr/>
          </p:nvSpPr>
          <p:spPr>
            <a:xfrm>
              <a:off x="10873740"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rect_1037"/>
            <p:cNvSpPr/>
            <p:nvPr/>
          </p:nvSpPr>
          <p:spPr>
            <a:xfrm>
              <a:off x="10936732" y="507949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rect_1038"/>
            <p:cNvSpPr/>
            <p:nvPr/>
          </p:nvSpPr>
          <p:spPr>
            <a:xfrm>
              <a:off x="10968228"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rect_1039"/>
            <p:cNvSpPr/>
            <p:nvPr/>
          </p:nvSpPr>
          <p:spPr>
            <a:xfrm>
              <a:off x="10999724" y="507949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rect_1040"/>
            <p:cNvSpPr/>
            <p:nvPr/>
          </p:nvSpPr>
          <p:spPr>
            <a:xfrm>
              <a:off x="10873740" y="513359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rect_1041"/>
            <p:cNvSpPr/>
            <p:nvPr/>
          </p:nvSpPr>
          <p:spPr>
            <a:xfrm>
              <a:off x="10905236" y="5133594"/>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rect_1042"/>
            <p:cNvSpPr/>
            <p:nvPr/>
          </p:nvSpPr>
          <p:spPr>
            <a:xfrm>
              <a:off x="10936732" y="513359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rect_1043"/>
            <p:cNvSpPr/>
            <p:nvPr/>
          </p:nvSpPr>
          <p:spPr>
            <a:xfrm>
              <a:off x="10999724" y="5133594"/>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rect_1044"/>
            <p:cNvSpPr/>
            <p:nvPr/>
          </p:nvSpPr>
          <p:spPr>
            <a:xfrm>
              <a:off x="10873740" y="5160645"/>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rect_1045"/>
            <p:cNvSpPr/>
            <p:nvPr/>
          </p:nvSpPr>
          <p:spPr>
            <a:xfrm>
              <a:off x="10905236" y="5187696"/>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rect_1046"/>
            <p:cNvSpPr/>
            <p:nvPr/>
          </p:nvSpPr>
          <p:spPr>
            <a:xfrm>
              <a:off x="10999724" y="518769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rect_1047"/>
            <p:cNvSpPr/>
            <p:nvPr/>
          </p:nvSpPr>
          <p:spPr>
            <a:xfrm>
              <a:off x="11031220" y="518769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rect_1048"/>
            <p:cNvSpPr/>
            <p:nvPr/>
          </p:nvSpPr>
          <p:spPr>
            <a:xfrm>
              <a:off x="10905236" y="521474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rect_1049"/>
            <p:cNvSpPr/>
            <p:nvPr/>
          </p:nvSpPr>
          <p:spPr>
            <a:xfrm>
              <a:off x="10968228" y="521474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rect_1050"/>
            <p:cNvSpPr/>
            <p:nvPr/>
          </p:nvSpPr>
          <p:spPr>
            <a:xfrm>
              <a:off x="10905236" y="5241798"/>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rect_1051"/>
            <p:cNvSpPr/>
            <p:nvPr/>
          </p:nvSpPr>
          <p:spPr>
            <a:xfrm>
              <a:off x="10936732" y="5241798"/>
              <a:ext cx="94487"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rect_1052"/>
            <p:cNvSpPr/>
            <p:nvPr/>
          </p:nvSpPr>
          <p:spPr>
            <a:xfrm>
              <a:off x="10905236" y="5268849"/>
              <a:ext cx="157479"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rect_1053"/>
            <p:cNvSpPr/>
            <p:nvPr/>
          </p:nvSpPr>
          <p:spPr>
            <a:xfrm>
              <a:off x="10873740"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rect_1054"/>
            <p:cNvSpPr/>
            <p:nvPr/>
          </p:nvSpPr>
          <p:spPr>
            <a:xfrm>
              <a:off x="10999724" y="5295899"/>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rect_1055"/>
            <p:cNvSpPr/>
            <p:nvPr/>
          </p:nvSpPr>
          <p:spPr>
            <a:xfrm>
              <a:off x="10936732" y="532295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rect_1056"/>
            <p:cNvSpPr/>
            <p:nvPr/>
          </p:nvSpPr>
          <p:spPr>
            <a:xfrm>
              <a:off x="10999724" y="532295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rect_1057"/>
            <p:cNvSpPr/>
            <p:nvPr/>
          </p:nvSpPr>
          <p:spPr>
            <a:xfrm>
              <a:off x="11031220"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rect_1058"/>
            <p:cNvSpPr/>
            <p:nvPr/>
          </p:nvSpPr>
          <p:spPr>
            <a:xfrm>
              <a:off x="10936732" y="537705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rect_1059"/>
            <p:cNvSpPr/>
            <p:nvPr/>
          </p:nvSpPr>
          <p:spPr>
            <a:xfrm>
              <a:off x="11031220" y="537705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nference_late_token2_bold_boundary"/>
            <p:cNvSpPr/>
            <p:nvPr/>
          </p:nvSpPr>
          <p:spPr>
            <a:xfrm>
              <a:off x="10873740" y="4105656"/>
              <a:ext cx="188975" cy="1298448"/>
            </a:xfrm>
            <a:prstGeom prst="rect">
              <a:avLst/>
            </a:prstGeom>
            <a:noFill/>
            <a:ln w="2032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nference_late_token3_L32_solid"/>
            <p:cNvSpPr/>
            <p:nvPr/>
          </p:nvSpPr>
          <p:spPr>
            <a:xfrm>
              <a:off x="11094719" y="4105656"/>
              <a:ext cx="188975" cy="649224"/>
            </a:xfrm>
            <a:prstGeom prst="rect">
              <a:avLst/>
            </a:prstGeom>
            <a:solidFill>
              <a:srgbClr val="2C9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nference_late_token3_L24_solid"/>
            <p:cNvSpPr/>
            <p:nvPr/>
          </p:nvSpPr>
          <p:spPr>
            <a:xfrm>
              <a:off x="11094719" y="4754880"/>
              <a:ext cx="188975" cy="324612"/>
            </a:xfrm>
            <a:prstGeom prst="rect">
              <a:avLst/>
            </a:prstGeom>
            <a:solidFill>
              <a:srgbClr val="C88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rect_1063"/>
            <p:cNvSpPr/>
            <p:nvPr/>
          </p:nvSpPr>
          <p:spPr>
            <a:xfrm>
              <a:off x="11157711" y="4754880"/>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rect_1064"/>
            <p:cNvSpPr/>
            <p:nvPr/>
          </p:nvSpPr>
          <p:spPr>
            <a:xfrm>
              <a:off x="11126215" y="486308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rect_1065"/>
            <p:cNvSpPr/>
            <p:nvPr/>
          </p:nvSpPr>
          <p:spPr>
            <a:xfrm>
              <a:off x="11094719" y="4998339"/>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rect_1066"/>
            <p:cNvSpPr/>
            <p:nvPr/>
          </p:nvSpPr>
          <p:spPr>
            <a:xfrm>
              <a:off x="11252199" y="5052441"/>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nference_late_token3_L16_solid"/>
            <p:cNvSpPr/>
            <p:nvPr/>
          </p:nvSpPr>
          <p:spPr>
            <a:xfrm>
              <a:off x="11094719" y="5079492"/>
              <a:ext cx="188975" cy="324612"/>
            </a:xfrm>
            <a:prstGeom prst="rect">
              <a:avLst/>
            </a:prstGeom>
            <a:solidFill>
              <a:srgbClr val="36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rect_1068"/>
            <p:cNvSpPr/>
            <p:nvPr/>
          </p:nvSpPr>
          <p:spPr>
            <a:xfrm>
              <a:off x="11126215" y="507949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rect_1069"/>
            <p:cNvSpPr/>
            <p:nvPr/>
          </p:nvSpPr>
          <p:spPr>
            <a:xfrm>
              <a:off x="11220703" y="507949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rect_1070"/>
            <p:cNvSpPr/>
            <p:nvPr/>
          </p:nvSpPr>
          <p:spPr>
            <a:xfrm>
              <a:off x="11094719" y="510654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rect_1071"/>
            <p:cNvSpPr/>
            <p:nvPr/>
          </p:nvSpPr>
          <p:spPr>
            <a:xfrm>
              <a:off x="11157711" y="510654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rect_1072"/>
            <p:cNvSpPr/>
            <p:nvPr/>
          </p:nvSpPr>
          <p:spPr>
            <a:xfrm>
              <a:off x="11220703" y="5106542"/>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rect_1073"/>
            <p:cNvSpPr/>
            <p:nvPr/>
          </p:nvSpPr>
          <p:spPr>
            <a:xfrm>
              <a:off x="11094719" y="5133594"/>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rect_1074"/>
            <p:cNvSpPr/>
            <p:nvPr/>
          </p:nvSpPr>
          <p:spPr>
            <a:xfrm>
              <a:off x="11189207" y="5133594"/>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rect_1075"/>
            <p:cNvSpPr/>
            <p:nvPr/>
          </p:nvSpPr>
          <p:spPr>
            <a:xfrm>
              <a:off x="11126215" y="5160645"/>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rect_1076"/>
            <p:cNvSpPr/>
            <p:nvPr/>
          </p:nvSpPr>
          <p:spPr>
            <a:xfrm>
              <a:off x="11189207" y="5160645"/>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rect_1077"/>
            <p:cNvSpPr/>
            <p:nvPr/>
          </p:nvSpPr>
          <p:spPr>
            <a:xfrm>
              <a:off x="11094719" y="5187696"/>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rect_1078"/>
            <p:cNvSpPr/>
            <p:nvPr/>
          </p:nvSpPr>
          <p:spPr>
            <a:xfrm>
              <a:off x="11189207" y="5187696"/>
              <a:ext cx="94487"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rect_1079"/>
            <p:cNvSpPr/>
            <p:nvPr/>
          </p:nvSpPr>
          <p:spPr>
            <a:xfrm>
              <a:off x="11094719"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rect_1080"/>
            <p:cNvSpPr/>
            <p:nvPr/>
          </p:nvSpPr>
          <p:spPr>
            <a:xfrm>
              <a:off x="11126215" y="5214746"/>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rect_1081"/>
            <p:cNvSpPr/>
            <p:nvPr/>
          </p:nvSpPr>
          <p:spPr>
            <a:xfrm>
              <a:off x="11220703" y="5214746"/>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rect_1082"/>
            <p:cNvSpPr/>
            <p:nvPr/>
          </p:nvSpPr>
          <p:spPr>
            <a:xfrm>
              <a:off x="11094719" y="5241798"/>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rect_1083"/>
            <p:cNvSpPr/>
            <p:nvPr/>
          </p:nvSpPr>
          <p:spPr>
            <a:xfrm>
              <a:off x="11094719" y="526884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rect_1084"/>
            <p:cNvSpPr/>
            <p:nvPr/>
          </p:nvSpPr>
          <p:spPr>
            <a:xfrm>
              <a:off x="11189207" y="5268849"/>
              <a:ext cx="62991"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rect_1085"/>
            <p:cNvSpPr/>
            <p:nvPr/>
          </p:nvSpPr>
          <p:spPr>
            <a:xfrm>
              <a:off x="11252199" y="526884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rect_1086"/>
            <p:cNvSpPr/>
            <p:nvPr/>
          </p:nvSpPr>
          <p:spPr>
            <a:xfrm>
              <a:off x="11094719"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rect_1087"/>
            <p:cNvSpPr/>
            <p:nvPr/>
          </p:nvSpPr>
          <p:spPr>
            <a:xfrm>
              <a:off x="11126215" y="529589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rect_1088"/>
            <p:cNvSpPr/>
            <p:nvPr/>
          </p:nvSpPr>
          <p:spPr>
            <a:xfrm>
              <a:off x="11157711" y="5295899"/>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rect_1089"/>
            <p:cNvSpPr/>
            <p:nvPr/>
          </p:nvSpPr>
          <p:spPr>
            <a:xfrm>
              <a:off x="11189207" y="5295899"/>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rect_1090"/>
            <p:cNvSpPr/>
            <p:nvPr/>
          </p:nvSpPr>
          <p:spPr>
            <a:xfrm>
              <a:off x="11094719" y="5322951"/>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rect_1091"/>
            <p:cNvSpPr/>
            <p:nvPr/>
          </p:nvSpPr>
          <p:spPr>
            <a:xfrm>
              <a:off x="11157711" y="5322951"/>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rect_1092"/>
            <p:cNvSpPr/>
            <p:nvPr/>
          </p:nvSpPr>
          <p:spPr>
            <a:xfrm>
              <a:off x="11189207" y="5322951"/>
              <a:ext cx="62991"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rect_1093"/>
            <p:cNvSpPr/>
            <p:nvPr/>
          </p:nvSpPr>
          <p:spPr>
            <a:xfrm>
              <a:off x="11126215"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rect_1094"/>
            <p:cNvSpPr/>
            <p:nvPr/>
          </p:nvSpPr>
          <p:spPr>
            <a:xfrm>
              <a:off x="11157711" y="5350002"/>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rect_1095"/>
            <p:cNvSpPr/>
            <p:nvPr/>
          </p:nvSpPr>
          <p:spPr>
            <a:xfrm>
              <a:off x="11189207" y="5350002"/>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rect_1096"/>
            <p:cNvSpPr/>
            <p:nvPr/>
          </p:nvSpPr>
          <p:spPr>
            <a:xfrm>
              <a:off x="11094719" y="537705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rect_1097"/>
            <p:cNvSpPr/>
            <p:nvPr/>
          </p:nvSpPr>
          <p:spPr>
            <a:xfrm>
              <a:off x="11126215" y="5377053"/>
              <a:ext cx="31495" cy="27051"/>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rect_1098"/>
            <p:cNvSpPr/>
            <p:nvPr/>
          </p:nvSpPr>
          <p:spPr>
            <a:xfrm>
              <a:off x="11252199" y="5377053"/>
              <a:ext cx="31495" cy="270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nference_late_token3_bold_boundary"/>
            <p:cNvSpPr/>
            <p:nvPr/>
          </p:nvSpPr>
          <p:spPr>
            <a:xfrm>
              <a:off x="11094719" y="4105656"/>
              <a:ext cx="188975" cy="1298448"/>
            </a:xfrm>
            <a:prstGeom prst="rect">
              <a:avLst/>
            </a:prstGeom>
            <a:noFill/>
            <a:ln w="2032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161" name="inference_clean_editable_token_strips"/>
          <p:cNvGrpSpPr/>
          <p:nvPr/>
        </p:nvGrpSpPr>
        <p:grpSpPr>
          <a:xfrm>
            <a:off x="11466576" y="4105656"/>
            <a:ext cx="630934" cy="1298448"/>
            <a:chOff x="11466576" y="4105656"/>
            <a:chExt cx="630934" cy="1298448"/>
          </a:xfrm>
        </p:grpSpPr>
        <p:sp>
          <p:nvSpPr>
            <p:cNvPr id="1104" name="inference_clean_token1_L32_solid"/>
            <p:cNvSpPr/>
            <p:nvPr/>
          </p:nvSpPr>
          <p:spPr>
            <a:xfrm>
              <a:off x="11466576" y="4105656"/>
              <a:ext cx="188975" cy="649224"/>
            </a:xfrm>
            <a:prstGeom prst="rect">
              <a:avLst/>
            </a:prstGeom>
            <a:solidFill>
              <a:srgbClr val="2C9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nference_clean_token1_L24_solid"/>
            <p:cNvSpPr/>
            <p:nvPr/>
          </p:nvSpPr>
          <p:spPr>
            <a:xfrm>
              <a:off x="11466576" y="4754880"/>
              <a:ext cx="188975" cy="324612"/>
            </a:xfrm>
            <a:prstGeom prst="rect">
              <a:avLst/>
            </a:prstGeom>
            <a:solidFill>
              <a:srgbClr val="C88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nference_clean_token1_L16_solid"/>
            <p:cNvSpPr/>
            <p:nvPr/>
          </p:nvSpPr>
          <p:spPr>
            <a:xfrm>
              <a:off x="11466576" y="5079492"/>
              <a:ext cx="188975" cy="324612"/>
            </a:xfrm>
            <a:prstGeom prst="rect">
              <a:avLst/>
            </a:prstGeom>
            <a:solidFill>
              <a:srgbClr val="36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nference_clean_token1_bold_boundary"/>
            <p:cNvSpPr/>
            <p:nvPr/>
          </p:nvSpPr>
          <p:spPr>
            <a:xfrm>
              <a:off x="11466576" y="4105656"/>
              <a:ext cx="188975" cy="1298448"/>
            </a:xfrm>
            <a:prstGeom prst="rect">
              <a:avLst/>
            </a:prstGeom>
            <a:noFill/>
            <a:ln w="2032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nference_clean_token2_L32_solid"/>
            <p:cNvSpPr/>
            <p:nvPr/>
          </p:nvSpPr>
          <p:spPr>
            <a:xfrm>
              <a:off x="11687556" y="4105656"/>
              <a:ext cx="188975" cy="649224"/>
            </a:xfrm>
            <a:prstGeom prst="rect">
              <a:avLst/>
            </a:prstGeom>
            <a:solidFill>
              <a:srgbClr val="2C9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nference_clean_token2_L24_solid"/>
            <p:cNvSpPr/>
            <p:nvPr/>
          </p:nvSpPr>
          <p:spPr>
            <a:xfrm>
              <a:off x="11687556" y="4754880"/>
              <a:ext cx="188975" cy="324612"/>
            </a:xfrm>
            <a:prstGeom prst="rect">
              <a:avLst/>
            </a:prstGeom>
            <a:solidFill>
              <a:srgbClr val="C88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nference_clean_token2_L16_solid"/>
            <p:cNvSpPr/>
            <p:nvPr/>
          </p:nvSpPr>
          <p:spPr>
            <a:xfrm>
              <a:off x="11687556" y="5079492"/>
              <a:ext cx="188975" cy="324612"/>
            </a:xfrm>
            <a:prstGeom prst="rect">
              <a:avLst/>
            </a:prstGeom>
            <a:solidFill>
              <a:srgbClr val="36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nference_clean_token2_bold_boundary"/>
            <p:cNvSpPr/>
            <p:nvPr/>
          </p:nvSpPr>
          <p:spPr>
            <a:xfrm>
              <a:off x="11687556" y="4105656"/>
              <a:ext cx="188975" cy="1298448"/>
            </a:xfrm>
            <a:prstGeom prst="rect">
              <a:avLst/>
            </a:prstGeom>
            <a:noFill/>
            <a:ln w="2032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nference_clean_token3_L32_solid"/>
            <p:cNvSpPr/>
            <p:nvPr/>
          </p:nvSpPr>
          <p:spPr>
            <a:xfrm>
              <a:off x="11908535" y="4105656"/>
              <a:ext cx="188975" cy="649224"/>
            </a:xfrm>
            <a:prstGeom prst="rect">
              <a:avLst/>
            </a:prstGeom>
            <a:solidFill>
              <a:srgbClr val="2C9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nference_clean_token3_L24_solid"/>
            <p:cNvSpPr/>
            <p:nvPr/>
          </p:nvSpPr>
          <p:spPr>
            <a:xfrm>
              <a:off x="11908535" y="4754880"/>
              <a:ext cx="188975" cy="324612"/>
            </a:xfrm>
            <a:prstGeom prst="rect">
              <a:avLst/>
            </a:prstGeom>
            <a:solidFill>
              <a:srgbClr val="C88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nference_clean_token3_L16_solid"/>
            <p:cNvSpPr/>
            <p:nvPr/>
          </p:nvSpPr>
          <p:spPr>
            <a:xfrm>
              <a:off x="11908535" y="5079492"/>
              <a:ext cx="188975" cy="324612"/>
            </a:xfrm>
            <a:prstGeom prst="rect">
              <a:avLst/>
            </a:prstGeom>
            <a:solidFill>
              <a:srgbClr val="36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nference_clean_token3_bold_boundary"/>
            <p:cNvSpPr/>
            <p:nvPr/>
          </p:nvSpPr>
          <p:spPr>
            <a:xfrm>
              <a:off x="11908535" y="4105656"/>
              <a:ext cx="188975" cy="1298448"/>
            </a:xfrm>
            <a:prstGeom prst="rect">
              <a:avLst/>
            </a:prstGeom>
            <a:noFill/>
            <a:ln w="2032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162" name="module_rect_1118"/>
          <p:cNvGrpSpPr/>
          <p:nvPr/>
        </p:nvGrpSpPr>
        <p:grpSpPr>
          <a:xfrm>
            <a:off x="8577072" y="5916168"/>
            <a:ext cx="3621024" cy="420624"/>
            <a:chOff x="8577072" y="5916168"/>
            <a:chExt cx="3621024" cy="420624"/>
          </a:xfrm>
        </p:grpSpPr>
        <p:sp>
          <p:nvSpPr>
            <p:cNvPr id="1120" name="rect_1118"/>
            <p:cNvSpPr/>
            <p:nvPr/>
          </p:nvSpPr>
          <p:spPr>
            <a:xfrm>
              <a:off x="8577072" y="5916168"/>
              <a:ext cx="3621024" cy="420624"/>
            </a:xfrm>
            <a:prstGeom prst="roundRect">
              <a:avLst>
                <a:gd name="adj" fmla="val 12000"/>
              </a:avLst>
            </a:prstGeom>
            <a:solidFill>
              <a:srgbClr val="EDF3F8"/>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text_1119"/>
            <p:cNvSpPr txBox="1"/>
            <p:nvPr/>
          </p:nvSpPr>
          <p:spPr>
            <a:xfrm>
              <a:off x="8622792" y="5925312"/>
              <a:ext cx="3529584" cy="402336"/>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Joint ELF calls + Euler updates</a:t>
              </a:r>
            </a:p>
          </p:txBody>
        </p:sp>
      </p:grpSp>
      <p:grpSp>
        <p:nvGrpSpPr>
          <p:cNvPr id="1163" name="module_rect_1122"/>
          <p:cNvGrpSpPr/>
          <p:nvPr/>
        </p:nvGrpSpPr>
        <p:grpSpPr>
          <a:xfrm>
            <a:off x="8577072" y="6583680"/>
            <a:ext cx="3621024" cy="420624"/>
            <a:chOff x="8577072" y="6583680"/>
            <a:chExt cx="3621024" cy="420624"/>
          </a:xfrm>
        </p:grpSpPr>
        <p:sp>
          <p:nvSpPr>
            <p:cNvPr id="1124" name="rect_1122"/>
            <p:cNvSpPr/>
            <p:nvPr/>
          </p:nvSpPr>
          <p:spPr>
            <a:xfrm>
              <a:off x="8577072" y="6583680"/>
              <a:ext cx="3621024" cy="420624"/>
            </a:xfrm>
            <a:prstGeom prst="roundRect">
              <a:avLst>
                <a:gd name="adj" fmla="val 12000"/>
              </a:avLst>
            </a:prstGeom>
            <a:solidFill>
              <a:srgbClr val="ECF5F3"/>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text_1123"/>
            <p:cNvSpPr txBox="1"/>
            <p:nvPr/>
          </p:nvSpPr>
          <p:spPr>
            <a:xfrm>
              <a:off x="8622792" y="6592824"/>
              <a:ext cx="3529584" cy="402336"/>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ELF + token head → answer</a:t>
              </a:r>
            </a:p>
          </p:txBody>
        </p:sp>
      </p:gr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nft_overview_v1">
    <p:bg>
      <p:bgPr>
        <a:solidFill>
          <a:srgbClr val="FFFFFF"/>
        </a:solidFill>
        <a:effectLst/>
      </p:bgPr>
    </p:bg>
    <p:spTree>
      <p:nvGrpSpPr>
        <p:cNvPr id="1" name=""/>
        <p:cNvGrpSpPr/>
        <p:nvPr/>
      </p:nvGrpSpPr>
      <p:grpSpPr/>
      <p:sp>
        <p:nvSpPr>
          <p:cNvPr id="2" name="path_0000"/>
          <p:cNvSpPr/>
          <p:nvPr/>
        </p:nvSpPr>
        <p:spPr>
          <a:xfrm>
            <a:off x="4206240" y="219456"/>
            <a:ext cx="0" cy="6702552"/>
          </a:xfrm>
          <a:custGeom>
            <a:avLst/>
            <a:gdLst/>
            <a:ahLst/>
            <a:cxnLst/>
            <a:rect l="l" t="t" r="r" b="b"/>
            <a:pathLst>
              <a:path w="0" h="7330">
                <a:moveTo>
                  <a:pt x="0" y="0"/>
                </a:moveTo>
                <a:lnTo>
                  <a:pt x="0" y="7330"/>
                </a:lnTo>
              </a:path>
            </a:pathLst>
          </a:custGeom>
          <a:noFill/>
          <a:ln w="6985">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th_0001"/>
          <p:cNvSpPr/>
          <p:nvPr/>
        </p:nvSpPr>
        <p:spPr>
          <a:xfrm>
            <a:off x="8412480" y="219456"/>
            <a:ext cx="0" cy="6702552"/>
          </a:xfrm>
          <a:custGeom>
            <a:avLst/>
            <a:gdLst/>
            <a:ahLst/>
            <a:cxnLst/>
            <a:rect l="l" t="t" r="r" b="b"/>
            <a:pathLst>
              <a:path w="0" h="7330">
                <a:moveTo>
                  <a:pt x="0" y="0"/>
                </a:moveTo>
                <a:lnTo>
                  <a:pt x="0" y="7330"/>
                </a:lnTo>
              </a:path>
            </a:pathLst>
          </a:custGeom>
          <a:noFill/>
          <a:ln w="6985">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th_0013"/>
          <p:cNvSpPr/>
          <p:nvPr/>
        </p:nvSpPr>
        <p:spPr>
          <a:xfrm>
            <a:off x="2121408" y="1481328"/>
            <a:ext cx="0" cy="265176"/>
          </a:xfrm>
          <a:custGeom>
            <a:avLst/>
            <a:gdLst/>
            <a:ahLst/>
            <a:cxnLst/>
            <a:rect l="l" t="t" r="r" b="b"/>
            <a:pathLst>
              <a:path w="0" h="290">
                <a:moveTo>
                  <a:pt x="0" y="0"/>
                </a:moveTo>
                <a:lnTo>
                  <a:pt x="0" y="29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_0016"/>
          <p:cNvSpPr txBox="1"/>
          <p:nvPr/>
        </p:nvSpPr>
        <p:spPr>
          <a:xfrm>
            <a:off x="320040" y="2487168"/>
            <a:ext cx="3639312" cy="274320"/>
          </a:xfrm>
          <a:prstGeom prst="rect">
            <a:avLst/>
          </a:prstGeom>
          <a:noFill/>
        </p:spPr>
        <p:txBody>
          <a:bodyPr wrap="none" lIns="0" rIns="0" tIns="0" bIns="0" anchor="ctr">
            <a:spAutoFit/>
          </a:bodyPr>
          <a:lstStyle/>
          <a:p>
            <a:pPr algn="ctr">
              <a:lnSpc>
                <a:spcPts val="1581"/>
              </a:lnSpc>
              <a:spcBef>
                <a:spcPts val="0"/>
              </a:spcBef>
              <a:spcAft>
                <a:spcPts val="0"/>
              </a:spcAft>
            </a:pPr>
            <a:r>
              <a:rPr sz="1400" b="0">
                <a:solidFill>
                  <a:srgbClr val="63758A"/>
                </a:solidFill>
                <a:latin typeface="DejaVu Sans"/>
              </a:rPr>
              <a:t>32 steps · synchronous (1, 1, 1)</a:t>
            </a:r>
          </a:p>
        </p:txBody>
      </p:sp>
      <p:sp>
        <p:nvSpPr>
          <p:cNvPr id="19" name="path_0017"/>
          <p:cNvSpPr/>
          <p:nvPr/>
        </p:nvSpPr>
        <p:spPr>
          <a:xfrm>
            <a:off x="2121408" y="2788920"/>
            <a:ext cx="0" cy="228600"/>
          </a:xfrm>
          <a:custGeom>
            <a:avLst/>
            <a:gdLst/>
            <a:ahLst/>
            <a:cxnLst/>
            <a:rect l="l" t="t" r="r" b="b"/>
            <a:pathLst>
              <a:path w="0" h="250">
                <a:moveTo>
                  <a:pt x="0" y="0"/>
                </a:moveTo>
                <a:lnTo>
                  <a:pt x="0" y="25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_0018"/>
          <p:cNvSpPr txBox="1"/>
          <p:nvPr/>
        </p:nvSpPr>
        <p:spPr>
          <a:xfrm>
            <a:off x="411480" y="3026664"/>
            <a:ext cx="3474720" cy="502920"/>
          </a:xfrm>
          <a:prstGeom prst="rect">
            <a:avLst/>
          </a:prstGeom>
          <a:noFill/>
        </p:spPr>
        <p:txBody>
          <a:bodyPr wrap="none" lIns="0" rIns="0" tIns="0" bIns="0" anchor="ctr">
            <a:spAutoFit/>
          </a:bodyPr>
          <a:lstStyle/>
          <a:p>
            <a:pPr algn="ctr">
              <a:lnSpc>
                <a:spcPts val="1920"/>
              </a:lnSpc>
              <a:spcBef>
                <a:spcPts val="0"/>
              </a:spcBef>
              <a:spcAft>
                <a:spcPts val="0"/>
              </a:spcAft>
            </a:pPr>
            <a:r>
              <a:rPr sz="1700" b="1">
                <a:solidFill>
                  <a:srgbClr val="233344"/>
                </a:solidFill>
                <a:latin typeface="DejaVu Sans"/>
              </a:rPr>
              <a:t>15 sampled latent</a:t>
            </a:r>
          </a:p>
          <a:p>
            <a:pPr algn="ctr">
              <a:lnSpc>
                <a:spcPts val="1920"/>
              </a:lnSpc>
              <a:spcBef>
                <a:spcPts val="0"/>
              </a:spcBef>
              <a:spcAft>
                <a:spcPts val="0"/>
              </a:spcAft>
            </a:pPr>
            <a:r>
              <a:rPr sz="1700" b="1">
                <a:solidFill>
                  <a:srgbClr val="233344"/>
                </a:solidFill>
                <a:latin typeface="DejaVu Sans"/>
              </a:rPr>
              <a:t>endpoints</a:t>
            </a:r>
          </a:p>
        </p:txBody>
      </p:sp>
      <p:sp>
        <p:nvSpPr>
          <p:cNvPr id="51" name="text_0049"/>
          <p:cNvSpPr txBox="1"/>
          <p:nvPr/>
        </p:nvSpPr>
        <p:spPr>
          <a:xfrm>
            <a:off x="320040" y="4736592"/>
            <a:ext cx="3639312" cy="292608"/>
          </a:xfrm>
          <a:prstGeom prst="rect">
            <a:avLst/>
          </a:prstGeom>
          <a:noFill/>
        </p:spPr>
        <p:txBody>
          <a:bodyPr wrap="none" lIns="0" rIns="0" tIns="0" bIns="0" anchor="ctr">
            <a:spAutoFit/>
          </a:bodyPr>
          <a:lstStyle/>
          <a:p>
            <a:pPr algn="ctr">
              <a:lnSpc>
                <a:spcPts val="1581"/>
              </a:lnSpc>
              <a:spcBef>
                <a:spcPts val="0"/>
              </a:spcBef>
              <a:spcAft>
                <a:spcPts val="0"/>
              </a:spcAft>
            </a:pPr>
            <a:r>
              <a:rPr sz="1400" b="0">
                <a:solidFill>
                  <a:srgbClr val="63758A"/>
                </a:solidFill>
                <a:latin typeface="DejaVu Sans"/>
              </a:rPr>
              <a:t>Decode text for correctness scoring</a:t>
            </a:r>
          </a:p>
        </p:txBody>
      </p:sp>
      <p:sp>
        <p:nvSpPr>
          <p:cNvPr id="54" name="text_0052"/>
          <p:cNvSpPr txBox="1"/>
          <p:nvPr/>
        </p:nvSpPr>
        <p:spPr>
          <a:xfrm>
            <a:off x="338328" y="6281928"/>
            <a:ext cx="3648456" cy="457200"/>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63758A"/>
                </a:solidFill>
                <a:latin typeface="DejaVu Sans"/>
              </a:rPr>
              <a:t>Retain generated terminal latents</a:t>
            </a:r>
          </a:p>
          <a:p>
            <a:pPr algn="ctr">
              <a:lnSpc>
                <a:spcPts val="1695"/>
              </a:lnSpc>
              <a:spcBef>
                <a:spcPts val="0"/>
              </a:spcBef>
              <a:spcAft>
                <a:spcPts val="0"/>
              </a:spcAft>
            </a:pPr>
            <a:r>
              <a:rPr sz="1500" b="0">
                <a:solidFill>
                  <a:srgbClr val="63758A"/>
                </a:solidFill>
                <a:latin typeface="DejaVu Sans"/>
              </a:rPr>
              <a:t>for the NFT update.</a:t>
            </a:r>
          </a:p>
        </p:txBody>
      </p:sp>
      <p:sp>
        <p:nvSpPr>
          <p:cNvPr id="55" name="rect_0053"/>
          <p:cNvSpPr/>
          <p:nvPr/>
        </p:nvSpPr>
        <p:spPr>
          <a:xfrm>
            <a:off x="4581144" y="1097280"/>
            <a:ext cx="3547872" cy="548640"/>
          </a:xfrm>
          <a:prstGeom prst="roundRect">
            <a:avLst>
              <a:gd name="adj" fmla="val 8333"/>
            </a:avLst>
          </a:prstGeom>
          <a:solidFill>
            <a:srgbClr val="ECF5F3"/>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_0054"/>
          <p:cNvSpPr txBox="1"/>
          <p:nvPr/>
        </p:nvSpPr>
        <p:spPr>
          <a:xfrm>
            <a:off x="4709159" y="1161288"/>
            <a:ext cx="2395728" cy="402336"/>
          </a:xfrm>
          <a:prstGeom prst="rect">
            <a:avLst/>
          </a:prstGeom>
          <a:noFill/>
        </p:spPr>
        <p:txBody>
          <a:bodyPr wrap="none" lIns="0" rIns="0" tIns="0" bIns="0" anchor="ctr">
            <a:spAutoFit/>
          </a:bodyPr>
          <a:lstStyle/>
          <a:p>
            <a:pPr algn="l">
              <a:lnSpc>
                <a:spcPts val="1920"/>
              </a:lnSpc>
              <a:spcBef>
                <a:spcPts val="0"/>
              </a:spcBef>
              <a:spcAft>
                <a:spcPts val="0"/>
              </a:spcAft>
            </a:pPr>
            <a:r>
              <a:rPr sz="1700" b="0">
                <a:solidFill>
                  <a:srgbClr val="233344"/>
                </a:solidFill>
                <a:latin typeface="DejaVu Sans"/>
              </a:rPr>
              <a:t>Correct generation</a:t>
            </a:r>
          </a:p>
        </p:txBody>
      </p:sp>
      <p:sp>
        <p:nvSpPr>
          <p:cNvPr id="57" name="text_0055"/>
          <p:cNvSpPr txBox="1"/>
          <p:nvPr/>
        </p:nvSpPr>
        <p:spPr>
          <a:xfrm>
            <a:off x="7187183" y="1143000"/>
            <a:ext cx="777240" cy="420624"/>
          </a:xfrm>
          <a:prstGeom prst="rect">
            <a:avLst/>
          </a:prstGeom>
          <a:noFill/>
        </p:spPr>
        <p:txBody>
          <a:bodyPr wrap="none" lIns="0" rIns="0" tIns="0" bIns="0" anchor="ctr">
            <a:spAutoFit/>
          </a:bodyPr>
          <a:lstStyle/>
          <a:p>
            <a:pPr algn="ctr">
              <a:lnSpc>
                <a:spcPts val="2599"/>
              </a:lnSpc>
              <a:spcBef>
                <a:spcPts val="0"/>
              </a:spcBef>
              <a:spcAft>
                <a:spcPts val="0"/>
              </a:spcAft>
            </a:pPr>
            <a:r>
              <a:rPr sz="2300" b="1">
                <a:solidFill>
                  <a:srgbClr val="2C917F"/>
                </a:solidFill>
                <a:latin typeface="DejaVu Sans"/>
              </a:rPr>
              <a:t>0.75</a:t>
            </a:r>
          </a:p>
        </p:txBody>
      </p:sp>
      <p:sp>
        <p:nvSpPr>
          <p:cNvPr id="58" name="rect_0056"/>
          <p:cNvSpPr/>
          <p:nvPr/>
        </p:nvSpPr>
        <p:spPr>
          <a:xfrm>
            <a:off x="4581144" y="1837943"/>
            <a:ext cx="3547872" cy="548640"/>
          </a:xfrm>
          <a:prstGeom prst="roundRect">
            <a:avLst>
              <a:gd name="adj" fmla="val 8333"/>
            </a:avLst>
          </a:prstGeom>
          <a:solidFill>
            <a:srgbClr val="F9F1F1"/>
          </a:solidFill>
          <a:ln w="12700">
            <a:solidFill>
              <a:srgbClr val="B86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_0057"/>
          <p:cNvSpPr txBox="1"/>
          <p:nvPr/>
        </p:nvSpPr>
        <p:spPr>
          <a:xfrm>
            <a:off x="4709159" y="1901951"/>
            <a:ext cx="2395728" cy="402336"/>
          </a:xfrm>
          <a:prstGeom prst="rect">
            <a:avLst/>
          </a:prstGeom>
          <a:noFill/>
        </p:spPr>
        <p:txBody>
          <a:bodyPr wrap="none" lIns="0" rIns="0" tIns="0" bIns="0" anchor="ctr">
            <a:spAutoFit/>
          </a:bodyPr>
          <a:lstStyle/>
          <a:p>
            <a:pPr algn="l">
              <a:lnSpc>
                <a:spcPts val="1920"/>
              </a:lnSpc>
              <a:spcBef>
                <a:spcPts val="0"/>
              </a:spcBef>
              <a:spcAft>
                <a:spcPts val="0"/>
              </a:spcAft>
            </a:pPr>
            <a:r>
              <a:rPr sz="1700" b="0">
                <a:solidFill>
                  <a:srgbClr val="233344"/>
                </a:solidFill>
                <a:latin typeface="DejaVu Sans"/>
              </a:rPr>
              <a:t>Incorrect generation</a:t>
            </a:r>
          </a:p>
        </p:txBody>
      </p:sp>
      <p:sp>
        <p:nvSpPr>
          <p:cNvPr id="60" name="text_0058"/>
          <p:cNvSpPr txBox="1"/>
          <p:nvPr/>
        </p:nvSpPr>
        <p:spPr>
          <a:xfrm>
            <a:off x="7187183" y="1883663"/>
            <a:ext cx="777240" cy="420624"/>
          </a:xfrm>
          <a:prstGeom prst="rect">
            <a:avLst/>
          </a:prstGeom>
          <a:noFill/>
        </p:spPr>
        <p:txBody>
          <a:bodyPr wrap="none" lIns="0" rIns="0" tIns="0" bIns="0" anchor="ctr">
            <a:spAutoFit/>
          </a:bodyPr>
          <a:lstStyle/>
          <a:p>
            <a:pPr algn="ctr">
              <a:lnSpc>
                <a:spcPts val="2599"/>
              </a:lnSpc>
              <a:spcBef>
                <a:spcPts val="0"/>
              </a:spcBef>
              <a:spcAft>
                <a:spcPts val="0"/>
              </a:spcAft>
            </a:pPr>
            <a:r>
              <a:rPr sz="2300" b="1">
                <a:solidFill>
                  <a:srgbClr val="B86565"/>
                </a:solidFill>
                <a:latin typeface="DejaVu Sans"/>
              </a:rPr>
              <a:t>0</a:t>
            </a:r>
          </a:p>
        </p:txBody>
      </p:sp>
      <p:sp>
        <p:nvSpPr>
          <p:cNvPr id="61" name="rect_0059"/>
          <p:cNvSpPr/>
          <p:nvPr/>
        </p:nvSpPr>
        <p:spPr>
          <a:xfrm>
            <a:off x="4581144" y="2578608"/>
            <a:ext cx="3547872" cy="548640"/>
          </a:xfrm>
          <a:prstGeom prst="roundRect">
            <a:avLst>
              <a:gd name="adj" fmla="val 8333"/>
            </a:avLst>
          </a:prstGeom>
          <a:solidFill>
            <a:srgbClr val="F3F1F7"/>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_0060"/>
          <p:cNvSpPr txBox="1"/>
          <p:nvPr/>
        </p:nvSpPr>
        <p:spPr>
          <a:xfrm>
            <a:off x="4709159" y="2642615"/>
            <a:ext cx="2395728" cy="402336"/>
          </a:xfrm>
          <a:prstGeom prst="rect">
            <a:avLst/>
          </a:prstGeom>
          <a:noFill/>
        </p:spPr>
        <p:txBody>
          <a:bodyPr wrap="none" lIns="0" rIns="0" tIns="0" bIns="0" anchor="ctr">
            <a:spAutoFit/>
          </a:bodyPr>
          <a:lstStyle/>
          <a:p>
            <a:pPr algn="l">
              <a:lnSpc>
                <a:spcPts val="1920"/>
              </a:lnSpc>
              <a:spcBef>
                <a:spcPts val="0"/>
              </a:spcBef>
              <a:spcAft>
                <a:spcPts val="0"/>
              </a:spcAft>
            </a:pPr>
            <a:r>
              <a:rPr sz="1700" b="0">
                <a:solidFill>
                  <a:srgbClr val="233344"/>
                </a:solidFill>
                <a:latin typeface="DejaVu Sans"/>
              </a:rPr>
              <a:t>Gold reference</a:t>
            </a:r>
          </a:p>
        </p:txBody>
      </p:sp>
      <p:sp>
        <p:nvSpPr>
          <p:cNvPr id="63" name="text_0061"/>
          <p:cNvSpPr txBox="1"/>
          <p:nvPr/>
        </p:nvSpPr>
        <p:spPr>
          <a:xfrm>
            <a:off x="7187183" y="2624327"/>
            <a:ext cx="777240" cy="420624"/>
          </a:xfrm>
          <a:prstGeom prst="rect">
            <a:avLst/>
          </a:prstGeom>
          <a:noFill/>
        </p:spPr>
        <p:txBody>
          <a:bodyPr wrap="none" lIns="0" rIns="0" tIns="0" bIns="0" anchor="ctr">
            <a:spAutoFit/>
          </a:bodyPr>
          <a:lstStyle/>
          <a:p>
            <a:pPr algn="ctr">
              <a:lnSpc>
                <a:spcPts val="2599"/>
              </a:lnSpc>
              <a:spcBef>
                <a:spcPts val="0"/>
              </a:spcBef>
              <a:spcAft>
                <a:spcPts val="0"/>
              </a:spcAft>
            </a:pPr>
            <a:r>
              <a:rPr sz="2300" b="1">
                <a:solidFill>
                  <a:srgbClr val="7965AA"/>
                </a:solidFill>
                <a:latin typeface="DejaVu Sans"/>
              </a:rPr>
              <a:t>1</a:t>
            </a:r>
          </a:p>
        </p:txBody>
      </p:sp>
      <p:sp>
        <p:nvSpPr>
          <p:cNvPr id="64" name="path_0062"/>
          <p:cNvSpPr/>
          <p:nvPr/>
        </p:nvSpPr>
        <p:spPr>
          <a:xfrm>
            <a:off x="6355080" y="3163824"/>
            <a:ext cx="0" cy="292608"/>
          </a:xfrm>
          <a:custGeom>
            <a:avLst/>
            <a:gdLst/>
            <a:ahLst/>
            <a:cxnLst/>
            <a:rect l="l" t="t" r="r" b="b"/>
            <a:pathLst>
              <a:path w="0" h="320">
                <a:moveTo>
                  <a:pt x="0" y="0"/>
                </a:moveTo>
                <a:lnTo>
                  <a:pt x="0" y="32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ath_0065"/>
          <p:cNvSpPr/>
          <p:nvPr/>
        </p:nvSpPr>
        <p:spPr>
          <a:xfrm>
            <a:off x="6355080" y="4160520"/>
            <a:ext cx="0" cy="265176"/>
          </a:xfrm>
          <a:custGeom>
            <a:avLst/>
            <a:gdLst/>
            <a:ahLst/>
            <a:cxnLst/>
            <a:rect l="l" t="t" r="r" b="b"/>
            <a:pathLst>
              <a:path w="0" h="290">
                <a:moveTo>
                  <a:pt x="0" y="0"/>
                </a:moveTo>
                <a:lnTo>
                  <a:pt x="0" y="29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path_0068"/>
          <p:cNvSpPr/>
          <p:nvPr/>
        </p:nvSpPr>
        <p:spPr>
          <a:xfrm>
            <a:off x="6355080" y="5212080"/>
            <a:ext cx="0" cy="246888"/>
          </a:xfrm>
          <a:custGeom>
            <a:avLst/>
            <a:gdLst/>
            <a:ahLst/>
            <a:cxnLst/>
            <a:rect l="l" t="t" r="r" b="b"/>
            <a:pathLst>
              <a:path w="0" h="270">
                <a:moveTo>
                  <a:pt x="0" y="0"/>
                </a:moveTo>
                <a:lnTo>
                  <a:pt x="0" y="27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_0071"/>
          <p:cNvSpPr txBox="1"/>
          <p:nvPr/>
        </p:nvSpPr>
        <p:spPr>
          <a:xfrm>
            <a:off x="4553712" y="6373368"/>
            <a:ext cx="3621024" cy="274320"/>
          </a:xfrm>
          <a:prstGeom prst="rect">
            <a:avLst/>
          </a:prstGeom>
          <a:noFill/>
        </p:spPr>
        <p:txBody>
          <a:bodyPr wrap="none" lIns="0" rIns="0" tIns="0" bIns="0" anchor="ctr">
            <a:spAutoFit/>
          </a:bodyPr>
          <a:lstStyle/>
          <a:p>
            <a:pPr algn="ctr">
              <a:lnSpc>
                <a:spcPts val="1581"/>
              </a:lnSpc>
              <a:spcBef>
                <a:spcPts val="0"/>
              </a:spcBef>
              <a:spcAft>
                <a:spcPts val="0"/>
              </a:spcAft>
            </a:pPr>
            <a:r>
              <a:rPr sz="1400" b="0">
                <a:solidFill>
                  <a:srgbClr val="63758A"/>
                </a:solidFill>
                <a:latin typeface="DejaVu Sans"/>
              </a:rPr>
              <a:t>Weights are detached.</a:t>
            </a:r>
          </a:p>
        </p:txBody>
      </p:sp>
      <p:sp>
        <p:nvSpPr>
          <p:cNvPr id="78" name="path_0076"/>
          <p:cNvSpPr/>
          <p:nvPr/>
        </p:nvSpPr>
        <p:spPr>
          <a:xfrm>
            <a:off x="8842248" y="1563624"/>
            <a:ext cx="100584" cy="530352"/>
          </a:xfrm>
          <a:custGeom>
            <a:avLst/>
            <a:gdLst/>
            <a:ahLst/>
            <a:cxnLst/>
            <a:rect l="l" t="t" r="r" b="b"/>
            <a:pathLst>
              <a:path w="110" h="580">
                <a:moveTo>
                  <a:pt x="0" y="0"/>
                </a:moveTo>
                <a:lnTo>
                  <a:pt x="0" y="580"/>
                </a:lnTo>
                <a:lnTo>
                  <a:pt x="110" y="580"/>
                </a:lnTo>
              </a:path>
            </a:pathLst>
          </a:custGeom>
          <a:noFill/>
          <a:ln w="12700">
            <a:solidFill>
              <a:srgbClr val="367AB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path_0077"/>
          <p:cNvSpPr/>
          <p:nvPr/>
        </p:nvSpPr>
        <p:spPr>
          <a:xfrm>
            <a:off x="12161520" y="2093976"/>
            <a:ext cx="219456" cy="2112264"/>
          </a:xfrm>
          <a:custGeom>
            <a:avLst/>
            <a:gdLst/>
            <a:ahLst/>
            <a:cxnLst/>
            <a:rect l="l" t="t" r="r" b="b"/>
            <a:pathLst>
              <a:path w="240" h="2310">
                <a:moveTo>
                  <a:pt x="0" y="0"/>
                </a:moveTo>
                <a:lnTo>
                  <a:pt x="240" y="0"/>
                </a:lnTo>
                <a:lnTo>
                  <a:pt x="240" y="2310"/>
                </a:lnTo>
                <a:lnTo>
                  <a:pt x="40" y="2310"/>
                </a:lnTo>
              </a:path>
            </a:pathLst>
          </a:custGeom>
          <a:noFill/>
          <a:ln w="12700">
            <a:solidFill>
              <a:srgbClr val="367AB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path_0080"/>
          <p:cNvSpPr/>
          <p:nvPr/>
        </p:nvSpPr>
        <p:spPr>
          <a:xfrm>
            <a:off x="8842248" y="1563624"/>
            <a:ext cx="100584" cy="1271016"/>
          </a:xfrm>
          <a:custGeom>
            <a:avLst/>
            <a:gdLst/>
            <a:ahLst/>
            <a:cxnLst/>
            <a:rect l="l" t="t" r="r" b="b"/>
            <a:pathLst>
              <a:path w="110" h="1390">
                <a:moveTo>
                  <a:pt x="0" y="0"/>
                </a:moveTo>
                <a:lnTo>
                  <a:pt x="0" y="1390"/>
                </a:lnTo>
                <a:lnTo>
                  <a:pt x="110" y="1390"/>
                </a:lnTo>
              </a:path>
            </a:pathLst>
          </a:custGeom>
          <a:noFill/>
          <a:ln w="12700">
            <a:solidFill>
              <a:srgbClr val="63758A"/>
            </a:solidFill>
            <a:prstDash val="dash"/>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ath_0081"/>
          <p:cNvSpPr/>
          <p:nvPr/>
        </p:nvSpPr>
        <p:spPr>
          <a:xfrm>
            <a:off x="12161520" y="2834640"/>
            <a:ext cx="219456" cy="1371600"/>
          </a:xfrm>
          <a:custGeom>
            <a:avLst/>
            <a:gdLst/>
            <a:ahLst/>
            <a:cxnLst/>
            <a:rect l="l" t="t" r="r" b="b"/>
            <a:pathLst>
              <a:path w="240" h="1500">
                <a:moveTo>
                  <a:pt x="0" y="0"/>
                </a:moveTo>
                <a:lnTo>
                  <a:pt x="240" y="0"/>
                </a:lnTo>
                <a:lnTo>
                  <a:pt x="240" y="1500"/>
                </a:lnTo>
                <a:lnTo>
                  <a:pt x="40" y="1500"/>
                </a:lnTo>
              </a:path>
            </a:pathLst>
          </a:custGeom>
          <a:noFill/>
          <a:ln w="12700">
            <a:solidFill>
              <a:srgbClr val="63758A"/>
            </a:solidFill>
            <a:prstDash val="dash"/>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ath_0084"/>
          <p:cNvSpPr/>
          <p:nvPr/>
        </p:nvSpPr>
        <p:spPr>
          <a:xfrm>
            <a:off x="8842248" y="1563624"/>
            <a:ext cx="100584" cy="2011680"/>
          </a:xfrm>
          <a:custGeom>
            <a:avLst/>
            <a:gdLst/>
            <a:ahLst/>
            <a:cxnLst/>
            <a:rect l="l" t="t" r="r" b="b"/>
            <a:pathLst>
              <a:path w="110" h="2200">
                <a:moveTo>
                  <a:pt x="0" y="0"/>
                </a:moveTo>
                <a:lnTo>
                  <a:pt x="0" y="2200"/>
                </a:lnTo>
                <a:lnTo>
                  <a:pt x="110" y="2200"/>
                </a:lnTo>
              </a:path>
            </a:pathLst>
          </a:custGeom>
          <a:noFill/>
          <a:ln w="12700">
            <a:solidFill>
              <a:srgbClr val="63758A"/>
            </a:solidFill>
            <a:prstDash val="dash"/>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path_0085"/>
          <p:cNvSpPr/>
          <p:nvPr/>
        </p:nvSpPr>
        <p:spPr>
          <a:xfrm>
            <a:off x="12161520" y="3575304"/>
            <a:ext cx="219456" cy="630936"/>
          </a:xfrm>
          <a:custGeom>
            <a:avLst/>
            <a:gdLst/>
            <a:ahLst/>
            <a:cxnLst/>
            <a:rect l="l" t="t" r="r" b="b"/>
            <a:pathLst>
              <a:path w="240" h="690">
                <a:moveTo>
                  <a:pt x="0" y="0"/>
                </a:moveTo>
                <a:lnTo>
                  <a:pt x="240" y="0"/>
                </a:lnTo>
                <a:lnTo>
                  <a:pt x="240" y="690"/>
                </a:lnTo>
                <a:lnTo>
                  <a:pt x="40" y="690"/>
                </a:lnTo>
              </a:path>
            </a:pathLst>
          </a:custGeom>
          <a:noFill/>
          <a:ln w="12700">
            <a:solidFill>
              <a:srgbClr val="63758A"/>
            </a:solidFill>
            <a:prstDash val="dash"/>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path_0088"/>
          <p:cNvSpPr/>
          <p:nvPr/>
        </p:nvSpPr>
        <p:spPr>
          <a:xfrm>
            <a:off x="10561320" y="4654296"/>
            <a:ext cx="0" cy="265176"/>
          </a:xfrm>
          <a:custGeom>
            <a:avLst/>
            <a:gdLst/>
            <a:ahLst/>
            <a:cxnLst/>
            <a:rect l="l" t="t" r="r" b="b"/>
            <a:pathLst>
              <a:path w="0" h="290">
                <a:moveTo>
                  <a:pt x="0" y="0"/>
                </a:moveTo>
                <a:lnTo>
                  <a:pt x="0" y="29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path_0091"/>
          <p:cNvSpPr/>
          <p:nvPr/>
        </p:nvSpPr>
        <p:spPr>
          <a:xfrm>
            <a:off x="8147304" y="5276088"/>
            <a:ext cx="640080" cy="557784"/>
          </a:xfrm>
          <a:custGeom>
            <a:avLst/>
            <a:gdLst/>
            <a:ahLst/>
            <a:cxnLst/>
            <a:rect l="l" t="t" r="r" b="b"/>
            <a:pathLst>
              <a:path w="700" h="610">
                <a:moveTo>
                  <a:pt x="0" y="610"/>
                </a:moveTo>
                <a:lnTo>
                  <a:pt x="570" y="610"/>
                </a:lnTo>
                <a:lnTo>
                  <a:pt x="570" y="0"/>
                </a:lnTo>
                <a:lnTo>
                  <a:pt x="700" y="0"/>
                </a:lnTo>
              </a:path>
            </a:pathLst>
          </a:custGeom>
          <a:noFill/>
          <a:ln w="15240">
            <a:solidFill>
              <a:srgbClr val="2C917F"/>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_0092"/>
          <p:cNvSpPr txBox="1"/>
          <p:nvPr/>
        </p:nvSpPr>
        <p:spPr>
          <a:xfrm>
            <a:off x="8796528" y="5742432"/>
            <a:ext cx="3557016" cy="256032"/>
          </a:xfrm>
          <a:prstGeom prst="rect">
            <a:avLst/>
          </a:prstGeom>
          <a:noFill/>
        </p:spPr>
        <p:txBody>
          <a:bodyPr wrap="none" lIns="0" rIns="0" tIns="0" bIns="0" anchor="ctr">
            <a:spAutoFit/>
          </a:bodyPr>
          <a:lstStyle/>
          <a:p>
            <a:pPr algn="ctr">
              <a:lnSpc>
                <a:spcPts val="1581"/>
              </a:lnSpc>
              <a:spcBef>
                <a:spcPts val="0"/>
              </a:spcBef>
              <a:spcAft>
                <a:spcPts val="0"/>
              </a:spcAft>
            </a:pPr>
            <a:r>
              <a:rPr sz="1400" b="0">
                <a:solidFill>
                  <a:srgbClr val="63758A"/>
                </a:solidFill>
                <a:latin typeface="DejaVu Sans"/>
              </a:rPr>
              <a:t>e+ = ec e− = 2eo − ec (β = 1)</a:t>
            </a:r>
          </a:p>
        </p:txBody>
      </p:sp>
      <p:sp>
        <p:nvSpPr>
          <p:cNvPr id="95" name="path_0093"/>
          <p:cNvSpPr/>
          <p:nvPr/>
        </p:nvSpPr>
        <p:spPr>
          <a:xfrm>
            <a:off x="10561320" y="6035040"/>
            <a:ext cx="0" cy="210312"/>
          </a:xfrm>
          <a:custGeom>
            <a:avLst/>
            <a:gdLst/>
            <a:ahLst/>
            <a:cxnLst/>
            <a:rect l="l" t="t" r="r" b="b"/>
            <a:pathLst>
              <a:path w="0" h="230">
                <a:moveTo>
                  <a:pt x="0" y="0"/>
                </a:moveTo>
                <a:lnTo>
                  <a:pt x="0" y="23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path_0096"/>
          <p:cNvSpPr/>
          <p:nvPr/>
        </p:nvSpPr>
        <p:spPr>
          <a:xfrm>
            <a:off x="3794760" y="2084832"/>
            <a:ext cx="6766560" cy="5047488"/>
          </a:xfrm>
          <a:custGeom>
            <a:avLst/>
            <a:gdLst/>
            <a:ahLst/>
            <a:cxnLst/>
            <a:rect l="l" t="t" r="r" b="b"/>
            <a:pathLst>
              <a:path w="7400" h="5520">
                <a:moveTo>
                  <a:pt x="7400" y="5230"/>
                </a:moveTo>
                <a:lnTo>
                  <a:pt x="7400" y="5520"/>
                </a:lnTo>
                <a:lnTo>
                  <a:pt x="400" y="5520"/>
                </a:lnTo>
                <a:lnTo>
                  <a:pt x="400" y="0"/>
                </a:lnTo>
                <a:lnTo>
                  <a:pt x="0" y="0"/>
                </a:lnTo>
              </a:path>
            </a:pathLst>
          </a:custGeom>
          <a:noFill/>
          <a:ln w="12700">
            <a:solidFill>
              <a:srgbClr val="63758A"/>
            </a:solidFill>
            <a:prstDash val="dash"/>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_0097"/>
          <p:cNvSpPr/>
          <p:nvPr/>
        </p:nvSpPr>
        <p:spPr>
          <a:xfrm>
            <a:off x="4800600" y="6949440"/>
            <a:ext cx="4736592"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_0098"/>
          <p:cNvSpPr txBox="1"/>
          <p:nvPr/>
        </p:nvSpPr>
        <p:spPr>
          <a:xfrm>
            <a:off x="4818888" y="6949440"/>
            <a:ext cx="4700016" cy="237744"/>
          </a:xfrm>
          <a:prstGeom prst="rect">
            <a:avLst/>
          </a:prstGeom>
          <a:noFill/>
        </p:spPr>
        <p:txBody>
          <a:bodyPr wrap="none" lIns="0" rIns="0" tIns="0" bIns="0" anchor="ctr">
            <a:spAutoFit/>
          </a:bodyPr>
          <a:lstStyle/>
          <a:p>
            <a:pPr algn="ctr">
              <a:lnSpc>
                <a:spcPts val="1412"/>
              </a:lnSpc>
              <a:spcBef>
                <a:spcPts val="0"/>
              </a:spcBef>
              <a:spcAft>
                <a:spcPts val="0"/>
              </a:spcAft>
            </a:pPr>
            <a:r>
              <a:rPr sz="1250" b="0">
                <a:solidFill>
                  <a:srgbClr val="63758A"/>
                </a:solidFill>
                <a:latin typeface="DejaVu Sans"/>
              </a:rPr>
              <a:t>Refresh the rollout policy from the current policy</a:t>
            </a:r>
          </a:p>
        </p:txBody>
      </p:sp>
      <p:grpSp>
        <p:nvGrpSpPr>
          <p:cNvPr id="101" name="stage_1_heading"/>
          <p:cNvGrpSpPr/>
          <p:nvPr/>
        </p:nvGrpSpPr>
        <p:grpSpPr>
          <a:xfrm>
            <a:off x="228600" y="210312"/>
            <a:ext cx="3749039" cy="539496"/>
            <a:chOff x="228600" y="210312"/>
            <a:chExt cx="3749039" cy="539496"/>
          </a:xfrm>
        </p:grpSpPr>
        <p:sp>
          <p:nvSpPr>
            <p:cNvPr id="4" name="rect_0002"/>
            <p:cNvSpPr/>
            <p:nvPr/>
          </p:nvSpPr>
          <p:spPr>
            <a:xfrm>
              <a:off x="228600" y="210312"/>
              <a:ext cx="3749039" cy="539496"/>
            </a:xfrm>
            <a:prstGeom prst="roundRect">
              <a:avLst>
                <a:gd name="adj" fmla="val 12000"/>
              </a:avLst>
            </a:prstGeom>
            <a:solidFill>
              <a:srgbClr val="F3F6F9"/>
            </a:solidFill>
            <a:ln w="1270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0003"/>
            <p:cNvSpPr txBox="1"/>
            <p:nvPr/>
          </p:nvSpPr>
          <p:spPr>
            <a:xfrm>
              <a:off x="347472" y="237744"/>
              <a:ext cx="274320" cy="457200"/>
            </a:xfrm>
            <a:prstGeom prst="rect">
              <a:avLst/>
            </a:prstGeom>
            <a:noFill/>
          </p:spPr>
          <p:txBody>
            <a:bodyPr wrap="none" lIns="0" rIns="0" tIns="0" bIns="0" anchor="ctr">
              <a:spAutoFit/>
            </a:bodyPr>
            <a:lstStyle/>
            <a:p>
              <a:pPr algn="ctr">
                <a:lnSpc>
                  <a:spcPts val="2372"/>
                </a:lnSpc>
                <a:spcBef>
                  <a:spcPts val="0"/>
                </a:spcBef>
                <a:spcAft>
                  <a:spcPts val="0"/>
                </a:spcAft>
              </a:pPr>
              <a:r>
                <a:rPr sz="2100" b="1">
                  <a:solidFill>
                    <a:srgbClr val="63758A"/>
                  </a:solidFill>
                  <a:latin typeface="DejaVu Sans"/>
                </a:rPr>
                <a:t>1</a:t>
              </a:r>
            </a:p>
          </p:txBody>
        </p:sp>
        <p:sp>
          <p:nvSpPr>
            <p:cNvPr id="6" name="text_0004"/>
            <p:cNvSpPr txBox="1"/>
            <p:nvPr/>
          </p:nvSpPr>
          <p:spPr>
            <a:xfrm>
              <a:off x="676656" y="237744"/>
              <a:ext cx="3200400" cy="457200"/>
            </a:xfrm>
            <a:prstGeom prst="rect">
              <a:avLst/>
            </a:prstGeom>
            <a:noFill/>
          </p:spPr>
          <p:txBody>
            <a:bodyPr wrap="none" lIns="0" rIns="0" tIns="0" bIns="0" anchor="ctr">
              <a:spAutoFit/>
            </a:bodyPr>
            <a:lstStyle/>
            <a:p>
              <a:pPr algn="l">
                <a:lnSpc>
                  <a:spcPts val="2033"/>
                </a:lnSpc>
                <a:spcBef>
                  <a:spcPts val="0"/>
                </a:spcBef>
                <a:spcAft>
                  <a:spcPts val="0"/>
                </a:spcAft>
              </a:pPr>
              <a:r>
                <a:rPr sz="1800" b="1">
                  <a:solidFill>
                    <a:srgbClr val="233344"/>
                  </a:solidFill>
                  <a:latin typeface="DejaVu Sans"/>
                </a:rPr>
                <a:t>Collect endpoints</a:t>
              </a:r>
            </a:p>
          </p:txBody>
        </p:sp>
      </p:grpSp>
      <p:grpSp>
        <p:nvGrpSpPr>
          <p:cNvPr id="102" name="stage_2_heading"/>
          <p:cNvGrpSpPr/>
          <p:nvPr/>
        </p:nvGrpSpPr>
        <p:grpSpPr>
          <a:xfrm>
            <a:off x="4434840" y="210312"/>
            <a:ext cx="3749039" cy="539496"/>
            <a:chOff x="4434840" y="210312"/>
            <a:chExt cx="3749039" cy="539496"/>
          </a:xfrm>
        </p:grpSpPr>
        <p:sp>
          <p:nvSpPr>
            <p:cNvPr id="7" name="rect_0005"/>
            <p:cNvSpPr/>
            <p:nvPr/>
          </p:nvSpPr>
          <p:spPr>
            <a:xfrm>
              <a:off x="4434840" y="210312"/>
              <a:ext cx="3749039" cy="539496"/>
            </a:xfrm>
            <a:prstGeom prst="roundRect">
              <a:avLst>
                <a:gd name="adj" fmla="val 12000"/>
              </a:avLst>
            </a:prstGeom>
            <a:solidFill>
              <a:srgbClr val="F3F6F9"/>
            </a:solidFill>
            <a:ln w="1270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_0006"/>
            <p:cNvSpPr txBox="1"/>
            <p:nvPr/>
          </p:nvSpPr>
          <p:spPr>
            <a:xfrm>
              <a:off x="4553712" y="237744"/>
              <a:ext cx="274320" cy="457200"/>
            </a:xfrm>
            <a:prstGeom prst="rect">
              <a:avLst/>
            </a:prstGeom>
            <a:noFill/>
          </p:spPr>
          <p:txBody>
            <a:bodyPr wrap="none" lIns="0" rIns="0" tIns="0" bIns="0" anchor="ctr">
              <a:spAutoFit/>
            </a:bodyPr>
            <a:lstStyle/>
            <a:p>
              <a:pPr algn="ctr">
                <a:lnSpc>
                  <a:spcPts val="2372"/>
                </a:lnSpc>
                <a:spcBef>
                  <a:spcPts val="0"/>
                </a:spcBef>
                <a:spcAft>
                  <a:spcPts val="0"/>
                </a:spcAft>
              </a:pPr>
              <a:r>
                <a:rPr sz="2100" b="1">
                  <a:solidFill>
                    <a:srgbClr val="63758A"/>
                  </a:solidFill>
                  <a:latin typeface="DejaVu Sans"/>
                </a:rPr>
                <a:t>2</a:t>
              </a:r>
            </a:p>
          </p:txBody>
        </p:sp>
        <p:sp>
          <p:nvSpPr>
            <p:cNvPr id="9" name="text_0007"/>
            <p:cNvSpPr txBox="1"/>
            <p:nvPr/>
          </p:nvSpPr>
          <p:spPr>
            <a:xfrm>
              <a:off x="4882896" y="237744"/>
              <a:ext cx="3200400" cy="457200"/>
            </a:xfrm>
            <a:prstGeom prst="rect">
              <a:avLst/>
            </a:prstGeom>
            <a:noFill/>
          </p:spPr>
          <p:txBody>
            <a:bodyPr wrap="none" lIns="0" rIns="0" tIns="0" bIns="0" anchor="ctr">
              <a:spAutoFit/>
            </a:bodyPr>
            <a:lstStyle/>
            <a:p>
              <a:pPr algn="l">
                <a:lnSpc>
                  <a:spcPts val="2033"/>
                </a:lnSpc>
                <a:spcBef>
                  <a:spcPts val="0"/>
                </a:spcBef>
                <a:spcAft>
                  <a:spcPts val="0"/>
                </a:spcAft>
              </a:pPr>
              <a:r>
                <a:rPr sz="1800" b="1">
                  <a:solidFill>
                    <a:srgbClr val="233344"/>
                  </a:solidFill>
                  <a:latin typeface="DejaVu Sans"/>
                </a:rPr>
                <a:t>Reward + selection</a:t>
              </a:r>
            </a:p>
          </p:txBody>
        </p:sp>
      </p:grpSp>
      <p:grpSp>
        <p:nvGrpSpPr>
          <p:cNvPr id="103" name="stage_3_heading"/>
          <p:cNvGrpSpPr/>
          <p:nvPr/>
        </p:nvGrpSpPr>
        <p:grpSpPr>
          <a:xfrm>
            <a:off x="8641080" y="210312"/>
            <a:ext cx="3749039" cy="539496"/>
            <a:chOff x="8641080" y="210312"/>
            <a:chExt cx="3749039" cy="539496"/>
          </a:xfrm>
        </p:grpSpPr>
        <p:sp>
          <p:nvSpPr>
            <p:cNvPr id="10" name="rect_0008"/>
            <p:cNvSpPr/>
            <p:nvPr/>
          </p:nvSpPr>
          <p:spPr>
            <a:xfrm>
              <a:off x="8641080" y="210312"/>
              <a:ext cx="3749039" cy="539496"/>
            </a:xfrm>
            <a:prstGeom prst="roundRect">
              <a:avLst>
                <a:gd name="adj" fmla="val 12000"/>
              </a:avLst>
            </a:prstGeom>
            <a:solidFill>
              <a:srgbClr val="F3F6F9"/>
            </a:solidFill>
            <a:ln w="1270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_0009"/>
            <p:cNvSpPr txBox="1"/>
            <p:nvPr/>
          </p:nvSpPr>
          <p:spPr>
            <a:xfrm>
              <a:off x="8759952" y="237744"/>
              <a:ext cx="274320" cy="457200"/>
            </a:xfrm>
            <a:prstGeom prst="rect">
              <a:avLst/>
            </a:prstGeom>
            <a:noFill/>
          </p:spPr>
          <p:txBody>
            <a:bodyPr wrap="none" lIns="0" rIns="0" tIns="0" bIns="0" anchor="ctr">
              <a:spAutoFit/>
            </a:bodyPr>
            <a:lstStyle/>
            <a:p>
              <a:pPr algn="ctr">
                <a:lnSpc>
                  <a:spcPts val="2372"/>
                </a:lnSpc>
                <a:spcBef>
                  <a:spcPts val="0"/>
                </a:spcBef>
                <a:spcAft>
                  <a:spcPts val="0"/>
                </a:spcAft>
              </a:pPr>
              <a:r>
                <a:rPr sz="2100" b="1">
                  <a:solidFill>
                    <a:srgbClr val="63758A"/>
                  </a:solidFill>
                  <a:latin typeface="DejaVu Sans"/>
                </a:rPr>
                <a:t>3</a:t>
              </a:r>
            </a:p>
          </p:txBody>
        </p:sp>
        <p:sp>
          <p:nvSpPr>
            <p:cNvPr id="12" name="text_0010"/>
            <p:cNvSpPr txBox="1"/>
            <p:nvPr/>
          </p:nvSpPr>
          <p:spPr>
            <a:xfrm>
              <a:off x="9089136" y="237744"/>
              <a:ext cx="3200400" cy="457200"/>
            </a:xfrm>
            <a:prstGeom prst="rect">
              <a:avLst/>
            </a:prstGeom>
            <a:noFill/>
          </p:spPr>
          <p:txBody>
            <a:bodyPr wrap="none" lIns="0" rIns="0" tIns="0" bIns="0" anchor="ctr">
              <a:spAutoFit/>
            </a:bodyPr>
            <a:lstStyle/>
            <a:p>
              <a:pPr algn="l">
                <a:lnSpc>
                  <a:spcPts val="2033"/>
                </a:lnSpc>
                <a:spcBef>
                  <a:spcPts val="0"/>
                </a:spcBef>
                <a:spcAft>
                  <a:spcPts val="0"/>
                </a:spcAft>
              </a:pPr>
              <a:r>
                <a:rPr sz="1800" b="1">
                  <a:solidFill>
                    <a:srgbClr val="233344"/>
                  </a:solidFill>
                  <a:latin typeface="DejaVu Sans"/>
                </a:rPr>
                <a:t>NFT update</a:t>
              </a:r>
            </a:p>
          </p:txBody>
        </p:sp>
      </p:grpSp>
      <p:grpSp>
        <p:nvGrpSpPr>
          <p:cNvPr id="104" name="module_rect_0011"/>
          <p:cNvGrpSpPr/>
          <p:nvPr/>
        </p:nvGrpSpPr>
        <p:grpSpPr>
          <a:xfrm>
            <a:off x="356616" y="1005840"/>
            <a:ext cx="3547872" cy="438912"/>
            <a:chOff x="356616" y="1005840"/>
            <a:chExt cx="3547872" cy="438912"/>
          </a:xfrm>
        </p:grpSpPr>
        <p:sp>
          <p:nvSpPr>
            <p:cNvPr id="13" name="rect_0011"/>
            <p:cNvSpPr/>
            <p:nvPr/>
          </p:nvSpPr>
          <p:spPr>
            <a:xfrm>
              <a:off x="356616" y="1005840"/>
              <a:ext cx="3547872" cy="438912"/>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_0012"/>
            <p:cNvSpPr txBox="1"/>
            <p:nvPr/>
          </p:nvSpPr>
          <p:spPr>
            <a:xfrm>
              <a:off x="402336" y="1014984"/>
              <a:ext cx="3456432" cy="420623"/>
            </a:xfrm>
            <a:prstGeom prst="rect">
              <a:avLst/>
            </a:prstGeom>
            <a:noFill/>
          </p:spPr>
          <p:txBody>
            <a:bodyPr wrap="none" lIns="0" rIns="0" tIns="0" bIns="0" anchor="ctr">
              <a:spAutoFit/>
            </a:bodyPr>
            <a:lstStyle/>
            <a:p>
              <a:pPr algn="ctr">
                <a:lnSpc>
                  <a:spcPts val="2147"/>
                </a:lnSpc>
                <a:spcBef>
                  <a:spcPts val="0"/>
                </a:spcBef>
                <a:spcAft>
                  <a:spcPts val="0"/>
                </a:spcAft>
              </a:pPr>
              <a:r>
                <a:rPr sz="1900" b="0">
                  <a:solidFill>
                    <a:srgbClr val="233344"/>
                  </a:solidFill>
                  <a:latin typeface="DejaVu Sans"/>
                </a:rPr>
                <a:t>Question q</a:t>
              </a:r>
            </a:p>
          </p:txBody>
        </p:sp>
      </p:grpSp>
      <p:grpSp>
        <p:nvGrpSpPr>
          <p:cNvPr id="105" name="module_old_rollout_policy"/>
          <p:cNvGrpSpPr/>
          <p:nvPr/>
        </p:nvGrpSpPr>
        <p:grpSpPr>
          <a:xfrm>
            <a:off x="484632" y="1783080"/>
            <a:ext cx="3291840" cy="576072"/>
            <a:chOff x="484632" y="1783080"/>
            <a:chExt cx="3291840" cy="576072"/>
          </a:xfrm>
        </p:grpSpPr>
        <p:sp>
          <p:nvSpPr>
            <p:cNvPr id="16" name="old_rollout_policy"/>
            <p:cNvSpPr/>
            <p:nvPr/>
          </p:nvSpPr>
          <p:spPr>
            <a:xfrm>
              <a:off x="484632" y="1783080"/>
              <a:ext cx="3291840" cy="576072"/>
            </a:xfrm>
            <a:prstGeom prst="roundRect">
              <a:avLst>
                <a:gd name="adj" fmla="val 11111"/>
              </a:avLst>
            </a:prstGeom>
            <a:solidFill>
              <a:srgbClr val="F1F6FA"/>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ld_rollout_policy_label"/>
            <p:cNvSpPr txBox="1"/>
            <p:nvPr/>
          </p:nvSpPr>
          <p:spPr>
            <a:xfrm>
              <a:off x="530352" y="1792224"/>
              <a:ext cx="3200400" cy="557784"/>
            </a:xfrm>
            <a:prstGeom prst="rect">
              <a:avLst/>
            </a:prstGeom>
            <a:noFill/>
          </p:spPr>
          <p:txBody>
            <a:bodyPr wrap="none" lIns="0" rIns="0" tIns="0" bIns="0" anchor="ctr">
              <a:spAutoFit/>
            </a:bodyPr>
            <a:lstStyle/>
            <a:p>
              <a:pPr algn="ctr">
                <a:lnSpc>
                  <a:spcPts val="2033"/>
                </a:lnSpc>
                <a:spcBef>
                  <a:spcPts val="0"/>
                </a:spcBef>
                <a:spcAft>
                  <a:spcPts val="0"/>
                </a:spcAft>
              </a:pPr>
              <a:r>
                <a:rPr sz="1800" b="0">
                  <a:solidFill>
                    <a:srgbClr val="233344"/>
                  </a:solidFill>
                  <a:latin typeface="DejaVu Sans"/>
                </a:rPr>
                <a:t>Old rollout policy</a:t>
              </a:r>
            </a:p>
            <a:p>
              <a:pPr algn="ctr">
                <a:lnSpc>
                  <a:spcPts val="2033"/>
                </a:lnSpc>
                <a:spcBef>
                  <a:spcPts val="0"/>
                </a:spcBef>
                <a:spcAft>
                  <a:spcPts val="0"/>
                </a:spcAft>
              </a:pPr>
              <a:r>
                <a:rPr sz="1800" b="0">
                  <a:solidFill>
                    <a:srgbClr val="233344"/>
                  </a:solidFill>
                  <a:latin typeface="DejaVu Sans"/>
                </a:rPr>
                <a:t>ELF + prompt encoder</a:t>
              </a:r>
            </a:p>
          </p:txBody>
        </p:sp>
      </p:grpSp>
      <p:grpSp>
        <p:nvGrpSpPr>
          <p:cNvPr id="106" name="module_rect_0019"/>
          <p:cNvGrpSpPr/>
          <p:nvPr/>
        </p:nvGrpSpPr>
        <p:grpSpPr>
          <a:xfrm>
            <a:off x="493776" y="3557016"/>
            <a:ext cx="548640" cy="237744"/>
            <a:chOff x="493776" y="3557016"/>
            <a:chExt cx="548640" cy="237744"/>
          </a:xfrm>
        </p:grpSpPr>
        <p:sp>
          <p:nvSpPr>
            <p:cNvPr id="21" name="rect_0019"/>
            <p:cNvSpPr/>
            <p:nvPr/>
          </p:nvSpPr>
          <p:spPr>
            <a:xfrm>
              <a:off x="493776" y="3557016"/>
              <a:ext cx="548640" cy="237744"/>
            </a:xfrm>
            <a:prstGeom prst="roundRect">
              <a:avLst>
                <a:gd name="adj" fmla="val 12000"/>
              </a:avLst>
            </a:prstGeom>
            <a:solidFill>
              <a:srgbClr val="D9EBE8"/>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_0020"/>
            <p:cNvSpPr txBox="1"/>
            <p:nvPr/>
          </p:nvSpPr>
          <p:spPr>
            <a:xfrm>
              <a:off x="539496" y="3566160"/>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x1</a:t>
              </a:r>
            </a:p>
          </p:txBody>
        </p:sp>
      </p:grpSp>
      <p:grpSp>
        <p:nvGrpSpPr>
          <p:cNvPr id="107" name="module_rect_0021"/>
          <p:cNvGrpSpPr/>
          <p:nvPr/>
        </p:nvGrpSpPr>
        <p:grpSpPr>
          <a:xfrm>
            <a:off x="1152144" y="3557016"/>
            <a:ext cx="548640" cy="237744"/>
            <a:chOff x="1152144" y="3557016"/>
            <a:chExt cx="548640" cy="237744"/>
          </a:xfrm>
        </p:grpSpPr>
        <p:sp>
          <p:nvSpPr>
            <p:cNvPr id="23" name="rect_0021"/>
            <p:cNvSpPr/>
            <p:nvPr/>
          </p:nvSpPr>
          <p:spPr>
            <a:xfrm>
              <a:off x="1152144" y="3557016"/>
              <a:ext cx="548640" cy="237744"/>
            </a:xfrm>
            <a:prstGeom prst="roundRect">
              <a:avLst>
                <a:gd name="adj" fmla="val 12000"/>
              </a:avLst>
            </a:prstGeom>
            <a:solidFill>
              <a:srgbClr val="F2F4F6"/>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_0022"/>
            <p:cNvSpPr txBox="1"/>
            <p:nvPr/>
          </p:nvSpPr>
          <p:spPr>
            <a:xfrm>
              <a:off x="1197864" y="3566160"/>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x2</a:t>
              </a:r>
            </a:p>
          </p:txBody>
        </p:sp>
      </p:grpSp>
      <p:grpSp>
        <p:nvGrpSpPr>
          <p:cNvPr id="108" name="module_rect_0023"/>
          <p:cNvGrpSpPr/>
          <p:nvPr/>
        </p:nvGrpSpPr>
        <p:grpSpPr>
          <a:xfrm>
            <a:off x="1810512" y="3557016"/>
            <a:ext cx="548640" cy="237744"/>
            <a:chOff x="1810512" y="3557016"/>
            <a:chExt cx="548640" cy="237744"/>
          </a:xfrm>
        </p:grpSpPr>
        <p:sp>
          <p:nvSpPr>
            <p:cNvPr id="25" name="rect_0023"/>
            <p:cNvSpPr/>
            <p:nvPr/>
          </p:nvSpPr>
          <p:spPr>
            <a:xfrm>
              <a:off x="1810512" y="3557016"/>
              <a:ext cx="548640" cy="237744"/>
            </a:xfrm>
            <a:prstGeom prst="roundRect">
              <a:avLst>
                <a:gd name="adj" fmla="val 12000"/>
              </a:avLst>
            </a:prstGeom>
            <a:solidFill>
              <a:srgbClr val="F2F4F6"/>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_0024"/>
            <p:cNvSpPr txBox="1"/>
            <p:nvPr/>
          </p:nvSpPr>
          <p:spPr>
            <a:xfrm>
              <a:off x="1856231" y="3566160"/>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x3</a:t>
              </a:r>
            </a:p>
          </p:txBody>
        </p:sp>
      </p:grpSp>
      <p:grpSp>
        <p:nvGrpSpPr>
          <p:cNvPr id="109" name="module_rect_0025"/>
          <p:cNvGrpSpPr/>
          <p:nvPr/>
        </p:nvGrpSpPr>
        <p:grpSpPr>
          <a:xfrm>
            <a:off x="2468880" y="3557016"/>
            <a:ext cx="548640" cy="237744"/>
            <a:chOff x="2468880" y="3557016"/>
            <a:chExt cx="548640" cy="237744"/>
          </a:xfrm>
        </p:grpSpPr>
        <p:sp>
          <p:nvSpPr>
            <p:cNvPr id="27" name="rect_0025"/>
            <p:cNvSpPr/>
            <p:nvPr/>
          </p:nvSpPr>
          <p:spPr>
            <a:xfrm>
              <a:off x="2468880" y="3557016"/>
              <a:ext cx="548640" cy="237744"/>
            </a:xfrm>
            <a:prstGeom prst="roundRect">
              <a:avLst>
                <a:gd name="adj" fmla="val 12000"/>
              </a:avLst>
            </a:prstGeom>
            <a:solidFill>
              <a:srgbClr val="F2F4F6"/>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_0026"/>
            <p:cNvSpPr txBox="1"/>
            <p:nvPr/>
          </p:nvSpPr>
          <p:spPr>
            <a:xfrm>
              <a:off x="2514600" y="3566160"/>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x4</a:t>
              </a:r>
            </a:p>
          </p:txBody>
        </p:sp>
      </p:grpSp>
      <p:grpSp>
        <p:nvGrpSpPr>
          <p:cNvPr id="110" name="module_rect_0027"/>
          <p:cNvGrpSpPr/>
          <p:nvPr/>
        </p:nvGrpSpPr>
        <p:grpSpPr>
          <a:xfrm>
            <a:off x="3127248" y="3557016"/>
            <a:ext cx="548640" cy="237744"/>
            <a:chOff x="3127248" y="3557016"/>
            <a:chExt cx="548640" cy="237744"/>
          </a:xfrm>
        </p:grpSpPr>
        <p:sp>
          <p:nvSpPr>
            <p:cNvPr id="29" name="rect_0027"/>
            <p:cNvSpPr/>
            <p:nvPr/>
          </p:nvSpPr>
          <p:spPr>
            <a:xfrm>
              <a:off x="3127248" y="3557016"/>
              <a:ext cx="548640" cy="237744"/>
            </a:xfrm>
            <a:prstGeom prst="roundRect">
              <a:avLst>
                <a:gd name="adj" fmla="val 12000"/>
              </a:avLst>
            </a:prstGeom>
            <a:solidFill>
              <a:srgbClr val="D9EBE8"/>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_0028"/>
            <p:cNvSpPr txBox="1"/>
            <p:nvPr/>
          </p:nvSpPr>
          <p:spPr>
            <a:xfrm>
              <a:off x="3172968" y="3566160"/>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x5</a:t>
              </a:r>
            </a:p>
          </p:txBody>
        </p:sp>
      </p:grpSp>
      <p:grpSp>
        <p:nvGrpSpPr>
          <p:cNvPr id="111" name="module_rect_0029"/>
          <p:cNvGrpSpPr/>
          <p:nvPr/>
        </p:nvGrpSpPr>
        <p:grpSpPr>
          <a:xfrm>
            <a:off x="493776" y="3895344"/>
            <a:ext cx="548640" cy="237744"/>
            <a:chOff x="493776" y="3895344"/>
            <a:chExt cx="548640" cy="237744"/>
          </a:xfrm>
        </p:grpSpPr>
        <p:sp>
          <p:nvSpPr>
            <p:cNvPr id="31" name="rect_0029"/>
            <p:cNvSpPr/>
            <p:nvPr/>
          </p:nvSpPr>
          <p:spPr>
            <a:xfrm>
              <a:off x="493776" y="3895344"/>
              <a:ext cx="548640" cy="237744"/>
            </a:xfrm>
            <a:prstGeom prst="roundRect">
              <a:avLst>
                <a:gd name="adj" fmla="val 12000"/>
              </a:avLst>
            </a:prstGeom>
            <a:solidFill>
              <a:srgbClr val="F2F4F6"/>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_0030"/>
            <p:cNvSpPr txBox="1"/>
            <p:nvPr/>
          </p:nvSpPr>
          <p:spPr>
            <a:xfrm>
              <a:off x="539496" y="3904487"/>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x6</a:t>
              </a:r>
            </a:p>
          </p:txBody>
        </p:sp>
      </p:grpSp>
      <p:grpSp>
        <p:nvGrpSpPr>
          <p:cNvPr id="112" name="module_rect_0031"/>
          <p:cNvGrpSpPr/>
          <p:nvPr/>
        </p:nvGrpSpPr>
        <p:grpSpPr>
          <a:xfrm>
            <a:off x="1152144" y="3895344"/>
            <a:ext cx="548640" cy="237744"/>
            <a:chOff x="1152144" y="3895344"/>
            <a:chExt cx="548640" cy="237744"/>
          </a:xfrm>
        </p:grpSpPr>
        <p:sp>
          <p:nvSpPr>
            <p:cNvPr id="33" name="rect_0031"/>
            <p:cNvSpPr/>
            <p:nvPr/>
          </p:nvSpPr>
          <p:spPr>
            <a:xfrm>
              <a:off x="1152144" y="3895344"/>
              <a:ext cx="548640" cy="237744"/>
            </a:xfrm>
            <a:prstGeom prst="roundRect">
              <a:avLst>
                <a:gd name="adj" fmla="val 12000"/>
              </a:avLst>
            </a:prstGeom>
            <a:solidFill>
              <a:srgbClr val="F2F4F6"/>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_0032"/>
            <p:cNvSpPr txBox="1"/>
            <p:nvPr/>
          </p:nvSpPr>
          <p:spPr>
            <a:xfrm>
              <a:off x="1197864" y="3904487"/>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x7</a:t>
              </a:r>
            </a:p>
          </p:txBody>
        </p:sp>
      </p:grpSp>
      <p:grpSp>
        <p:nvGrpSpPr>
          <p:cNvPr id="113" name="module_rect_0033"/>
          <p:cNvGrpSpPr/>
          <p:nvPr/>
        </p:nvGrpSpPr>
        <p:grpSpPr>
          <a:xfrm>
            <a:off x="1810512" y="3895344"/>
            <a:ext cx="548640" cy="237744"/>
            <a:chOff x="1810512" y="3895344"/>
            <a:chExt cx="548640" cy="237744"/>
          </a:xfrm>
        </p:grpSpPr>
        <p:sp>
          <p:nvSpPr>
            <p:cNvPr id="35" name="rect_0033"/>
            <p:cNvSpPr/>
            <p:nvPr/>
          </p:nvSpPr>
          <p:spPr>
            <a:xfrm>
              <a:off x="1810512" y="3895344"/>
              <a:ext cx="548640" cy="237744"/>
            </a:xfrm>
            <a:prstGeom prst="roundRect">
              <a:avLst>
                <a:gd name="adj" fmla="val 12000"/>
              </a:avLst>
            </a:prstGeom>
            <a:solidFill>
              <a:srgbClr val="F2F4F6"/>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_0034"/>
            <p:cNvSpPr txBox="1"/>
            <p:nvPr/>
          </p:nvSpPr>
          <p:spPr>
            <a:xfrm>
              <a:off x="1856231" y="3904487"/>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x8</a:t>
              </a:r>
            </a:p>
          </p:txBody>
        </p:sp>
      </p:grpSp>
      <p:grpSp>
        <p:nvGrpSpPr>
          <p:cNvPr id="114" name="module_rect_0035"/>
          <p:cNvGrpSpPr/>
          <p:nvPr/>
        </p:nvGrpSpPr>
        <p:grpSpPr>
          <a:xfrm>
            <a:off x="2468880" y="3895344"/>
            <a:ext cx="548640" cy="237744"/>
            <a:chOff x="2468880" y="3895344"/>
            <a:chExt cx="548640" cy="237744"/>
          </a:xfrm>
        </p:grpSpPr>
        <p:sp>
          <p:nvSpPr>
            <p:cNvPr id="37" name="rect_0035"/>
            <p:cNvSpPr/>
            <p:nvPr/>
          </p:nvSpPr>
          <p:spPr>
            <a:xfrm>
              <a:off x="2468880" y="3895344"/>
              <a:ext cx="548640" cy="237744"/>
            </a:xfrm>
            <a:prstGeom prst="roundRect">
              <a:avLst>
                <a:gd name="adj" fmla="val 12000"/>
              </a:avLst>
            </a:prstGeom>
            <a:solidFill>
              <a:srgbClr val="D9EBE8"/>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_0036"/>
            <p:cNvSpPr txBox="1"/>
            <p:nvPr/>
          </p:nvSpPr>
          <p:spPr>
            <a:xfrm>
              <a:off x="2514600" y="3904487"/>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x9</a:t>
              </a:r>
            </a:p>
          </p:txBody>
        </p:sp>
      </p:grpSp>
      <p:grpSp>
        <p:nvGrpSpPr>
          <p:cNvPr id="115" name="module_rect_0037"/>
          <p:cNvGrpSpPr/>
          <p:nvPr/>
        </p:nvGrpSpPr>
        <p:grpSpPr>
          <a:xfrm>
            <a:off x="3127248" y="3895344"/>
            <a:ext cx="548640" cy="237744"/>
            <a:chOff x="3127248" y="3895344"/>
            <a:chExt cx="548640" cy="237744"/>
          </a:xfrm>
        </p:grpSpPr>
        <p:sp>
          <p:nvSpPr>
            <p:cNvPr id="39" name="rect_0037"/>
            <p:cNvSpPr/>
            <p:nvPr/>
          </p:nvSpPr>
          <p:spPr>
            <a:xfrm>
              <a:off x="3127248" y="3895344"/>
              <a:ext cx="548640" cy="237744"/>
            </a:xfrm>
            <a:prstGeom prst="roundRect">
              <a:avLst>
                <a:gd name="adj" fmla="val 12000"/>
              </a:avLst>
            </a:prstGeom>
            <a:solidFill>
              <a:srgbClr val="F2F4F6"/>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_0038"/>
            <p:cNvSpPr txBox="1"/>
            <p:nvPr/>
          </p:nvSpPr>
          <p:spPr>
            <a:xfrm>
              <a:off x="3172968" y="3904487"/>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x10</a:t>
              </a:r>
            </a:p>
          </p:txBody>
        </p:sp>
      </p:grpSp>
      <p:grpSp>
        <p:nvGrpSpPr>
          <p:cNvPr id="116" name="module_rect_0039"/>
          <p:cNvGrpSpPr/>
          <p:nvPr/>
        </p:nvGrpSpPr>
        <p:grpSpPr>
          <a:xfrm>
            <a:off x="493776" y="4233672"/>
            <a:ext cx="548640" cy="237744"/>
            <a:chOff x="493776" y="4233672"/>
            <a:chExt cx="548640" cy="237744"/>
          </a:xfrm>
        </p:grpSpPr>
        <p:sp>
          <p:nvSpPr>
            <p:cNvPr id="41" name="rect_0039"/>
            <p:cNvSpPr/>
            <p:nvPr/>
          </p:nvSpPr>
          <p:spPr>
            <a:xfrm>
              <a:off x="493776" y="4233672"/>
              <a:ext cx="548640" cy="237744"/>
            </a:xfrm>
            <a:prstGeom prst="roundRect">
              <a:avLst>
                <a:gd name="adj" fmla="val 12000"/>
              </a:avLst>
            </a:prstGeom>
            <a:solidFill>
              <a:srgbClr val="F2F4F6"/>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_0040"/>
            <p:cNvSpPr txBox="1"/>
            <p:nvPr/>
          </p:nvSpPr>
          <p:spPr>
            <a:xfrm>
              <a:off x="539496" y="4242816"/>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x11</a:t>
              </a:r>
            </a:p>
          </p:txBody>
        </p:sp>
      </p:grpSp>
      <p:grpSp>
        <p:nvGrpSpPr>
          <p:cNvPr id="117" name="module_rect_0041"/>
          <p:cNvGrpSpPr/>
          <p:nvPr/>
        </p:nvGrpSpPr>
        <p:grpSpPr>
          <a:xfrm>
            <a:off x="1152144" y="4233672"/>
            <a:ext cx="548640" cy="237744"/>
            <a:chOff x="1152144" y="4233672"/>
            <a:chExt cx="548640" cy="237744"/>
          </a:xfrm>
        </p:grpSpPr>
        <p:sp>
          <p:nvSpPr>
            <p:cNvPr id="43" name="rect_0041"/>
            <p:cNvSpPr/>
            <p:nvPr/>
          </p:nvSpPr>
          <p:spPr>
            <a:xfrm>
              <a:off x="1152144" y="4233672"/>
              <a:ext cx="548640" cy="237744"/>
            </a:xfrm>
            <a:prstGeom prst="roundRect">
              <a:avLst>
                <a:gd name="adj" fmla="val 12000"/>
              </a:avLst>
            </a:prstGeom>
            <a:solidFill>
              <a:srgbClr val="F2F4F6"/>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_0042"/>
            <p:cNvSpPr txBox="1"/>
            <p:nvPr/>
          </p:nvSpPr>
          <p:spPr>
            <a:xfrm>
              <a:off x="1197864" y="4242816"/>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x12</a:t>
              </a:r>
            </a:p>
          </p:txBody>
        </p:sp>
      </p:grpSp>
      <p:grpSp>
        <p:nvGrpSpPr>
          <p:cNvPr id="118" name="module_rect_0043"/>
          <p:cNvGrpSpPr/>
          <p:nvPr/>
        </p:nvGrpSpPr>
        <p:grpSpPr>
          <a:xfrm>
            <a:off x="1810512" y="4233672"/>
            <a:ext cx="548640" cy="237744"/>
            <a:chOff x="1810512" y="4233672"/>
            <a:chExt cx="548640" cy="237744"/>
          </a:xfrm>
        </p:grpSpPr>
        <p:sp>
          <p:nvSpPr>
            <p:cNvPr id="45" name="rect_0043"/>
            <p:cNvSpPr/>
            <p:nvPr/>
          </p:nvSpPr>
          <p:spPr>
            <a:xfrm>
              <a:off x="1810512" y="4233672"/>
              <a:ext cx="548640" cy="237744"/>
            </a:xfrm>
            <a:prstGeom prst="roundRect">
              <a:avLst>
                <a:gd name="adj" fmla="val 12000"/>
              </a:avLst>
            </a:prstGeom>
            <a:solidFill>
              <a:srgbClr val="D9EBE8"/>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_0044"/>
            <p:cNvSpPr txBox="1"/>
            <p:nvPr/>
          </p:nvSpPr>
          <p:spPr>
            <a:xfrm>
              <a:off x="1856231" y="4242816"/>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x13</a:t>
              </a:r>
            </a:p>
          </p:txBody>
        </p:sp>
      </p:grpSp>
      <p:grpSp>
        <p:nvGrpSpPr>
          <p:cNvPr id="119" name="module_rect_0045"/>
          <p:cNvGrpSpPr/>
          <p:nvPr/>
        </p:nvGrpSpPr>
        <p:grpSpPr>
          <a:xfrm>
            <a:off x="2468880" y="4233672"/>
            <a:ext cx="548640" cy="237744"/>
            <a:chOff x="2468880" y="4233672"/>
            <a:chExt cx="548640" cy="237744"/>
          </a:xfrm>
        </p:grpSpPr>
        <p:sp>
          <p:nvSpPr>
            <p:cNvPr id="47" name="rect_0045"/>
            <p:cNvSpPr/>
            <p:nvPr/>
          </p:nvSpPr>
          <p:spPr>
            <a:xfrm>
              <a:off x="2468880" y="4233672"/>
              <a:ext cx="548640" cy="237744"/>
            </a:xfrm>
            <a:prstGeom prst="roundRect">
              <a:avLst>
                <a:gd name="adj" fmla="val 12000"/>
              </a:avLst>
            </a:prstGeom>
            <a:solidFill>
              <a:srgbClr val="F2F4F6"/>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_0046"/>
            <p:cNvSpPr txBox="1"/>
            <p:nvPr/>
          </p:nvSpPr>
          <p:spPr>
            <a:xfrm>
              <a:off x="2514600" y="4242816"/>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x14</a:t>
              </a:r>
            </a:p>
          </p:txBody>
        </p:sp>
      </p:grpSp>
      <p:grpSp>
        <p:nvGrpSpPr>
          <p:cNvPr id="120" name="module_rect_0047"/>
          <p:cNvGrpSpPr/>
          <p:nvPr/>
        </p:nvGrpSpPr>
        <p:grpSpPr>
          <a:xfrm>
            <a:off x="3127248" y="4233672"/>
            <a:ext cx="548640" cy="237744"/>
            <a:chOff x="3127248" y="4233672"/>
            <a:chExt cx="548640" cy="237744"/>
          </a:xfrm>
        </p:grpSpPr>
        <p:sp>
          <p:nvSpPr>
            <p:cNvPr id="49" name="rect_0047"/>
            <p:cNvSpPr/>
            <p:nvPr/>
          </p:nvSpPr>
          <p:spPr>
            <a:xfrm>
              <a:off x="3127248" y="4233672"/>
              <a:ext cx="548640" cy="237744"/>
            </a:xfrm>
            <a:prstGeom prst="roundRect">
              <a:avLst>
                <a:gd name="adj" fmla="val 12000"/>
              </a:avLst>
            </a:prstGeom>
            <a:solidFill>
              <a:srgbClr val="F2F4F6"/>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_0048"/>
            <p:cNvSpPr txBox="1"/>
            <p:nvPr/>
          </p:nvSpPr>
          <p:spPr>
            <a:xfrm>
              <a:off x="3172968" y="4242816"/>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x15</a:t>
              </a:r>
            </a:p>
          </p:txBody>
        </p:sp>
      </p:grpSp>
      <p:grpSp>
        <p:nvGrpSpPr>
          <p:cNvPr id="121" name="module_gold_endpoint_anchor"/>
          <p:cNvGrpSpPr/>
          <p:nvPr/>
        </p:nvGrpSpPr>
        <p:grpSpPr>
          <a:xfrm>
            <a:off x="384048" y="5340096"/>
            <a:ext cx="3511296" cy="704088"/>
            <a:chOff x="384048" y="5340096"/>
            <a:chExt cx="3511296" cy="704088"/>
          </a:xfrm>
        </p:grpSpPr>
        <p:sp>
          <p:nvSpPr>
            <p:cNvPr id="52" name="gold_endpoint_anchor"/>
            <p:cNvSpPr/>
            <p:nvPr/>
          </p:nvSpPr>
          <p:spPr>
            <a:xfrm>
              <a:off x="384048" y="5340096"/>
              <a:ext cx="3511296" cy="704088"/>
            </a:xfrm>
            <a:prstGeom prst="roundRect">
              <a:avLst>
                <a:gd name="adj" fmla="val 9090"/>
              </a:avLst>
            </a:prstGeom>
            <a:solidFill>
              <a:srgbClr val="F2F0F6"/>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gold_endpoint_anchor_label"/>
            <p:cNvSpPr txBox="1"/>
            <p:nvPr/>
          </p:nvSpPr>
          <p:spPr>
            <a:xfrm>
              <a:off x="429768" y="5349240"/>
              <a:ext cx="3419856" cy="685800"/>
            </a:xfrm>
            <a:prstGeom prst="rect">
              <a:avLst/>
            </a:prstGeom>
            <a:noFill/>
          </p:spPr>
          <p:txBody>
            <a:bodyPr wrap="none" lIns="0" rIns="0" tIns="0" bIns="0" anchor="ctr">
              <a:spAutoFit/>
            </a:bodyPr>
            <a:lstStyle/>
            <a:p>
              <a:pPr algn="ctr">
                <a:lnSpc>
                  <a:spcPts val="2033"/>
                </a:lnSpc>
                <a:spcBef>
                  <a:spcPts val="0"/>
                </a:spcBef>
                <a:spcAft>
                  <a:spcPts val="0"/>
                </a:spcAft>
              </a:pPr>
              <a:r>
                <a:rPr sz="1800" b="0">
                  <a:solidFill>
                    <a:srgbClr val="233344"/>
                  </a:solidFill>
                  <a:latin typeface="DejaVu Sans"/>
                </a:rPr>
                <a:t>+ 1 reference solution</a:t>
              </a:r>
            </a:p>
            <a:p>
              <a:pPr algn="ctr">
                <a:lnSpc>
                  <a:spcPts val="2033"/>
                </a:lnSpc>
                <a:spcBef>
                  <a:spcPts val="0"/>
                </a:spcBef>
                <a:spcAft>
                  <a:spcPts val="0"/>
                </a:spcAft>
              </a:pPr>
              <a:r>
                <a:rPr sz="1800" b="0">
                  <a:solidFill>
                    <a:srgbClr val="233344"/>
                  </a:solidFill>
                  <a:latin typeface="DejaVu Sans"/>
                </a:rPr>
                <a:t>Cached gold Qwen latent</a:t>
              </a:r>
            </a:p>
          </p:txBody>
        </p:sp>
      </p:grpSp>
      <p:grpSp>
        <p:nvGrpSpPr>
          <p:cNvPr id="122" name="module_rect_0063"/>
          <p:cNvGrpSpPr/>
          <p:nvPr/>
        </p:nvGrpSpPr>
        <p:grpSpPr>
          <a:xfrm>
            <a:off x="4572000" y="3493008"/>
            <a:ext cx="3566160" cy="630936"/>
            <a:chOff x="4572000" y="3493008"/>
            <a:chExt cx="3566160" cy="630936"/>
          </a:xfrm>
        </p:grpSpPr>
        <p:sp>
          <p:nvSpPr>
            <p:cNvPr id="65" name="rect_0063"/>
            <p:cNvSpPr/>
            <p:nvPr/>
          </p:nvSpPr>
          <p:spPr>
            <a:xfrm>
              <a:off x="4572000" y="3493008"/>
              <a:ext cx="3566160" cy="630936"/>
            </a:xfrm>
            <a:prstGeom prst="roundRect">
              <a:avLst>
                <a:gd name="adj" fmla="val 10144"/>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_0064"/>
            <p:cNvSpPr txBox="1"/>
            <p:nvPr/>
          </p:nvSpPr>
          <p:spPr>
            <a:xfrm>
              <a:off x="4617720" y="3502151"/>
              <a:ext cx="3474720" cy="612647"/>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Discard groups with</a:t>
              </a:r>
            </a:p>
            <a:p>
              <a:pPr algn="ctr">
                <a:lnSpc>
                  <a:spcPts val="1920"/>
                </a:lnSpc>
                <a:spcBef>
                  <a:spcPts val="0"/>
                </a:spcBef>
                <a:spcAft>
                  <a:spcPts val="0"/>
                </a:spcAft>
              </a:pPr>
              <a:r>
                <a:rPr sz="1700" b="0">
                  <a:solidFill>
                    <a:srgbClr val="233344"/>
                  </a:solidFill>
                  <a:latin typeface="DejaVu Sans"/>
                </a:rPr>
                <a:t>all 15 generations correct</a:t>
              </a:r>
            </a:p>
          </p:txBody>
        </p:sp>
      </p:grpSp>
      <p:grpSp>
        <p:nvGrpSpPr>
          <p:cNvPr id="123" name="module_rect_0066"/>
          <p:cNvGrpSpPr/>
          <p:nvPr/>
        </p:nvGrpSpPr>
        <p:grpSpPr>
          <a:xfrm>
            <a:off x="4572000" y="4462272"/>
            <a:ext cx="3566160" cy="713232"/>
            <a:chOff x="4572000" y="4462272"/>
            <a:chExt cx="3566160" cy="713232"/>
          </a:xfrm>
        </p:grpSpPr>
        <p:sp>
          <p:nvSpPr>
            <p:cNvPr id="68" name="rect_0066"/>
            <p:cNvSpPr/>
            <p:nvPr/>
          </p:nvSpPr>
          <p:spPr>
            <a:xfrm>
              <a:off x="4572000" y="4462272"/>
              <a:ext cx="3566160" cy="713232"/>
            </a:xfrm>
            <a:prstGeom prst="roundRect">
              <a:avLst>
                <a:gd name="adj" fmla="val 8974"/>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_0067"/>
            <p:cNvSpPr txBox="1"/>
            <p:nvPr/>
          </p:nvSpPr>
          <p:spPr>
            <a:xfrm>
              <a:off x="4617720" y="4471416"/>
              <a:ext cx="3474720" cy="694944"/>
            </a:xfrm>
            <a:prstGeom prst="rect">
              <a:avLst/>
            </a:prstGeom>
            <a:noFill/>
          </p:spPr>
          <p:txBody>
            <a:bodyPr wrap="none" lIns="0" rIns="0" tIns="0" bIns="0" anchor="ctr">
              <a:spAutoFit/>
            </a:bodyPr>
            <a:lstStyle/>
            <a:p>
              <a:pPr algn="ctr">
                <a:lnSpc>
                  <a:spcPts val="1751"/>
                </a:lnSpc>
                <a:spcBef>
                  <a:spcPts val="0"/>
                </a:spcBef>
                <a:spcAft>
                  <a:spcPts val="0"/>
                </a:spcAft>
              </a:pPr>
              <a:r>
                <a:rPr sz="1550" b="0">
                  <a:solidFill>
                    <a:srgbClr val="233344"/>
                  </a:solidFill>
                  <a:latin typeface="DejaVu Sans"/>
                </a:rPr>
                <a:t>Center rewards within each group;</a:t>
              </a:r>
            </a:p>
            <a:p>
              <a:pPr algn="ctr">
                <a:lnSpc>
                  <a:spcPts val="1751"/>
                </a:lnSpc>
                <a:spcBef>
                  <a:spcPts val="0"/>
                </a:spcBef>
                <a:spcAft>
                  <a:spcPts val="0"/>
                </a:spcAft>
              </a:pPr>
              <a:r>
                <a:rPr sz="1550" b="0">
                  <a:solidFill>
                    <a:srgbClr val="233344"/>
                  </a:solidFill>
                  <a:latin typeface="DejaVu Sans"/>
                </a:rPr>
                <a:t>scale by retained raw-reward SD</a:t>
              </a:r>
            </a:p>
          </p:txBody>
        </p:sp>
      </p:grpSp>
      <p:grpSp>
        <p:nvGrpSpPr>
          <p:cNvPr id="124" name="module_rect_0069"/>
          <p:cNvGrpSpPr/>
          <p:nvPr/>
        </p:nvGrpSpPr>
        <p:grpSpPr>
          <a:xfrm>
            <a:off x="4572000" y="5495544"/>
            <a:ext cx="3566160" cy="676656"/>
            <a:chOff x="4572000" y="5495544"/>
            <a:chExt cx="3566160" cy="676656"/>
          </a:xfrm>
        </p:grpSpPr>
        <p:sp>
          <p:nvSpPr>
            <p:cNvPr id="71" name="rect_0069"/>
            <p:cNvSpPr/>
            <p:nvPr/>
          </p:nvSpPr>
          <p:spPr>
            <a:xfrm>
              <a:off x="4572000" y="5495544"/>
              <a:ext cx="3566160" cy="676656"/>
            </a:xfrm>
            <a:prstGeom prst="roundRect">
              <a:avLst>
                <a:gd name="adj" fmla="val 9459"/>
              </a:avLst>
            </a:prstGeom>
            <a:solidFill>
              <a:srgbClr val="EEF6F5"/>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_0070"/>
            <p:cNvSpPr txBox="1"/>
            <p:nvPr/>
          </p:nvSpPr>
          <p:spPr>
            <a:xfrm>
              <a:off x="4617720" y="5504688"/>
              <a:ext cx="3474720" cy="658368"/>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Advantage A → weight ρ</a:t>
              </a:r>
            </a:p>
            <a:p>
              <a:pPr algn="ctr">
                <a:lnSpc>
                  <a:spcPts val="1920"/>
                </a:lnSpc>
                <a:spcBef>
                  <a:spcPts val="0"/>
                </a:spcBef>
                <a:spcAft>
                  <a:spcPts val="0"/>
                </a:spcAft>
              </a:pPr>
              <a:r>
                <a:rPr sz="1700" b="0">
                  <a:solidFill>
                    <a:srgbClr val="233344"/>
                  </a:solidFill>
                  <a:latin typeface="DejaVu Sans"/>
                </a:rPr>
                <a:t>ρ = clip(½ + A/10, 0, 1)</a:t>
              </a:r>
            </a:p>
          </p:txBody>
        </p:sp>
      </p:grpSp>
      <p:grpSp>
        <p:nvGrpSpPr>
          <p:cNvPr id="125" name="module_rect_0072"/>
          <p:cNvGrpSpPr/>
          <p:nvPr/>
        </p:nvGrpSpPr>
        <p:grpSpPr>
          <a:xfrm>
            <a:off x="8769096" y="1005840"/>
            <a:ext cx="3557016" cy="512064"/>
            <a:chOff x="8769096" y="1005840"/>
            <a:chExt cx="3557016" cy="512064"/>
          </a:xfrm>
        </p:grpSpPr>
        <p:sp>
          <p:nvSpPr>
            <p:cNvPr id="74" name="rect_0072"/>
            <p:cNvSpPr/>
            <p:nvPr/>
          </p:nvSpPr>
          <p:spPr>
            <a:xfrm>
              <a:off x="8769096" y="1005840"/>
              <a:ext cx="3557016" cy="512064"/>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_0073"/>
            <p:cNvSpPr txBox="1"/>
            <p:nvPr/>
          </p:nvSpPr>
          <p:spPr>
            <a:xfrm>
              <a:off x="8814816" y="1014984"/>
              <a:ext cx="3465576" cy="493776"/>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Latent endpoint x + fresh (t, ε)</a:t>
              </a:r>
            </a:p>
          </p:txBody>
        </p:sp>
      </p:grpSp>
      <p:grpSp>
        <p:nvGrpSpPr>
          <p:cNvPr id="126" name="module_policy_current"/>
          <p:cNvGrpSpPr/>
          <p:nvPr/>
        </p:nvGrpSpPr>
        <p:grpSpPr>
          <a:xfrm>
            <a:off x="8961119" y="1865376"/>
            <a:ext cx="3191256" cy="457200"/>
            <a:chOff x="8961119" y="1865376"/>
            <a:chExt cx="3191256" cy="457200"/>
          </a:xfrm>
        </p:grpSpPr>
        <p:sp>
          <p:nvSpPr>
            <p:cNvPr id="76" name="policy_current"/>
            <p:cNvSpPr/>
            <p:nvPr/>
          </p:nvSpPr>
          <p:spPr>
            <a:xfrm>
              <a:off x="8961119" y="1865376"/>
              <a:ext cx="3191256" cy="457200"/>
            </a:xfrm>
            <a:prstGeom prst="roundRect">
              <a:avLst>
                <a:gd name="adj" fmla="val 12000"/>
              </a:avLst>
            </a:prstGeom>
            <a:solidFill>
              <a:srgbClr val="EDF3F8"/>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olicy_current_label"/>
            <p:cNvSpPr txBox="1"/>
            <p:nvPr/>
          </p:nvSpPr>
          <p:spPr>
            <a:xfrm>
              <a:off x="9006840" y="1874519"/>
              <a:ext cx="3099816" cy="438912"/>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Current policy θ, φ</a:t>
              </a:r>
            </a:p>
          </p:txBody>
        </p:sp>
      </p:grpSp>
      <p:grpSp>
        <p:nvGrpSpPr>
          <p:cNvPr id="127" name="module_policy_old"/>
          <p:cNvGrpSpPr/>
          <p:nvPr/>
        </p:nvGrpSpPr>
        <p:grpSpPr>
          <a:xfrm>
            <a:off x="8961119" y="2606040"/>
            <a:ext cx="3191256" cy="457200"/>
            <a:chOff x="8961119" y="2606040"/>
            <a:chExt cx="3191256" cy="457200"/>
          </a:xfrm>
        </p:grpSpPr>
        <p:sp>
          <p:nvSpPr>
            <p:cNvPr id="80" name="policy_old"/>
            <p:cNvSpPr/>
            <p:nvPr/>
          </p:nvSpPr>
          <p:spPr>
            <a:xfrm>
              <a:off x="8961119" y="2606040"/>
              <a:ext cx="3191256" cy="457200"/>
            </a:xfrm>
            <a:prstGeom prst="roundRect">
              <a:avLst>
                <a:gd name="adj" fmla="val 12000"/>
              </a:avLst>
            </a:prstGeom>
            <a:solidFill>
              <a:srgbClr val="F1F3F4"/>
            </a:solidFill>
            <a:ln w="12700">
              <a:solidFill>
                <a:srgbClr val="637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policy_old_label"/>
            <p:cNvSpPr txBox="1"/>
            <p:nvPr/>
          </p:nvSpPr>
          <p:spPr>
            <a:xfrm>
              <a:off x="9006840" y="2615184"/>
              <a:ext cx="3099816" cy="438912"/>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Old policy · stop-grad</a:t>
              </a:r>
            </a:p>
          </p:txBody>
        </p:sp>
      </p:grpSp>
      <p:grpSp>
        <p:nvGrpSpPr>
          <p:cNvPr id="128" name="module_policy_fixed"/>
          <p:cNvGrpSpPr/>
          <p:nvPr/>
        </p:nvGrpSpPr>
        <p:grpSpPr>
          <a:xfrm>
            <a:off x="8961119" y="3346704"/>
            <a:ext cx="3191256" cy="457200"/>
            <a:chOff x="8961119" y="3346704"/>
            <a:chExt cx="3191256" cy="457200"/>
          </a:xfrm>
        </p:grpSpPr>
        <p:sp>
          <p:nvSpPr>
            <p:cNvPr id="84" name="policy_fixed"/>
            <p:cNvSpPr/>
            <p:nvPr/>
          </p:nvSpPr>
          <p:spPr>
            <a:xfrm>
              <a:off x="8961119" y="3346704"/>
              <a:ext cx="3191256" cy="457200"/>
            </a:xfrm>
            <a:prstGeom prst="roundRect">
              <a:avLst>
                <a:gd name="adj" fmla="val 12000"/>
              </a:avLst>
            </a:prstGeom>
            <a:solidFill>
              <a:srgbClr val="F1F3F4"/>
            </a:solidFill>
            <a:ln w="12700">
              <a:solidFill>
                <a:srgbClr val="637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olicy_fixed_label"/>
            <p:cNvSpPr txBox="1"/>
            <p:nvPr/>
          </p:nvSpPr>
          <p:spPr>
            <a:xfrm>
              <a:off x="9006840" y="3355848"/>
              <a:ext cx="3099816" cy="438912"/>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Fixed reference · stop-grad</a:t>
              </a:r>
            </a:p>
          </p:txBody>
        </p:sp>
      </p:grpSp>
      <p:grpSp>
        <p:nvGrpSpPr>
          <p:cNvPr id="129" name="module_rect_0086"/>
          <p:cNvGrpSpPr/>
          <p:nvPr/>
        </p:nvGrpSpPr>
        <p:grpSpPr>
          <a:xfrm>
            <a:off x="8906255" y="3986784"/>
            <a:ext cx="3273552" cy="640080"/>
            <a:chOff x="8906255" y="3986784"/>
            <a:chExt cx="3273552" cy="640080"/>
          </a:xfrm>
        </p:grpSpPr>
        <p:sp>
          <p:nvSpPr>
            <p:cNvPr id="88" name="rect_0086"/>
            <p:cNvSpPr/>
            <p:nvPr/>
          </p:nvSpPr>
          <p:spPr>
            <a:xfrm>
              <a:off x="8906255" y="3986784"/>
              <a:ext cx="3273552" cy="640080"/>
            </a:xfrm>
            <a:prstGeom prst="roundRect">
              <a:avLst>
                <a:gd name="adj" fmla="val 10000"/>
              </a:avLst>
            </a:prstGeom>
            <a:solidFill>
              <a:srgbClr val="F4F3F8"/>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_0087"/>
            <p:cNvSpPr txBox="1"/>
            <p:nvPr/>
          </p:nvSpPr>
          <p:spPr>
            <a:xfrm>
              <a:off x="8951976" y="3995928"/>
              <a:ext cx="3182112" cy="621792"/>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233344"/>
                  </a:solidFill>
                  <a:latin typeface="DejaVu Sans"/>
                </a:rPr>
                <a:t>SCCFG velocity for each role</a:t>
              </a:r>
            </a:p>
            <a:p>
              <a:pPr algn="ctr">
                <a:lnSpc>
                  <a:spcPts val="1695"/>
                </a:lnSpc>
                <a:spcBef>
                  <a:spcPts val="0"/>
                </a:spcBef>
                <a:spcAft>
                  <a:spcPts val="0"/>
                </a:spcAft>
              </a:pPr>
              <a:r>
                <a:rPr sz="1500" b="0">
                  <a:solidFill>
                    <a:srgbClr val="233344"/>
                  </a:solidFill>
                  <a:latin typeface="DejaVu Sans"/>
                </a:rPr>
                <a:t>Detached guidance correction</a:t>
              </a:r>
            </a:p>
          </p:txBody>
        </p:sp>
      </p:grpSp>
      <p:grpSp>
        <p:nvGrpSpPr>
          <p:cNvPr id="130" name="module_rect_0089"/>
          <p:cNvGrpSpPr/>
          <p:nvPr/>
        </p:nvGrpSpPr>
        <p:grpSpPr>
          <a:xfrm>
            <a:off x="8805672" y="4956048"/>
            <a:ext cx="3547872" cy="640080"/>
            <a:chOff x="8805672" y="4956048"/>
            <a:chExt cx="3547872" cy="640080"/>
          </a:xfrm>
        </p:grpSpPr>
        <p:sp>
          <p:nvSpPr>
            <p:cNvPr id="91" name="rect_0089"/>
            <p:cNvSpPr/>
            <p:nvPr/>
          </p:nvSpPr>
          <p:spPr>
            <a:xfrm>
              <a:off x="8805672" y="4956048"/>
              <a:ext cx="3547872" cy="640080"/>
            </a:xfrm>
            <a:prstGeom prst="roundRect">
              <a:avLst>
                <a:gd name="adj" fmla="val 10000"/>
              </a:avLst>
            </a:prstGeom>
            <a:solidFill>
              <a:srgbClr val="EFF4F9"/>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_0090"/>
            <p:cNvSpPr txBox="1"/>
            <p:nvPr/>
          </p:nvSpPr>
          <p:spPr>
            <a:xfrm>
              <a:off x="8851392" y="4965192"/>
              <a:ext cx="3456432" cy="621792"/>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Reward-weighted NFT loss</a:t>
              </a:r>
            </a:p>
            <a:p>
              <a:pPr algn="ctr">
                <a:lnSpc>
                  <a:spcPts val="1920"/>
                </a:lnSpc>
                <a:spcBef>
                  <a:spcPts val="0"/>
                </a:spcBef>
                <a:spcAft>
                  <a:spcPts val="0"/>
                </a:spcAft>
              </a:pPr>
              <a:r>
                <a:rPr sz="1700" b="0">
                  <a:solidFill>
                    <a:srgbClr val="233344"/>
                  </a:solidFill>
                  <a:latin typeface="DejaVu Sans"/>
                </a:rPr>
                <a:t>+ fixed-reference penalty</a:t>
              </a:r>
            </a:p>
          </p:txBody>
        </p:sp>
      </p:grpSp>
      <p:grpSp>
        <p:nvGrpSpPr>
          <p:cNvPr id="131" name="module_rect_0094"/>
          <p:cNvGrpSpPr/>
          <p:nvPr/>
        </p:nvGrpSpPr>
        <p:grpSpPr>
          <a:xfrm>
            <a:off x="8796528" y="6281928"/>
            <a:ext cx="3557016" cy="557784"/>
            <a:chOff x="8796528" y="6281928"/>
            <a:chExt cx="3557016" cy="557784"/>
          </a:xfrm>
        </p:grpSpPr>
        <p:sp>
          <p:nvSpPr>
            <p:cNvPr id="96" name="rect_0094"/>
            <p:cNvSpPr/>
            <p:nvPr/>
          </p:nvSpPr>
          <p:spPr>
            <a:xfrm>
              <a:off x="8796528" y="6281928"/>
              <a:ext cx="3557016" cy="557784"/>
            </a:xfrm>
            <a:prstGeom prst="roundRect">
              <a:avLst>
                <a:gd name="adj" fmla="val 11475"/>
              </a:avLst>
            </a:prstGeom>
            <a:solidFill>
              <a:srgbClr val="F1F6FA"/>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_0095"/>
            <p:cNvSpPr txBox="1"/>
            <p:nvPr/>
          </p:nvSpPr>
          <p:spPr>
            <a:xfrm>
              <a:off x="8842248" y="6291072"/>
              <a:ext cx="3465576" cy="539496"/>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Update ELF + prompt encoder</a:t>
              </a:r>
            </a:p>
            <a:p>
              <a:pPr algn="ctr">
                <a:lnSpc>
                  <a:spcPts val="1807"/>
                </a:lnSpc>
                <a:spcBef>
                  <a:spcPts val="0"/>
                </a:spcBef>
                <a:spcAft>
                  <a:spcPts val="0"/>
                </a:spcAft>
              </a:pPr>
              <a:r>
                <a:rPr sz="1600" b="0">
                  <a:solidFill>
                    <a:srgbClr val="233344"/>
                  </a:solidFill>
                  <a:latin typeface="DejaVu Sans"/>
                </a:rPr>
                <a:t>Decoder-only weights frozen</a:t>
              </a:r>
            </a:p>
          </p:txBody>
        </p:sp>
      </p:gr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pipeline_nft_alternative_v1">
    <p:bg>
      <p:bgPr>
        <a:solidFill>
          <a:srgbClr val="FFFFFF"/>
        </a:solidFill>
        <a:effectLst/>
      </p:bgPr>
    </p:bg>
    <p:spTree>
      <p:nvGrpSpPr>
        <p:cNvPr id="1" name=""/>
        <p:cNvGrpSpPr/>
        <p:nvPr/>
      </p:nvGrpSpPr>
      <p:grpSpPr/>
      <p:sp>
        <p:nvSpPr>
          <p:cNvPr id="2" name="path_0000"/>
          <p:cNvSpPr/>
          <p:nvPr/>
        </p:nvSpPr>
        <p:spPr>
          <a:xfrm>
            <a:off x="4206240" y="219456"/>
            <a:ext cx="0" cy="6702552"/>
          </a:xfrm>
          <a:custGeom>
            <a:avLst/>
            <a:gdLst/>
            <a:ahLst/>
            <a:cxnLst/>
            <a:rect l="l" t="t" r="r" b="b"/>
            <a:pathLst>
              <a:path w="0" h="7330">
                <a:moveTo>
                  <a:pt x="0" y="0"/>
                </a:moveTo>
                <a:lnTo>
                  <a:pt x="0" y="7330"/>
                </a:lnTo>
              </a:path>
            </a:pathLst>
          </a:custGeom>
          <a:noFill/>
          <a:ln w="6985">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th_0001"/>
          <p:cNvSpPr/>
          <p:nvPr/>
        </p:nvSpPr>
        <p:spPr>
          <a:xfrm>
            <a:off x="8412480" y="219456"/>
            <a:ext cx="0" cy="6702552"/>
          </a:xfrm>
          <a:custGeom>
            <a:avLst/>
            <a:gdLst/>
            <a:ahLst/>
            <a:cxnLst/>
            <a:rect l="l" t="t" r="r" b="b"/>
            <a:pathLst>
              <a:path w="0" h="7330">
                <a:moveTo>
                  <a:pt x="0" y="0"/>
                </a:moveTo>
                <a:lnTo>
                  <a:pt x="0" y="7330"/>
                </a:lnTo>
              </a:path>
            </a:pathLst>
          </a:custGeom>
          <a:noFill/>
          <a:ln w="6985">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_0007"/>
          <p:cNvSpPr txBox="1"/>
          <p:nvPr/>
        </p:nvSpPr>
        <p:spPr>
          <a:xfrm>
            <a:off x="338328" y="1472184"/>
            <a:ext cx="1143000" cy="475488"/>
          </a:xfrm>
          <a:prstGeom prst="rect">
            <a:avLst/>
          </a:prstGeom>
          <a:noFill/>
        </p:spPr>
        <p:txBody>
          <a:bodyPr wrap="none" lIns="0" rIns="0" tIns="0" bIns="0" anchor="ctr">
            <a:spAutoFit/>
          </a:bodyPr>
          <a:lstStyle/>
          <a:p>
            <a:pPr algn="ctr">
              <a:lnSpc>
                <a:spcPts val="1807"/>
              </a:lnSpc>
              <a:spcBef>
                <a:spcPts val="0"/>
              </a:spcBef>
              <a:spcAft>
                <a:spcPts val="0"/>
              </a:spcAft>
            </a:pPr>
            <a:r>
              <a:rPr sz="1600" b="1">
                <a:solidFill>
                  <a:srgbClr val="233344"/>
                </a:solidFill>
                <a:latin typeface="DejaVu Sans"/>
              </a:rPr>
              <a:t>Frozen</a:t>
            </a:r>
          </a:p>
          <a:p>
            <a:pPr algn="ctr">
              <a:lnSpc>
                <a:spcPts val="1807"/>
              </a:lnSpc>
              <a:spcBef>
                <a:spcPts val="0"/>
              </a:spcBef>
              <a:spcAft>
                <a:spcPts val="0"/>
              </a:spcAft>
            </a:pPr>
            <a:r>
              <a:rPr sz="1600" b="1">
                <a:solidFill>
                  <a:srgbClr val="233344"/>
                </a:solidFill>
                <a:latin typeface="DejaVu Sans"/>
              </a:rPr>
              <a:t>Qwen3-4B</a:t>
            </a:r>
          </a:p>
        </p:txBody>
      </p:sp>
      <p:sp>
        <p:nvSpPr>
          <p:cNvPr id="10" name="text_0008"/>
          <p:cNvSpPr txBox="1"/>
          <p:nvPr/>
        </p:nvSpPr>
        <p:spPr>
          <a:xfrm>
            <a:off x="1773936" y="1490472"/>
            <a:ext cx="1014984" cy="438912"/>
          </a:xfrm>
          <a:prstGeom prst="rect">
            <a:avLst/>
          </a:prstGeom>
          <a:noFill/>
        </p:spPr>
        <p:txBody>
          <a:bodyPr wrap="none" lIns="0" rIns="0" tIns="0" bIns="0" anchor="ctr">
            <a:spAutoFit/>
          </a:bodyPr>
          <a:lstStyle/>
          <a:p>
            <a:pPr algn="ctr">
              <a:lnSpc>
                <a:spcPts val="1695"/>
              </a:lnSpc>
              <a:spcBef>
                <a:spcPts val="0"/>
              </a:spcBef>
              <a:spcAft>
                <a:spcPts val="0"/>
              </a:spcAft>
            </a:pPr>
            <a:r>
              <a:rPr sz="1500" b="1">
                <a:solidFill>
                  <a:srgbClr val="233344"/>
                </a:solidFill>
                <a:latin typeface="DejaVu Sans"/>
              </a:rPr>
              <a:t>Learned</a:t>
            </a:r>
          </a:p>
          <a:p>
            <a:pPr algn="ctr">
              <a:lnSpc>
                <a:spcPts val="1695"/>
              </a:lnSpc>
              <a:spcBef>
                <a:spcPts val="0"/>
              </a:spcBef>
              <a:spcAft>
                <a:spcPts val="0"/>
              </a:spcAft>
            </a:pPr>
            <a:r>
              <a:rPr sz="1500" b="1">
                <a:solidFill>
                  <a:srgbClr val="233344"/>
                </a:solidFill>
                <a:latin typeface="DejaVu Sans"/>
              </a:rPr>
              <a:t>projectors</a:t>
            </a:r>
          </a:p>
        </p:txBody>
      </p:sp>
      <p:sp>
        <p:nvSpPr>
          <p:cNvPr id="11" name="text_0009"/>
          <p:cNvSpPr txBox="1"/>
          <p:nvPr/>
        </p:nvSpPr>
        <p:spPr>
          <a:xfrm>
            <a:off x="3044952" y="1481328"/>
            <a:ext cx="941832" cy="429768"/>
          </a:xfrm>
          <a:prstGeom prst="rect">
            <a:avLst/>
          </a:prstGeom>
          <a:noFill/>
        </p:spPr>
        <p:txBody>
          <a:bodyPr wrap="none" lIns="0" rIns="0" tIns="0" bIns="0" anchor="ctr">
            <a:spAutoFit/>
          </a:bodyPr>
          <a:lstStyle/>
          <a:p>
            <a:pPr algn="ctr">
              <a:lnSpc>
                <a:spcPts val="1581"/>
              </a:lnSpc>
              <a:spcBef>
                <a:spcPts val="0"/>
              </a:spcBef>
              <a:spcAft>
                <a:spcPts val="0"/>
              </a:spcAft>
            </a:pPr>
            <a:r>
              <a:rPr sz="1400" b="1">
                <a:solidFill>
                  <a:srgbClr val="233344"/>
                </a:solidFill>
                <a:latin typeface="DejaVu Sans"/>
              </a:rPr>
              <a:t>Concatenate</a:t>
            </a:r>
          </a:p>
          <a:p>
            <a:pPr algn="ctr">
              <a:lnSpc>
                <a:spcPts val="1581"/>
              </a:lnSpc>
              <a:spcBef>
                <a:spcPts val="0"/>
              </a:spcBef>
              <a:spcAft>
                <a:spcPts val="0"/>
              </a:spcAft>
            </a:pPr>
            <a:r>
              <a:rPr sz="1400" b="1">
                <a:solidFill>
                  <a:srgbClr val="233344"/>
                </a:solidFill>
                <a:latin typeface="DejaVu Sans"/>
              </a:rPr>
              <a:t>features</a:t>
            </a:r>
          </a:p>
        </p:txBody>
      </p:sp>
      <p:sp>
        <p:nvSpPr>
          <p:cNvPr id="12" name="frozen_qwen_stack"/>
          <p:cNvSpPr/>
          <p:nvPr/>
        </p:nvSpPr>
        <p:spPr>
          <a:xfrm>
            <a:off x="338328" y="1920240"/>
            <a:ext cx="1143000" cy="2395728"/>
          </a:xfrm>
          <a:prstGeom prst="roundRect">
            <a:avLst>
              <a:gd name="adj" fmla="val 64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ath_0011"/>
          <p:cNvSpPr/>
          <p:nvPr/>
        </p:nvSpPr>
        <p:spPr>
          <a:xfrm>
            <a:off x="905256" y="1426464"/>
            <a:ext cx="0" cy="82296"/>
          </a:xfrm>
          <a:custGeom>
            <a:avLst/>
            <a:gdLst/>
            <a:ahLst/>
            <a:cxnLst/>
            <a:rect l="l" t="t" r="r" b="b"/>
            <a:pathLst>
              <a:path w="0" h="90">
                <a:moveTo>
                  <a:pt x="0" y="0"/>
                </a:moveTo>
                <a:lnTo>
                  <a:pt x="0" y="90"/>
                </a:lnTo>
              </a:path>
            </a:pathLst>
          </a:custGeom>
          <a:noFill/>
          <a:ln w="1651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th_0014"/>
          <p:cNvSpPr/>
          <p:nvPr/>
        </p:nvSpPr>
        <p:spPr>
          <a:xfrm>
            <a:off x="1490472" y="2212848"/>
            <a:ext cx="292608" cy="0"/>
          </a:xfrm>
          <a:custGeom>
            <a:avLst/>
            <a:gdLst/>
            <a:ahLst/>
            <a:cxnLst/>
            <a:rect l="l" t="t" r="r" b="b"/>
            <a:pathLst>
              <a:path w="320" h="0">
                <a:moveTo>
                  <a:pt x="0" y="0"/>
                </a:moveTo>
                <a:lnTo>
                  <a:pt x="320" y="0"/>
                </a:lnTo>
              </a:path>
            </a:pathLst>
          </a:custGeom>
          <a:noFill/>
          <a:ln w="16510">
            <a:solidFill>
              <a:srgbClr val="367AB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rojector_E_16"/>
          <p:cNvSpPr/>
          <p:nvPr/>
        </p:nvSpPr>
        <p:spPr>
          <a:xfrm>
            <a:off x="1837944" y="1965960"/>
            <a:ext cx="905256" cy="493776"/>
          </a:xfrm>
          <a:custGeom>
            <a:avLst/>
            <a:gdLst/>
            <a:ahLst/>
            <a:cxnLst/>
            <a:rect l="l" t="t" r="r" b="b"/>
            <a:pathLst>
              <a:path w="990" h="540">
                <a:moveTo>
                  <a:pt x="0" y="0"/>
                </a:moveTo>
                <a:lnTo>
                  <a:pt x="990" y="90"/>
                </a:lnTo>
                <a:lnTo>
                  <a:pt x="990" y="450"/>
                </a:lnTo>
                <a:lnTo>
                  <a:pt x="0" y="540"/>
                </a:lnTo>
                <a:close/>
              </a:path>
            </a:pathLst>
          </a:custGeom>
          <a:solidFill>
            <a:srgbClr val="DFEAF3"/>
          </a:solidFill>
          <a:ln w="1524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_0016"/>
          <p:cNvSpPr txBox="1"/>
          <p:nvPr/>
        </p:nvSpPr>
        <p:spPr>
          <a:xfrm>
            <a:off x="1874519" y="2039112"/>
            <a:ext cx="777240" cy="347472"/>
          </a:xfrm>
          <a:prstGeom prst="rect">
            <a:avLst/>
          </a:prstGeom>
          <a:noFill/>
        </p:spPr>
        <p:txBody>
          <a:bodyPr wrap="none" lIns="0" rIns="0" tIns="0" bIns="0" anchor="ctr">
            <a:spAutoFit/>
          </a:bodyPr>
          <a:lstStyle/>
          <a:p>
            <a:pPr algn="ctr">
              <a:lnSpc>
                <a:spcPts val="2260"/>
              </a:lnSpc>
              <a:spcBef>
                <a:spcPts val="0"/>
              </a:spcBef>
              <a:spcAft>
                <a:spcPts val="0"/>
              </a:spcAft>
            </a:pPr>
            <a:r>
              <a:rPr sz="2000" b="1">
                <a:solidFill>
                  <a:srgbClr val="367AB5"/>
                </a:solidFill>
                <a:latin typeface="DejaVu Sans"/>
              </a:rPr>
              <a:t>E₁₆</a:t>
            </a:r>
          </a:p>
        </p:txBody>
      </p:sp>
      <p:sp>
        <p:nvSpPr>
          <p:cNvPr id="19" name="path_0017"/>
          <p:cNvSpPr/>
          <p:nvPr/>
        </p:nvSpPr>
        <p:spPr>
          <a:xfrm>
            <a:off x="2752344" y="2212848"/>
            <a:ext cx="457200" cy="0"/>
          </a:xfrm>
          <a:custGeom>
            <a:avLst/>
            <a:gdLst/>
            <a:ahLst/>
            <a:cxnLst/>
            <a:rect l="l" t="t" r="r" b="b"/>
            <a:pathLst>
              <a:path w="500" h="0">
                <a:moveTo>
                  <a:pt x="0" y="0"/>
                </a:moveTo>
                <a:lnTo>
                  <a:pt x="500" y="0"/>
                </a:lnTo>
              </a:path>
            </a:pathLst>
          </a:custGeom>
          <a:noFill/>
          <a:ln w="16510">
            <a:solidFill>
              <a:srgbClr val="367AB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_0018"/>
          <p:cNvSpPr txBox="1"/>
          <p:nvPr/>
        </p:nvSpPr>
        <p:spPr>
          <a:xfrm>
            <a:off x="2752344" y="1956815"/>
            <a:ext cx="457200" cy="219456"/>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367AB5"/>
                </a:solidFill>
                <a:latin typeface="DejaVu Sans"/>
              </a:rPr>
              <a:t>256</a:t>
            </a:r>
          </a:p>
        </p:txBody>
      </p:sp>
      <p:sp>
        <p:nvSpPr>
          <p:cNvPr id="23" name="path_0021"/>
          <p:cNvSpPr/>
          <p:nvPr/>
        </p:nvSpPr>
        <p:spPr>
          <a:xfrm>
            <a:off x="1490472" y="2871216"/>
            <a:ext cx="292608" cy="0"/>
          </a:xfrm>
          <a:custGeom>
            <a:avLst/>
            <a:gdLst/>
            <a:ahLst/>
            <a:cxnLst/>
            <a:rect l="l" t="t" r="r" b="b"/>
            <a:pathLst>
              <a:path w="320" h="0">
                <a:moveTo>
                  <a:pt x="0" y="0"/>
                </a:moveTo>
                <a:lnTo>
                  <a:pt x="320" y="0"/>
                </a:lnTo>
              </a:path>
            </a:pathLst>
          </a:custGeom>
          <a:noFill/>
          <a:ln w="16510">
            <a:solidFill>
              <a:srgbClr val="C88A3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rojector_E_24"/>
          <p:cNvSpPr/>
          <p:nvPr/>
        </p:nvSpPr>
        <p:spPr>
          <a:xfrm>
            <a:off x="1837944" y="2624328"/>
            <a:ext cx="905256" cy="493776"/>
          </a:xfrm>
          <a:custGeom>
            <a:avLst/>
            <a:gdLst/>
            <a:ahLst/>
            <a:cxnLst/>
            <a:rect l="l" t="t" r="r" b="b"/>
            <a:pathLst>
              <a:path w="990" h="540">
                <a:moveTo>
                  <a:pt x="0" y="0"/>
                </a:moveTo>
                <a:lnTo>
                  <a:pt x="990" y="90"/>
                </a:lnTo>
                <a:lnTo>
                  <a:pt x="990" y="450"/>
                </a:lnTo>
                <a:lnTo>
                  <a:pt x="0" y="540"/>
                </a:lnTo>
                <a:close/>
              </a:path>
            </a:pathLst>
          </a:custGeom>
          <a:solidFill>
            <a:srgbClr val="F6ECDF"/>
          </a:solidFill>
          <a:ln w="15240">
            <a:solidFill>
              <a:srgbClr val="C88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_0023"/>
          <p:cNvSpPr txBox="1"/>
          <p:nvPr/>
        </p:nvSpPr>
        <p:spPr>
          <a:xfrm>
            <a:off x="1874519" y="2697480"/>
            <a:ext cx="777240" cy="347472"/>
          </a:xfrm>
          <a:prstGeom prst="rect">
            <a:avLst/>
          </a:prstGeom>
          <a:noFill/>
        </p:spPr>
        <p:txBody>
          <a:bodyPr wrap="none" lIns="0" rIns="0" tIns="0" bIns="0" anchor="ctr">
            <a:spAutoFit/>
          </a:bodyPr>
          <a:lstStyle/>
          <a:p>
            <a:pPr algn="ctr">
              <a:lnSpc>
                <a:spcPts val="2260"/>
              </a:lnSpc>
              <a:spcBef>
                <a:spcPts val="0"/>
              </a:spcBef>
              <a:spcAft>
                <a:spcPts val="0"/>
              </a:spcAft>
            </a:pPr>
            <a:r>
              <a:rPr sz="2000" b="1">
                <a:solidFill>
                  <a:srgbClr val="C88A35"/>
                </a:solidFill>
                <a:latin typeface="DejaVu Sans"/>
              </a:rPr>
              <a:t>E₂₄</a:t>
            </a:r>
          </a:p>
        </p:txBody>
      </p:sp>
      <p:sp>
        <p:nvSpPr>
          <p:cNvPr id="26" name="path_0024"/>
          <p:cNvSpPr/>
          <p:nvPr/>
        </p:nvSpPr>
        <p:spPr>
          <a:xfrm>
            <a:off x="2752344" y="2871216"/>
            <a:ext cx="457200" cy="0"/>
          </a:xfrm>
          <a:custGeom>
            <a:avLst/>
            <a:gdLst/>
            <a:ahLst/>
            <a:cxnLst/>
            <a:rect l="l" t="t" r="r" b="b"/>
            <a:pathLst>
              <a:path w="500" h="0">
                <a:moveTo>
                  <a:pt x="0" y="0"/>
                </a:moveTo>
                <a:lnTo>
                  <a:pt x="500" y="0"/>
                </a:lnTo>
              </a:path>
            </a:pathLst>
          </a:custGeom>
          <a:noFill/>
          <a:ln w="16510">
            <a:solidFill>
              <a:srgbClr val="C88A3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_0025"/>
          <p:cNvSpPr txBox="1"/>
          <p:nvPr/>
        </p:nvSpPr>
        <p:spPr>
          <a:xfrm>
            <a:off x="2752344" y="2615184"/>
            <a:ext cx="457200" cy="219456"/>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C88A35"/>
                </a:solidFill>
                <a:latin typeface="DejaVu Sans"/>
              </a:rPr>
              <a:t>256</a:t>
            </a:r>
          </a:p>
        </p:txBody>
      </p:sp>
      <p:sp>
        <p:nvSpPr>
          <p:cNvPr id="30" name="path_0028"/>
          <p:cNvSpPr/>
          <p:nvPr/>
        </p:nvSpPr>
        <p:spPr>
          <a:xfrm>
            <a:off x="1490472" y="3858768"/>
            <a:ext cx="292608" cy="0"/>
          </a:xfrm>
          <a:custGeom>
            <a:avLst/>
            <a:gdLst/>
            <a:ahLst/>
            <a:cxnLst/>
            <a:rect l="l" t="t" r="r" b="b"/>
            <a:pathLst>
              <a:path w="320" h="0">
                <a:moveTo>
                  <a:pt x="0" y="0"/>
                </a:moveTo>
                <a:lnTo>
                  <a:pt x="320" y="0"/>
                </a:lnTo>
              </a:path>
            </a:pathLst>
          </a:custGeom>
          <a:noFill/>
          <a:ln w="16510">
            <a:solidFill>
              <a:srgbClr val="2C917F"/>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rojector_E_32"/>
          <p:cNvSpPr/>
          <p:nvPr/>
        </p:nvSpPr>
        <p:spPr>
          <a:xfrm>
            <a:off x="1837944" y="3611880"/>
            <a:ext cx="905256" cy="493776"/>
          </a:xfrm>
          <a:custGeom>
            <a:avLst/>
            <a:gdLst/>
            <a:ahLst/>
            <a:cxnLst/>
            <a:rect l="l" t="t" r="r" b="b"/>
            <a:pathLst>
              <a:path w="990" h="540">
                <a:moveTo>
                  <a:pt x="0" y="0"/>
                </a:moveTo>
                <a:lnTo>
                  <a:pt x="990" y="90"/>
                </a:lnTo>
                <a:lnTo>
                  <a:pt x="990" y="450"/>
                </a:lnTo>
                <a:lnTo>
                  <a:pt x="0" y="540"/>
                </a:lnTo>
                <a:close/>
              </a:path>
            </a:pathLst>
          </a:custGeom>
          <a:solidFill>
            <a:srgbClr val="DDEDEB"/>
          </a:solidFill>
          <a:ln w="1524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_0030"/>
          <p:cNvSpPr txBox="1"/>
          <p:nvPr/>
        </p:nvSpPr>
        <p:spPr>
          <a:xfrm>
            <a:off x="1874519" y="3685031"/>
            <a:ext cx="777240" cy="347472"/>
          </a:xfrm>
          <a:prstGeom prst="rect">
            <a:avLst/>
          </a:prstGeom>
          <a:noFill/>
        </p:spPr>
        <p:txBody>
          <a:bodyPr wrap="none" lIns="0" rIns="0" tIns="0" bIns="0" anchor="ctr">
            <a:spAutoFit/>
          </a:bodyPr>
          <a:lstStyle/>
          <a:p>
            <a:pPr algn="ctr">
              <a:lnSpc>
                <a:spcPts val="2260"/>
              </a:lnSpc>
              <a:spcBef>
                <a:spcPts val="0"/>
              </a:spcBef>
              <a:spcAft>
                <a:spcPts val="0"/>
              </a:spcAft>
            </a:pPr>
            <a:r>
              <a:rPr sz="2000" b="1">
                <a:solidFill>
                  <a:srgbClr val="2C917F"/>
                </a:solidFill>
                <a:latin typeface="DejaVu Sans"/>
              </a:rPr>
              <a:t>E₃₂</a:t>
            </a:r>
          </a:p>
        </p:txBody>
      </p:sp>
      <p:sp>
        <p:nvSpPr>
          <p:cNvPr id="33" name="path_0031"/>
          <p:cNvSpPr/>
          <p:nvPr/>
        </p:nvSpPr>
        <p:spPr>
          <a:xfrm>
            <a:off x="2752344" y="3858768"/>
            <a:ext cx="457200" cy="0"/>
          </a:xfrm>
          <a:custGeom>
            <a:avLst/>
            <a:gdLst/>
            <a:ahLst/>
            <a:cxnLst/>
            <a:rect l="l" t="t" r="r" b="b"/>
            <a:pathLst>
              <a:path w="500" h="0">
                <a:moveTo>
                  <a:pt x="0" y="0"/>
                </a:moveTo>
                <a:lnTo>
                  <a:pt x="500" y="0"/>
                </a:lnTo>
              </a:path>
            </a:pathLst>
          </a:custGeom>
          <a:noFill/>
          <a:ln w="16510">
            <a:solidFill>
              <a:srgbClr val="2C917F"/>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_0032"/>
          <p:cNvSpPr txBox="1"/>
          <p:nvPr/>
        </p:nvSpPr>
        <p:spPr>
          <a:xfrm>
            <a:off x="2752344" y="3602735"/>
            <a:ext cx="457200" cy="219456"/>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2C917F"/>
                </a:solidFill>
                <a:latin typeface="DejaVu Sans"/>
              </a:rPr>
              <a:t>512</a:t>
            </a:r>
          </a:p>
        </p:txBody>
      </p:sp>
      <p:sp>
        <p:nvSpPr>
          <p:cNvPr id="35" name="text_0033"/>
          <p:cNvSpPr txBox="1"/>
          <p:nvPr/>
        </p:nvSpPr>
        <p:spPr>
          <a:xfrm>
            <a:off x="585216" y="2459736"/>
            <a:ext cx="640080" cy="283464"/>
          </a:xfrm>
          <a:prstGeom prst="rect">
            <a:avLst/>
          </a:prstGeom>
          <a:noFill/>
        </p:spPr>
        <p:txBody>
          <a:bodyPr wrap="none" lIns="0" rIns="0" tIns="0" bIns="0" anchor="ctr">
            <a:spAutoFit/>
          </a:bodyPr>
          <a:lstStyle/>
          <a:p>
            <a:pPr algn="ctr">
              <a:lnSpc>
                <a:spcPts val="2147"/>
              </a:lnSpc>
              <a:spcBef>
                <a:spcPts val="0"/>
              </a:spcBef>
              <a:spcAft>
                <a:spcPts val="0"/>
              </a:spcAft>
            </a:pPr>
            <a:r>
              <a:rPr sz="1900" b="0">
                <a:solidFill>
                  <a:srgbClr val="63758A"/>
                </a:solidFill>
                <a:latin typeface="DejaVu Sans"/>
              </a:rPr>
              <a:t>⋮</a:t>
            </a:r>
          </a:p>
        </p:txBody>
      </p:sp>
      <p:sp>
        <p:nvSpPr>
          <p:cNvPr id="36" name="text_0034"/>
          <p:cNvSpPr txBox="1"/>
          <p:nvPr/>
        </p:nvSpPr>
        <p:spPr>
          <a:xfrm>
            <a:off x="585216" y="3209544"/>
            <a:ext cx="640080" cy="301752"/>
          </a:xfrm>
          <a:prstGeom prst="rect">
            <a:avLst/>
          </a:prstGeom>
          <a:noFill/>
        </p:spPr>
        <p:txBody>
          <a:bodyPr wrap="none" lIns="0" rIns="0" tIns="0" bIns="0" anchor="ctr">
            <a:spAutoFit/>
          </a:bodyPr>
          <a:lstStyle/>
          <a:p>
            <a:pPr algn="ctr">
              <a:lnSpc>
                <a:spcPts val="2260"/>
              </a:lnSpc>
              <a:spcBef>
                <a:spcPts val="0"/>
              </a:spcBef>
              <a:spcAft>
                <a:spcPts val="0"/>
              </a:spcAft>
            </a:pPr>
            <a:r>
              <a:rPr sz="2000" b="0">
                <a:solidFill>
                  <a:srgbClr val="63758A"/>
                </a:solidFill>
                <a:latin typeface="DejaVu Sans"/>
              </a:rPr>
              <a:t>⋮</a:t>
            </a:r>
          </a:p>
        </p:txBody>
      </p:sp>
      <p:sp>
        <p:nvSpPr>
          <p:cNvPr id="50" name="text_0048"/>
          <p:cNvSpPr txBox="1"/>
          <p:nvPr/>
        </p:nvSpPr>
        <p:spPr>
          <a:xfrm>
            <a:off x="457200" y="4590288"/>
            <a:ext cx="3355848" cy="292608"/>
          </a:xfrm>
          <a:prstGeom prst="rect">
            <a:avLst/>
          </a:prstGeom>
          <a:noFill/>
        </p:spPr>
        <p:txBody>
          <a:bodyPr wrap="none" lIns="0" rIns="0" tIns="0" bIns="0" anchor="ctr">
            <a:spAutoFit/>
          </a:bodyPr>
          <a:lstStyle/>
          <a:p>
            <a:pPr algn="ctr">
              <a:lnSpc>
                <a:spcPts val="1695"/>
              </a:lnSpc>
              <a:spcBef>
                <a:spcPts val="0"/>
              </a:spcBef>
              <a:spcAft>
                <a:spcPts val="0"/>
              </a:spcAft>
            </a:pPr>
            <a:r>
              <a:rPr sz="1500" b="1">
                <a:solidFill>
                  <a:srgbClr val="233344"/>
                </a:solidFill>
                <a:latin typeface="DejaVu Sans"/>
              </a:rPr>
              <a:t>1024-D = 256 + 256 + 512</a:t>
            </a:r>
          </a:p>
        </p:txBody>
      </p:sp>
      <p:sp>
        <p:nvSpPr>
          <p:cNvPr id="51" name="text_0049"/>
          <p:cNvSpPr txBox="1"/>
          <p:nvPr/>
        </p:nvSpPr>
        <p:spPr>
          <a:xfrm>
            <a:off x="411480" y="4965192"/>
            <a:ext cx="3456432" cy="329184"/>
          </a:xfrm>
          <a:prstGeom prst="rect">
            <a:avLst/>
          </a:prstGeom>
          <a:noFill/>
        </p:spPr>
        <p:txBody>
          <a:bodyPr wrap="none" lIns="0" rIns="0" tIns="0" bIns="0" anchor="ctr">
            <a:spAutoFit/>
          </a:bodyPr>
          <a:lstStyle/>
          <a:p>
            <a:pPr algn="ctr">
              <a:lnSpc>
                <a:spcPts val="2260"/>
              </a:lnSpc>
              <a:spcBef>
                <a:spcPts val="0"/>
              </a:spcBef>
              <a:spcAft>
                <a:spcPts val="0"/>
              </a:spcAft>
            </a:pPr>
            <a:r>
              <a:rPr sz="2000" b="0">
                <a:solidFill>
                  <a:srgbClr val="233344"/>
                </a:solidFill>
                <a:latin typeface="DejaVu Sans"/>
              </a:rPr>
              <a:t>xℓ = (hℓ − μℓ) Eℓ</a:t>
            </a:r>
          </a:p>
        </p:txBody>
      </p:sp>
      <p:sp>
        <p:nvSpPr>
          <p:cNvPr id="52" name="path_0050"/>
          <p:cNvSpPr/>
          <p:nvPr/>
        </p:nvSpPr>
        <p:spPr>
          <a:xfrm>
            <a:off x="457200" y="5431536"/>
            <a:ext cx="3328416" cy="0"/>
          </a:xfrm>
          <a:custGeom>
            <a:avLst/>
            <a:gdLst/>
            <a:ahLst/>
            <a:cxnLst/>
            <a:rect l="l" t="t" r="r" b="b"/>
            <a:pathLst>
              <a:path w="3640" h="0">
                <a:moveTo>
                  <a:pt x="0" y="0"/>
                </a:moveTo>
                <a:lnTo>
                  <a:pt x="3640" y="0"/>
                </a:lnTo>
              </a:path>
            </a:pathLst>
          </a:custGeom>
          <a:noFill/>
          <a:ln w="1016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_0051"/>
          <p:cNvSpPr txBox="1"/>
          <p:nvPr/>
        </p:nvSpPr>
        <p:spPr>
          <a:xfrm>
            <a:off x="411480" y="5541264"/>
            <a:ext cx="3456432" cy="310896"/>
          </a:xfrm>
          <a:prstGeom prst="rect">
            <a:avLst/>
          </a:prstGeom>
          <a:noFill/>
        </p:spPr>
        <p:txBody>
          <a:bodyPr wrap="none" lIns="0" rIns="0" tIns="0" bIns="0" anchor="ctr">
            <a:spAutoFit/>
          </a:bodyPr>
          <a:lstStyle/>
          <a:p>
            <a:pPr algn="ctr">
              <a:lnSpc>
                <a:spcPts val="1920"/>
              </a:lnSpc>
              <a:spcBef>
                <a:spcPts val="0"/>
              </a:spcBef>
              <a:spcAft>
                <a:spcPts val="0"/>
              </a:spcAft>
            </a:pPr>
            <a:r>
              <a:rPr sz="1700" b="1">
                <a:solidFill>
                  <a:srgbClr val="233344"/>
                </a:solidFill>
                <a:latin typeface="DejaVu Sans"/>
              </a:rPr>
              <a:t>Teacher-CE supervision</a:t>
            </a:r>
          </a:p>
        </p:txBody>
      </p:sp>
      <p:sp>
        <p:nvSpPr>
          <p:cNvPr id="56" name="path_0054"/>
          <p:cNvSpPr/>
          <p:nvPr/>
        </p:nvSpPr>
        <p:spPr>
          <a:xfrm>
            <a:off x="996696" y="6190488"/>
            <a:ext cx="155448" cy="0"/>
          </a:xfrm>
          <a:custGeom>
            <a:avLst/>
            <a:gdLst/>
            <a:ahLst/>
            <a:cxnLst/>
            <a:rect l="l" t="t" r="r" b="b"/>
            <a:pathLst>
              <a:path w="170" h="0">
                <a:moveTo>
                  <a:pt x="0" y="0"/>
                </a:moveTo>
                <a:lnTo>
                  <a:pt x="170" y="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path_0057"/>
          <p:cNvSpPr/>
          <p:nvPr/>
        </p:nvSpPr>
        <p:spPr>
          <a:xfrm>
            <a:off x="1773936" y="6190488"/>
            <a:ext cx="155448" cy="0"/>
          </a:xfrm>
          <a:custGeom>
            <a:avLst/>
            <a:gdLst/>
            <a:ahLst/>
            <a:cxnLst/>
            <a:rect l="l" t="t" r="r" b="b"/>
            <a:pathLst>
              <a:path w="170" h="0">
                <a:moveTo>
                  <a:pt x="0" y="0"/>
                </a:moveTo>
                <a:lnTo>
                  <a:pt x="170" y="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path_0060"/>
          <p:cNvSpPr/>
          <p:nvPr/>
        </p:nvSpPr>
        <p:spPr>
          <a:xfrm>
            <a:off x="3054096" y="6190488"/>
            <a:ext cx="182880" cy="0"/>
          </a:xfrm>
          <a:custGeom>
            <a:avLst/>
            <a:gdLst/>
            <a:ahLst/>
            <a:cxnLst/>
            <a:rect l="l" t="t" r="r" b="b"/>
            <a:pathLst>
              <a:path w="200" h="0">
                <a:moveTo>
                  <a:pt x="0" y="0"/>
                </a:moveTo>
                <a:lnTo>
                  <a:pt x="200" y="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_0061"/>
          <p:cNvSpPr txBox="1"/>
          <p:nvPr/>
        </p:nvSpPr>
        <p:spPr>
          <a:xfrm>
            <a:off x="3246120" y="5989320"/>
            <a:ext cx="612648" cy="402336"/>
          </a:xfrm>
          <a:prstGeom prst="rect">
            <a:avLst/>
          </a:prstGeom>
          <a:noFill/>
        </p:spPr>
        <p:txBody>
          <a:bodyPr wrap="none" lIns="0" rIns="0" tIns="0" bIns="0" anchor="ctr">
            <a:spAutoFit/>
          </a:bodyPr>
          <a:lstStyle/>
          <a:p>
            <a:pPr algn="ctr">
              <a:lnSpc>
                <a:spcPts val="1581"/>
              </a:lnSpc>
              <a:spcBef>
                <a:spcPts val="0"/>
              </a:spcBef>
              <a:spcAft>
                <a:spcPts val="0"/>
              </a:spcAft>
            </a:pPr>
            <a:r>
              <a:rPr sz="1400" b="1">
                <a:solidFill>
                  <a:srgbClr val="B86565"/>
                </a:solidFill>
                <a:latin typeface="DejaVu Sans"/>
              </a:rPr>
              <a:t>soft</a:t>
            </a:r>
          </a:p>
          <a:p>
            <a:pPr algn="ctr">
              <a:lnSpc>
                <a:spcPts val="1581"/>
              </a:lnSpc>
              <a:spcBef>
                <a:spcPts val="0"/>
              </a:spcBef>
              <a:spcAft>
                <a:spcPts val="0"/>
              </a:spcAft>
            </a:pPr>
            <a:r>
              <a:rPr sz="1400" b="1">
                <a:solidFill>
                  <a:srgbClr val="B86565"/>
                </a:solidFill>
                <a:latin typeface="DejaVu Sans"/>
              </a:rPr>
              <a:t>CE</a:t>
            </a:r>
          </a:p>
        </p:txBody>
      </p:sp>
      <p:sp>
        <p:nvSpPr>
          <p:cNvPr id="64" name="text_0062"/>
          <p:cNvSpPr txBox="1"/>
          <p:nvPr/>
        </p:nvSpPr>
        <p:spPr>
          <a:xfrm>
            <a:off x="356616" y="6583680"/>
            <a:ext cx="3529584" cy="411480"/>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63758A"/>
                </a:solidFill>
                <a:latin typeface="DejaVu Sans"/>
              </a:rPr>
              <a:t>Covariance whitening; then freeze</a:t>
            </a:r>
          </a:p>
          <a:p>
            <a:pPr algn="ctr">
              <a:lnSpc>
                <a:spcPts val="1468"/>
              </a:lnSpc>
              <a:spcBef>
                <a:spcPts val="0"/>
              </a:spcBef>
              <a:spcAft>
                <a:spcPts val="0"/>
              </a:spcAft>
            </a:pPr>
            <a:r>
              <a:rPr sz="1300" b="0">
                <a:solidFill>
                  <a:srgbClr val="63758A"/>
                </a:solidFill>
                <a:latin typeface="DejaVu Sans"/>
              </a:rPr>
              <a:t>the representation for flow training.</a:t>
            </a:r>
          </a:p>
        </p:txBody>
      </p:sp>
      <p:sp>
        <p:nvSpPr>
          <p:cNvPr id="70" name="path_0068"/>
          <p:cNvSpPr/>
          <p:nvPr/>
        </p:nvSpPr>
        <p:spPr>
          <a:xfrm>
            <a:off x="5568696" y="1216152"/>
            <a:ext cx="420624" cy="0"/>
          </a:xfrm>
          <a:custGeom>
            <a:avLst/>
            <a:gdLst/>
            <a:ahLst/>
            <a:cxnLst/>
            <a:rect l="l" t="t" r="r" b="b"/>
            <a:pathLst>
              <a:path w="460" h="0">
                <a:moveTo>
                  <a:pt x="0" y="0"/>
                </a:moveTo>
                <a:lnTo>
                  <a:pt x="460" y="0"/>
                </a:lnTo>
              </a:path>
            </a:pathLst>
          </a:custGeom>
          <a:noFill/>
          <a:ln w="16510">
            <a:solidFill>
              <a:srgbClr val="7965A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clean_prompt_condition_path"/>
          <p:cNvSpPr/>
          <p:nvPr/>
        </p:nvSpPr>
        <p:spPr>
          <a:xfrm>
            <a:off x="5065776" y="1499616"/>
            <a:ext cx="1975104" cy="914400"/>
          </a:xfrm>
          <a:custGeom>
            <a:avLst/>
            <a:gdLst/>
            <a:ahLst/>
            <a:cxnLst/>
            <a:rect l="l" t="t" r="r" b="b"/>
            <a:pathLst>
              <a:path w="2160" h="1000">
                <a:moveTo>
                  <a:pt x="2160" y="0"/>
                </a:moveTo>
                <a:lnTo>
                  <a:pt x="2160" y="340"/>
                </a:lnTo>
                <a:lnTo>
                  <a:pt x="0" y="340"/>
                </a:lnTo>
                <a:lnTo>
                  <a:pt x="0" y="1000"/>
                </a:lnTo>
              </a:path>
            </a:pathLst>
          </a:custGeom>
          <a:noFill/>
          <a:ln w="15240">
            <a:solidFill>
              <a:srgbClr val="7965A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_0072"/>
          <p:cNvSpPr txBox="1"/>
          <p:nvPr/>
        </p:nvSpPr>
        <p:spPr>
          <a:xfrm>
            <a:off x="4453127" y="2048256"/>
            <a:ext cx="1417320" cy="292608"/>
          </a:xfrm>
          <a:prstGeom prst="rect">
            <a:avLst/>
          </a:prstGeom>
          <a:noFill/>
        </p:spPr>
        <p:txBody>
          <a:bodyPr wrap="none" lIns="0" rIns="0" tIns="0" bIns="0" anchor="ctr">
            <a:spAutoFit/>
          </a:bodyPr>
          <a:lstStyle/>
          <a:p>
            <a:pPr algn="ctr">
              <a:lnSpc>
                <a:spcPts val="1581"/>
              </a:lnSpc>
              <a:spcBef>
                <a:spcPts val="0"/>
              </a:spcBef>
              <a:spcAft>
                <a:spcPts val="0"/>
              </a:spcAft>
            </a:pPr>
            <a:r>
              <a:rPr sz="1400" b="0">
                <a:solidFill>
                  <a:srgbClr val="7965AA"/>
                </a:solidFill>
                <a:latin typeface="DejaVu Sans"/>
              </a:rPr>
              <a:t>clean prompt c</a:t>
            </a:r>
          </a:p>
        </p:txBody>
      </p:sp>
      <p:sp>
        <p:nvSpPr>
          <p:cNvPr id="77" name="path_0075"/>
          <p:cNvSpPr/>
          <p:nvPr/>
        </p:nvSpPr>
        <p:spPr>
          <a:xfrm>
            <a:off x="7086600" y="2395728"/>
            <a:ext cx="0" cy="128016"/>
          </a:xfrm>
          <a:custGeom>
            <a:avLst/>
            <a:gdLst/>
            <a:ahLst/>
            <a:cxnLst/>
            <a:rect l="l" t="t" r="r" b="b"/>
            <a:pathLst>
              <a:path w="0" h="140">
                <a:moveTo>
                  <a:pt x="0" y="0"/>
                </a:moveTo>
                <a:lnTo>
                  <a:pt x="0" y="140"/>
                </a:lnTo>
              </a:path>
            </a:pathLst>
          </a:custGeom>
          <a:noFill/>
          <a:ln w="1651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lean_prompt_tokens"/>
          <p:cNvSpPr/>
          <p:nvPr/>
        </p:nvSpPr>
        <p:spPr>
          <a:xfrm>
            <a:off x="4636007" y="2551176"/>
            <a:ext cx="877824" cy="502920"/>
          </a:xfrm>
          <a:prstGeom prst="rect">
            <a:avLst/>
          </a:prstGeom>
          <a:solidFill>
            <a:srgbClr val="E2DDEC"/>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_0077"/>
          <p:cNvSpPr txBox="1"/>
          <p:nvPr/>
        </p:nvSpPr>
        <p:spPr>
          <a:xfrm>
            <a:off x="4672583" y="2615184"/>
            <a:ext cx="804672" cy="320040"/>
          </a:xfrm>
          <a:prstGeom prst="rect">
            <a:avLst/>
          </a:prstGeom>
          <a:noFill/>
        </p:spPr>
        <p:txBody>
          <a:bodyPr wrap="none" lIns="0" rIns="0" tIns="0" bIns="0" anchor="ctr">
            <a:spAutoFit/>
          </a:bodyPr>
          <a:lstStyle/>
          <a:p>
            <a:pPr algn="ctr">
              <a:lnSpc>
                <a:spcPts val="2372"/>
              </a:lnSpc>
              <a:spcBef>
                <a:spcPts val="0"/>
              </a:spcBef>
              <a:spcAft>
                <a:spcPts val="0"/>
              </a:spcAft>
            </a:pPr>
            <a:r>
              <a:rPr sz="2100" b="0">
                <a:solidFill>
                  <a:srgbClr val="7965AA"/>
                </a:solidFill>
                <a:latin typeface="DejaVu Sans"/>
              </a:rPr>
              <a:t>c</a:t>
            </a:r>
          </a:p>
        </p:txBody>
      </p:sp>
      <p:sp>
        <p:nvSpPr>
          <p:cNvPr id="129" name="text_0127"/>
          <p:cNvSpPr txBox="1"/>
          <p:nvPr/>
        </p:nvSpPr>
        <p:spPr>
          <a:xfrm>
            <a:off x="5696712" y="2368296"/>
            <a:ext cx="1143000" cy="210312"/>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63758A"/>
                </a:solidFill>
                <a:latin typeface="DejaVu Sans"/>
              </a:rPr>
              <a:t>noisy zt</a:t>
            </a:r>
          </a:p>
        </p:txBody>
      </p:sp>
      <p:sp>
        <p:nvSpPr>
          <p:cNvPr id="130" name="path_0128"/>
          <p:cNvSpPr/>
          <p:nvPr/>
        </p:nvSpPr>
        <p:spPr>
          <a:xfrm>
            <a:off x="6355080" y="3081528"/>
            <a:ext cx="0" cy="603504"/>
          </a:xfrm>
          <a:custGeom>
            <a:avLst/>
            <a:gdLst/>
            <a:ahLst/>
            <a:cxnLst/>
            <a:rect l="l" t="t" r="r" b="b"/>
            <a:pathLst>
              <a:path w="0" h="660">
                <a:moveTo>
                  <a:pt x="0" y="0"/>
                </a:moveTo>
                <a:lnTo>
                  <a:pt x="0" y="66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path_0131"/>
          <p:cNvSpPr/>
          <p:nvPr/>
        </p:nvSpPr>
        <p:spPr>
          <a:xfrm>
            <a:off x="5852160" y="3401568"/>
            <a:ext cx="475488" cy="0"/>
          </a:xfrm>
          <a:custGeom>
            <a:avLst/>
            <a:gdLst/>
            <a:ahLst/>
            <a:cxnLst/>
            <a:rect l="l" t="t" r="r" b="b"/>
            <a:pathLst>
              <a:path w="520" h="0">
                <a:moveTo>
                  <a:pt x="0" y="0"/>
                </a:moveTo>
                <a:lnTo>
                  <a:pt x="520" y="0"/>
                </a:lnTo>
              </a:path>
            </a:pathLst>
          </a:custGeom>
          <a:noFill/>
          <a:ln w="1651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path_0134"/>
          <p:cNvSpPr/>
          <p:nvPr/>
        </p:nvSpPr>
        <p:spPr>
          <a:xfrm>
            <a:off x="6391656" y="3401568"/>
            <a:ext cx="374904" cy="0"/>
          </a:xfrm>
          <a:custGeom>
            <a:avLst/>
            <a:gdLst/>
            <a:ahLst/>
            <a:cxnLst/>
            <a:rect l="l" t="t" r="r" b="b"/>
            <a:pathLst>
              <a:path w="410" h="0">
                <a:moveTo>
                  <a:pt x="410" y="0"/>
                </a:moveTo>
                <a:lnTo>
                  <a:pt x="0" y="0"/>
                </a:lnTo>
              </a:path>
            </a:pathLst>
          </a:custGeom>
          <a:noFill/>
          <a:ln w="1651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shared_elf_transformer"/>
          <p:cNvSpPr/>
          <p:nvPr/>
        </p:nvSpPr>
        <p:spPr>
          <a:xfrm>
            <a:off x="4773168" y="3749039"/>
            <a:ext cx="3200400" cy="914400"/>
          </a:xfrm>
          <a:prstGeom prst="roundRect">
            <a:avLst>
              <a:gd name="adj" fmla="val 7000"/>
            </a:avLst>
          </a:prstGeom>
          <a:solidFill>
            <a:srgbClr val="F1F6FA"/>
          </a:solidFill>
          <a:ln w="1905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_0136"/>
          <p:cNvSpPr txBox="1"/>
          <p:nvPr/>
        </p:nvSpPr>
        <p:spPr>
          <a:xfrm>
            <a:off x="4910327" y="3877056"/>
            <a:ext cx="2926080" cy="347472"/>
          </a:xfrm>
          <a:prstGeom prst="rect">
            <a:avLst/>
          </a:prstGeom>
          <a:noFill/>
        </p:spPr>
        <p:txBody>
          <a:bodyPr wrap="none" lIns="0" rIns="0" tIns="0" bIns="0" anchor="ctr">
            <a:spAutoFit/>
          </a:bodyPr>
          <a:lstStyle/>
          <a:p>
            <a:pPr algn="ctr">
              <a:lnSpc>
                <a:spcPts val="2486"/>
              </a:lnSpc>
              <a:spcBef>
                <a:spcPts val="0"/>
              </a:spcBef>
              <a:spcAft>
                <a:spcPts val="0"/>
              </a:spcAft>
            </a:pPr>
            <a:r>
              <a:rPr sz="2200" b="1">
                <a:solidFill>
                  <a:srgbClr val="233344"/>
                </a:solidFill>
                <a:latin typeface="DejaVu Sans"/>
              </a:rPr>
              <a:t>Shared ELF</a:t>
            </a:r>
          </a:p>
        </p:txBody>
      </p:sp>
      <p:sp>
        <p:nvSpPr>
          <p:cNvPr id="139" name="text_0137"/>
          <p:cNvSpPr txBox="1"/>
          <p:nvPr/>
        </p:nvSpPr>
        <p:spPr>
          <a:xfrm>
            <a:off x="4910327" y="4297680"/>
            <a:ext cx="2926080" cy="228600"/>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63758A"/>
                </a:solidFill>
                <a:latin typeface="DejaVu Sans"/>
              </a:rPr>
              <a:t>Bidirectional Transformer</a:t>
            </a:r>
          </a:p>
        </p:txBody>
      </p:sp>
      <p:sp>
        <p:nvSpPr>
          <p:cNvPr id="140" name="path_0138"/>
          <p:cNvSpPr/>
          <p:nvPr/>
        </p:nvSpPr>
        <p:spPr>
          <a:xfrm>
            <a:off x="5404104" y="4681728"/>
            <a:ext cx="969264" cy="429768"/>
          </a:xfrm>
          <a:custGeom>
            <a:avLst/>
            <a:gdLst/>
            <a:ahLst/>
            <a:cxnLst/>
            <a:rect l="l" t="t" r="r" b="b"/>
            <a:pathLst>
              <a:path w="1060" h="470">
                <a:moveTo>
                  <a:pt x="1060" y="0"/>
                </a:moveTo>
                <a:lnTo>
                  <a:pt x="1060" y="250"/>
                </a:lnTo>
                <a:lnTo>
                  <a:pt x="0" y="250"/>
                </a:lnTo>
                <a:lnTo>
                  <a:pt x="0" y="470"/>
                </a:lnTo>
              </a:path>
            </a:pathLst>
          </a:custGeom>
          <a:noFill/>
          <a:ln w="1524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path_0139"/>
          <p:cNvSpPr/>
          <p:nvPr/>
        </p:nvSpPr>
        <p:spPr>
          <a:xfrm>
            <a:off x="6373368" y="4681728"/>
            <a:ext cx="905256" cy="429768"/>
          </a:xfrm>
          <a:custGeom>
            <a:avLst/>
            <a:gdLst/>
            <a:ahLst/>
            <a:cxnLst/>
            <a:rect l="l" t="t" r="r" b="b"/>
            <a:pathLst>
              <a:path w="990" h="470">
                <a:moveTo>
                  <a:pt x="0" y="0"/>
                </a:moveTo>
                <a:lnTo>
                  <a:pt x="0" y="250"/>
                </a:lnTo>
                <a:lnTo>
                  <a:pt x="990" y="250"/>
                </a:lnTo>
                <a:lnTo>
                  <a:pt x="990" y="470"/>
                </a:lnTo>
              </a:path>
            </a:pathLst>
          </a:custGeom>
          <a:noFill/>
          <a:ln w="1524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path_0144"/>
          <p:cNvSpPr/>
          <p:nvPr/>
        </p:nvSpPr>
        <p:spPr>
          <a:xfrm>
            <a:off x="5413248" y="5605272"/>
            <a:ext cx="0" cy="210312"/>
          </a:xfrm>
          <a:custGeom>
            <a:avLst/>
            <a:gdLst/>
            <a:ahLst/>
            <a:cxnLst/>
            <a:rect l="l" t="t" r="r" b="b"/>
            <a:pathLst>
              <a:path w="0" h="230">
                <a:moveTo>
                  <a:pt x="0" y="0"/>
                </a:moveTo>
                <a:lnTo>
                  <a:pt x="0" y="230"/>
                </a:lnTo>
              </a:path>
            </a:pathLst>
          </a:custGeom>
          <a:noFill/>
          <a:ln w="16510">
            <a:solidFill>
              <a:srgbClr val="367AB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path_0145"/>
          <p:cNvSpPr/>
          <p:nvPr/>
        </p:nvSpPr>
        <p:spPr>
          <a:xfrm>
            <a:off x="7269480" y="5605272"/>
            <a:ext cx="0" cy="210312"/>
          </a:xfrm>
          <a:custGeom>
            <a:avLst/>
            <a:gdLst/>
            <a:ahLst/>
            <a:cxnLst/>
            <a:rect l="l" t="t" r="r" b="b"/>
            <a:pathLst>
              <a:path w="0" h="230">
                <a:moveTo>
                  <a:pt x="0" y="0"/>
                </a:moveTo>
                <a:lnTo>
                  <a:pt x="0" y="230"/>
                </a:lnTo>
              </a:path>
            </a:pathLst>
          </a:custGeom>
          <a:noFill/>
          <a:ln w="16510">
            <a:solidFill>
              <a:srgbClr val="2C917F"/>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_0146"/>
          <p:cNvSpPr txBox="1"/>
          <p:nvPr/>
        </p:nvSpPr>
        <p:spPr>
          <a:xfrm>
            <a:off x="4581144" y="5852160"/>
            <a:ext cx="1673352" cy="329184"/>
          </a:xfrm>
          <a:prstGeom prst="rect">
            <a:avLst/>
          </a:prstGeom>
          <a:noFill/>
        </p:spPr>
        <p:txBody>
          <a:bodyPr wrap="none" lIns="0" rIns="0" tIns="0" bIns="0" anchor="ctr">
            <a:spAutoFit/>
          </a:bodyPr>
          <a:lstStyle/>
          <a:p>
            <a:pPr algn="ctr">
              <a:lnSpc>
                <a:spcPts val="2260"/>
              </a:lnSpc>
              <a:spcBef>
                <a:spcPts val="0"/>
              </a:spcBef>
              <a:spcAft>
                <a:spcPts val="0"/>
              </a:spcAft>
            </a:pPr>
            <a:r>
              <a:rPr sz="2000" b="1">
                <a:solidFill>
                  <a:srgbClr val="367AB5"/>
                </a:solidFill>
                <a:latin typeface="DejaVu Sans"/>
              </a:rPr>
              <a:t>Flow MSE</a:t>
            </a:r>
          </a:p>
        </p:txBody>
      </p:sp>
      <p:sp>
        <p:nvSpPr>
          <p:cNvPr id="149" name="text_0147"/>
          <p:cNvSpPr txBox="1"/>
          <p:nvPr/>
        </p:nvSpPr>
        <p:spPr>
          <a:xfrm>
            <a:off x="6437375" y="5852160"/>
            <a:ext cx="1673352" cy="329184"/>
          </a:xfrm>
          <a:prstGeom prst="rect">
            <a:avLst/>
          </a:prstGeom>
          <a:noFill/>
        </p:spPr>
        <p:txBody>
          <a:bodyPr wrap="none" lIns="0" rIns="0" tIns="0" bIns="0" anchor="ctr">
            <a:spAutoFit/>
          </a:bodyPr>
          <a:lstStyle/>
          <a:p>
            <a:pPr algn="ctr">
              <a:lnSpc>
                <a:spcPts val="2260"/>
              </a:lnSpc>
              <a:spcBef>
                <a:spcPts val="0"/>
              </a:spcBef>
              <a:spcAft>
                <a:spcPts val="0"/>
              </a:spcAft>
            </a:pPr>
            <a:r>
              <a:rPr sz="2000" b="1">
                <a:solidFill>
                  <a:srgbClr val="2C917F"/>
                </a:solidFill>
                <a:latin typeface="DejaVu Sans"/>
              </a:rPr>
              <a:t>Token CE</a:t>
            </a:r>
          </a:p>
        </p:txBody>
      </p:sp>
      <p:sp>
        <p:nvSpPr>
          <p:cNvPr id="150" name="text_0148"/>
          <p:cNvSpPr txBox="1"/>
          <p:nvPr/>
        </p:nvSpPr>
        <p:spPr>
          <a:xfrm>
            <a:off x="4507992" y="6336792"/>
            <a:ext cx="3602736" cy="292608"/>
          </a:xfrm>
          <a:prstGeom prst="rect">
            <a:avLst/>
          </a:prstGeom>
          <a:noFill/>
        </p:spPr>
        <p:txBody>
          <a:bodyPr wrap="none" lIns="0" rIns="0" tIns="0" bIns="0" anchor="ctr">
            <a:spAutoFit/>
          </a:bodyPr>
          <a:lstStyle/>
          <a:p>
            <a:pPr algn="ctr">
              <a:lnSpc>
                <a:spcPts val="1581"/>
              </a:lnSpc>
              <a:spcBef>
                <a:spcPts val="0"/>
              </a:spcBef>
              <a:spcAft>
                <a:spcPts val="0"/>
              </a:spcAft>
            </a:pPr>
            <a:r>
              <a:rPr sz="1400" b="0">
                <a:solidFill>
                  <a:srgbClr val="63758A"/>
                </a:solidFill>
                <a:latin typeface="DejaVu Sans"/>
              </a:rPr>
              <a:t>80% flow rows · 20% decoder rows</a:t>
            </a:r>
          </a:p>
        </p:txBody>
      </p:sp>
      <p:sp>
        <p:nvSpPr>
          <p:cNvPr id="151" name="rect_0149"/>
          <p:cNvSpPr/>
          <p:nvPr/>
        </p:nvSpPr>
        <p:spPr>
          <a:xfrm>
            <a:off x="4480559" y="6766560"/>
            <a:ext cx="3657600" cy="365760"/>
          </a:xfrm>
          <a:prstGeom prst="roundRect">
            <a:avLst>
              <a:gd name="adj" fmla="val 12000"/>
            </a:avLst>
          </a:prstGeom>
          <a:solidFill>
            <a:srgbClr val="F6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_0150"/>
          <p:cNvSpPr txBox="1"/>
          <p:nvPr/>
        </p:nvSpPr>
        <p:spPr>
          <a:xfrm>
            <a:off x="4526279" y="6793992"/>
            <a:ext cx="3566160" cy="274320"/>
          </a:xfrm>
          <a:prstGeom prst="rect">
            <a:avLst/>
          </a:prstGeom>
          <a:noFill/>
        </p:spPr>
        <p:txBody>
          <a:bodyPr wrap="none" lIns="0" rIns="0" tIns="0" bIns="0" anchor="ctr">
            <a:spAutoFit/>
          </a:bodyPr>
          <a:lstStyle/>
          <a:p>
            <a:pPr algn="ctr">
              <a:lnSpc>
                <a:spcPts val="1412"/>
              </a:lnSpc>
              <a:spcBef>
                <a:spcPts val="0"/>
              </a:spcBef>
              <a:spcAft>
                <a:spcPts val="0"/>
              </a:spcAft>
            </a:pPr>
            <a:r>
              <a:rPr sz="1250" b="0">
                <a:solidFill>
                  <a:srgbClr val="7965AA"/>
                </a:solidFill>
                <a:latin typeface="DejaVu Sans"/>
              </a:rPr>
              <a:t>Teacher prompt → MSE warm start → joint</a:t>
            </a:r>
          </a:p>
        </p:txBody>
      </p:sp>
      <p:sp>
        <p:nvSpPr>
          <p:cNvPr id="158" name="path_0156"/>
          <p:cNvSpPr/>
          <p:nvPr/>
        </p:nvSpPr>
        <p:spPr>
          <a:xfrm>
            <a:off x="10561320" y="1463040"/>
            <a:ext cx="0" cy="292608"/>
          </a:xfrm>
          <a:custGeom>
            <a:avLst/>
            <a:gdLst/>
            <a:ahLst/>
            <a:cxnLst/>
            <a:rect l="l" t="t" r="r" b="b"/>
            <a:pathLst>
              <a:path w="0" h="320">
                <a:moveTo>
                  <a:pt x="0" y="0"/>
                </a:moveTo>
                <a:lnTo>
                  <a:pt x="0" y="32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_0159"/>
          <p:cNvSpPr txBox="1"/>
          <p:nvPr/>
        </p:nvSpPr>
        <p:spPr>
          <a:xfrm>
            <a:off x="8769096" y="2514600"/>
            <a:ext cx="3538728" cy="246888"/>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63758A"/>
                </a:solidFill>
                <a:latin typeface="DejaVu Sans"/>
              </a:rPr>
              <a:t>Rollouts: 32 steps, synchronous clocks</a:t>
            </a:r>
          </a:p>
        </p:txBody>
      </p:sp>
      <p:sp>
        <p:nvSpPr>
          <p:cNvPr id="162" name="path_0160"/>
          <p:cNvSpPr/>
          <p:nvPr/>
        </p:nvSpPr>
        <p:spPr>
          <a:xfrm>
            <a:off x="10561320" y="2834640"/>
            <a:ext cx="0" cy="192024"/>
          </a:xfrm>
          <a:custGeom>
            <a:avLst/>
            <a:gdLst/>
            <a:ahLst/>
            <a:cxnLst/>
            <a:rect l="l" t="t" r="r" b="b"/>
            <a:pathLst>
              <a:path w="0" h="210">
                <a:moveTo>
                  <a:pt x="0" y="0"/>
                </a:moveTo>
                <a:lnTo>
                  <a:pt x="0" y="21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path_0163"/>
          <p:cNvSpPr/>
          <p:nvPr/>
        </p:nvSpPr>
        <p:spPr>
          <a:xfrm>
            <a:off x="10561320" y="3730752"/>
            <a:ext cx="0" cy="192024"/>
          </a:xfrm>
          <a:custGeom>
            <a:avLst/>
            <a:gdLst/>
            <a:ahLst/>
            <a:cxnLst/>
            <a:rect l="l" t="t" r="r" b="b"/>
            <a:pathLst>
              <a:path w="0" h="210">
                <a:moveTo>
                  <a:pt x="0" y="0"/>
                </a:moveTo>
                <a:lnTo>
                  <a:pt x="0" y="21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path_0166"/>
          <p:cNvSpPr/>
          <p:nvPr/>
        </p:nvSpPr>
        <p:spPr>
          <a:xfrm>
            <a:off x="10561320" y="4572000"/>
            <a:ext cx="0" cy="201168"/>
          </a:xfrm>
          <a:custGeom>
            <a:avLst/>
            <a:gdLst/>
            <a:ahLst/>
            <a:cxnLst/>
            <a:rect l="l" t="t" r="r" b="b"/>
            <a:pathLst>
              <a:path w="0" h="220">
                <a:moveTo>
                  <a:pt x="0" y="0"/>
                </a:moveTo>
                <a:lnTo>
                  <a:pt x="0" y="22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path_0169"/>
          <p:cNvSpPr/>
          <p:nvPr/>
        </p:nvSpPr>
        <p:spPr>
          <a:xfrm>
            <a:off x="10561320" y="5422392"/>
            <a:ext cx="0" cy="182880"/>
          </a:xfrm>
          <a:custGeom>
            <a:avLst/>
            <a:gdLst/>
            <a:ahLst/>
            <a:cxnLst/>
            <a:rect l="l" t="t" r="r" b="b"/>
            <a:pathLst>
              <a:path w="0" h="200">
                <a:moveTo>
                  <a:pt x="0" y="0"/>
                </a:moveTo>
                <a:lnTo>
                  <a:pt x="0" y="20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_0172"/>
          <p:cNvSpPr txBox="1"/>
          <p:nvPr/>
        </p:nvSpPr>
        <p:spPr>
          <a:xfrm>
            <a:off x="8851392" y="6483096"/>
            <a:ext cx="3438144" cy="457200"/>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63758A"/>
                </a:solidFill>
                <a:latin typeface="DejaVu Sans"/>
              </a:rPr>
              <a:t>Forward-process training;</a:t>
            </a:r>
          </a:p>
          <a:p>
            <a:pPr algn="ctr">
              <a:lnSpc>
                <a:spcPts val="1695"/>
              </a:lnSpc>
              <a:spcBef>
                <a:spcPts val="0"/>
              </a:spcBef>
              <a:spcAft>
                <a:spcPts val="0"/>
              </a:spcAft>
            </a:pPr>
            <a:r>
              <a:rPr sz="1500" b="0">
                <a:solidFill>
                  <a:srgbClr val="63758A"/>
                </a:solidFill>
                <a:latin typeface="DejaVu Sans"/>
              </a:rPr>
              <a:t>fixed reference-policy penalty</a:t>
            </a:r>
          </a:p>
        </p:txBody>
      </p:sp>
      <p:grpSp>
        <p:nvGrpSpPr>
          <p:cNvPr id="175" name="stage_1_heading"/>
          <p:cNvGrpSpPr/>
          <p:nvPr/>
        </p:nvGrpSpPr>
        <p:grpSpPr>
          <a:xfrm>
            <a:off x="228600" y="210312"/>
            <a:ext cx="3749039" cy="539496"/>
            <a:chOff x="228600" y="210312"/>
            <a:chExt cx="3749039" cy="539496"/>
          </a:xfrm>
        </p:grpSpPr>
        <p:sp>
          <p:nvSpPr>
            <p:cNvPr id="4" name="rect_0002"/>
            <p:cNvSpPr/>
            <p:nvPr/>
          </p:nvSpPr>
          <p:spPr>
            <a:xfrm>
              <a:off x="228600" y="210312"/>
              <a:ext cx="3749039" cy="539496"/>
            </a:xfrm>
            <a:prstGeom prst="roundRect">
              <a:avLst>
                <a:gd name="adj" fmla="val 12000"/>
              </a:avLst>
            </a:prstGeom>
            <a:solidFill>
              <a:srgbClr val="F3F6F9"/>
            </a:solidFill>
            <a:ln w="1270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0003"/>
            <p:cNvSpPr txBox="1"/>
            <p:nvPr/>
          </p:nvSpPr>
          <p:spPr>
            <a:xfrm>
              <a:off x="347472" y="237744"/>
              <a:ext cx="274320" cy="457200"/>
            </a:xfrm>
            <a:prstGeom prst="rect">
              <a:avLst/>
            </a:prstGeom>
            <a:noFill/>
          </p:spPr>
          <p:txBody>
            <a:bodyPr wrap="none" lIns="0" rIns="0" tIns="0" bIns="0" anchor="ctr">
              <a:spAutoFit/>
            </a:bodyPr>
            <a:lstStyle/>
            <a:p>
              <a:pPr algn="ctr">
                <a:lnSpc>
                  <a:spcPts val="2372"/>
                </a:lnSpc>
                <a:spcBef>
                  <a:spcPts val="0"/>
                </a:spcBef>
                <a:spcAft>
                  <a:spcPts val="0"/>
                </a:spcAft>
              </a:pPr>
              <a:r>
                <a:rPr sz="2100" b="1">
                  <a:solidFill>
                    <a:srgbClr val="63758A"/>
                  </a:solidFill>
                  <a:latin typeface="DejaVu Sans"/>
                </a:rPr>
                <a:t>1</a:t>
              </a:r>
            </a:p>
          </p:txBody>
        </p:sp>
        <p:sp>
          <p:nvSpPr>
            <p:cNvPr id="6" name="text_0004"/>
            <p:cNvSpPr txBox="1"/>
            <p:nvPr/>
          </p:nvSpPr>
          <p:spPr>
            <a:xfrm>
              <a:off x="676656" y="237744"/>
              <a:ext cx="3200400" cy="457200"/>
            </a:xfrm>
            <a:prstGeom prst="rect">
              <a:avLst/>
            </a:prstGeom>
            <a:noFill/>
          </p:spPr>
          <p:txBody>
            <a:bodyPr wrap="none" lIns="0" rIns="0" tIns="0" bIns="0" anchor="ctr">
              <a:spAutoFit/>
            </a:bodyPr>
            <a:lstStyle/>
            <a:p>
              <a:pPr algn="l">
                <a:lnSpc>
                  <a:spcPts val="2033"/>
                </a:lnSpc>
                <a:spcBef>
                  <a:spcPts val="0"/>
                </a:spcBef>
                <a:spcAft>
                  <a:spcPts val="0"/>
                </a:spcAft>
              </a:pPr>
              <a:r>
                <a:rPr sz="1800" b="1">
                  <a:solidFill>
                    <a:srgbClr val="233344"/>
                  </a:solidFill>
                  <a:latin typeface="DejaVu Sans"/>
                </a:rPr>
                <a:t>Representation learning</a:t>
              </a:r>
            </a:p>
          </p:txBody>
        </p:sp>
      </p:grpSp>
      <p:grpSp>
        <p:nvGrpSpPr>
          <p:cNvPr id="176" name="module_teacher_text_input"/>
          <p:cNvGrpSpPr/>
          <p:nvPr/>
        </p:nvGrpSpPr>
        <p:grpSpPr>
          <a:xfrm>
            <a:off x="347472" y="1005840"/>
            <a:ext cx="3547872" cy="411480"/>
            <a:chOff x="347472" y="1005840"/>
            <a:chExt cx="3547872" cy="411480"/>
          </a:xfrm>
        </p:grpSpPr>
        <p:sp>
          <p:nvSpPr>
            <p:cNvPr id="7" name="teacher_text_input"/>
            <p:cNvSpPr/>
            <p:nvPr/>
          </p:nvSpPr>
          <p:spPr>
            <a:xfrm>
              <a:off x="347472" y="1005840"/>
              <a:ext cx="3547872" cy="411480"/>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acher_text_input_label"/>
            <p:cNvSpPr txBox="1"/>
            <p:nvPr/>
          </p:nvSpPr>
          <p:spPr>
            <a:xfrm>
              <a:off x="393192" y="1014984"/>
              <a:ext cx="3456432" cy="393192"/>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Question + gold solution</a:t>
              </a:r>
            </a:p>
          </p:txBody>
        </p:sp>
      </p:grpSp>
      <p:grpSp>
        <p:nvGrpSpPr>
          <p:cNvPr id="177" name="module_qwen_layer_16"/>
          <p:cNvGrpSpPr/>
          <p:nvPr/>
        </p:nvGrpSpPr>
        <p:grpSpPr>
          <a:xfrm>
            <a:off x="429768" y="2029967"/>
            <a:ext cx="960120" cy="365760"/>
            <a:chOff x="429768" y="2029967"/>
            <a:chExt cx="960120" cy="365760"/>
          </a:xfrm>
        </p:grpSpPr>
        <p:sp>
          <p:nvSpPr>
            <p:cNvPr id="14" name="qwen_layer_16"/>
            <p:cNvSpPr/>
            <p:nvPr/>
          </p:nvSpPr>
          <p:spPr>
            <a:xfrm>
              <a:off x="429768" y="2029967"/>
              <a:ext cx="960120" cy="365760"/>
            </a:xfrm>
            <a:prstGeom prst="roundRect">
              <a:avLst>
                <a:gd name="adj" fmla="val 12000"/>
              </a:avLst>
            </a:prstGeom>
            <a:solidFill>
              <a:srgbClr val="E5EEF5"/>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qwen_layer_16_label"/>
            <p:cNvSpPr txBox="1"/>
            <p:nvPr/>
          </p:nvSpPr>
          <p:spPr>
            <a:xfrm>
              <a:off x="475488" y="2039111"/>
              <a:ext cx="868680" cy="347472"/>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233344"/>
                  </a:solidFill>
                  <a:latin typeface="DejaVu Sans"/>
                </a:rPr>
                <a:t>Layer 16</a:t>
              </a:r>
            </a:p>
          </p:txBody>
        </p:sp>
      </p:grpSp>
      <p:grpSp>
        <p:nvGrpSpPr>
          <p:cNvPr id="178" name="module_qwen_layer_24"/>
          <p:cNvGrpSpPr/>
          <p:nvPr/>
        </p:nvGrpSpPr>
        <p:grpSpPr>
          <a:xfrm>
            <a:off x="429768" y="2688336"/>
            <a:ext cx="960120" cy="365760"/>
            <a:chOff x="429768" y="2688336"/>
            <a:chExt cx="960120" cy="365760"/>
          </a:xfrm>
        </p:grpSpPr>
        <p:sp>
          <p:nvSpPr>
            <p:cNvPr id="21" name="qwen_layer_24"/>
            <p:cNvSpPr/>
            <p:nvPr/>
          </p:nvSpPr>
          <p:spPr>
            <a:xfrm>
              <a:off x="429768" y="2688336"/>
              <a:ext cx="960120" cy="365760"/>
            </a:xfrm>
            <a:prstGeom prst="roundRect">
              <a:avLst>
                <a:gd name="adj" fmla="val 12000"/>
              </a:avLst>
            </a:prstGeom>
            <a:solidFill>
              <a:srgbClr val="F8F0E5"/>
            </a:solidFill>
            <a:ln w="12700">
              <a:solidFill>
                <a:srgbClr val="C88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qwen_layer_24_label"/>
            <p:cNvSpPr txBox="1"/>
            <p:nvPr/>
          </p:nvSpPr>
          <p:spPr>
            <a:xfrm>
              <a:off x="475488" y="2697479"/>
              <a:ext cx="868680" cy="347472"/>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233344"/>
                  </a:solidFill>
                  <a:latin typeface="DejaVu Sans"/>
                </a:rPr>
                <a:t>Layer 24</a:t>
              </a:r>
            </a:p>
          </p:txBody>
        </p:sp>
      </p:grpSp>
      <p:grpSp>
        <p:nvGrpSpPr>
          <p:cNvPr id="179" name="module_qwen_layer_32"/>
          <p:cNvGrpSpPr/>
          <p:nvPr/>
        </p:nvGrpSpPr>
        <p:grpSpPr>
          <a:xfrm>
            <a:off x="429768" y="3675887"/>
            <a:ext cx="960120" cy="365760"/>
            <a:chOff x="429768" y="3675887"/>
            <a:chExt cx="960120" cy="365760"/>
          </a:xfrm>
        </p:grpSpPr>
        <p:sp>
          <p:nvSpPr>
            <p:cNvPr id="28" name="qwen_layer_32"/>
            <p:cNvSpPr/>
            <p:nvPr/>
          </p:nvSpPr>
          <p:spPr>
            <a:xfrm>
              <a:off x="429768" y="3675887"/>
              <a:ext cx="960120" cy="365760"/>
            </a:xfrm>
            <a:prstGeom prst="roundRect">
              <a:avLst>
                <a:gd name="adj" fmla="val 12000"/>
              </a:avLst>
            </a:prstGeom>
            <a:solidFill>
              <a:srgbClr val="E4F1EE"/>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qwen_layer_32_label"/>
            <p:cNvSpPr txBox="1"/>
            <p:nvPr/>
          </p:nvSpPr>
          <p:spPr>
            <a:xfrm>
              <a:off x="475488" y="3685031"/>
              <a:ext cx="868680" cy="347472"/>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233344"/>
                  </a:solidFill>
                  <a:latin typeface="DejaVu Sans"/>
                </a:rPr>
                <a:t>Layer 32</a:t>
              </a:r>
            </a:p>
          </p:txBody>
        </p:sp>
      </p:grpSp>
      <p:grpSp>
        <p:nvGrpSpPr>
          <p:cNvPr id="180" name="concatenated_qwen_latents_editable_tiles"/>
          <p:cNvGrpSpPr/>
          <p:nvPr/>
        </p:nvGrpSpPr>
        <p:grpSpPr>
          <a:xfrm>
            <a:off x="3227832" y="1920240"/>
            <a:ext cx="649224" cy="2596896"/>
            <a:chOff x="3227832" y="1920240"/>
            <a:chExt cx="649224" cy="2596896"/>
          </a:xfrm>
        </p:grpSpPr>
        <p:sp>
          <p:nvSpPr>
            <p:cNvPr id="37" name="concatenated_qwen_latents_layer16"/>
            <p:cNvSpPr/>
            <p:nvPr/>
          </p:nvSpPr>
          <p:spPr>
            <a:xfrm>
              <a:off x="3227832" y="1920240"/>
              <a:ext cx="649224" cy="649224"/>
            </a:xfrm>
            <a:prstGeom prst="rect">
              <a:avLst/>
            </a:prstGeom>
            <a:solidFill>
              <a:srgbClr val="CDDEEC"/>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ath_0036"/>
            <p:cNvSpPr/>
            <p:nvPr/>
          </p:nvSpPr>
          <p:spPr>
            <a:xfrm>
              <a:off x="3389681" y="1920240"/>
              <a:ext cx="0" cy="649224"/>
            </a:xfrm>
            <a:custGeom>
              <a:avLst/>
              <a:gdLst/>
              <a:ahLst/>
              <a:cxnLst/>
              <a:rect l="l" t="t" r="r" b="b"/>
              <a:pathLst>
                <a:path w="0" h="710">
                  <a:moveTo>
                    <a:pt x="0" y="0"/>
                  </a:moveTo>
                  <a:lnTo>
                    <a:pt x="0" y="710"/>
                  </a:lnTo>
                </a:path>
              </a:pathLst>
            </a:custGeom>
            <a:noFill/>
            <a:ln w="5715">
              <a:solidFill>
                <a:srgbClr val="9FB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ath_0037"/>
            <p:cNvSpPr/>
            <p:nvPr/>
          </p:nvSpPr>
          <p:spPr>
            <a:xfrm>
              <a:off x="3552444" y="1920240"/>
              <a:ext cx="0" cy="649224"/>
            </a:xfrm>
            <a:custGeom>
              <a:avLst/>
              <a:gdLst/>
              <a:ahLst/>
              <a:cxnLst/>
              <a:rect l="l" t="t" r="r" b="b"/>
              <a:pathLst>
                <a:path w="0" h="710">
                  <a:moveTo>
                    <a:pt x="0" y="0"/>
                  </a:moveTo>
                  <a:lnTo>
                    <a:pt x="0" y="710"/>
                  </a:lnTo>
                </a:path>
              </a:pathLst>
            </a:custGeom>
            <a:noFill/>
            <a:ln w="5715">
              <a:solidFill>
                <a:srgbClr val="9FB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ath_0038"/>
            <p:cNvSpPr/>
            <p:nvPr/>
          </p:nvSpPr>
          <p:spPr>
            <a:xfrm>
              <a:off x="3714293" y="1920240"/>
              <a:ext cx="0" cy="649224"/>
            </a:xfrm>
            <a:custGeom>
              <a:avLst/>
              <a:gdLst/>
              <a:ahLst/>
              <a:cxnLst/>
              <a:rect l="l" t="t" r="r" b="b"/>
              <a:pathLst>
                <a:path w="0" h="710">
                  <a:moveTo>
                    <a:pt x="0" y="0"/>
                  </a:moveTo>
                  <a:lnTo>
                    <a:pt x="0" y="710"/>
                  </a:lnTo>
                </a:path>
              </a:pathLst>
            </a:custGeom>
            <a:noFill/>
            <a:ln w="5715">
              <a:solidFill>
                <a:srgbClr val="9FB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oncatenated_qwen_latents_layer24"/>
            <p:cNvSpPr/>
            <p:nvPr/>
          </p:nvSpPr>
          <p:spPr>
            <a:xfrm>
              <a:off x="3227832" y="2569464"/>
              <a:ext cx="649224" cy="649224"/>
            </a:xfrm>
            <a:prstGeom prst="rect">
              <a:avLst/>
            </a:prstGeom>
            <a:solidFill>
              <a:srgbClr val="F1E2CC"/>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ath_0040"/>
            <p:cNvSpPr/>
            <p:nvPr/>
          </p:nvSpPr>
          <p:spPr>
            <a:xfrm>
              <a:off x="3389681" y="2569464"/>
              <a:ext cx="0" cy="649224"/>
            </a:xfrm>
            <a:custGeom>
              <a:avLst/>
              <a:gdLst/>
              <a:ahLst/>
              <a:cxnLst/>
              <a:rect l="l" t="t" r="r" b="b"/>
              <a:pathLst>
                <a:path w="0" h="710">
                  <a:moveTo>
                    <a:pt x="0" y="0"/>
                  </a:moveTo>
                  <a:lnTo>
                    <a:pt x="0" y="710"/>
                  </a:lnTo>
                </a:path>
              </a:pathLst>
            </a:custGeom>
            <a:noFill/>
            <a:ln w="5715">
              <a:solidFill>
                <a:srgbClr val="E5C7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path_0041"/>
            <p:cNvSpPr/>
            <p:nvPr/>
          </p:nvSpPr>
          <p:spPr>
            <a:xfrm>
              <a:off x="3552444" y="2569464"/>
              <a:ext cx="0" cy="649224"/>
            </a:xfrm>
            <a:custGeom>
              <a:avLst/>
              <a:gdLst/>
              <a:ahLst/>
              <a:cxnLst/>
              <a:rect l="l" t="t" r="r" b="b"/>
              <a:pathLst>
                <a:path w="0" h="710">
                  <a:moveTo>
                    <a:pt x="0" y="0"/>
                  </a:moveTo>
                  <a:lnTo>
                    <a:pt x="0" y="710"/>
                  </a:lnTo>
                </a:path>
              </a:pathLst>
            </a:custGeom>
            <a:noFill/>
            <a:ln w="5715">
              <a:solidFill>
                <a:srgbClr val="E5C7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ath_0042"/>
            <p:cNvSpPr/>
            <p:nvPr/>
          </p:nvSpPr>
          <p:spPr>
            <a:xfrm>
              <a:off x="3714293" y="2569464"/>
              <a:ext cx="0" cy="649224"/>
            </a:xfrm>
            <a:custGeom>
              <a:avLst/>
              <a:gdLst/>
              <a:ahLst/>
              <a:cxnLst/>
              <a:rect l="l" t="t" r="r" b="b"/>
              <a:pathLst>
                <a:path w="0" h="710">
                  <a:moveTo>
                    <a:pt x="0" y="0"/>
                  </a:moveTo>
                  <a:lnTo>
                    <a:pt x="0" y="710"/>
                  </a:lnTo>
                </a:path>
              </a:pathLst>
            </a:custGeom>
            <a:noFill/>
            <a:ln w="5715">
              <a:solidFill>
                <a:srgbClr val="E5C7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oncatenated_qwen_latents_layer32"/>
            <p:cNvSpPr/>
            <p:nvPr/>
          </p:nvSpPr>
          <p:spPr>
            <a:xfrm>
              <a:off x="3227832" y="3218688"/>
              <a:ext cx="649224" cy="1298448"/>
            </a:xfrm>
            <a:prstGeom prst="rect">
              <a:avLst/>
            </a:prstGeom>
            <a:solidFill>
              <a:srgbClr val="CAE4DF"/>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ath_0044"/>
            <p:cNvSpPr/>
            <p:nvPr/>
          </p:nvSpPr>
          <p:spPr>
            <a:xfrm>
              <a:off x="3389681" y="3218688"/>
              <a:ext cx="0" cy="1298448"/>
            </a:xfrm>
            <a:custGeom>
              <a:avLst/>
              <a:gdLst/>
              <a:ahLst/>
              <a:cxnLst/>
              <a:rect l="l" t="t" r="r" b="b"/>
              <a:pathLst>
                <a:path w="0" h="1420">
                  <a:moveTo>
                    <a:pt x="0" y="0"/>
                  </a:moveTo>
                  <a:lnTo>
                    <a:pt x="0" y="1420"/>
                  </a:lnTo>
                </a:path>
              </a:pathLst>
            </a:custGeom>
            <a:noFill/>
            <a:ln w="5715">
              <a:solidFill>
                <a:srgbClr val="9ACA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ath_0045"/>
            <p:cNvSpPr/>
            <p:nvPr/>
          </p:nvSpPr>
          <p:spPr>
            <a:xfrm>
              <a:off x="3552444" y="3218688"/>
              <a:ext cx="0" cy="1298448"/>
            </a:xfrm>
            <a:custGeom>
              <a:avLst/>
              <a:gdLst/>
              <a:ahLst/>
              <a:cxnLst/>
              <a:rect l="l" t="t" r="r" b="b"/>
              <a:pathLst>
                <a:path w="0" h="1420">
                  <a:moveTo>
                    <a:pt x="0" y="0"/>
                  </a:moveTo>
                  <a:lnTo>
                    <a:pt x="0" y="1420"/>
                  </a:lnTo>
                </a:path>
              </a:pathLst>
            </a:custGeom>
            <a:noFill/>
            <a:ln w="5715">
              <a:solidFill>
                <a:srgbClr val="9ACA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path_0046"/>
            <p:cNvSpPr/>
            <p:nvPr/>
          </p:nvSpPr>
          <p:spPr>
            <a:xfrm>
              <a:off x="3714293" y="3218688"/>
              <a:ext cx="0" cy="1298448"/>
            </a:xfrm>
            <a:custGeom>
              <a:avLst/>
              <a:gdLst/>
              <a:ahLst/>
              <a:cxnLst/>
              <a:rect l="l" t="t" r="r" b="b"/>
              <a:pathLst>
                <a:path w="0" h="1420">
                  <a:moveTo>
                    <a:pt x="0" y="0"/>
                  </a:moveTo>
                  <a:lnTo>
                    <a:pt x="0" y="1420"/>
                  </a:lnTo>
                </a:path>
              </a:pathLst>
            </a:custGeom>
            <a:noFill/>
            <a:ln w="5715">
              <a:solidFill>
                <a:srgbClr val="9ACA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oncatenated_qwen_latents_outline"/>
            <p:cNvSpPr/>
            <p:nvPr/>
          </p:nvSpPr>
          <p:spPr>
            <a:xfrm>
              <a:off x="3227832" y="1920240"/>
              <a:ext cx="649224" cy="2596896"/>
            </a:xfrm>
            <a:prstGeom prst="rect">
              <a:avLst/>
            </a:prstGeom>
            <a:noFill/>
            <a:ln w="762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81" name="module_rect_0052"/>
          <p:cNvGrpSpPr/>
          <p:nvPr/>
        </p:nvGrpSpPr>
        <p:grpSpPr>
          <a:xfrm>
            <a:off x="393192" y="5989320"/>
            <a:ext cx="594360" cy="402336"/>
            <a:chOff x="393192" y="5989320"/>
            <a:chExt cx="594360" cy="402336"/>
          </a:xfrm>
        </p:grpSpPr>
        <p:sp>
          <p:nvSpPr>
            <p:cNvPr id="54" name="rect_0052"/>
            <p:cNvSpPr/>
            <p:nvPr/>
          </p:nvSpPr>
          <p:spPr>
            <a:xfrm>
              <a:off x="393192" y="5989320"/>
              <a:ext cx="594360" cy="402336"/>
            </a:xfrm>
            <a:prstGeom prst="roundRect">
              <a:avLst>
                <a:gd name="adj" fmla="val 12000"/>
              </a:avLst>
            </a:prstGeom>
            <a:solidFill>
              <a:srgbClr val="E5EEF5"/>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_0053"/>
            <p:cNvSpPr txBox="1"/>
            <p:nvPr/>
          </p:nvSpPr>
          <p:spPr>
            <a:xfrm>
              <a:off x="438912" y="5998464"/>
              <a:ext cx="502920" cy="384048"/>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Eℓ</a:t>
              </a:r>
            </a:p>
          </p:txBody>
        </p:sp>
      </p:grpSp>
      <p:grpSp>
        <p:nvGrpSpPr>
          <p:cNvPr id="182" name="module_rect_0055"/>
          <p:cNvGrpSpPr/>
          <p:nvPr/>
        </p:nvGrpSpPr>
        <p:grpSpPr>
          <a:xfrm>
            <a:off x="1170432" y="5989320"/>
            <a:ext cx="594360" cy="402336"/>
            <a:chOff x="1170432" y="5989320"/>
            <a:chExt cx="594360" cy="402336"/>
          </a:xfrm>
        </p:grpSpPr>
        <p:sp>
          <p:nvSpPr>
            <p:cNvPr id="57" name="rect_0055"/>
            <p:cNvSpPr/>
            <p:nvPr/>
          </p:nvSpPr>
          <p:spPr>
            <a:xfrm>
              <a:off x="1170432" y="5989320"/>
              <a:ext cx="594360" cy="402336"/>
            </a:xfrm>
            <a:prstGeom prst="roundRect">
              <a:avLst>
                <a:gd name="adj" fmla="val 12000"/>
              </a:avLst>
            </a:prstGeom>
            <a:solidFill>
              <a:srgbClr val="E5EEF5"/>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_0056"/>
            <p:cNvSpPr txBox="1"/>
            <p:nvPr/>
          </p:nvSpPr>
          <p:spPr>
            <a:xfrm>
              <a:off x="1216152" y="5998464"/>
              <a:ext cx="502920" cy="384048"/>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Dℓ</a:t>
              </a:r>
            </a:p>
          </p:txBody>
        </p:sp>
      </p:grpSp>
      <p:grpSp>
        <p:nvGrpSpPr>
          <p:cNvPr id="183" name="module_rect_0058"/>
          <p:cNvGrpSpPr/>
          <p:nvPr/>
        </p:nvGrpSpPr>
        <p:grpSpPr>
          <a:xfrm>
            <a:off x="1947672" y="5925312"/>
            <a:ext cx="1097280" cy="530352"/>
            <a:chOff x="1947672" y="5925312"/>
            <a:chExt cx="1097280" cy="530352"/>
          </a:xfrm>
        </p:grpSpPr>
        <p:sp>
          <p:nvSpPr>
            <p:cNvPr id="60" name="rect_0058"/>
            <p:cNvSpPr/>
            <p:nvPr/>
          </p:nvSpPr>
          <p:spPr>
            <a:xfrm>
              <a:off x="1947672" y="5925312"/>
              <a:ext cx="1097280" cy="530352"/>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_0059"/>
            <p:cNvSpPr txBox="1"/>
            <p:nvPr/>
          </p:nvSpPr>
          <p:spPr>
            <a:xfrm>
              <a:off x="1993391" y="5934456"/>
              <a:ext cx="1005839" cy="512063"/>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233344"/>
                  </a:solidFill>
                  <a:latin typeface="DejaVu Sans"/>
                </a:rPr>
                <a:t>Frozen</a:t>
              </a:r>
            </a:p>
            <a:p>
              <a:pPr algn="ctr">
                <a:lnSpc>
                  <a:spcPts val="1468"/>
                </a:lnSpc>
                <a:spcBef>
                  <a:spcPts val="0"/>
                </a:spcBef>
                <a:spcAft>
                  <a:spcPts val="0"/>
                </a:spcAft>
              </a:pPr>
              <a:r>
                <a:rPr sz="1300" b="0">
                  <a:solidFill>
                    <a:srgbClr val="233344"/>
                  </a:solidFill>
                  <a:latin typeface="DejaVu Sans"/>
                </a:rPr>
                <a:t>Qwen suffix</a:t>
              </a:r>
            </a:p>
          </p:txBody>
        </p:sp>
      </p:grpSp>
      <p:grpSp>
        <p:nvGrpSpPr>
          <p:cNvPr id="184" name="stage_2_heading"/>
          <p:cNvGrpSpPr/>
          <p:nvPr/>
        </p:nvGrpSpPr>
        <p:grpSpPr>
          <a:xfrm>
            <a:off x="4434840" y="210312"/>
            <a:ext cx="3749039" cy="539496"/>
            <a:chOff x="4434840" y="210312"/>
            <a:chExt cx="3749039" cy="539496"/>
          </a:xfrm>
        </p:grpSpPr>
        <p:sp>
          <p:nvSpPr>
            <p:cNvPr id="65" name="rect_0063"/>
            <p:cNvSpPr/>
            <p:nvPr/>
          </p:nvSpPr>
          <p:spPr>
            <a:xfrm>
              <a:off x="4434840" y="210312"/>
              <a:ext cx="3749039" cy="539496"/>
            </a:xfrm>
            <a:prstGeom prst="roundRect">
              <a:avLst>
                <a:gd name="adj" fmla="val 12000"/>
              </a:avLst>
            </a:prstGeom>
            <a:solidFill>
              <a:srgbClr val="F3F6F9"/>
            </a:solidFill>
            <a:ln w="1270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_0064"/>
            <p:cNvSpPr txBox="1"/>
            <p:nvPr/>
          </p:nvSpPr>
          <p:spPr>
            <a:xfrm>
              <a:off x="4553712" y="237744"/>
              <a:ext cx="274320" cy="457200"/>
            </a:xfrm>
            <a:prstGeom prst="rect">
              <a:avLst/>
            </a:prstGeom>
            <a:noFill/>
          </p:spPr>
          <p:txBody>
            <a:bodyPr wrap="none" lIns="0" rIns="0" tIns="0" bIns="0" anchor="ctr">
              <a:spAutoFit/>
            </a:bodyPr>
            <a:lstStyle/>
            <a:p>
              <a:pPr algn="ctr">
                <a:lnSpc>
                  <a:spcPts val="2372"/>
                </a:lnSpc>
                <a:spcBef>
                  <a:spcPts val="0"/>
                </a:spcBef>
                <a:spcAft>
                  <a:spcPts val="0"/>
                </a:spcAft>
              </a:pPr>
              <a:r>
                <a:rPr sz="2100" b="1">
                  <a:solidFill>
                    <a:srgbClr val="63758A"/>
                  </a:solidFill>
                  <a:latin typeface="DejaVu Sans"/>
                </a:rPr>
                <a:t>2</a:t>
              </a:r>
            </a:p>
          </p:txBody>
        </p:sp>
        <p:sp>
          <p:nvSpPr>
            <p:cNvPr id="67" name="text_0065"/>
            <p:cNvSpPr txBox="1"/>
            <p:nvPr/>
          </p:nvSpPr>
          <p:spPr>
            <a:xfrm>
              <a:off x="4882896" y="237744"/>
              <a:ext cx="3200400" cy="457200"/>
            </a:xfrm>
            <a:prstGeom prst="rect">
              <a:avLst/>
            </a:prstGeom>
            <a:noFill/>
          </p:spPr>
          <p:txBody>
            <a:bodyPr wrap="none" lIns="0" rIns="0" tIns="0" bIns="0" anchor="ctr">
              <a:spAutoFit/>
            </a:bodyPr>
            <a:lstStyle/>
            <a:p>
              <a:pPr algn="l">
                <a:lnSpc>
                  <a:spcPts val="2033"/>
                </a:lnSpc>
                <a:spcBef>
                  <a:spcPts val="0"/>
                </a:spcBef>
                <a:spcAft>
                  <a:spcPts val="0"/>
                </a:spcAft>
              </a:pPr>
              <a:r>
                <a:rPr sz="1800" b="1">
                  <a:solidFill>
                    <a:srgbClr val="233344"/>
                  </a:solidFill>
                  <a:latin typeface="DejaVu Sans"/>
                </a:rPr>
                <a:t>Flow training</a:t>
              </a:r>
            </a:p>
          </p:txBody>
        </p:sp>
      </p:grpSp>
      <p:grpSp>
        <p:nvGrpSpPr>
          <p:cNvPr id="185" name="module_rect_0066"/>
          <p:cNvGrpSpPr/>
          <p:nvPr/>
        </p:nvGrpSpPr>
        <p:grpSpPr>
          <a:xfrm>
            <a:off x="4562855" y="1005840"/>
            <a:ext cx="987552" cy="420624"/>
            <a:chOff x="4562855" y="1005840"/>
            <a:chExt cx="987552" cy="420624"/>
          </a:xfrm>
        </p:grpSpPr>
        <p:sp>
          <p:nvSpPr>
            <p:cNvPr id="68" name="rect_0066"/>
            <p:cNvSpPr/>
            <p:nvPr/>
          </p:nvSpPr>
          <p:spPr>
            <a:xfrm>
              <a:off x="4562855" y="1005840"/>
              <a:ext cx="987552" cy="420624"/>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_0067"/>
            <p:cNvSpPr txBox="1"/>
            <p:nvPr/>
          </p:nvSpPr>
          <p:spPr>
            <a:xfrm>
              <a:off x="4608575" y="1014984"/>
              <a:ext cx="896112" cy="402336"/>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Question</a:t>
              </a:r>
            </a:p>
          </p:txBody>
        </p:sp>
      </p:grpSp>
      <p:grpSp>
        <p:nvGrpSpPr>
          <p:cNvPr id="186" name="module_trainable_prompt_encoder"/>
          <p:cNvGrpSpPr/>
          <p:nvPr/>
        </p:nvGrpSpPr>
        <p:grpSpPr>
          <a:xfrm>
            <a:off x="6025896" y="950976"/>
            <a:ext cx="2039112" cy="530352"/>
            <a:chOff x="6025896" y="950976"/>
            <a:chExt cx="2039112" cy="530352"/>
          </a:xfrm>
        </p:grpSpPr>
        <p:sp>
          <p:nvSpPr>
            <p:cNvPr id="71" name="trainable_prompt_encoder"/>
            <p:cNvSpPr/>
            <p:nvPr/>
          </p:nvSpPr>
          <p:spPr>
            <a:xfrm>
              <a:off x="6025896" y="950976"/>
              <a:ext cx="2039112" cy="530352"/>
            </a:xfrm>
            <a:prstGeom prst="roundRect">
              <a:avLst>
                <a:gd name="adj" fmla="val 12000"/>
              </a:avLst>
            </a:prstGeom>
            <a:solidFill>
              <a:srgbClr val="EFEDF5"/>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rainable_prompt_encoder_label"/>
            <p:cNvSpPr txBox="1"/>
            <p:nvPr/>
          </p:nvSpPr>
          <p:spPr>
            <a:xfrm>
              <a:off x="6071616" y="960120"/>
              <a:ext cx="1947672" cy="512063"/>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Prompt encoder</a:t>
              </a:r>
            </a:p>
            <a:p>
              <a:pPr algn="ctr">
                <a:lnSpc>
                  <a:spcPts val="1920"/>
                </a:lnSpc>
                <a:spcBef>
                  <a:spcPts val="0"/>
                </a:spcBef>
                <a:spcAft>
                  <a:spcPts val="0"/>
                </a:spcAft>
              </a:pPr>
              <a:r>
                <a:rPr sz="1700" b="0">
                  <a:solidFill>
                    <a:srgbClr val="233344"/>
                  </a:solidFill>
                  <a:latin typeface="DejaVu Sans"/>
                </a:rPr>
                <a:t>Pφ</a:t>
              </a:r>
            </a:p>
          </p:txBody>
        </p:sp>
      </p:grpSp>
      <p:grpSp>
        <p:nvGrpSpPr>
          <p:cNvPr id="187" name="module_rect_0073"/>
          <p:cNvGrpSpPr/>
          <p:nvPr/>
        </p:nvGrpSpPr>
        <p:grpSpPr>
          <a:xfrm>
            <a:off x="6144768" y="1938528"/>
            <a:ext cx="1920240" cy="438912"/>
            <a:chOff x="6144768" y="1938528"/>
            <a:chExt cx="1920240" cy="438912"/>
          </a:xfrm>
        </p:grpSpPr>
        <p:sp>
          <p:nvSpPr>
            <p:cNvPr id="75" name="rect_0073"/>
            <p:cNvSpPr/>
            <p:nvPr/>
          </p:nvSpPr>
          <p:spPr>
            <a:xfrm>
              <a:off x="6144768" y="1938528"/>
              <a:ext cx="1920240" cy="438912"/>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_0074"/>
            <p:cNvSpPr txBox="1"/>
            <p:nvPr/>
          </p:nvSpPr>
          <p:spPr>
            <a:xfrm>
              <a:off x="6190488" y="1947672"/>
              <a:ext cx="1828800" cy="420623"/>
            </a:xfrm>
            <a:prstGeom prst="rect">
              <a:avLst/>
            </a:prstGeom>
            <a:noFill/>
          </p:spPr>
          <p:txBody>
            <a:bodyPr wrap="none" lIns="0" rIns="0" tIns="0" bIns="0" anchor="ctr">
              <a:spAutoFit/>
            </a:bodyPr>
            <a:lstStyle/>
            <a:p>
              <a:pPr algn="ctr">
                <a:lnSpc>
                  <a:spcPts val="2033"/>
                </a:lnSpc>
                <a:spcBef>
                  <a:spcPts val="0"/>
                </a:spcBef>
                <a:spcAft>
                  <a:spcPts val="0"/>
                </a:spcAft>
              </a:pPr>
              <a:r>
                <a:rPr sz="1800" b="0">
                  <a:solidFill>
                    <a:srgbClr val="233344"/>
                  </a:solidFill>
                  <a:latin typeface="DejaVu Sans"/>
                </a:rPr>
                <a:t>x + noise ε</a:t>
              </a:r>
            </a:p>
          </p:txBody>
        </p:sp>
      </p:grpSp>
      <p:grpSp>
        <p:nvGrpSpPr>
          <p:cNvPr id="188" name="training_noisy_answer_editable_tiles"/>
          <p:cNvGrpSpPr/>
          <p:nvPr/>
        </p:nvGrpSpPr>
        <p:grpSpPr>
          <a:xfrm>
            <a:off x="5522975" y="2551176"/>
            <a:ext cx="2468880" cy="502920"/>
            <a:chOff x="5522975" y="2551176"/>
            <a:chExt cx="2468880" cy="502920"/>
          </a:xfrm>
        </p:grpSpPr>
        <p:sp>
          <p:nvSpPr>
            <p:cNvPr id="80" name="training_noisy_answer_L16_r0_c0"/>
            <p:cNvSpPr/>
            <p:nvPr/>
          </p:nvSpPr>
          <p:spPr>
            <a:xfrm>
              <a:off x="5522975" y="2551176"/>
              <a:ext cx="411480" cy="62865"/>
            </a:xfrm>
            <a:prstGeom prst="rect">
              <a:avLst/>
            </a:prstGeom>
            <a:solidFill>
              <a:srgbClr val="BBC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raining_noisy_answer_L16_r0_c1"/>
            <p:cNvSpPr/>
            <p:nvPr/>
          </p:nvSpPr>
          <p:spPr>
            <a:xfrm>
              <a:off x="5934455" y="2551176"/>
              <a:ext cx="411480" cy="62865"/>
            </a:xfrm>
            <a:prstGeom prst="rect">
              <a:avLst/>
            </a:prstGeom>
            <a:solidFill>
              <a:srgbClr val="82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raining_noisy_answer_L16_r0_c2"/>
            <p:cNvSpPr/>
            <p:nvPr/>
          </p:nvSpPr>
          <p:spPr>
            <a:xfrm>
              <a:off x="6345936" y="2551176"/>
              <a:ext cx="411480" cy="62865"/>
            </a:xfrm>
            <a:prstGeom prst="rect">
              <a:avLst/>
            </a:prstGeom>
            <a:solidFill>
              <a:srgbClr val="8B99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raining_noisy_answer_L16_r0_c3"/>
            <p:cNvSpPr/>
            <p:nvPr/>
          </p:nvSpPr>
          <p:spPr>
            <a:xfrm>
              <a:off x="6757416" y="2551176"/>
              <a:ext cx="411480" cy="62865"/>
            </a:xfrm>
            <a:prstGeom prst="rect">
              <a:avLst/>
            </a:prstGeom>
            <a:solidFill>
              <a:srgbClr val="9BA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raining_noisy_answer_L16_r0_c4"/>
            <p:cNvSpPr/>
            <p:nvPr/>
          </p:nvSpPr>
          <p:spPr>
            <a:xfrm>
              <a:off x="7168895" y="2551176"/>
              <a:ext cx="411480" cy="62865"/>
            </a:xfrm>
            <a:prstGeom prst="rect">
              <a:avLst/>
            </a:prstGeom>
            <a:solidFill>
              <a:srgbClr val="B9C4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raining_noisy_answer_L16_r0_c5"/>
            <p:cNvSpPr/>
            <p:nvPr/>
          </p:nvSpPr>
          <p:spPr>
            <a:xfrm>
              <a:off x="7580375" y="2551176"/>
              <a:ext cx="411480" cy="62865"/>
            </a:xfrm>
            <a:prstGeom prst="rect">
              <a:avLst/>
            </a:prstGeom>
            <a:solidFill>
              <a:srgbClr val="ABB9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raining_noisy_answer_L16_r1_c0"/>
            <p:cNvSpPr/>
            <p:nvPr/>
          </p:nvSpPr>
          <p:spPr>
            <a:xfrm>
              <a:off x="5522975" y="2614041"/>
              <a:ext cx="411480" cy="62865"/>
            </a:xfrm>
            <a:prstGeom prst="rect">
              <a:avLst/>
            </a:prstGeom>
            <a:solidFill>
              <a:srgbClr val="C5D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raining_noisy_answer_L16_r1_c1"/>
            <p:cNvSpPr/>
            <p:nvPr/>
          </p:nvSpPr>
          <p:spPr>
            <a:xfrm>
              <a:off x="5934455" y="2614041"/>
              <a:ext cx="411480" cy="62865"/>
            </a:xfrm>
            <a:prstGeom prst="rect">
              <a:avLst/>
            </a:prstGeom>
            <a:solidFill>
              <a:srgbClr val="7C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raining_noisy_answer_L16_r1_c2"/>
            <p:cNvSpPr/>
            <p:nvPr/>
          </p:nvSpPr>
          <p:spPr>
            <a:xfrm>
              <a:off x="6345936" y="2614041"/>
              <a:ext cx="411480" cy="62865"/>
            </a:xfrm>
            <a:prstGeom prst="rect">
              <a:avLst/>
            </a:prstGeom>
            <a:solidFill>
              <a:srgbClr val="AA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raining_noisy_answer_L16_r1_c3"/>
            <p:cNvSpPr/>
            <p:nvPr/>
          </p:nvSpPr>
          <p:spPr>
            <a:xfrm>
              <a:off x="6757416" y="2614041"/>
              <a:ext cx="411480" cy="62865"/>
            </a:xfrm>
            <a:prstGeom prst="rect">
              <a:avLst/>
            </a:prstGeom>
            <a:solidFill>
              <a:srgbClr val="828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raining_noisy_answer_L16_r1_c4"/>
            <p:cNvSpPr/>
            <p:nvPr/>
          </p:nvSpPr>
          <p:spPr>
            <a:xfrm>
              <a:off x="7168895" y="2614041"/>
              <a:ext cx="411480" cy="62865"/>
            </a:xfrm>
            <a:prstGeom prst="rect">
              <a:avLst/>
            </a:prstGeom>
            <a:solidFill>
              <a:srgbClr val="8795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raining_noisy_answer_L16_r1_c5"/>
            <p:cNvSpPr/>
            <p:nvPr/>
          </p:nvSpPr>
          <p:spPr>
            <a:xfrm>
              <a:off x="7580375" y="2614041"/>
              <a:ext cx="411480" cy="62865"/>
            </a:xfrm>
            <a:prstGeom prst="rect">
              <a:avLst/>
            </a:prstGeom>
            <a:solidFill>
              <a:srgbClr val="B1B8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raining_noisy_answer_L24_r0_c0"/>
            <p:cNvSpPr/>
            <p:nvPr/>
          </p:nvSpPr>
          <p:spPr>
            <a:xfrm>
              <a:off x="5522975" y="2676906"/>
              <a:ext cx="411480" cy="62865"/>
            </a:xfrm>
            <a:prstGeom prst="rect">
              <a:avLst/>
            </a:prstGeom>
            <a:solidFill>
              <a:srgbClr val="9B9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raining_noisy_answer_L24_r0_c1"/>
            <p:cNvSpPr/>
            <p:nvPr/>
          </p:nvSpPr>
          <p:spPr>
            <a:xfrm>
              <a:off x="5934455" y="2676906"/>
              <a:ext cx="411480" cy="62865"/>
            </a:xfrm>
            <a:prstGeom prst="rect">
              <a:avLst/>
            </a:prstGeom>
            <a:solidFill>
              <a:srgbClr val="A6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raining_noisy_answer_L24_r0_c2"/>
            <p:cNvSpPr/>
            <p:nvPr/>
          </p:nvSpPr>
          <p:spPr>
            <a:xfrm>
              <a:off x="6345936" y="2676906"/>
              <a:ext cx="411480" cy="62865"/>
            </a:xfrm>
            <a:prstGeom prst="rect">
              <a:avLst/>
            </a:prstGeom>
            <a:solidFill>
              <a:srgbClr val="C6B9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raining_noisy_answer_L24_r0_c3"/>
            <p:cNvSpPr/>
            <p:nvPr/>
          </p:nvSpPr>
          <p:spPr>
            <a:xfrm>
              <a:off x="6757416" y="2676906"/>
              <a:ext cx="411480" cy="62865"/>
            </a:xfrm>
            <a:prstGeom prst="rect">
              <a:avLst/>
            </a:prstGeom>
            <a:solidFill>
              <a:srgbClr val="C4B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raining_noisy_answer_L24_r0_c4"/>
            <p:cNvSpPr/>
            <p:nvPr/>
          </p:nvSpPr>
          <p:spPr>
            <a:xfrm>
              <a:off x="7168895" y="2676906"/>
              <a:ext cx="411480" cy="62865"/>
            </a:xfrm>
            <a:prstGeom prst="rect">
              <a:avLst/>
            </a:prstGeom>
            <a:solidFill>
              <a:srgbClr val="A89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raining_noisy_answer_L24_r0_c5"/>
            <p:cNvSpPr/>
            <p:nvPr/>
          </p:nvSpPr>
          <p:spPr>
            <a:xfrm>
              <a:off x="7580375" y="2676906"/>
              <a:ext cx="411480" cy="62865"/>
            </a:xfrm>
            <a:prstGeom prst="rect">
              <a:avLst/>
            </a:prstGeom>
            <a:solidFill>
              <a:srgbClr val="C2B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raining_noisy_answer_L24_r1_c0"/>
            <p:cNvSpPr/>
            <p:nvPr/>
          </p:nvSpPr>
          <p:spPr>
            <a:xfrm>
              <a:off x="5522975" y="2739771"/>
              <a:ext cx="411480" cy="62865"/>
            </a:xfrm>
            <a:prstGeom prst="rect">
              <a:avLst/>
            </a:prstGeom>
            <a:solidFill>
              <a:srgbClr val="D6C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raining_noisy_answer_L24_r1_c1"/>
            <p:cNvSpPr/>
            <p:nvPr/>
          </p:nvSpPr>
          <p:spPr>
            <a:xfrm>
              <a:off x="5934455" y="2739771"/>
              <a:ext cx="411480" cy="62865"/>
            </a:xfrm>
            <a:prstGeom prst="rect">
              <a:avLst/>
            </a:prstGeom>
            <a:solidFill>
              <a:srgbClr val="9488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raining_noisy_answer_L24_r1_c2"/>
            <p:cNvSpPr/>
            <p:nvPr/>
          </p:nvSpPr>
          <p:spPr>
            <a:xfrm>
              <a:off x="6345936" y="2739771"/>
              <a:ext cx="411480" cy="62865"/>
            </a:xfrm>
            <a:prstGeom prst="rect">
              <a:avLst/>
            </a:prstGeom>
            <a:solidFill>
              <a:srgbClr val="D8D1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raining_noisy_answer_L24_r1_c3"/>
            <p:cNvSpPr/>
            <p:nvPr/>
          </p:nvSpPr>
          <p:spPr>
            <a:xfrm>
              <a:off x="6757416" y="2739771"/>
              <a:ext cx="411480" cy="62865"/>
            </a:xfrm>
            <a:prstGeom prst="rect">
              <a:avLst/>
            </a:prstGeom>
            <a:solidFill>
              <a:srgbClr val="CDC3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raining_noisy_answer_L24_r1_c4"/>
            <p:cNvSpPr/>
            <p:nvPr/>
          </p:nvSpPr>
          <p:spPr>
            <a:xfrm>
              <a:off x="7168895" y="2739771"/>
              <a:ext cx="411480" cy="62865"/>
            </a:xfrm>
            <a:prstGeom prst="rect">
              <a:avLst/>
            </a:prstGeom>
            <a:solidFill>
              <a:srgbClr val="AEA1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raining_noisy_answer_L24_r1_c5"/>
            <p:cNvSpPr/>
            <p:nvPr/>
          </p:nvSpPr>
          <p:spPr>
            <a:xfrm>
              <a:off x="7580375" y="2739771"/>
              <a:ext cx="411480" cy="62865"/>
            </a:xfrm>
            <a:prstGeom prst="rect">
              <a:avLst/>
            </a:prstGeom>
            <a:solidFill>
              <a:srgbClr val="A59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raining_noisy_answer_L32_r0_c0"/>
            <p:cNvSpPr/>
            <p:nvPr/>
          </p:nvSpPr>
          <p:spPr>
            <a:xfrm>
              <a:off x="5522975" y="2802636"/>
              <a:ext cx="411480" cy="62865"/>
            </a:xfrm>
            <a:prstGeom prst="rect">
              <a:avLst/>
            </a:prstGeom>
            <a:solidFill>
              <a:srgbClr val="D3D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raining_noisy_answer_L32_r0_c1"/>
            <p:cNvSpPr/>
            <p:nvPr/>
          </p:nvSpPr>
          <p:spPr>
            <a:xfrm>
              <a:off x="5934455" y="2802636"/>
              <a:ext cx="411480" cy="62865"/>
            </a:xfrm>
            <a:prstGeom prst="rect">
              <a:avLst/>
            </a:prstGeom>
            <a:solidFill>
              <a:srgbClr val="99A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raining_noisy_answer_L32_r0_c2"/>
            <p:cNvSpPr/>
            <p:nvPr/>
          </p:nvSpPr>
          <p:spPr>
            <a:xfrm>
              <a:off x="6345936" y="2802636"/>
              <a:ext cx="411480" cy="62865"/>
            </a:xfrm>
            <a:prstGeom prst="rect">
              <a:avLst/>
            </a:prstGeom>
            <a:solidFill>
              <a:srgbClr val="7B9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raining_noisy_answer_L32_r0_c3"/>
            <p:cNvSpPr/>
            <p:nvPr/>
          </p:nvSpPr>
          <p:spPr>
            <a:xfrm>
              <a:off x="6757416" y="2802636"/>
              <a:ext cx="411480" cy="62865"/>
            </a:xfrm>
            <a:prstGeom prst="rect">
              <a:avLst/>
            </a:prstGeom>
            <a:solidFill>
              <a:srgbClr val="909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raining_noisy_answer_L32_r0_c4"/>
            <p:cNvSpPr/>
            <p:nvPr/>
          </p:nvSpPr>
          <p:spPr>
            <a:xfrm>
              <a:off x="7168895" y="2802636"/>
              <a:ext cx="411480" cy="62865"/>
            </a:xfrm>
            <a:prstGeom prst="rect">
              <a:avLst/>
            </a:prstGeom>
            <a:solidFill>
              <a:srgbClr val="C0D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raining_noisy_answer_L32_r0_c5"/>
            <p:cNvSpPr/>
            <p:nvPr/>
          </p:nvSpPr>
          <p:spPr>
            <a:xfrm>
              <a:off x="7580375" y="2802636"/>
              <a:ext cx="411480" cy="62865"/>
            </a:xfrm>
            <a:prstGeom prst="rect">
              <a:avLst/>
            </a:prstGeom>
            <a:solidFill>
              <a:srgbClr val="A3B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raining_noisy_answer_L32_r1_c0"/>
            <p:cNvSpPr/>
            <p:nvPr/>
          </p:nvSpPr>
          <p:spPr>
            <a:xfrm>
              <a:off x="5522975" y="2865501"/>
              <a:ext cx="411480" cy="62865"/>
            </a:xfrm>
            <a:prstGeom prst="rect">
              <a:avLst/>
            </a:prstGeom>
            <a:solidFill>
              <a:srgbClr val="BDCD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raining_noisy_answer_L32_r1_c1"/>
            <p:cNvSpPr/>
            <p:nvPr/>
          </p:nvSpPr>
          <p:spPr>
            <a:xfrm>
              <a:off x="5934455" y="2865501"/>
              <a:ext cx="411480" cy="62865"/>
            </a:xfrm>
            <a:prstGeom prst="rect">
              <a:avLst/>
            </a:prstGeom>
            <a:solidFill>
              <a:srgbClr val="ADC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raining_noisy_answer_L32_r1_c2"/>
            <p:cNvSpPr/>
            <p:nvPr/>
          </p:nvSpPr>
          <p:spPr>
            <a:xfrm>
              <a:off x="6345936" y="2865501"/>
              <a:ext cx="411480" cy="62865"/>
            </a:xfrm>
            <a:prstGeom prst="rect">
              <a:avLst/>
            </a:prstGeom>
            <a:solidFill>
              <a:srgbClr val="B2BD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raining_noisy_answer_L32_r1_c3"/>
            <p:cNvSpPr/>
            <p:nvPr/>
          </p:nvSpPr>
          <p:spPr>
            <a:xfrm>
              <a:off x="6757416" y="2865501"/>
              <a:ext cx="411480" cy="62865"/>
            </a:xfrm>
            <a:prstGeom prst="rect">
              <a:avLst/>
            </a:prstGeom>
            <a:solidFill>
              <a:srgbClr val="CADA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raining_noisy_answer_L32_r1_c4"/>
            <p:cNvSpPr/>
            <p:nvPr/>
          </p:nvSpPr>
          <p:spPr>
            <a:xfrm>
              <a:off x="7168895" y="2865501"/>
              <a:ext cx="411480" cy="62865"/>
            </a:xfrm>
            <a:prstGeom prst="rect">
              <a:avLst/>
            </a:prstGeom>
            <a:solidFill>
              <a:srgbClr val="91A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raining_noisy_answer_L32_r1_c5"/>
            <p:cNvSpPr/>
            <p:nvPr/>
          </p:nvSpPr>
          <p:spPr>
            <a:xfrm>
              <a:off x="7580375" y="2865501"/>
              <a:ext cx="411480" cy="62865"/>
            </a:xfrm>
            <a:prstGeom prst="rect">
              <a:avLst/>
            </a:prstGeom>
            <a:solidFill>
              <a:srgbClr val="B3BE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raining_noisy_answer_L32_r2_c0"/>
            <p:cNvSpPr/>
            <p:nvPr/>
          </p:nvSpPr>
          <p:spPr>
            <a:xfrm>
              <a:off x="5522975" y="2928366"/>
              <a:ext cx="411480" cy="62865"/>
            </a:xfrm>
            <a:prstGeom prst="rect">
              <a:avLst/>
            </a:prstGeom>
            <a:solidFill>
              <a:srgbClr val="B5C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raining_noisy_answer_L32_r2_c1"/>
            <p:cNvSpPr/>
            <p:nvPr/>
          </p:nvSpPr>
          <p:spPr>
            <a:xfrm>
              <a:off x="5934455" y="2928366"/>
              <a:ext cx="411480" cy="62865"/>
            </a:xfrm>
            <a:prstGeom prst="rect">
              <a:avLst/>
            </a:prstGeom>
            <a:solidFill>
              <a:srgbClr val="B8C3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raining_noisy_answer_L32_r2_c2"/>
            <p:cNvSpPr/>
            <p:nvPr/>
          </p:nvSpPr>
          <p:spPr>
            <a:xfrm>
              <a:off x="6345936" y="2928366"/>
              <a:ext cx="411480" cy="62865"/>
            </a:xfrm>
            <a:prstGeom prst="rect">
              <a:avLst/>
            </a:prstGeom>
            <a:solidFill>
              <a:srgbClr val="C1D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raining_noisy_answer_L32_r2_c3"/>
            <p:cNvSpPr/>
            <p:nvPr/>
          </p:nvSpPr>
          <p:spPr>
            <a:xfrm>
              <a:off x="6757416" y="2928366"/>
              <a:ext cx="411480" cy="62865"/>
            </a:xfrm>
            <a:prstGeom prst="rect">
              <a:avLst/>
            </a:prstGeom>
            <a:solidFill>
              <a:srgbClr val="A1B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raining_noisy_answer_L32_r2_c4"/>
            <p:cNvSpPr/>
            <p:nvPr/>
          </p:nvSpPr>
          <p:spPr>
            <a:xfrm>
              <a:off x="7168895" y="2928366"/>
              <a:ext cx="411480" cy="62865"/>
            </a:xfrm>
            <a:prstGeom prst="rect">
              <a:avLst/>
            </a:prstGeom>
            <a:solidFill>
              <a:srgbClr val="BFC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raining_noisy_answer_L32_r2_c5"/>
            <p:cNvSpPr/>
            <p:nvPr/>
          </p:nvSpPr>
          <p:spPr>
            <a:xfrm>
              <a:off x="7580375" y="2928366"/>
              <a:ext cx="411480" cy="62865"/>
            </a:xfrm>
            <a:prstGeom prst="rect">
              <a:avLst/>
            </a:prstGeom>
            <a:solidFill>
              <a:srgbClr val="8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raining_noisy_answer_L32_r3_c0"/>
            <p:cNvSpPr/>
            <p:nvPr/>
          </p:nvSpPr>
          <p:spPr>
            <a:xfrm>
              <a:off x="5522975" y="2991231"/>
              <a:ext cx="411480" cy="62865"/>
            </a:xfrm>
            <a:prstGeom prst="rect">
              <a:avLst/>
            </a:prstGeom>
            <a:solidFill>
              <a:srgbClr val="9A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raining_noisy_answer_L32_r3_c1"/>
            <p:cNvSpPr/>
            <p:nvPr/>
          </p:nvSpPr>
          <p:spPr>
            <a:xfrm>
              <a:off x="5934455" y="2991231"/>
              <a:ext cx="411480" cy="62865"/>
            </a:xfrm>
            <a:prstGeom prst="rect">
              <a:avLst/>
            </a:prstGeom>
            <a:solidFill>
              <a:srgbClr val="95A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raining_noisy_answer_L32_r3_c2"/>
            <p:cNvSpPr/>
            <p:nvPr/>
          </p:nvSpPr>
          <p:spPr>
            <a:xfrm>
              <a:off x="6345936" y="2991231"/>
              <a:ext cx="411480" cy="62865"/>
            </a:xfrm>
            <a:prstGeom prst="rect">
              <a:avLst/>
            </a:prstGeom>
            <a:solidFill>
              <a:srgbClr val="7A8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raining_noisy_answer_L32_r3_c3"/>
            <p:cNvSpPr/>
            <p:nvPr/>
          </p:nvSpPr>
          <p:spPr>
            <a:xfrm>
              <a:off x="6757416" y="2991231"/>
              <a:ext cx="411480" cy="62865"/>
            </a:xfrm>
            <a:prstGeom prst="rect">
              <a:avLst/>
            </a:prstGeom>
            <a:solidFill>
              <a:srgbClr val="9A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raining_noisy_answer_L32_r3_c4"/>
            <p:cNvSpPr/>
            <p:nvPr/>
          </p:nvSpPr>
          <p:spPr>
            <a:xfrm>
              <a:off x="7168895" y="2991231"/>
              <a:ext cx="411480" cy="62865"/>
            </a:xfrm>
            <a:prstGeom prst="rect">
              <a:avLst/>
            </a:prstGeom>
            <a:solidFill>
              <a:srgbClr val="8696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raining_noisy_answer_L32_r3_c5"/>
            <p:cNvSpPr/>
            <p:nvPr/>
          </p:nvSpPr>
          <p:spPr>
            <a:xfrm>
              <a:off x="7580375" y="2991231"/>
              <a:ext cx="411480" cy="62865"/>
            </a:xfrm>
            <a:prstGeom prst="rect">
              <a:avLst/>
            </a:prstGeom>
            <a:solidFill>
              <a:srgbClr val="899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raining_noisy_answer_outline"/>
            <p:cNvSpPr/>
            <p:nvPr/>
          </p:nvSpPr>
          <p:spPr>
            <a:xfrm>
              <a:off x="5522975" y="2551176"/>
              <a:ext cx="2468880" cy="502920"/>
            </a:xfrm>
            <a:prstGeom prst="rect">
              <a:avLst/>
            </a:prstGeom>
            <a:noFill/>
            <a:ln w="762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89" name="module_rect_0129"/>
          <p:cNvGrpSpPr/>
          <p:nvPr/>
        </p:nvGrpSpPr>
        <p:grpSpPr>
          <a:xfrm>
            <a:off x="4599431" y="3255264"/>
            <a:ext cx="1234440" cy="292608"/>
            <a:chOff x="4599431" y="3255264"/>
            <a:chExt cx="1234440" cy="292608"/>
          </a:xfrm>
        </p:grpSpPr>
        <p:sp>
          <p:nvSpPr>
            <p:cNvPr id="131" name="rect_0129"/>
            <p:cNvSpPr/>
            <p:nvPr/>
          </p:nvSpPr>
          <p:spPr>
            <a:xfrm>
              <a:off x="4599431" y="3255264"/>
              <a:ext cx="1234440" cy="292608"/>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_0130"/>
            <p:cNvSpPr txBox="1"/>
            <p:nvPr/>
          </p:nvSpPr>
          <p:spPr>
            <a:xfrm>
              <a:off x="4645151" y="3264408"/>
              <a:ext cx="1143000" cy="274320"/>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233344"/>
                  </a:solidFill>
                  <a:latin typeface="DejaVu Sans"/>
                </a:rPr>
                <a:t>self-condition</a:t>
              </a:r>
            </a:p>
          </p:txBody>
        </p:sp>
      </p:grpSp>
      <p:grpSp>
        <p:nvGrpSpPr>
          <p:cNvPr id="190" name="module_rect_0132"/>
          <p:cNvGrpSpPr/>
          <p:nvPr/>
        </p:nvGrpSpPr>
        <p:grpSpPr>
          <a:xfrm>
            <a:off x="6784848" y="3209544"/>
            <a:ext cx="1362456" cy="393192"/>
            <a:chOff x="6784848" y="3209544"/>
            <a:chExt cx="1362456" cy="393192"/>
          </a:xfrm>
        </p:grpSpPr>
        <p:sp>
          <p:nvSpPr>
            <p:cNvPr id="134" name="rect_0132"/>
            <p:cNvSpPr/>
            <p:nvPr/>
          </p:nvSpPr>
          <p:spPr>
            <a:xfrm>
              <a:off x="6784848" y="3209544"/>
              <a:ext cx="1362456" cy="393192"/>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_0133"/>
            <p:cNvSpPr txBox="1"/>
            <p:nvPr/>
          </p:nvSpPr>
          <p:spPr>
            <a:xfrm>
              <a:off x="6830568" y="3218687"/>
              <a:ext cx="1271016" cy="374904"/>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233344"/>
                  </a:solidFill>
                  <a:latin typeface="DejaVu Sans"/>
                </a:rPr>
                <a:t>t · mode ·</a:t>
              </a:r>
            </a:p>
            <a:p>
              <a:pPr algn="ctr">
                <a:lnSpc>
                  <a:spcPts val="1355"/>
                </a:lnSpc>
                <a:spcBef>
                  <a:spcPts val="0"/>
                </a:spcBef>
                <a:spcAft>
                  <a:spcPts val="0"/>
                </a:spcAft>
              </a:pPr>
              <a:r>
                <a:rPr sz="1200" b="0">
                  <a:solidFill>
                    <a:srgbClr val="233344"/>
                  </a:solidFill>
                  <a:latin typeface="DejaVu Sans"/>
                </a:rPr>
                <a:t>SCCFG</a:t>
              </a:r>
            </a:p>
          </p:txBody>
        </p:sp>
      </p:grpSp>
      <p:grpSp>
        <p:nvGrpSpPr>
          <p:cNvPr id="191" name="module_rect_0140"/>
          <p:cNvGrpSpPr/>
          <p:nvPr/>
        </p:nvGrpSpPr>
        <p:grpSpPr>
          <a:xfrm>
            <a:off x="4581144" y="5129784"/>
            <a:ext cx="1673352" cy="448056"/>
            <a:chOff x="4581144" y="5129784"/>
            <a:chExt cx="1673352" cy="448056"/>
          </a:xfrm>
        </p:grpSpPr>
        <p:sp>
          <p:nvSpPr>
            <p:cNvPr id="142" name="rect_0140"/>
            <p:cNvSpPr/>
            <p:nvPr/>
          </p:nvSpPr>
          <p:spPr>
            <a:xfrm>
              <a:off x="4581144" y="5129784"/>
              <a:ext cx="1673352" cy="448056"/>
            </a:xfrm>
            <a:prstGeom prst="roundRect">
              <a:avLst>
                <a:gd name="adj" fmla="val 12000"/>
              </a:avLst>
            </a:prstGeom>
            <a:solidFill>
              <a:srgbClr val="E7EFF6"/>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_0141"/>
            <p:cNvSpPr txBox="1"/>
            <p:nvPr/>
          </p:nvSpPr>
          <p:spPr>
            <a:xfrm>
              <a:off x="4626864" y="5138928"/>
              <a:ext cx="1581912" cy="429768"/>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Flow head → x̂</a:t>
              </a:r>
            </a:p>
          </p:txBody>
        </p:sp>
      </p:grpSp>
      <p:grpSp>
        <p:nvGrpSpPr>
          <p:cNvPr id="192" name="module_rect_0142"/>
          <p:cNvGrpSpPr/>
          <p:nvPr/>
        </p:nvGrpSpPr>
        <p:grpSpPr>
          <a:xfrm>
            <a:off x="6437375" y="5129784"/>
            <a:ext cx="1673352" cy="448056"/>
            <a:chOff x="6437375" y="5129784"/>
            <a:chExt cx="1673352" cy="448056"/>
          </a:xfrm>
        </p:grpSpPr>
        <p:sp>
          <p:nvSpPr>
            <p:cNvPr id="144" name="rect_0142"/>
            <p:cNvSpPr/>
            <p:nvPr/>
          </p:nvSpPr>
          <p:spPr>
            <a:xfrm>
              <a:off x="6437375" y="5129784"/>
              <a:ext cx="1673352" cy="448056"/>
            </a:xfrm>
            <a:prstGeom prst="roundRect">
              <a:avLst>
                <a:gd name="adj" fmla="val 12000"/>
              </a:avLst>
            </a:prstGeom>
            <a:solidFill>
              <a:srgbClr val="E6F2F0"/>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_0143"/>
            <p:cNvSpPr txBox="1"/>
            <p:nvPr/>
          </p:nvSpPr>
          <p:spPr>
            <a:xfrm>
              <a:off x="6483095" y="5138928"/>
              <a:ext cx="1581912" cy="429768"/>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Token head</a:t>
              </a:r>
            </a:p>
          </p:txBody>
        </p:sp>
      </p:grpSp>
      <p:grpSp>
        <p:nvGrpSpPr>
          <p:cNvPr id="193" name="stage_3_heading"/>
          <p:cNvGrpSpPr/>
          <p:nvPr/>
        </p:nvGrpSpPr>
        <p:grpSpPr>
          <a:xfrm>
            <a:off x="8641080" y="210312"/>
            <a:ext cx="3749039" cy="539496"/>
            <a:chOff x="8641080" y="210312"/>
            <a:chExt cx="3749039" cy="539496"/>
          </a:xfrm>
        </p:grpSpPr>
        <p:sp>
          <p:nvSpPr>
            <p:cNvPr id="153" name="rect_0151"/>
            <p:cNvSpPr/>
            <p:nvPr/>
          </p:nvSpPr>
          <p:spPr>
            <a:xfrm>
              <a:off x="8641080" y="210312"/>
              <a:ext cx="3749039" cy="539496"/>
            </a:xfrm>
            <a:prstGeom prst="roundRect">
              <a:avLst>
                <a:gd name="adj" fmla="val 12000"/>
              </a:avLst>
            </a:prstGeom>
            <a:solidFill>
              <a:srgbClr val="F3F6F9"/>
            </a:solidFill>
            <a:ln w="1270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_0152"/>
            <p:cNvSpPr txBox="1"/>
            <p:nvPr/>
          </p:nvSpPr>
          <p:spPr>
            <a:xfrm>
              <a:off x="8759952" y="237744"/>
              <a:ext cx="274320" cy="457200"/>
            </a:xfrm>
            <a:prstGeom prst="rect">
              <a:avLst/>
            </a:prstGeom>
            <a:noFill/>
          </p:spPr>
          <p:txBody>
            <a:bodyPr wrap="none" lIns="0" rIns="0" tIns="0" bIns="0" anchor="ctr">
              <a:spAutoFit/>
            </a:bodyPr>
            <a:lstStyle/>
            <a:p>
              <a:pPr algn="ctr">
                <a:lnSpc>
                  <a:spcPts val="2372"/>
                </a:lnSpc>
                <a:spcBef>
                  <a:spcPts val="0"/>
                </a:spcBef>
                <a:spcAft>
                  <a:spcPts val="0"/>
                </a:spcAft>
              </a:pPr>
              <a:r>
                <a:rPr sz="2100" b="1">
                  <a:solidFill>
                    <a:srgbClr val="63758A"/>
                  </a:solidFill>
                  <a:latin typeface="DejaVu Sans"/>
                </a:rPr>
                <a:t>3</a:t>
              </a:r>
            </a:p>
          </p:txBody>
        </p:sp>
        <p:sp>
          <p:nvSpPr>
            <p:cNvPr id="155" name="text_0153"/>
            <p:cNvSpPr txBox="1"/>
            <p:nvPr/>
          </p:nvSpPr>
          <p:spPr>
            <a:xfrm>
              <a:off x="9089136" y="237744"/>
              <a:ext cx="3200400" cy="457200"/>
            </a:xfrm>
            <a:prstGeom prst="rect">
              <a:avLst/>
            </a:prstGeom>
            <a:noFill/>
          </p:spPr>
          <p:txBody>
            <a:bodyPr wrap="none" lIns="0" rIns="0" tIns="0" bIns="0" anchor="ctr">
              <a:spAutoFit/>
            </a:bodyPr>
            <a:lstStyle/>
            <a:p>
              <a:pPr algn="l">
                <a:lnSpc>
                  <a:spcPts val="2033"/>
                </a:lnSpc>
                <a:spcBef>
                  <a:spcPts val="0"/>
                </a:spcBef>
                <a:spcAft>
                  <a:spcPts val="0"/>
                </a:spcAft>
              </a:pPr>
              <a:r>
                <a:rPr sz="1800" b="1">
                  <a:solidFill>
                    <a:srgbClr val="233344"/>
                  </a:solidFill>
                  <a:latin typeface="DejaVu Sans"/>
                </a:rPr>
                <a:t>NFT post-training</a:t>
              </a:r>
            </a:p>
          </p:txBody>
        </p:sp>
      </p:grpSp>
      <p:grpSp>
        <p:nvGrpSpPr>
          <p:cNvPr id="194" name="module_rect_0154"/>
          <p:cNvGrpSpPr/>
          <p:nvPr/>
        </p:nvGrpSpPr>
        <p:grpSpPr>
          <a:xfrm>
            <a:off x="8787384" y="1005840"/>
            <a:ext cx="3538728" cy="429768"/>
            <a:chOff x="8787384" y="1005840"/>
            <a:chExt cx="3538728" cy="429768"/>
          </a:xfrm>
        </p:grpSpPr>
        <p:sp>
          <p:nvSpPr>
            <p:cNvPr id="156" name="rect_0154"/>
            <p:cNvSpPr/>
            <p:nvPr/>
          </p:nvSpPr>
          <p:spPr>
            <a:xfrm>
              <a:off x="8787384" y="1005840"/>
              <a:ext cx="3538728" cy="429768"/>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_0155"/>
            <p:cNvSpPr txBox="1"/>
            <p:nvPr/>
          </p:nvSpPr>
          <p:spPr>
            <a:xfrm>
              <a:off x="8833104" y="1014984"/>
              <a:ext cx="3447288" cy="411479"/>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Supervised ELF + prompt</a:t>
              </a:r>
            </a:p>
          </p:txBody>
        </p:sp>
      </p:grpSp>
      <p:grpSp>
        <p:nvGrpSpPr>
          <p:cNvPr id="195" name="module_rect_0157"/>
          <p:cNvGrpSpPr/>
          <p:nvPr/>
        </p:nvGrpSpPr>
        <p:grpSpPr>
          <a:xfrm>
            <a:off x="8897111" y="1792224"/>
            <a:ext cx="3319272" cy="530352"/>
            <a:chOff x="8897111" y="1792224"/>
            <a:chExt cx="3319272" cy="530352"/>
          </a:xfrm>
        </p:grpSpPr>
        <p:sp>
          <p:nvSpPr>
            <p:cNvPr id="159" name="rect_0157"/>
            <p:cNvSpPr/>
            <p:nvPr/>
          </p:nvSpPr>
          <p:spPr>
            <a:xfrm>
              <a:off x="8897111" y="1792224"/>
              <a:ext cx="3319272" cy="530352"/>
            </a:xfrm>
            <a:prstGeom prst="roundRect">
              <a:avLst>
                <a:gd name="adj" fmla="val 12000"/>
              </a:avLst>
            </a:prstGeom>
            <a:solidFill>
              <a:srgbClr val="F1F6FA"/>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_0158"/>
            <p:cNvSpPr txBox="1"/>
            <p:nvPr/>
          </p:nvSpPr>
          <p:spPr>
            <a:xfrm>
              <a:off x="8942832" y="1801368"/>
              <a:ext cx="3227832" cy="512063"/>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15 old-policy samples</a:t>
              </a:r>
            </a:p>
            <a:p>
              <a:pPr algn="ctr">
                <a:lnSpc>
                  <a:spcPts val="1920"/>
                </a:lnSpc>
                <a:spcBef>
                  <a:spcPts val="0"/>
                </a:spcBef>
                <a:spcAft>
                  <a:spcPts val="0"/>
                </a:spcAft>
              </a:pPr>
              <a:r>
                <a:rPr sz="1700" b="0">
                  <a:solidFill>
                    <a:srgbClr val="233344"/>
                  </a:solidFill>
                  <a:latin typeface="DejaVu Sans"/>
                </a:rPr>
                <a:t>+ 1 cached gold endpoint</a:t>
              </a:r>
            </a:p>
          </p:txBody>
        </p:sp>
      </p:grpSp>
      <p:grpSp>
        <p:nvGrpSpPr>
          <p:cNvPr id="196" name="module_rect_0161"/>
          <p:cNvGrpSpPr/>
          <p:nvPr/>
        </p:nvGrpSpPr>
        <p:grpSpPr>
          <a:xfrm>
            <a:off x="8823959" y="3063240"/>
            <a:ext cx="3502152" cy="640080"/>
            <a:chOff x="8823959" y="3063240"/>
            <a:chExt cx="3502152" cy="640080"/>
          </a:xfrm>
        </p:grpSpPr>
        <p:sp>
          <p:nvSpPr>
            <p:cNvPr id="163" name="rect_0161"/>
            <p:cNvSpPr/>
            <p:nvPr/>
          </p:nvSpPr>
          <p:spPr>
            <a:xfrm>
              <a:off x="8823959" y="3063240"/>
              <a:ext cx="3502152" cy="640080"/>
            </a:xfrm>
            <a:prstGeom prst="roundRect">
              <a:avLst>
                <a:gd name="adj" fmla="val 10000"/>
              </a:avLst>
            </a:prstGeom>
            <a:solidFill>
              <a:srgbClr val="EEF6F5"/>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_0162"/>
            <p:cNvSpPr txBox="1"/>
            <p:nvPr/>
          </p:nvSpPr>
          <p:spPr>
            <a:xfrm>
              <a:off x="8869680" y="3072384"/>
              <a:ext cx="3410712" cy="621792"/>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233344"/>
                  </a:solidFill>
                  <a:latin typeface="DejaVu Sans"/>
                </a:rPr>
                <a:t>Verifiable rewards</a:t>
              </a:r>
            </a:p>
            <a:p>
              <a:pPr algn="ctr">
                <a:lnSpc>
                  <a:spcPts val="1695"/>
                </a:lnSpc>
                <a:spcBef>
                  <a:spcPts val="0"/>
                </a:spcBef>
                <a:spcAft>
                  <a:spcPts val="0"/>
                </a:spcAft>
              </a:pPr>
              <a:r>
                <a:rPr sz="1500" b="0">
                  <a:solidFill>
                    <a:srgbClr val="233344"/>
                  </a:solidFill>
                  <a:latin typeface="DejaVu Sans"/>
                </a:rPr>
                <a:t>correct: 0.75 · wrong: 0 · gold: 1</a:t>
              </a:r>
            </a:p>
          </p:txBody>
        </p:sp>
      </p:grpSp>
      <p:grpSp>
        <p:nvGrpSpPr>
          <p:cNvPr id="197" name="module_rect_0164"/>
          <p:cNvGrpSpPr/>
          <p:nvPr/>
        </p:nvGrpSpPr>
        <p:grpSpPr>
          <a:xfrm>
            <a:off x="8823959" y="3950208"/>
            <a:ext cx="3502152" cy="594360"/>
            <a:chOff x="8823959" y="3950208"/>
            <a:chExt cx="3502152" cy="594360"/>
          </a:xfrm>
        </p:grpSpPr>
        <p:sp>
          <p:nvSpPr>
            <p:cNvPr id="166" name="rect_0164"/>
            <p:cNvSpPr/>
            <p:nvPr/>
          </p:nvSpPr>
          <p:spPr>
            <a:xfrm>
              <a:off x="8823959" y="3950208"/>
              <a:ext cx="3502152" cy="594360"/>
            </a:xfrm>
            <a:prstGeom prst="roundRect">
              <a:avLst>
                <a:gd name="adj" fmla="val 10769"/>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_0165"/>
            <p:cNvSpPr txBox="1"/>
            <p:nvPr/>
          </p:nvSpPr>
          <p:spPr>
            <a:xfrm>
              <a:off x="8869680" y="3959352"/>
              <a:ext cx="3410712" cy="576072"/>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Filter all-correct groups;</a:t>
              </a:r>
            </a:p>
            <a:p>
              <a:pPr algn="ctr">
                <a:lnSpc>
                  <a:spcPts val="1807"/>
                </a:lnSpc>
                <a:spcBef>
                  <a:spcPts val="0"/>
                </a:spcBef>
                <a:spcAft>
                  <a:spcPts val="0"/>
                </a:spcAft>
              </a:pPr>
              <a:r>
                <a:rPr sz="1600" b="0">
                  <a:solidFill>
                    <a:srgbClr val="233344"/>
                  </a:solidFill>
                  <a:latin typeface="DejaVu Sans"/>
                </a:rPr>
                <a:t>normalize retained rewards</a:t>
              </a:r>
            </a:p>
          </p:txBody>
        </p:sp>
      </p:grpSp>
      <p:grpSp>
        <p:nvGrpSpPr>
          <p:cNvPr id="198" name="module_rect_0167"/>
          <p:cNvGrpSpPr/>
          <p:nvPr/>
        </p:nvGrpSpPr>
        <p:grpSpPr>
          <a:xfrm>
            <a:off x="8823959" y="4800600"/>
            <a:ext cx="3502152" cy="594360"/>
            <a:chOff x="8823959" y="4800600"/>
            <a:chExt cx="3502152" cy="594360"/>
          </a:xfrm>
        </p:grpSpPr>
        <p:sp>
          <p:nvSpPr>
            <p:cNvPr id="169" name="rect_0167"/>
            <p:cNvSpPr/>
            <p:nvPr/>
          </p:nvSpPr>
          <p:spPr>
            <a:xfrm>
              <a:off x="8823959" y="4800600"/>
              <a:ext cx="3502152" cy="594360"/>
            </a:xfrm>
            <a:prstGeom prst="roundRect">
              <a:avLst>
                <a:gd name="adj" fmla="val 10769"/>
              </a:avLst>
            </a:prstGeom>
            <a:solidFill>
              <a:srgbClr val="F4F3F8"/>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_0168"/>
            <p:cNvSpPr txBox="1"/>
            <p:nvPr/>
          </p:nvSpPr>
          <p:spPr>
            <a:xfrm>
              <a:off x="8869680" y="4809744"/>
              <a:ext cx="3410712" cy="576072"/>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Re-noise saved latent endpoints</a:t>
              </a:r>
            </a:p>
            <a:p>
              <a:pPr algn="ctr">
                <a:lnSpc>
                  <a:spcPts val="1807"/>
                </a:lnSpc>
                <a:spcBef>
                  <a:spcPts val="0"/>
                </a:spcBef>
                <a:spcAft>
                  <a:spcPts val="0"/>
                </a:spcAft>
              </a:pPr>
              <a:r>
                <a:rPr sz="1600" b="0">
                  <a:solidFill>
                    <a:srgbClr val="233344"/>
                  </a:solidFill>
                  <a:latin typeface="DejaVu Sans"/>
                </a:rPr>
                <a:t>SCCFG-compatible NFT loss</a:t>
              </a:r>
            </a:p>
          </p:txBody>
        </p:sp>
      </p:grpSp>
      <p:grpSp>
        <p:nvGrpSpPr>
          <p:cNvPr id="199" name="module_rect_0170"/>
          <p:cNvGrpSpPr/>
          <p:nvPr/>
        </p:nvGrpSpPr>
        <p:grpSpPr>
          <a:xfrm>
            <a:off x="8823959" y="5641848"/>
            <a:ext cx="3502152" cy="594360"/>
            <a:chOff x="8823959" y="5641848"/>
            <a:chExt cx="3502152" cy="594360"/>
          </a:xfrm>
        </p:grpSpPr>
        <p:sp>
          <p:nvSpPr>
            <p:cNvPr id="172" name="rect_0170"/>
            <p:cNvSpPr/>
            <p:nvPr/>
          </p:nvSpPr>
          <p:spPr>
            <a:xfrm>
              <a:off x="8823959" y="5641848"/>
              <a:ext cx="3502152" cy="594360"/>
            </a:xfrm>
            <a:prstGeom prst="roundRect">
              <a:avLst>
                <a:gd name="adj" fmla="val 10769"/>
              </a:avLst>
            </a:prstGeom>
            <a:solidFill>
              <a:srgbClr val="EFF4F9"/>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_0171"/>
            <p:cNvSpPr txBox="1"/>
            <p:nvPr/>
          </p:nvSpPr>
          <p:spPr>
            <a:xfrm>
              <a:off x="8869680" y="5650992"/>
              <a:ext cx="3410712" cy="576072"/>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233344"/>
                  </a:solidFill>
                  <a:latin typeface="DejaVu Sans"/>
                </a:rPr>
                <a:t>Update ELF + prompt</a:t>
              </a:r>
            </a:p>
            <a:p>
              <a:pPr algn="ctr">
                <a:lnSpc>
                  <a:spcPts val="1695"/>
                </a:lnSpc>
                <a:spcBef>
                  <a:spcPts val="0"/>
                </a:spcBef>
                <a:spcAft>
                  <a:spcPts val="0"/>
                </a:spcAft>
              </a:pPr>
              <a:r>
                <a:rPr sz="1500" b="0">
                  <a:solidFill>
                    <a:srgbClr val="233344"/>
                  </a:solidFill>
                  <a:latin typeface="DejaVu Sans"/>
                </a:rPr>
                <a:t>Freeze decoder-only weights</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Continuous diffusion reasoning: editable pipeline and NFT diagrams</dc:title>
  <dc:subject>Three native-vector diagram options for paper iteration</dc:subject>
  <dc:creator>Diffusion language paper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