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61872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6 follows the user-uploaded v5. All math is native Office Math; ordinary text and shapes are editable. The user's column-1 ice/fire positions are retained. No shape or text shadows are enabled. Representation CE is CCE(clean teacher distribution, reconstructed-branch distribution), not hard gold labels. The teacher target and Qwen weights are fixed. Reconstruction is applied to assistant activations only; question/control states remain clean. Encoders include the implemented covariance normalization, omitted from this diagram. Middle-column static covers only part of the answer-latent bar and has no quantitative interpretation. The Gaussian bell symbolizes corruption; flow/decoder modes retain their own actual corruption rules. Column 3 clocks are exact powers; illustrative noise states deliberately exaggerate separation. Iterative ELF flow calls include solver updates. Final token decoding also runs the shared ELF backbone, once, with the prompt condition; removing caching details does not remove conditioning. The original ELF Figure 3 informed only the recurrence/terminal-call layout: https://arxiv.org/pdf/2605.10938v1 . No reference figure artwork is reproduced.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effectLst/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effectLst/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effectLst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effectLst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effectLst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effectLst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effectLst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effectLst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effectLst/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effectLst/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effectLst/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effectLst/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effectLst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effectLst/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effectLst/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effectLst/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effectLst/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effectLst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effectLst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effectLst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ipeline_overview_v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effectLst/>
      </p:grpSpPr>
      <p:sp>
        <p:nvSpPr>
          <p:cNvPr id="2" name="v4_path_0000"/>
          <p:cNvSpPr/>
          <p:nvPr/>
        </p:nvSpPr>
        <p:spPr>
          <a:xfrm>
            <a:off x="5084064" y="219456"/>
            <a:ext cx="0" cy="6903720"/>
          </a:xfrm>
          <a:custGeom>
            <a:avLst/>
            <a:gdLst/>
            <a:ahLst/>
            <a:cxnLst/>
            <a:rect l="l" t="t" r="r" b="b"/>
            <a:pathLst>
              <a:path w="0" h="7550">
                <a:moveTo>
                  <a:pt x="0" y="0"/>
                </a:moveTo>
                <a:lnTo>
                  <a:pt x="0" y="7550"/>
                </a:lnTo>
              </a:path>
            </a:pathLst>
          </a:custGeom>
          <a:noFill/>
          <a:ln w="6985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v4_path_0001"/>
          <p:cNvSpPr/>
          <p:nvPr/>
        </p:nvSpPr>
        <p:spPr>
          <a:xfrm>
            <a:off x="8238744" y="219456"/>
            <a:ext cx="0" cy="6903720"/>
          </a:xfrm>
          <a:custGeom>
            <a:avLst/>
            <a:gdLst/>
            <a:ahLst/>
            <a:cxnLst/>
            <a:rect l="l" t="t" r="r" b="b"/>
            <a:pathLst>
              <a:path w="0" h="7550">
                <a:moveTo>
                  <a:pt x="0" y="0"/>
                </a:moveTo>
                <a:lnTo>
                  <a:pt x="0" y="7550"/>
                </a:lnTo>
              </a:path>
            </a:pathLst>
          </a:custGeom>
          <a:noFill/>
          <a:ln w="6985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4_path_0031"/>
          <p:cNvSpPr/>
          <p:nvPr/>
        </p:nvSpPr>
        <p:spPr>
          <a:xfrm>
            <a:off x="1284732" y="1801368"/>
            <a:ext cx="0" cy="146304"/>
          </a:xfrm>
          <a:custGeom>
            <a:avLst/>
            <a:gdLst/>
            <a:ahLst/>
            <a:cxnLst/>
            <a:rect l="l" t="t" r="r" b="b"/>
            <a:pathLst>
              <a:path w="0" h="160">
                <a:moveTo>
                  <a:pt x="0" y="16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4_path_0052"/>
          <p:cNvSpPr/>
          <p:nvPr/>
        </p:nvSpPr>
        <p:spPr>
          <a:xfrm>
            <a:off x="4009644" y="1801368"/>
            <a:ext cx="0" cy="146304"/>
          </a:xfrm>
          <a:custGeom>
            <a:avLst/>
            <a:gdLst/>
            <a:ahLst/>
            <a:cxnLst/>
            <a:rect l="l" t="t" r="r" b="b"/>
            <a:pathLst>
              <a:path w="0" h="160">
                <a:moveTo>
                  <a:pt x="0" y="16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4_shared_prefix_to_h16"/>
          <p:cNvSpPr/>
          <p:nvPr/>
        </p:nvSpPr>
        <p:spPr>
          <a:xfrm>
            <a:off x="1536192" y="3154680"/>
            <a:ext cx="0" cy="740664"/>
          </a:xfrm>
          <a:custGeom>
            <a:avLst/>
            <a:gdLst/>
            <a:ahLst/>
            <a:cxnLst/>
            <a:rect l="l" t="t" r="r" b="b"/>
            <a:pathLst>
              <a:path w="0" h="810">
                <a:moveTo>
                  <a:pt x="0" y="81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4_same_h16_fork"/>
          <p:cNvSpPr/>
          <p:nvPr/>
        </p:nvSpPr>
        <p:spPr>
          <a:xfrm>
            <a:off x="1504188" y="3122676"/>
            <a:ext cx="64008" cy="64008"/>
          </a:xfrm>
          <a:prstGeom prst="roundRect">
            <a:avLst>
              <a:gd name="adj" fmla="val 12000"/>
            </a:avLst>
          </a:prstGeom>
          <a:solidFill>
            <a:srgbClr val="23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4_unchanged_teacher_branch"/>
          <p:cNvSpPr/>
          <p:nvPr/>
        </p:nvSpPr>
        <p:spPr>
          <a:xfrm>
            <a:off x="1284732" y="2578608"/>
            <a:ext cx="251460" cy="576072"/>
          </a:xfrm>
          <a:custGeom>
            <a:avLst/>
            <a:gdLst/>
            <a:ahLst/>
            <a:cxnLst/>
            <a:rect l="l" t="t" r="r" b="b"/>
            <a:pathLst>
              <a:path w="275" h="630">
                <a:moveTo>
                  <a:pt x="275" y="630"/>
                </a:moveTo>
                <a:lnTo>
                  <a:pt x="0" y="63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4_text_0077"/>
          <p:cNvSpPr txBox="1"/>
          <p:nvPr/>
        </p:nvSpPr>
        <p:spPr>
          <a:xfrm>
            <a:off x="438912" y="2816352"/>
            <a:ext cx="722376" cy="23774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Original</a:t>
            </a:r>
          </a:p>
        </p:txBody>
      </p:sp>
      <p:sp>
        <p:nvSpPr>
          <p:cNvPr id="73" name="v4_h16_to_encoder"/>
          <p:cNvSpPr/>
          <p:nvPr/>
        </p:nvSpPr>
        <p:spPr>
          <a:xfrm>
            <a:off x="1572768" y="3154680"/>
            <a:ext cx="795528" cy="0"/>
          </a:xfrm>
          <a:custGeom>
            <a:avLst/>
            <a:gdLst/>
            <a:ahLst/>
            <a:cxnLst/>
            <a:rect l="l" t="t" r="r" b="b"/>
            <a:pathLst>
              <a:path w="870" h="0">
                <a:moveTo>
                  <a:pt x="0" y="0"/>
                </a:moveTo>
                <a:lnTo>
                  <a:pt x="870" y="0"/>
                </a:lnTo>
              </a:path>
            </a:pathLst>
          </a:custGeom>
          <a:noFill/>
          <a:ln w="1651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4_text_0079"/>
          <p:cNvSpPr txBox="1"/>
          <p:nvPr/>
        </p:nvSpPr>
        <p:spPr>
          <a:xfrm>
            <a:off x="1856231" y="2834640"/>
            <a:ext cx="466344" cy="2194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243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58A"/>
                </a:solidFill>
                <a:latin typeface="DejaVu Sans"/>
              </a:rPr>
              <a:t>2560</a:t>
            </a:r>
          </a:p>
        </p:txBody>
      </p:sp>
      <p:sp>
        <p:nvSpPr>
          <p:cNvPr id="75" name="v4_learned_E16"/>
          <p:cNvSpPr/>
          <p:nvPr/>
        </p:nvSpPr>
        <p:spPr>
          <a:xfrm>
            <a:off x="2395728" y="2889504"/>
            <a:ext cx="457200" cy="530352"/>
          </a:xfrm>
          <a:custGeom>
            <a:avLst/>
            <a:gdLst/>
            <a:ahLst/>
            <a:cxnLst/>
            <a:rect l="l" t="t" r="r" b="b"/>
            <a:pathLst>
              <a:path w="500" h="580">
                <a:moveTo>
                  <a:pt x="0" y="0"/>
                </a:moveTo>
                <a:lnTo>
                  <a:pt x="500" y="110"/>
                </a:lnTo>
                <a:lnTo>
                  <a:pt x="500" y="470"/>
                </a:lnTo>
                <a:lnTo>
                  <a:pt x="0" y="580"/>
                </a:lnTo>
                <a:close/>
              </a:path>
            </a:pathLst>
          </a:custGeom>
          <a:solidFill>
            <a:srgbClr val="DFEAF3"/>
          </a:solidFill>
          <a:ln w="1524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4_text_0084"/>
          <p:cNvSpPr txBox="1"/>
          <p:nvPr/>
        </p:nvSpPr>
        <p:spPr>
          <a:xfrm>
            <a:off x="2304288" y="3529584"/>
            <a:ext cx="649224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Encoder</a:t>
            </a:r>
          </a:p>
        </p:txBody>
      </p:sp>
      <p:sp>
        <p:nvSpPr>
          <p:cNvPr id="79" name="v4_path_0085"/>
          <p:cNvSpPr/>
          <p:nvPr/>
        </p:nvSpPr>
        <p:spPr>
          <a:xfrm>
            <a:off x="2880360" y="3154680"/>
            <a:ext cx="173736" cy="0"/>
          </a:xfrm>
          <a:custGeom>
            <a:avLst/>
            <a:gdLst/>
            <a:ahLst/>
            <a:cxnLst/>
            <a:rect l="l" t="t" r="r" b="b"/>
            <a:pathLst>
              <a:path w="190" h="0">
                <a:moveTo>
                  <a:pt x="0" y="0"/>
                </a:moveTo>
                <a:lnTo>
                  <a:pt x="190" y="0"/>
                </a:lnTo>
              </a:path>
            </a:pathLst>
          </a:custGeom>
          <a:noFill/>
          <a:ln w="1651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4_path_0089"/>
          <p:cNvSpPr/>
          <p:nvPr/>
        </p:nvSpPr>
        <p:spPr>
          <a:xfrm>
            <a:off x="3474720" y="3154680"/>
            <a:ext cx="146304" cy="0"/>
          </a:xfrm>
          <a:custGeom>
            <a:avLst/>
            <a:gdLst/>
            <a:ahLst/>
            <a:cxnLst/>
            <a:rect l="l" t="t" r="r" b="b"/>
            <a:pathLst>
              <a:path w="160" h="0">
                <a:moveTo>
                  <a:pt x="0" y="0"/>
                </a:moveTo>
                <a:lnTo>
                  <a:pt x="160" y="0"/>
                </a:lnTo>
              </a:path>
            </a:pathLst>
          </a:custGeom>
          <a:noFill/>
          <a:ln w="1651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4_learned_D16"/>
          <p:cNvSpPr/>
          <p:nvPr/>
        </p:nvSpPr>
        <p:spPr>
          <a:xfrm>
            <a:off x="3648456" y="2889504"/>
            <a:ext cx="457200" cy="530352"/>
          </a:xfrm>
          <a:custGeom>
            <a:avLst/>
            <a:gdLst/>
            <a:ahLst/>
            <a:cxnLst/>
            <a:rect l="l" t="t" r="r" b="b"/>
            <a:pathLst>
              <a:path w="500" h="580">
                <a:moveTo>
                  <a:pt x="0" y="110"/>
                </a:moveTo>
                <a:lnTo>
                  <a:pt x="500" y="0"/>
                </a:lnTo>
                <a:lnTo>
                  <a:pt x="500" y="580"/>
                </a:lnTo>
                <a:lnTo>
                  <a:pt x="0" y="470"/>
                </a:lnTo>
                <a:close/>
              </a:path>
            </a:pathLst>
          </a:custGeom>
          <a:solidFill>
            <a:srgbClr val="DFEAF3"/>
          </a:solidFill>
          <a:ln w="1524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4_text_0094"/>
          <p:cNvSpPr txBox="1"/>
          <p:nvPr/>
        </p:nvSpPr>
        <p:spPr>
          <a:xfrm>
            <a:off x="3575304" y="3529584"/>
            <a:ext cx="676656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Decoder</a:t>
            </a:r>
          </a:p>
        </p:txBody>
      </p:sp>
      <p:sp>
        <p:nvSpPr>
          <p:cNvPr id="86" name="v4_reconstruction_to_frozen_suffix"/>
          <p:cNvSpPr/>
          <p:nvPr/>
        </p:nvSpPr>
        <p:spPr>
          <a:xfrm>
            <a:off x="4133088" y="2578608"/>
            <a:ext cx="320040" cy="576072"/>
          </a:xfrm>
          <a:custGeom>
            <a:avLst/>
            <a:gdLst/>
            <a:ahLst/>
            <a:cxnLst/>
            <a:rect l="l" t="t" r="r" b="b"/>
            <a:pathLst>
              <a:path w="350" h="630">
                <a:moveTo>
                  <a:pt x="0" y="630"/>
                </a:moveTo>
                <a:lnTo>
                  <a:pt x="350" y="630"/>
                </a:lnTo>
                <a:lnTo>
                  <a:pt x="350" y="0"/>
                </a:lnTo>
              </a:path>
            </a:pathLst>
          </a:custGeom>
          <a:noFill/>
          <a:ln w="1524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4_text_0096"/>
          <p:cNvSpPr txBox="1"/>
          <p:nvPr/>
        </p:nvSpPr>
        <p:spPr>
          <a:xfrm>
            <a:off x="4453128" y="2816352"/>
            <a:ext cx="539496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243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58A"/>
                </a:solidFill>
                <a:latin typeface="DejaVu Sans"/>
              </a:rPr>
              <a:t>2560</a:t>
            </a:r>
          </a:p>
        </p:txBody>
      </p:sp>
      <p:sp>
        <p:nvSpPr>
          <p:cNvPr id="92" name="v4_path_0101"/>
          <p:cNvSpPr/>
          <p:nvPr/>
        </p:nvSpPr>
        <p:spPr>
          <a:xfrm>
            <a:off x="1540764" y="4553712"/>
            <a:ext cx="0" cy="91440"/>
          </a:xfrm>
          <a:custGeom>
            <a:avLst/>
            <a:gdLst/>
            <a:ahLst/>
            <a:cxnLst/>
            <a:rect l="l" t="t" r="r" b="b"/>
            <a:pathLst>
              <a:path w="0" h="100">
                <a:moveTo>
                  <a:pt x="0" y="10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4_text_0102"/>
          <p:cNvSpPr txBox="1"/>
          <p:nvPr/>
        </p:nvSpPr>
        <p:spPr>
          <a:xfrm>
            <a:off x="2871216" y="3986784"/>
            <a:ext cx="2002536" cy="4937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58A"/>
                </a:solidFill>
                <a:latin typeface="DejaVu Sans"/>
              </a:rPr>
              <a:t>Layers 24 and 32:</a:t>
            </a:r>
          </a:p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58A"/>
                </a:solidFill>
                <a:latin typeface="DejaVu Sans"/>
              </a:rPr>
              <a:t>learn analogously</a:t>
            </a:r>
          </a:p>
        </p:txBody>
      </p:sp>
      <p:sp>
        <p:nvSpPr>
          <p:cNvPr id="94" name="v4_text_0103"/>
          <p:cNvSpPr txBox="1"/>
          <p:nvPr/>
        </p:nvSpPr>
        <p:spPr>
          <a:xfrm>
            <a:off x="2871216" y="4581144"/>
            <a:ext cx="2002536" cy="4114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Shared frozen</a:t>
            </a:r>
          </a:p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Qwen weights</a:t>
            </a:r>
          </a:p>
        </p:txBody>
      </p:sp>
      <p:sp>
        <p:nvSpPr>
          <p:cNvPr id="95" name="v4_path_0104"/>
          <p:cNvSpPr/>
          <p:nvPr/>
        </p:nvSpPr>
        <p:spPr>
          <a:xfrm>
            <a:off x="402336" y="5202936"/>
            <a:ext cx="4416552" cy="0"/>
          </a:xfrm>
          <a:custGeom>
            <a:avLst/>
            <a:gdLst/>
            <a:ahLst/>
            <a:cxnLst/>
            <a:rect l="l" t="t" r="r" b="b"/>
            <a:pathLst>
              <a:path w="4830" h="0">
                <a:moveTo>
                  <a:pt x="0" y="0"/>
                </a:moveTo>
                <a:lnTo>
                  <a:pt x="4830" y="0"/>
                </a:lnTo>
              </a:path>
            </a:pathLst>
          </a:custGeom>
          <a:noFill/>
          <a:ln w="8890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4_text_0105"/>
          <p:cNvSpPr txBox="1"/>
          <p:nvPr/>
        </p:nvSpPr>
        <p:spPr>
          <a:xfrm>
            <a:off x="402336" y="5312664"/>
            <a:ext cx="4425696" cy="320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6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3344"/>
                </a:solidFill>
                <a:latin typeface="DejaVu Sans"/>
              </a:rPr>
              <a:t>Learned representation (1024-D)</a:t>
            </a:r>
          </a:p>
        </p:txBody>
      </p:sp>
      <p:sp>
        <p:nvSpPr>
          <p:cNvPr id="97" name="v4_text_0106"/>
          <p:cNvSpPr txBox="1"/>
          <p:nvPr/>
        </p:nvSpPr>
        <p:spPr>
          <a:xfrm>
            <a:off x="566927" y="5687568"/>
            <a:ext cx="950976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7AB5"/>
                </a:solidFill>
                <a:latin typeface="DejaVu Sans"/>
              </a:rPr>
              <a:t>Layer 16</a:t>
            </a:r>
          </a:p>
        </p:txBody>
      </p:sp>
      <p:sp>
        <p:nvSpPr>
          <p:cNvPr id="98" name="v4_path_0107"/>
          <p:cNvSpPr/>
          <p:nvPr/>
        </p:nvSpPr>
        <p:spPr>
          <a:xfrm>
            <a:off x="1042416" y="5943600"/>
            <a:ext cx="0" cy="109728"/>
          </a:xfrm>
          <a:custGeom>
            <a:avLst/>
            <a:gdLst/>
            <a:ahLst/>
            <a:cxnLst/>
            <a:rect l="l" t="t" r="r" b="b"/>
            <a:pathLst>
              <a:path w="0" h="120">
                <a:moveTo>
                  <a:pt x="0" y="0"/>
                </a:moveTo>
                <a:lnTo>
                  <a:pt x="0" y="120"/>
                </a:lnTo>
              </a:path>
            </a:pathLst>
          </a:custGeom>
          <a:noFill/>
          <a:ln w="1270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4_final_encoder_L16"/>
          <p:cNvSpPr/>
          <p:nvPr/>
        </p:nvSpPr>
        <p:spPr>
          <a:xfrm>
            <a:off x="786384" y="6080760"/>
            <a:ext cx="512064" cy="320040"/>
          </a:xfrm>
          <a:custGeom>
            <a:avLst/>
            <a:gdLst/>
            <a:ahLst/>
            <a:cxnLst/>
            <a:rect l="l" t="t" r="r" b="b"/>
            <a:pathLst>
              <a:path w="560" h="350">
                <a:moveTo>
                  <a:pt x="0" y="0"/>
                </a:moveTo>
                <a:lnTo>
                  <a:pt x="560" y="0"/>
                </a:lnTo>
                <a:lnTo>
                  <a:pt x="460" y="350"/>
                </a:lnTo>
                <a:lnTo>
                  <a:pt x="100" y="350"/>
                </a:lnTo>
                <a:close/>
              </a:path>
            </a:pathLst>
          </a:custGeom>
          <a:solidFill>
            <a:srgbClr val="E5EEF5"/>
          </a:solidFill>
          <a:ln w="1524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v4_path_0128"/>
          <p:cNvSpPr/>
          <p:nvPr/>
        </p:nvSpPr>
        <p:spPr>
          <a:xfrm>
            <a:off x="1042416" y="6428232"/>
            <a:ext cx="0" cy="100584"/>
          </a:xfrm>
          <a:custGeom>
            <a:avLst/>
            <a:gdLst/>
            <a:ahLst/>
            <a:cxnLst/>
            <a:rect l="l" t="t" r="r" b="b"/>
            <a:pathLst>
              <a:path w="0" h="110">
                <a:moveTo>
                  <a:pt x="0" y="0"/>
                </a:moveTo>
                <a:lnTo>
                  <a:pt x="0" y="110"/>
                </a:lnTo>
              </a:path>
            </a:pathLst>
          </a:custGeom>
          <a:noFill/>
          <a:ln w="1270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v4_concatenated_L16"/>
          <p:cNvSpPr/>
          <p:nvPr/>
        </p:nvSpPr>
        <p:spPr>
          <a:xfrm>
            <a:off x="539496" y="6556248"/>
            <a:ext cx="1005840" cy="301752"/>
          </a:xfrm>
          <a:prstGeom prst="rect">
            <a:avLst/>
          </a:prstGeom>
          <a:solidFill>
            <a:srgbClr val="BFD4E7"/>
          </a:solidFill>
          <a:ln w="1270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v4_text_0130"/>
          <p:cNvSpPr txBox="1"/>
          <p:nvPr/>
        </p:nvSpPr>
        <p:spPr>
          <a:xfrm>
            <a:off x="539496" y="6574536"/>
            <a:ext cx="10058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67AB5"/>
                </a:solidFill>
                <a:latin typeface="DejaVu Sans"/>
              </a:rPr>
              <a:t>256</a:t>
            </a:r>
          </a:p>
        </p:txBody>
      </p:sp>
      <p:sp>
        <p:nvSpPr>
          <p:cNvPr id="121" name="v4_text_0131"/>
          <p:cNvSpPr txBox="1"/>
          <p:nvPr/>
        </p:nvSpPr>
        <p:spPr>
          <a:xfrm>
            <a:off x="1572768" y="5687568"/>
            <a:ext cx="950976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88A35"/>
                </a:solidFill>
                <a:latin typeface="DejaVu Sans"/>
              </a:rPr>
              <a:t>Layer 24</a:t>
            </a:r>
          </a:p>
        </p:txBody>
      </p:sp>
      <p:sp>
        <p:nvSpPr>
          <p:cNvPr id="122" name="v4_path_0132"/>
          <p:cNvSpPr/>
          <p:nvPr/>
        </p:nvSpPr>
        <p:spPr>
          <a:xfrm>
            <a:off x="2048256" y="5943600"/>
            <a:ext cx="0" cy="109728"/>
          </a:xfrm>
          <a:custGeom>
            <a:avLst/>
            <a:gdLst/>
            <a:ahLst/>
            <a:cxnLst/>
            <a:rect l="l" t="t" r="r" b="b"/>
            <a:pathLst>
              <a:path w="0" h="120">
                <a:moveTo>
                  <a:pt x="0" y="0"/>
                </a:moveTo>
                <a:lnTo>
                  <a:pt x="0" y="120"/>
                </a:lnTo>
              </a:path>
            </a:pathLst>
          </a:custGeom>
          <a:noFill/>
          <a:ln w="12700">
            <a:solidFill>
              <a:srgbClr val="C88A3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v4_final_encoder_L24"/>
          <p:cNvSpPr/>
          <p:nvPr/>
        </p:nvSpPr>
        <p:spPr>
          <a:xfrm>
            <a:off x="1792224" y="6080760"/>
            <a:ext cx="512064" cy="320040"/>
          </a:xfrm>
          <a:custGeom>
            <a:avLst/>
            <a:gdLst/>
            <a:ahLst/>
            <a:cxnLst/>
            <a:rect l="l" t="t" r="r" b="b"/>
            <a:pathLst>
              <a:path w="560" h="350">
                <a:moveTo>
                  <a:pt x="0" y="0"/>
                </a:moveTo>
                <a:lnTo>
                  <a:pt x="560" y="0"/>
                </a:lnTo>
                <a:lnTo>
                  <a:pt x="460" y="350"/>
                </a:lnTo>
                <a:lnTo>
                  <a:pt x="100" y="350"/>
                </a:lnTo>
                <a:close/>
              </a:path>
            </a:pathLst>
          </a:custGeom>
          <a:solidFill>
            <a:srgbClr val="F8F0E5"/>
          </a:solidFill>
          <a:ln w="15240">
            <a:solidFill>
              <a:srgbClr val="C88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v4_path_0153"/>
          <p:cNvSpPr/>
          <p:nvPr/>
        </p:nvSpPr>
        <p:spPr>
          <a:xfrm>
            <a:off x="2048256" y="6428232"/>
            <a:ext cx="0" cy="100584"/>
          </a:xfrm>
          <a:custGeom>
            <a:avLst/>
            <a:gdLst/>
            <a:ahLst/>
            <a:cxnLst/>
            <a:rect l="l" t="t" r="r" b="b"/>
            <a:pathLst>
              <a:path w="0" h="110">
                <a:moveTo>
                  <a:pt x="0" y="0"/>
                </a:moveTo>
                <a:lnTo>
                  <a:pt x="0" y="110"/>
                </a:lnTo>
              </a:path>
            </a:pathLst>
          </a:custGeom>
          <a:noFill/>
          <a:ln w="12700">
            <a:solidFill>
              <a:srgbClr val="C88A3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v4_concatenated_L24"/>
          <p:cNvSpPr/>
          <p:nvPr/>
        </p:nvSpPr>
        <p:spPr>
          <a:xfrm>
            <a:off x="1545336" y="6556248"/>
            <a:ext cx="1005840" cy="301752"/>
          </a:xfrm>
          <a:prstGeom prst="rect">
            <a:avLst/>
          </a:prstGeom>
          <a:solidFill>
            <a:srgbClr val="EDDABE"/>
          </a:solidFill>
          <a:ln w="12700">
            <a:solidFill>
              <a:srgbClr val="C88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v4_text_0155"/>
          <p:cNvSpPr txBox="1"/>
          <p:nvPr/>
        </p:nvSpPr>
        <p:spPr>
          <a:xfrm>
            <a:off x="1545336" y="6574536"/>
            <a:ext cx="10058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88A35"/>
                </a:solidFill>
                <a:latin typeface="DejaVu Sans"/>
              </a:rPr>
              <a:t>256</a:t>
            </a:r>
          </a:p>
        </p:txBody>
      </p:sp>
      <p:sp>
        <p:nvSpPr>
          <p:cNvPr id="145" name="v4_text_0156"/>
          <p:cNvSpPr txBox="1"/>
          <p:nvPr/>
        </p:nvSpPr>
        <p:spPr>
          <a:xfrm>
            <a:off x="3081528" y="5687568"/>
            <a:ext cx="950976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C917F"/>
                </a:solidFill>
                <a:latin typeface="DejaVu Sans"/>
              </a:rPr>
              <a:t>Layer 32</a:t>
            </a:r>
          </a:p>
        </p:txBody>
      </p:sp>
      <p:sp>
        <p:nvSpPr>
          <p:cNvPr id="146" name="v4_path_0157"/>
          <p:cNvSpPr/>
          <p:nvPr/>
        </p:nvSpPr>
        <p:spPr>
          <a:xfrm>
            <a:off x="3557016" y="5943600"/>
            <a:ext cx="0" cy="109728"/>
          </a:xfrm>
          <a:custGeom>
            <a:avLst/>
            <a:gdLst/>
            <a:ahLst/>
            <a:cxnLst/>
            <a:rect l="l" t="t" r="r" b="b"/>
            <a:pathLst>
              <a:path w="0" h="120">
                <a:moveTo>
                  <a:pt x="0" y="0"/>
                </a:moveTo>
                <a:lnTo>
                  <a:pt x="0" y="120"/>
                </a:lnTo>
              </a:path>
            </a:pathLst>
          </a:custGeom>
          <a:noFill/>
          <a:ln w="12700">
            <a:solidFill>
              <a:srgbClr val="2C917F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v4_final_encoder_L32"/>
          <p:cNvSpPr/>
          <p:nvPr/>
        </p:nvSpPr>
        <p:spPr>
          <a:xfrm>
            <a:off x="3300984" y="6080760"/>
            <a:ext cx="512064" cy="320040"/>
          </a:xfrm>
          <a:custGeom>
            <a:avLst/>
            <a:gdLst/>
            <a:ahLst/>
            <a:cxnLst/>
            <a:rect l="l" t="t" r="r" b="b"/>
            <a:pathLst>
              <a:path w="560" h="350">
                <a:moveTo>
                  <a:pt x="0" y="0"/>
                </a:moveTo>
                <a:lnTo>
                  <a:pt x="560" y="0"/>
                </a:lnTo>
                <a:lnTo>
                  <a:pt x="460" y="350"/>
                </a:lnTo>
                <a:lnTo>
                  <a:pt x="100" y="350"/>
                </a:lnTo>
                <a:close/>
              </a:path>
            </a:pathLst>
          </a:custGeom>
          <a:solidFill>
            <a:srgbClr val="E4F1EE"/>
          </a:solidFill>
          <a:ln w="15240">
            <a:solidFill>
              <a:srgbClr val="2C9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v4_path_0178"/>
          <p:cNvSpPr/>
          <p:nvPr/>
        </p:nvSpPr>
        <p:spPr>
          <a:xfrm>
            <a:off x="3557016" y="6428232"/>
            <a:ext cx="0" cy="100584"/>
          </a:xfrm>
          <a:custGeom>
            <a:avLst/>
            <a:gdLst/>
            <a:ahLst/>
            <a:cxnLst/>
            <a:rect l="l" t="t" r="r" b="b"/>
            <a:pathLst>
              <a:path w="0" h="110">
                <a:moveTo>
                  <a:pt x="0" y="0"/>
                </a:moveTo>
                <a:lnTo>
                  <a:pt x="0" y="110"/>
                </a:lnTo>
              </a:path>
            </a:pathLst>
          </a:custGeom>
          <a:noFill/>
          <a:ln w="12700">
            <a:solidFill>
              <a:srgbClr val="2C917F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v4_concatenated_L32"/>
          <p:cNvSpPr/>
          <p:nvPr/>
        </p:nvSpPr>
        <p:spPr>
          <a:xfrm>
            <a:off x="2551176" y="6556248"/>
            <a:ext cx="2011680" cy="301752"/>
          </a:xfrm>
          <a:prstGeom prst="rect">
            <a:avLst/>
          </a:prstGeom>
          <a:solidFill>
            <a:srgbClr val="BBDCD6"/>
          </a:solidFill>
          <a:ln w="12700">
            <a:solidFill>
              <a:srgbClr val="2C9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v4_text_0180"/>
          <p:cNvSpPr txBox="1"/>
          <p:nvPr/>
        </p:nvSpPr>
        <p:spPr>
          <a:xfrm>
            <a:off x="2551176" y="6574536"/>
            <a:ext cx="20116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917F"/>
                </a:solidFill>
                <a:latin typeface="DejaVu Sans"/>
              </a:rPr>
              <a:t>512</a:t>
            </a:r>
          </a:p>
        </p:txBody>
      </p:sp>
      <p:sp>
        <p:nvSpPr>
          <p:cNvPr id="187" name="v4_text_0199"/>
          <p:cNvSpPr txBox="1"/>
          <p:nvPr/>
        </p:nvSpPr>
        <p:spPr>
          <a:xfrm>
            <a:off x="667512" y="6967728"/>
            <a:ext cx="832104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58A"/>
                </a:solidFill>
                <a:latin typeface="DejaVu Sans"/>
              </a:rPr>
              <a:t>Frozen</a:t>
            </a:r>
          </a:p>
        </p:txBody>
      </p:sp>
      <p:sp>
        <p:nvSpPr>
          <p:cNvPr id="190" name="v4_text_0202"/>
          <p:cNvSpPr txBox="1"/>
          <p:nvPr/>
        </p:nvSpPr>
        <p:spPr>
          <a:xfrm>
            <a:off x="1965960" y="6967728"/>
            <a:ext cx="950976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58A"/>
                </a:solidFill>
                <a:latin typeface="DejaVu Sans"/>
              </a:rPr>
              <a:t>Trained</a:t>
            </a:r>
          </a:p>
        </p:txBody>
      </p:sp>
      <p:sp>
        <p:nvSpPr>
          <p:cNvPr id="191" name="CCE_loss_frame"/>
          <p:cNvSpPr/>
          <p:nvPr/>
        </p:nvSpPr>
        <p:spPr>
          <a:xfrm>
            <a:off x="512064" y="950976"/>
            <a:ext cx="4315968" cy="420624"/>
          </a:xfrm>
          <a:prstGeom prst="roundRect">
            <a:avLst>
              <a:gd name="adj" fmla="val 10869"/>
            </a:avLst>
          </a:prstGeom>
          <a:solidFill>
            <a:srgbClr val="FBF7F7"/>
          </a:solidFill>
          <a:ln w="12700">
            <a:solidFill>
              <a:srgbClr val="B86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path_0201"/>
          <p:cNvSpPr/>
          <p:nvPr/>
        </p:nvSpPr>
        <p:spPr>
          <a:xfrm>
            <a:off x="1289304" y="1399032"/>
            <a:ext cx="0" cy="91440"/>
          </a:xfrm>
          <a:custGeom>
            <a:avLst/>
            <a:gdLst/>
            <a:ahLst/>
            <a:cxnLst/>
            <a:rect l="l" t="t" r="r" b="b"/>
            <a:pathLst>
              <a:path w="0" h="100">
                <a:moveTo>
                  <a:pt x="0" y="10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path_0202"/>
          <p:cNvSpPr/>
          <p:nvPr/>
        </p:nvSpPr>
        <p:spPr>
          <a:xfrm>
            <a:off x="4018788" y="1399032"/>
            <a:ext cx="0" cy="91440"/>
          </a:xfrm>
          <a:custGeom>
            <a:avLst/>
            <a:gdLst/>
            <a:ahLst/>
            <a:cxnLst/>
            <a:rect l="l" t="t" r="r" b="b"/>
            <a:pathLst>
              <a:path w="0" h="100">
                <a:moveTo>
                  <a:pt x="0" y="10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_0208"/>
          <p:cNvSpPr txBox="1"/>
          <p:nvPr/>
        </p:nvSpPr>
        <p:spPr>
          <a:xfrm>
            <a:off x="6766560" y="932688"/>
            <a:ext cx="1271016" cy="40233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3344"/>
                </a:solidFill>
                <a:latin typeface="DejaVu Sans"/>
              </a:rPr>
              <a:t>Clean answer</a:t>
            </a:r>
          </a:p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3344"/>
                </a:solidFill>
                <a:latin typeface="DejaVu Sans"/>
              </a:rPr>
              <a:t>latents</a:t>
            </a:r>
          </a:p>
        </p:txBody>
      </p:sp>
      <p:sp>
        <p:nvSpPr>
          <p:cNvPr id="204" name="path_0213"/>
          <p:cNvSpPr/>
          <p:nvPr/>
        </p:nvSpPr>
        <p:spPr>
          <a:xfrm>
            <a:off x="5934456" y="1453896"/>
            <a:ext cx="0" cy="438912"/>
          </a:xfrm>
          <a:custGeom>
            <a:avLst/>
            <a:gdLst/>
            <a:ahLst/>
            <a:cxnLst/>
            <a:rect l="l" t="t" r="r" b="b"/>
            <a:pathLst>
              <a:path w="0" h="480">
                <a:moveTo>
                  <a:pt x="0" y="0"/>
                </a:moveTo>
                <a:lnTo>
                  <a:pt x="0" y="480"/>
                </a:lnTo>
              </a:path>
            </a:pathLst>
          </a:custGeom>
          <a:noFill/>
          <a:ln w="16510">
            <a:solidFill>
              <a:srgbClr val="7965A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path_0218"/>
          <p:cNvSpPr/>
          <p:nvPr/>
        </p:nvSpPr>
        <p:spPr>
          <a:xfrm>
            <a:off x="7397496" y="1719072"/>
            <a:ext cx="0" cy="155448"/>
          </a:xfrm>
          <a:custGeom>
            <a:avLst/>
            <a:gdLst/>
            <a:ahLst/>
            <a:cxnLst/>
            <a:rect l="l" t="t" r="r" b="b"/>
            <a:pathLst>
              <a:path w="0" h="170">
                <a:moveTo>
                  <a:pt x="0" y="0"/>
                </a:moveTo>
                <a:lnTo>
                  <a:pt x="0" y="17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Gaussian_fill"/>
          <p:cNvSpPr/>
          <p:nvPr/>
        </p:nvSpPr>
        <p:spPr>
          <a:xfrm>
            <a:off x="7114032" y="1920240"/>
            <a:ext cx="621792" cy="393192"/>
          </a:xfrm>
          <a:custGeom>
            <a:avLst/>
            <a:gdLst/>
            <a:ahLst/>
            <a:cxnLst/>
            <a:rect l="l" t="t" r="r" b="b"/>
            <a:pathLst>
              <a:path w="680" h="430">
                <a:moveTo>
                  <a:pt x="0" y="430"/>
                </a:moveTo>
                <a:lnTo>
                  <a:pt x="0" y="425"/>
                </a:lnTo>
                <a:lnTo>
                  <a:pt x="11" y="424"/>
                </a:lnTo>
                <a:lnTo>
                  <a:pt x="23" y="421"/>
                </a:lnTo>
                <a:lnTo>
                  <a:pt x="34" y="419"/>
                </a:lnTo>
                <a:lnTo>
                  <a:pt x="45" y="415"/>
                </a:lnTo>
                <a:lnTo>
                  <a:pt x="57" y="411"/>
                </a:lnTo>
                <a:lnTo>
                  <a:pt x="68" y="406"/>
                </a:lnTo>
                <a:lnTo>
                  <a:pt x="79" y="399"/>
                </a:lnTo>
                <a:lnTo>
                  <a:pt x="91" y="392"/>
                </a:lnTo>
                <a:lnTo>
                  <a:pt x="102" y="383"/>
                </a:lnTo>
                <a:lnTo>
                  <a:pt x="113" y="372"/>
                </a:lnTo>
                <a:lnTo>
                  <a:pt x="125" y="359"/>
                </a:lnTo>
                <a:lnTo>
                  <a:pt x="136" y="345"/>
                </a:lnTo>
                <a:lnTo>
                  <a:pt x="147" y="329"/>
                </a:lnTo>
                <a:lnTo>
                  <a:pt x="159" y="310"/>
                </a:lnTo>
                <a:lnTo>
                  <a:pt x="170" y="290"/>
                </a:lnTo>
                <a:lnTo>
                  <a:pt x="181" y="269"/>
                </a:lnTo>
                <a:lnTo>
                  <a:pt x="193" y="245"/>
                </a:lnTo>
                <a:lnTo>
                  <a:pt x="204" y="221"/>
                </a:lnTo>
                <a:lnTo>
                  <a:pt x="215" y="195"/>
                </a:lnTo>
                <a:lnTo>
                  <a:pt x="227" y="169"/>
                </a:lnTo>
                <a:lnTo>
                  <a:pt x="238" y="143"/>
                </a:lnTo>
                <a:lnTo>
                  <a:pt x="249" y="118"/>
                </a:lnTo>
                <a:lnTo>
                  <a:pt x="261" y="93"/>
                </a:lnTo>
                <a:lnTo>
                  <a:pt x="272" y="71"/>
                </a:lnTo>
                <a:lnTo>
                  <a:pt x="283" y="51"/>
                </a:lnTo>
                <a:lnTo>
                  <a:pt x="295" y="33"/>
                </a:lnTo>
                <a:lnTo>
                  <a:pt x="306" y="19"/>
                </a:lnTo>
                <a:lnTo>
                  <a:pt x="317" y="9"/>
                </a:lnTo>
                <a:lnTo>
                  <a:pt x="329" y="2"/>
                </a:lnTo>
                <a:lnTo>
                  <a:pt x="340" y="0"/>
                </a:lnTo>
                <a:lnTo>
                  <a:pt x="351" y="2"/>
                </a:lnTo>
                <a:lnTo>
                  <a:pt x="363" y="9"/>
                </a:lnTo>
                <a:lnTo>
                  <a:pt x="374" y="19"/>
                </a:lnTo>
                <a:lnTo>
                  <a:pt x="385" y="33"/>
                </a:lnTo>
                <a:lnTo>
                  <a:pt x="397" y="51"/>
                </a:lnTo>
                <a:lnTo>
                  <a:pt x="408" y="71"/>
                </a:lnTo>
                <a:lnTo>
                  <a:pt x="419" y="93"/>
                </a:lnTo>
                <a:lnTo>
                  <a:pt x="431" y="118"/>
                </a:lnTo>
                <a:lnTo>
                  <a:pt x="442" y="143"/>
                </a:lnTo>
                <a:lnTo>
                  <a:pt x="453" y="169"/>
                </a:lnTo>
                <a:lnTo>
                  <a:pt x="465" y="195"/>
                </a:lnTo>
                <a:lnTo>
                  <a:pt x="476" y="221"/>
                </a:lnTo>
                <a:lnTo>
                  <a:pt x="487" y="245"/>
                </a:lnTo>
                <a:lnTo>
                  <a:pt x="499" y="269"/>
                </a:lnTo>
                <a:lnTo>
                  <a:pt x="510" y="290"/>
                </a:lnTo>
                <a:lnTo>
                  <a:pt x="521" y="310"/>
                </a:lnTo>
                <a:lnTo>
                  <a:pt x="533" y="329"/>
                </a:lnTo>
                <a:lnTo>
                  <a:pt x="544" y="345"/>
                </a:lnTo>
                <a:lnTo>
                  <a:pt x="555" y="359"/>
                </a:lnTo>
                <a:lnTo>
                  <a:pt x="567" y="372"/>
                </a:lnTo>
                <a:lnTo>
                  <a:pt x="578" y="383"/>
                </a:lnTo>
                <a:lnTo>
                  <a:pt x="589" y="392"/>
                </a:lnTo>
                <a:lnTo>
                  <a:pt x="601" y="399"/>
                </a:lnTo>
                <a:lnTo>
                  <a:pt x="612" y="406"/>
                </a:lnTo>
                <a:lnTo>
                  <a:pt x="623" y="411"/>
                </a:lnTo>
                <a:lnTo>
                  <a:pt x="635" y="415"/>
                </a:lnTo>
                <a:lnTo>
                  <a:pt x="646" y="419"/>
                </a:lnTo>
                <a:lnTo>
                  <a:pt x="657" y="421"/>
                </a:lnTo>
                <a:lnTo>
                  <a:pt x="669" y="424"/>
                </a:lnTo>
                <a:lnTo>
                  <a:pt x="680" y="425"/>
                </a:lnTo>
                <a:lnTo>
                  <a:pt x="680" y="430"/>
                </a:lnTo>
                <a:close/>
              </a:path>
            </a:pathLst>
          </a:custGeom>
          <a:solidFill>
            <a:srgbClr val="EEF0F2"/>
          </a:solidFill>
          <a:ln w="6350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editable_Gaussian_bell_curve"/>
          <p:cNvSpPr/>
          <p:nvPr/>
        </p:nvSpPr>
        <p:spPr>
          <a:xfrm>
            <a:off x="7114032" y="1920240"/>
            <a:ext cx="621792" cy="388620"/>
          </a:xfrm>
          <a:custGeom>
            <a:avLst/>
            <a:gdLst/>
            <a:ahLst/>
            <a:cxnLst/>
            <a:rect l="l" t="t" r="r" b="b"/>
            <a:pathLst>
              <a:path w="680" h="425">
                <a:moveTo>
                  <a:pt x="0" y="425"/>
                </a:moveTo>
                <a:lnTo>
                  <a:pt x="11" y="424"/>
                </a:lnTo>
                <a:lnTo>
                  <a:pt x="23" y="421"/>
                </a:lnTo>
                <a:lnTo>
                  <a:pt x="34" y="419"/>
                </a:lnTo>
                <a:lnTo>
                  <a:pt x="45" y="415"/>
                </a:lnTo>
                <a:lnTo>
                  <a:pt x="57" y="411"/>
                </a:lnTo>
                <a:lnTo>
                  <a:pt x="68" y="406"/>
                </a:lnTo>
                <a:lnTo>
                  <a:pt x="79" y="399"/>
                </a:lnTo>
                <a:lnTo>
                  <a:pt x="91" y="392"/>
                </a:lnTo>
                <a:lnTo>
                  <a:pt x="102" y="383"/>
                </a:lnTo>
                <a:lnTo>
                  <a:pt x="113" y="372"/>
                </a:lnTo>
                <a:lnTo>
                  <a:pt x="125" y="359"/>
                </a:lnTo>
                <a:lnTo>
                  <a:pt x="136" y="345"/>
                </a:lnTo>
                <a:lnTo>
                  <a:pt x="147" y="329"/>
                </a:lnTo>
                <a:lnTo>
                  <a:pt x="159" y="310"/>
                </a:lnTo>
                <a:lnTo>
                  <a:pt x="170" y="290"/>
                </a:lnTo>
                <a:lnTo>
                  <a:pt x="181" y="269"/>
                </a:lnTo>
                <a:lnTo>
                  <a:pt x="193" y="245"/>
                </a:lnTo>
                <a:lnTo>
                  <a:pt x="204" y="221"/>
                </a:lnTo>
                <a:lnTo>
                  <a:pt x="215" y="195"/>
                </a:lnTo>
                <a:lnTo>
                  <a:pt x="227" y="169"/>
                </a:lnTo>
                <a:lnTo>
                  <a:pt x="238" y="143"/>
                </a:lnTo>
                <a:lnTo>
                  <a:pt x="249" y="118"/>
                </a:lnTo>
                <a:lnTo>
                  <a:pt x="261" y="93"/>
                </a:lnTo>
                <a:lnTo>
                  <a:pt x="272" y="71"/>
                </a:lnTo>
                <a:lnTo>
                  <a:pt x="283" y="51"/>
                </a:lnTo>
                <a:lnTo>
                  <a:pt x="295" y="33"/>
                </a:lnTo>
                <a:lnTo>
                  <a:pt x="306" y="19"/>
                </a:lnTo>
                <a:lnTo>
                  <a:pt x="317" y="9"/>
                </a:lnTo>
                <a:lnTo>
                  <a:pt x="329" y="2"/>
                </a:lnTo>
                <a:lnTo>
                  <a:pt x="340" y="0"/>
                </a:lnTo>
                <a:lnTo>
                  <a:pt x="351" y="2"/>
                </a:lnTo>
                <a:lnTo>
                  <a:pt x="363" y="9"/>
                </a:lnTo>
                <a:lnTo>
                  <a:pt x="374" y="19"/>
                </a:lnTo>
                <a:lnTo>
                  <a:pt x="385" y="33"/>
                </a:lnTo>
                <a:lnTo>
                  <a:pt x="397" y="51"/>
                </a:lnTo>
                <a:lnTo>
                  <a:pt x="408" y="71"/>
                </a:lnTo>
                <a:lnTo>
                  <a:pt x="419" y="93"/>
                </a:lnTo>
                <a:lnTo>
                  <a:pt x="431" y="118"/>
                </a:lnTo>
                <a:lnTo>
                  <a:pt x="442" y="143"/>
                </a:lnTo>
                <a:lnTo>
                  <a:pt x="453" y="169"/>
                </a:lnTo>
                <a:lnTo>
                  <a:pt x="465" y="195"/>
                </a:lnTo>
                <a:lnTo>
                  <a:pt x="476" y="221"/>
                </a:lnTo>
                <a:lnTo>
                  <a:pt x="487" y="245"/>
                </a:lnTo>
                <a:lnTo>
                  <a:pt x="499" y="269"/>
                </a:lnTo>
                <a:lnTo>
                  <a:pt x="510" y="290"/>
                </a:lnTo>
                <a:lnTo>
                  <a:pt x="521" y="310"/>
                </a:lnTo>
                <a:lnTo>
                  <a:pt x="533" y="329"/>
                </a:lnTo>
                <a:lnTo>
                  <a:pt x="544" y="345"/>
                </a:lnTo>
                <a:lnTo>
                  <a:pt x="555" y="359"/>
                </a:lnTo>
                <a:lnTo>
                  <a:pt x="567" y="372"/>
                </a:lnTo>
                <a:lnTo>
                  <a:pt x="578" y="383"/>
                </a:lnTo>
                <a:lnTo>
                  <a:pt x="589" y="392"/>
                </a:lnTo>
                <a:lnTo>
                  <a:pt x="601" y="399"/>
                </a:lnTo>
                <a:lnTo>
                  <a:pt x="612" y="406"/>
                </a:lnTo>
                <a:lnTo>
                  <a:pt x="623" y="411"/>
                </a:lnTo>
                <a:lnTo>
                  <a:pt x="635" y="415"/>
                </a:lnTo>
                <a:lnTo>
                  <a:pt x="646" y="419"/>
                </a:lnTo>
                <a:lnTo>
                  <a:pt x="657" y="421"/>
                </a:lnTo>
                <a:lnTo>
                  <a:pt x="669" y="424"/>
                </a:lnTo>
                <a:lnTo>
                  <a:pt x="680" y="425"/>
                </a:lnTo>
              </a:path>
            </a:pathLst>
          </a:custGeom>
          <a:noFill/>
          <a:ln w="20320">
            <a:solidFill>
              <a:srgbClr val="63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path_0221"/>
          <p:cNvSpPr/>
          <p:nvPr/>
        </p:nvSpPr>
        <p:spPr>
          <a:xfrm>
            <a:off x="7086600" y="2313432"/>
            <a:ext cx="676656" cy="0"/>
          </a:xfrm>
          <a:custGeom>
            <a:avLst/>
            <a:gdLst/>
            <a:ahLst/>
            <a:cxnLst/>
            <a:rect l="l" t="t" r="r" b="b"/>
            <a:pathLst>
              <a:path w="740" h="0">
                <a:moveTo>
                  <a:pt x="0" y="0"/>
                </a:moveTo>
                <a:lnTo>
                  <a:pt x="740" y="0"/>
                </a:lnTo>
              </a:path>
            </a:pathLst>
          </a:custGeom>
          <a:noFill/>
          <a:ln w="8255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path_0224"/>
          <p:cNvSpPr/>
          <p:nvPr/>
        </p:nvSpPr>
        <p:spPr>
          <a:xfrm>
            <a:off x="7397496" y="2395728"/>
            <a:ext cx="0" cy="347472"/>
          </a:xfrm>
          <a:custGeom>
            <a:avLst/>
            <a:gdLst/>
            <a:ahLst/>
            <a:cxnLst/>
            <a:rect l="l" t="t" r="r" b="b"/>
            <a:pathLst>
              <a:path w="0" h="380">
                <a:moveTo>
                  <a:pt x="0" y="0"/>
                </a:moveTo>
                <a:lnTo>
                  <a:pt x="0" y="38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path_0225"/>
          <p:cNvSpPr/>
          <p:nvPr/>
        </p:nvSpPr>
        <p:spPr>
          <a:xfrm>
            <a:off x="5961888" y="2578608"/>
            <a:ext cx="0" cy="164592"/>
          </a:xfrm>
          <a:custGeom>
            <a:avLst/>
            <a:gdLst/>
            <a:ahLst/>
            <a:cxnLst/>
            <a:rect l="l" t="t" r="r" b="b"/>
            <a:pathLst>
              <a:path w="0" h="180">
                <a:moveTo>
                  <a:pt x="0" y="0"/>
                </a:moveTo>
                <a:lnTo>
                  <a:pt x="0" y="180"/>
                </a:lnTo>
              </a:path>
            </a:pathLst>
          </a:custGeom>
          <a:noFill/>
          <a:ln w="16510">
            <a:solidFill>
              <a:srgbClr val="7965A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_0226"/>
          <p:cNvSpPr txBox="1"/>
          <p:nvPr/>
        </p:nvSpPr>
        <p:spPr>
          <a:xfrm>
            <a:off x="5312664" y="2779776"/>
            <a:ext cx="1307592" cy="3840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965AA"/>
                </a:solidFill>
                <a:latin typeface="DejaVu Sans"/>
              </a:rPr>
              <a:t>Clean question</a:t>
            </a:r>
          </a:p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965AA"/>
                </a:solidFill>
                <a:latin typeface="DejaVu Sans"/>
              </a:rPr>
              <a:t>latents</a:t>
            </a:r>
          </a:p>
        </p:txBody>
      </p:sp>
      <p:sp>
        <p:nvSpPr>
          <p:cNvPr id="216" name="text_0227"/>
          <p:cNvSpPr txBox="1"/>
          <p:nvPr/>
        </p:nvSpPr>
        <p:spPr>
          <a:xfrm>
            <a:off x="6748272" y="2779776"/>
            <a:ext cx="1307592" cy="3840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344"/>
                </a:solidFill>
                <a:latin typeface="DejaVu Sans"/>
              </a:rPr>
              <a:t>Noisy answer</a:t>
            </a:r>
          </a:p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344"/>
                </a:solidFill>
                <a:latin typeface="DejaVu Sans"/>
              </a:rPr>
              <a:t>latents</a:t>
            </a:r>
          </a:p>
        </p:txBody>
      </p:sp>
      <p:sp>
        <p:nvSpPr>
          <p:cNvPr id="333" name="path_0344"/>
          <p:cNvSpPr/>
          <p:nvPr/>
        </p:nvSpPr>
        <p:spPr>
          <a:xfrm>
            <a:off x="5971032" y="3547872"/>
            <a:ext cx="690372" cy="329184"/>
          </a:xfrm>
          <a:custGeom>
            <a:avLst/>
            <a:gdLst/>
            <a:ahLst/>
            <a:cxnLst/>
            <a:rect l="l" t="t" r="r" b="b"/>
            <a:pathLst>
              <a:path w="755" h="360">
                <a:moveTo>
                  <a:pt x="0" y="0"/>
                </a:moveTo>
                <a:lnTo>
                  <a:pt x="0" y="160"/>
                </a:lnTo>
                <a:lnTo>
                  <a:pt x="755" y="160"/>
                </a:lnTo>
                <a:lnTo>
                  <a:pt x="755" y="360"/>
                </a:lnTo>
              </a:path>
            </a:pathLst>
          </a:custGeom>
          <a:noFill/>
          <a:ln w="15240">
            <a:solidFill>
              <a:srgbClr val="23334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path_0345"/>
          <p:cNvSpPr/>
          <p:nvPr/>
        </p:nvSpPr>
        <p:spPr>
          <a:xfrm>
            <a:off x="6661404" y="3547872"/>
            <a:ext cx="736092" cy="146304"/>
          </a:xfrm>
          <a:custGeom>
            <a:avLst/>
            <a:gdLst/>
            <a:ahLst/>
            <a:cxnLst/>
            <a:rect l="l" t="t" r="r" b="b"/>
            <a:pathLst>
              <a:path w="805" h="160">
                <a:moveTo>
                  <a:pt x="805" y="0"/>
                </a:moveTo>
                <a:lnTo>
                  <a:pt x="805" y="160"/>
                </a:lnTo>
                <a:lnTo>
                  <a:pt x="0" y="160"/>
                </a:lnTo>
              </a:path>
            </a:pathLst>
          </a:custGeom>
          <a:noFill/>
          <a:ln w="15240">
            <a:solidFill>
              <a:srgbClr val="2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shared_ELF"/>
          <p:cNvSpPr/>
          <p:nvPr/>
        </p:nvSpPr>
        <p:spPr>
          <a:xfrm>
            <a:off x="5413248" y="3913632"/>
            <a:ext cx="2496312" cy="850392"/>
          </a:xfrm>
          <a:prstGeom prst="roundRect">
            <a:avLst>
              <a:gd name="adj" fmla="val 7526"/>
            </a:avLst>
          </a:prstGeom>
          <a:solidFill>
            <a:srgbClr val="F1F6FA"/>
          </a:solidFill>
          <a:ln w="1905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_0347"/>
          <p:cNvSpPr txBox="1"/>
          <p:nvPr/>
        </p:nvSpPr>
        <p:spPr>
          <a:xfrm>
            <a:off x="5504688" y="4023360"/>
            <a:ext cx="2313432" cy="320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86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33344"/>
                </a:solidFill>
                <a:latin typeface="DejaVu Sans"/>
              </a:rPr>
              <a:t>Shared ELF</a:t>
            </a:r>
          </a:p>
        </p:txBody>
      </p:sp>
      <p:sp>
        <p:nvSpPr>
          <p:cNvPr id="337" name="text_0348"/>
          <p:cNvSpPr txBox="1"/>
          <p:nvPr/>
        </p:nvSpPr>
        <p:spPr>
          <a:xfrm>
            <a:off x="5504688" y="4416552"/>
            <a:ext cx="2313432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58A"/>
                </a:solidFill>
                <a:latin typeface="DejaVu Sans"/>
              </a:rPr>
              <a:t>Bidirectional Transformer</a:t>
            </a:r>
          </a:p>
        </p:txBody>
      </p:sp>
      <p:sp>
        <p:nvSpPr>
          <p:cNvPr id="340" name="path_0351"/>
          <p:cNvSpPr/>
          <p:nvPr/>
        </p:nvSpPr>
        <p:spPr>
          <a:xfrm>
            <a:off x="5934456" y="4791456"/>
            <a:ext cx="726948" cy="365760"/>
          </a:xfrm>
          <a:custGeom>
            <a:avLst/>
            <a:gdLst/>
            <a:ahLst/>
            <a:cxnLst/>
            <a:rect l="l" t="t" r="r" b="b"/>
            <a:pathLst>
              <a:path w="795" h="400">
                <a:moveTo>
                  <a:pt x="795" y="0"/>
                </a:moveTo>
                <a:lnTo>
                  <a:pt x="795" y="210"/>
                </a:lnTo>
                <a:lnTo>
                  <a:pt x="0" y="210"/>
                </a:lnTo>
                <a:lnTo>
                  <a:pt x="0" y="400"/>
                </a:lnTo>
              </a:path>
            </a:pathLst>
          </a:custGeom>
          <a:noFill/>
          <a:ln w="15240">
            <a:solidFill>
              <a:srgbClr val="23334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path_0356"/>
          <p:cNvSpPr/>
          <p:nvPr/>
        </p:nvSpPr>
        <p:spPr>
          <a:xfrm>
            <a:off x="5934456" y="5650992"/>
            <a:ext cx="0" cy="201168"/>
          </a:xfrm>
          <a:custGeom>
            <a:avLst/>
            <a:gdLst/>
            <a:ahLst/>
            <a:cxnLst/>
            <a:rect l="l" t="t" r="r" b="b"/>
            <a:pathLst>
              <a:path w="0" h="220">
                <a:moveTo>
                  <a:pt x="0" y="0"/>
                </a:moveTo>
                <a:lnTo>
                  <a:pt x="0" y="220"/>
                </a:lnTo>
              </a:path>
            </a:pathLst>
          </a:custGeom>
          <a:noFill/>
          <a:ln w="1651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path_0357"/>
          <p:cNvSpPr/>
          <p:nvPr/>
        </p:nvSpPr>
        <p:spPr>
          <a:xfrm>
            <a:off x="6661404" y="4791456"/>
            <a:ext cx="745236" cy="365760"/>
          </a:xfrm>
          <a:custGeom>
            <a:avLst/>
            <a:gdLst/>
            <a:ahLst/>
            <a:cxnLst/>
            <a:rect l="l" t="t" r="r" b="b"/>
            <a:pathLst>
              <a:path w="815" h="400">
                <a:moveTo>
                  <a:pt x="0" y="0"/>
                </a:moveTo>
                <a:lnTo>
                  <a:pt x="0" y="210"/>
                </a:lnTo>
                <a:lnTo>
                  <a:pt x="815" y="210"/>
                </a:lnTo>
                <a:lnTo>
                  <a:pt x="815" y="400"/>
                </a:lnTo>
              </a:path>
            </a:pathLst>
          </a:custGeom>
          <a:noFill/>
          <a:ln w="15240">
            <a:solidFill>
              <a:srgbClr val="23334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path_0362"/>
          <p:cNvSpPr/>
          <p:nvPr/>
        </p:nvSpPr>
        <p:spPr>
          <a:xfrm>
            <a:off x="7406640" y="5650992"/>
            <a:ext cx="0" cy="201168"/>
          </a:xfrm>
          <a:custGeom>
            <a:avLst/>
            <a:gdLst/>
            <a:ahLst/>
            <a:cxnLst/>
            <a:rect l="l" t="t" r="r" b="b"/>
            <a:pathLst>
              <a:path w="0" h="220">
                <a:moveTo>
                  <a:pt x="0" y="0"/>
                </a:moveTo>
                <a:lnTo>
                  <a:pt x="0" y="220"/>
                </a:lnTo>
              </a:path>
            </a:pathLst>
          </a:custGeom>
          <a:noFill/>
          <a:ln w="16510">
            <a:solidFill>
              <a:srgbClr val="2C917F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_0365"/>
          <p:cNvSpPr txBox="1"/>
          <p:nvPr/>
        </p:nvSpPr>
        <p:spPr>
          <a:xfrm>
            <a:off x="5385816" y="6236208"/>
            <a:ext cx="1124712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Flow MSE</a:t>
            </a:r>
          </a:p>
        </p:txBody>
      </p:sp>
      <p:sp>
        <p:nvSpPr>
          <p:cNvPr id="353" name="text_0366"/>
          <p:cNvSpPr txBox="1"/>
          <p:nvPr/>
        </p:nvSpPr>
        <p:spPr>
          <a:xfrm>
            <a:off x="6858000" y="6236208"/>
            <a:ext cx="1124712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Token CE</a:t>
            </a:r>
          </a:p>
        </p:txBody>
      </p:sp>
      <p:sp>
        <p:nvSpPr>
          <p:cNvPr id="354" name="rect_0367"/>
          <p:cNvSpPr/>
          <p:nvPr/>
        </p:nvSpPr>
        <p:spPr>
          <a:xfrm>
            <a:off x="5294376" y="6574536"/>
            <a:ext cx="2743200" cy="530352"/>
          </a:xfrm>
          <a:prstGeom prst="roundRect">
            <a:avLst>
              <a:gd name="adj" fmla="val 12000"/>
            </a:avLst>
          </a:prstGeom>
          <a:solidFill>
            <a:srgbClr val="F7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_0368"/>
          <p:cNvSpPr txBox="1"/>
          <p:nvPr/>
        </p:nvSpPr>
        <p:spPr>
          <a:xfrm>
            <a:off x="5330952" y="6583680"/>
            <a:ext cx="2670048" cy="5029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965AA"/>
                </a:solidFill>
                <a:latin typeface="DejaVu Sans"/>
              </a:rPr>
              <a:t>Teacher prompts → MSE</a:t>
            </a:r>
          </a:p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965AA"/>
                </a:solidFill>
                <a:latin typeface="DejaVu Sans"/>
              </a:rPr>
              <a:t>warm start → joint training</a:t>
            </a:r>
          </a:p>
        </p:txBody>
      </p:sp>
      <p:sp>
        <p:nvSpPr>
          <p:cNvPr id="359" name="path_0373"/>
          <p:cNvSpPr/>
          <p:nvPr/>
        </p:nvSpPr>
        <p:spPr>
          <a:xfrm>
            <a:off x="8613648" y="1572768"/>
            <a:ext cx="210312" cy="0"/>
          </a:xfrm>
          <a:custGeom>
            <a:avLst/>
            <a:gdLst/>
            <a:ahLst/>
            <a:cxnLst/>
            <a:rect l="l" t="t" r="r" b="b"/>
            <a:pathLst>
              <a:path w="230" h="0">
                <a:moveTo>
                  <a:pt x="0" y="0"/>
                </a:moveTo>
                <a:lnTo>
                  <a:pt x="230" y="0"/>
                </a:lnTo>
              </a:path>
            </a:pathLst>
          </a:custGeom>
          <a:noFill/>
          <a:ln w="2540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path_0375"/>
          <p:cNvSpPr/>
          <p:nvPr/>
        </p:nvSpPr>
        <p:spPr>
          <a:xfrm>
            <a:off x="9921240" y="1572768"/>
            <a:ext cx="210312" cy="0"/>
          </a:xfrm>
          <a:custGeom>
            <a:avLst/>
            <a:gdLst/>
            <a:ahLst/>
            <a:cxnLst/>
            <a:rect l="l" t="t" r="r" b="b"/>
            <a:pathLst>
              <a:path w="230" h="0">
                <a:moveTo>
                  <a:pt x="0" y="0"/>
                </a:moveTo>
                <a:lnTo>
                  <a:pt x="230" y="0"/>
                </a:lnTo>
              </a:path>
            </a:pathLst>
          </a:custGeom>
          <a:noFill/>
          <a:ln w="25400">
            <a:solidFill>
              <a:srgbClr val="C88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path_0377"/>
          <p:cNvSpPr/>
          <p:nvPr/>
        </p:nvSpPr>
        <p:spPr>
          <a:xfrm>
            <a:off x="11082528" y="1572768"/>
            <a:ext cx="210312" cy="0"/>
          </a:xfrm>
          <a:custGeom>
            <a:avLst/>
            <a:gdLst/>
            <a:ahLst/>
            <a:cxnLst/>
            <a:rect l="l" t="t" r="r" b="b"/>
            <a:pathLst>
              <a:path w="230" h="0">
                <a:moveTo>
                  <a:pt x="0" y="0"/>
                </a:moveTo>
                <a:lnTo>
                  <a:pt x="230" y="0"/>
                </a:lnTo>
              </a:path>
            </a:pathLst>
          </a:custGeom>
          <a:noFill/>
          <a:ln w="25400">
            <a:solidFill>
              <a:srgbClr val="2C9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path_0379"/>
          <p:cNvSpPr/>
          <p:nvPr/>
        </p:nvSpPr>
        <p:spPr>
          <a:xfrm>
            <a:off x="9776765" y="1865376"/>
            <a:ext cx="0" cy="1179576"/>
          </a:xfrm>
          <a:custGeom>
            <a:avLst/>
            <a:gdLst/>
            <a:ahLst/>
            <a:cxnLst/>
            <a:rect l="l" t="t" r="r" b="b"/>
            <a:pathLst>
              <a:path w="0" h="1290">
                <a:moveTo>
                  <a:pt x="0" y="0"/>
                </a:moveTo>
                <a:lnTo>
                  <a:pt x="0" y="129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path_0380"/>
          <p:cNvSpPr/>
          <p:nvPr/>
        </p:nvSpPr>
        <p:spPr>
          <a:xfrm>
            <a:off x="9098280" y="2750515"/>
            <a:ext cx="2715768" cy="0"/>
          </a:xfrm>
          <a:custGeom>
            <a:avLst/>
            <a:gdLst/>
            <a:ahLst/>
            <a:cxnLst/>
            <a:rect l="l" t="t" r="r" b="b"/>
            <a:pathLst>
              <a:path w="2970" h="0">
                <a:moveTo>
                  <a:pt x="0" y="0"/>
                </a:moveTo>
                <a:lnTo>
                  <a:pt x="2970" y="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path_0381"/>
          <p:cNvSpPr/>
          <p:nvPr/>
        </p:nvSpPr>
        <p:spPr>
          <a:xfrm>
            <a:off x="10456164" y="1865376"/>
            <a:ext cx="0" cy="1179576"/>
          </a:xfrm>
          <a:custGeom>
            <a:avLst/>
            <a:gdLst/>
            <a:ahLst/>
            <a:cxnLst/>
            <a:rect l="l" t="t" r="r" b="b"/>
            <a:pathLst>
              <a:path w="0" h="1290">
                <a:moveTo>
                  <a:pt x="0" y="0"/>
                </a:moveTo>
                <a:lnTo>
                  <a:pt x="0" y="129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path_0382"/>
          <p:cNvSpPr/>
          <p:nvPr/>
        </p:nvSpPr>
        <p:spPr>
          <a:xfrm>
            <a:off x="9098280" y="2455164"/>
            <a:ext cx="2715768" cy="0"/>
          </a:xfrm>
          <a:custGeom>
            <a:avLst/>
            <a:gdLst/>
            <a:ahLst/>
            <a:cxnLst/>
            <a:rect l="l" t="t" r="r" b="b"/>
            <a:pathLst>
              <a:path w="2970" h="0">
                <a:moveTo>
                  <a:pt x="0" y="0"/>
                </a:moveTo>
                <a:lnTo>
                  <a:pt x="2970" y="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path_0383"/>
          <p:cNvSpPr/>
          <p:nvPr/>
        </p:nvSpPr>
        <p:spPr>
          <a:xfrm>
            <a:off x="11134649" y="1865376"/>
            <a:ext cx="0" cy="1179576"/>
          </a:xfrm>
          <a:custGeom>
            <a:avLst/>
            <a:gdLst/>
            <a:ahLst/>
            <a:cxnLst/>
            <a:rect l="l" t="t" r="r" b="b"/>
            <a:pathLst>
              <a:path w="0" h="1290">
                <a:moveTo>
                  <a:pt x="0" y="0"/>
                </a:moveTo>
                <a:lnTo>
                  <a:pt x="0" y="129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path_0384"/>
          <p:cNvSpPr/>
          <p:nvPr/>
        </p:nvSpPr>
        <p:spPr>
          <a:xfrm>
            <a:off x="9098280" y="2159813"/>
            <a:ext cx="2715768" cy="0"/>
          </a:xfrm>
          <a:custGeom>
            <a:avLst/>
            <a:gdLst/>
            <a:ahLst/>
            <a:cxnLst/>
            <a:rect l="l" t="t" r="r" b="b"/>
            <a:pathLst>
              <a:path w="2970" h="0">
                <a:moveTo>
                  <a:pt x="0" y="0"/>
                </a:moveTo>
                <a:lnTo>
                  <a:pt x="2970" y="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path_0385"/>
          <p:cNvSpPr/>
          <p:nvPr/>
        </p:nvSpPr>
        <p:spPr>
          <a:xfrm>
            <a:off x="11814048" y="1865376"/>
            <a:ext cx="0" cy="1179576"/>
          </a:xfrm>
          <a:custGeom>
            <a:avLst/>
            <a:gdLst/>
            <a:ahLst/>
            <a:cxnLst/>
            <a:rect l="l" t="t" r="r" b="b"/>
            <a:pathLst>
              <a:path w="0" h="1290">
                <a:moveTo>
                  <a:pt x="0" y="0"/>
                </a:moveTo>
                <a:lnTo>
                  <a:pt x="0" y="129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path_0386"/>
          <p:cNvSpPr/>
          <p:nvPr/>
        </p:nvSpPr>
        <p:spPr>
          <a:xfrm>
            <a:off x="9098280" y="1865376"/>
            <a:ext cx="2715768" cy="0"/>
          </a:xfrm>
          <a:custGeom>
            <a:avLst/>
            <a:gdLst/>
            <a:ahLst/>
            <a:cxnLst/>
            <a:rect l="l" t="t" r="r" b="b"/>
            <a:pathLst>
              <a:path w="2970" h="0">
                <a:moveTo>
                  <a:pt x="0" y="0"/>
                </a:moveTo>
                <a:lnTo>
                  <a:pt x="2970" y="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path_0387"/>
          <p:cNvSpPr/>
          <p:nvPr/>
        </p:nvSpPr>
        <p:spPr>
          <a:xfrm>
            <a:off x="9098280" y="3044952"/>
            <a:ext cx="2715768" cy="0"/>
          </a:xfrm>
          <a:custGeom>
            <a:avLst/>
            <a:gdLst/>
            <a:ahLst/>
            <a:cxnLst/>
            <a:rect l="l" t="t" r="r" b="b"/>
            <a:pathLst>
              <a:path w="2970" h="0">
                <a:moveTo>
                  <a:pt x="0" y="0"/>
                </a:moveTo>
                <a:lnTo>
                  <a:pt x="2970" y="0"/>
                </a:lnTo>
              </a:path>
            </a:pathLst>
          </a:custGeom>
          <a:noFill/>
          <a:ln w="12700">
            <a:solidFill>
              <a:srgbClr val="2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path_0388"/>
          <p:cNvSpPr/>
          <p:nvPr/>
        </p:nvSpPr>
        <p:spPr>
          <a:xfrm>
            <a:off x="9098280" y="1865376"/>
            <a:ext cx="0" cy="1179576"/>
          </a:xfrm>
          <a:custGeom>
            <a:avLst/>
            <a:gdLst/>
            <a:ahLst/>
            <a:cxnLst/>
            <a:rect l="l" t="t" r="r" b="b"/>
            <a:pathLst>
              <a:path w="0" h="1290">
                <a:moveTo>
                  <a:pt x="0" y="129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2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path_0389"/>
          <p:cNvSpPr/>
          <p:nvPr/>
        </p:nvSpPr>
        <p:spPr>
          <a:xfrm>
            <a:off x="9098280" y="1865376"/>
            <a:ext cx="2715768" cy="1179576"/>
          </a:xfrm>
          <a:custGeom>
            <a:avLst/>
            <a:gdLst/>
            <a:ahLst/>
            <a:cxnLst/>
            <a:rect l="l" t="t" r="r" b="b"/>
            <a:pathLst>
              <a:path w="2970" h="1290">
                <a:moveTo>
                  <a:pt x="0" y="1290"/>
                </a:moveTo>
                <a:lnTo>
                  <a:pt x="2970" y="0"/>
                </a:lnTo>
              </a:path>
            </a:pathLst>
          </a:custGeom>
          <a:noFill/>
          <a:ln w="10160">
            <a:solidFill>
              <a:srgbClr val="B7C3C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actual_clock_16"/>
          <p:cNvSpPr/>
          <p:nvPr/>
        </p:nvSpPr>
        <p:spPr>
          <a:xfrm>
            <a:off x="9098280" y="1865376"/>
            <a:ext cx="2715768" cy="1179576"/>
          </a:xfrm>
          <a:custGeom>
            <a:avLst/>
            <a:gdLst/>
            <a:ahLst/>
            <a:cxnLst/>
            <a:rect l="l" t="t" r="r" b="b"/>
            <a:pathLst>
              <a:path w="2970" h="1290">
                <a:moveTo>
                  <a:pt x="0" y="1290"/>
                </a:moveTo>
                <a:lnTo>
                  <a:pt x="74" y="1290"/>
                </a:lnTo>
                <a:lnTo>
                  <a:pt x="148" y="1289"/>
                </a:lnTo>
                <a:lnTo>
                  <a:pt x="223" y="1288"/>
                </a:lnTo>
                <a:lnTo>
                  <a:pt x="297" y="1286"/>
                </a:lnTo>
                <a:lnTo>
                  <a:pt x="371" y="1283"/>
                </a:lnTo>
                <a:lnTo>
                  <a:pt x="445" y="1279"/>
                </a:lnTo>
                <a:lnTo>
                  <a:pt x="520" y="1273"/>
                </a:lnTo>
                <a:lnTo>
                  <a:pt x="594" y="1267"/>
                </a:lnTo>
                <a:lnTo>
                  <a:pt x="668" y="1259"/>
                </a:lnTo>
                <a:lnTo>
                  <a:pt x="742" y="1250"/>
                </a:lnTo>
                <a:lnTo>
                  <a:pt x="817" y="1239"/>
                </a:lnTo>
                <a:lnTo>
                  <a:pt x="891" y="1226"/>
                </a:lnTo>
                <a:lnTo>
                  <a:pt x="965" y="1212"/>
                </a:lnTo>
                <a:lnTo>
                  <a:pt x="1040" y="1197"/>
                </a:lnTo>
                <a:lnTo>
                  <a:pt x="1114" y="1179"/>
                </a:lnTo>
                <a:lnTo>
                  <a:pt x="1188" y="1159"/>
                </a:lnTo>
                <a:lnTo>
                  <a:pt x="1262" y="1138"/>
                </a:lnTo>
                <a:lnTo>
                  <a:pt x="1336" y="1115"/>
                </a:lnTo>
                <a:lnTo>
                  <a:pt x="1411" y="1089"/>
                </a:lnTo>
                <a:lnTo>
                  <a:pt x="1485" y="1062"/>
                </a:lnTo>
                <a:lnTo>
                  <a:pt x="1559" y="1032"/>
                </a:lnTo>
                <a:lnTo>
                  <a:pt x="1633" y="1001"/>
                </a:lnTo>
                <a:lnTo>
                  <a:pt x="1708" y="967"/>
                </a:lnTo>
                <a:lnTo>
                  <a:pt x="1782" y="930"/>
                </a:lnTo>
                <a:lnTo>
                  <a:pt x="1856" y="892"/>
                </a:lnTo>
                <a:lnTo>
                  <a:pt x="1930" y="851"/>
                </a:lnTo>
                <a:lnTo>
                  <a:pt x="2005" y="807"/>
                </a:lnTo>
                <a:lnTo>
                  <a:pt x="2079" y="761"/>
                </a:lnTo>
                <a:lnTo>
                  <a:pt x="2153" y="713"/>
                </a:lnTo>
                <a:lnTo>
                  <a:pt x="2227" y="662"/>
                </a:lnTo>
                <a:lnTo>
                  <a:pt x="2302" y="608"/>
                </a:lnTo>
                <a:lnTo>
                  <a:pt x="2376" y="552"/>
                </a:lnTo>
                <a:lnTo>
                  <a:pt x="2450" y="493"/>
                </a:lnTo>
                <a:lnTo>
                  <a:pt x="2524" y="431"/>
                </a:lnTo>
                <a:lnTo>
                  <a:pt x="2599" y="366"/>
                </a:lnTo>
                <a:lnTo>
                  <a:pt x="2673" y="299"/>
                </a:lnTo>
                <a:lnTo>
                  <a:pt x="2747" y="228"/>
                </a:lnTo>
                <a:lnTo>
                  <a:pt x="2822" y="155"/>
                </a:lnTo>
                <a:lnTo>
                  <a:pt x="2896" y="79"/>
                </a:lnTo>
                <a:lnTo>
                  <a:pt x="2970" y="0"/>
                </a:lnTo>
              </a:path>
            </a:pathLst>
          </a:custGeom>
          <a:noFill/>
          <a:ln w="2540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actual_clock_24"/>
          <p:cNvSpPr/>
          <p:nvPr/>
        </p:nvSpPr>
        <p:spPr>
          <a:xfrm>
            <a:off x="9098280" y="1865376"/>
            <a:ext cx="2715768" cy="1179576"/>
          </a:xfrm>
          <a:custGeom>
            <a:avLst/>
            <a:gdLst/>
            <a:ahLst/>
            <a:cxnLst/>
            <a:rect l="l" t="t" r="r" b="b"/>
            <a:pathLst>
              <a:path w="2970" h="1290">
                <a:moveTo>
                  <a:pt x="0" y="1290"/>
                </a:moveTo>
                <a:lnTo>
                  <a:pt x="74" y="1289"/>
                </a:lnTo>
                <a:lnTo>
                  <a:pt x="148" y="1287"/>
                </a:lnTo>
                <a:lnTo>
                  <a:pt x="223" y="1283"/>
                </a:lnTo>
                <a:lnTo>
                  <a:pt x="297" y="1277"/>
                </a:lnTo>
                <a:lnTo>
                  <a:pt x="371" y="1270"/>
                </a:lnTo>
                <a:lnTo>
                  <a:pt x="445" y="1261"/>
                </a:lnTo>
                <a:lnTo>
                  <a:pt x="520" y="1250"/>
                </a:lnTo>
                <a:lnTo>
                  <a:pt x="594" y="1238"/>
                </a:lnTo>
                <a:lnTo>
                  <a:pt x="668" y="1225"/>
                </a:lnTo>
                <a:lnTo>
                  <a:pt x="742" y="1209"/>
                </a:lnTo>
                <a:lnTo>
                  <a:pt x="817" y="1192"/>
                </a:lnTo>
                <a:lnTo>
                  <a:pt x="891" y="1174"/>
                </a:lnTo>
                <a:lnTo>
                  <a:pt x="965" y="1154"/>
                </a:lnTo>
                <a:lnTo>
                  <a:pt x="1040" y="1132"/>
                </a:lnTo>
                <a:lnTo>
                  <a:pt x="1114" y="1109"/>
                </a:lnTo>
                <a:lnTo>
                  <a:pt x="1188" y="1084"/>
                </a:lnTo>
                <a:lnTo>
                  <a:pt x="1262" y="1057"/>
                </a:lnTo>
                <a:lnTo>
                  <a:pt x="1336" y="1029"/>
                </a:lnTo>
                <a:lnTo>
                  <a:pt x="1411" y="999"/>
                </a:lnTo>
                <a:lnTo>
                  <a:pt x="1485" y="968"/>
                </a:lnTo>
                <a:lnTo>
                  <a:pt x="1559" y="934"/>
                </a:lnTo>
                <a:lnTo>
                  <a:pt x="1633" y="900"/>
                </a:lnTo>
                <a:lnTo>
                  <a:pt x="1708" y="863"/>
                </a:lnTo>
                <a:lnTo>
                  <a:pt x="1782" y="826"/>
                </a:lnTo>
                <a:lnTo>
                  <a:pt x="1856" y="786"/>
                </a:lnTo>
                <a:lnTo>
                  <a:pt x="1930" y="745"/>
                </a:lnTo>
                <a:lnTo>
                  <a:pt x="2005" y="702"/>
                </a:lnTo>
                <a:lnTo>
                  <a:pt x="2079" y="658"/>
                </a:lnTo>
                <a:lnTo>
                  <a:pt x="2153" y="612"/>
                </a:lnTo>
                <a:lnTo>
                  <a:pt x="2227" y="564"/>
                </a:lnTo>
                <a:lnTo>
                  <a:pt x="2302" y="515"/>
                </a:lnTo>
                <a:lnTo>
                  <a:pt x="2376" y="464"/>
                </a:lnTo>
                <a:lnTo>
                  <a:pt x="2450" y="412"/>
                </a:lnTo>
                <a:lnTo>
                  <a:pt x="2524" y="358"/>
                </a:lnTo>
                <a:lnTo>
                  <a:pt x="2599" y="302"/>
                </a:lnTo>
                <a:lnTo>
                  <a:pt x="2673" y="245"/>
                </a:lnTo>
                <a:lnTo>
                  <a:pt x="2747" y="186"/>
                </a:lnTo>
                <a:lnTo>
                  <a:pt x="2822" y="126"/>
                </a:lnTo>
                <a:lnTo>
                  <a:pt x="2896" y="64"/>
                </a:lnTo>
                <a:lnTo>
                  <a:pt x="2970" y="0"/>
                </a:lnTo>
              </a:path>
            </a:pathLst>
          </a:custGeom>
          <a:noFill/>
          <a:ln w="25400">
            <a:solidFill>
              <a:srgbClr val="C88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actual_clock_32"/>
          <p:cNvSpPr/>
          <p:nvPr/>
        </p:nvSpPr>
        <p:spPr>
          <a:xfrm>
            <a:off x="9098280" y="1865376"/>
            <a:ext cx="2715768" cy="1179576"/>
          </a:xfrm>
          <a:custGeom>
            <a:avLst/>
            <a:gdLst/>
            <a:ahLst/>
            <a:cxnLst/>
            <a:rect l="l" t="t" r="r" b="b"/>
            <a:pathLst>
              <a:path w="2970" h="1290">
                <a:moveTo>
                  <a:pt x="0" y="1290"/>
                </a:moveTo>
                <a:lnTo>
                  <a:pt x="74" y="1285"/>
                </a:lnTo>
                <a:lnTo>
                  <a:pt x="148" y="1276"/>
                </a:lnTo>
                <a:lnTo>
                  <a:pt x="223" y="1264"/>
                </a:lnTo>
                <a:lnTo>
                  <a:pt x="297" y="1249"/>
                </a:lnTo>
                <a:lnTo>
                  <a:pt x="371" y="1233"/>
                </a:lnTo>
                <a:lnTo>
                  <a:pt x="445" y="1215"/>
                </a:lnTo>
                <a:lnTo>
                  <a:pt x="520" y="1196"/>
                </a:lnTo>
                <a:lnTo>
                  <a:pt x="594" y="1175"/>
                </a:lnTo>
                <a:lnTo>
                  <a:pt x="668" y="1152"/>
                </a:lnTo>
                <a:lnTo>
                  <a:pt x="742" y="1129"/>
                </a:lnTo>
                <a:lnTo>
                  <a:pt x="817" y="1104"/>
                </a:lnTo>
                <a:lnTo>
                  <a:pt x="891" y="1078"/>
                </a:lnTo>
                <a:lnTo>
                  <a:pt x="965" y="1051"/>
                </a:lnTo>
                <a:lnTo>
                  <a:pt x="1040" y="1023"/>
                </a:lnTo>
                <a:lnTo>
                  <a:pt x="1114" y="994"/>
                </a:lnTo>
                <a:lnTo>
                  <a:pt x="1188" y="964"/>
                </a:lnTo>
                <a:lnTo>
                  <a:pt x="1262" y="933"/>
                </a:lnTo>
                <a:lnTo>
                  <a:pt x="1336" y="901"/>
                </a:lnTo>
                <a:lnTo>
                  <a:pt x="1411" y="868"/>
                </a:lnTo>
                <a:lnTo>
                  <a:pt x="1485" y="834"/>
                </a:lnTo>
                <a:lnTo>
                  <a:pt x="1559" y="799"/>
                </a:lnTo>
                <a:lnTo>
                  <a:pt x="1633" y="764"/>
                </a:lnTo>
                <a:lnTo>
                  <a:pt x="1708" y="728"/>
                </a:lnTo>
                <a:lnTo>
                  <a:pt x="1782" y="690"/>
                </a:lnTo>
                <a:lnTo>
                  <a:pt x="1856" y="653"/>
                </a:lnTo>
                <a:lnTo>
                  <a:pt x="1930" y="614"/>
                </a:lnTo>
                <a:lnTo>
                  <a:pt x="2005" y="575"/>
                </a:lnTo>
                <a:lnTo>
                  <a:pt x="2079" y="534"/>
                </a:lnTo>
                <a:lnTo>
                  <a:pt x="2153" y="494"/>
                </a:lnTo>
                <a:lnTo>
                  <a:pt x="2227" y="452"/>
                </a:lnTo>
                <a:lnTo>
                  <a:pt x="2302" y="410"/>
                </a:lnTo>
                <a:lnTo>
                  <a:pt x="2376" y="367"/>
                </a:lnTo>
                <a:lnTo>
                  <a:pt x="2450" y="323"/>
                </a:lnTo>
                <a:lnTo>
                  <a:pt x="2524" y="279"/>
                </a:lnTo>
                <a:lnTo>
                  <a:pt x="2599" y="234"/>
                </a:lnTo>
                <a:lnTo>
                  <a:pt x="2673" y="189"/>
                </a:lnTo>
                <a:lnTo>
                  <a:pt x="2747" y="142"/>
                </a:lnTo>
                <a:lnTo>
                  <a:pt x="2822" y="96"/>
                </a:lnTo>
                <a:lnTo>
                  <a:pt x="2896" y="48"/>
                </a:lnTo>
                <a:lnTo>
                  <a:pt x="2970" y="0"/>
                </a:lnTo>
              </a:path>
            </a:pathLst>
          </a:custGeom>
          <a:noFill/>
          <a:ln w="25400">
            <a:solidFill>
              <a:srgbClr val="2C9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_0393"/>
          <p:cNvSpPr txBox="1"/>
          <p:nvPr/>
        </p:nvSpPr>
        <p:spPr>
          <a:xfrm>
            <a:off x="8860536" y="2935224"/>
            <a:ext cx="192024" cy="2103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243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58A"/>
                </a:solidFill>
                <a:latin typeface="DejaVu Sans"/>
              </a:rPr>
              <a:t>0</a:t>
            </a:r>
          </a:p>
        </p:txBody>
      </p:sp>
      <p:sp>
        <p:nvSpPr>
          <p:cNvPr id="377" name="text_0394"/>
          <p:cNvSpPr txBox="1"/>
          <p:nvPr/>
        </p:nvSpPr>
        <p:spPr>
          <a:xfrm>
            <a:off x="8860536" y="1755648"/>
            <a:ext cx="192024" cy="2103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243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58A"/>
                </a:solidFill>
                <a:latin typeface="DejaVu Sans"/>
              </a:rPr>
              <a:t>1</a:t>
            </a:r>
          </a:p>
        </p:txBody>
      </p:sp>
      <p:sp>
        <p:nvSpPr>
          <p:cNvPr id="378" name="text_0395"/>
          <p:cNvSpPr txBox="1"/>
          <p:nvPr/>
        </p:nvSpPr>
        <p:spPr>
          <a:xfrm>
            <a:off x="11713464" y="3099816"/>
            <a:ext cx="201168" cy="2103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243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58A"/>
                </a:solidFill>
                <a:latin typeface="DejaVu Sans"/>
              </a:rPr>
              <a:t>1</a:t>
            </a:r>
          </a:p>
        </p:txBody>
      </p:sp>
      <p:sp>
        <p:nvSpPr>
          <p:cNvPr id="379" name="path_0400"/>
          <p:cNvSpPr/>
          <p:nvPr/>
        </p:nvSpPr>
        <p:spPr>
          <a:xfrm>
            <a:off x="9299448" y="4064508"/>
            <a:ext cx="329184" cy="0"/>
          </a:xfrm>
          <a:custGeom>
            <a:avLst/>
            <a:gdLst/>
            <a:ahLst/>
            <a:cxnLst/>
            <a:rect l="l" t="t" r="r" b="b"/>
            <a:pathLst>
              <a:path w="360" h="0">
                <a:moveTo>
                  <a:pt x="0" y="0"/>
                </a:moveTo>
                <a:lnTo>
                  <a:pt x="360" y="0"/>
                </a:lnTo>
              </a:path>
            </a:pathLst>
          </a:custGeom>
          <a:noFill/>
          <a:ln w="16510">
            <a:solidFill>
              <a:srgbClr val="23334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iterative_ELF_module"/>
          <p:cNvSpPr/>
          <p:nvPr/>
        </p:nvSpPr>
        <p:spPr>
          <a:xfrm>
            <a:off x="9665208" y="3739896"/>
            <a:ext cx="1399032" cy="630936"/>
          </a:xfrm>
          <a:prstGeom prst="roundRect">
            <a:avLst>
              <a:gd name="adj" fmla="val 7246"/>
            </a:avLst>
          </a:prstGeom>
          <a:solidFill>
            <a:srgbClr val="EFF4F9"/>
          </a:solidFill>
          <a:ln w="1270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text_0402"/>
          <p:cNvSpPr txBox="1"/>
          <p:nvPr/>
        </p:nvSpPr>
        <p:spPr>
          <a:xfrm>
            <a:off x="9720072" y="3776472"/>
            <a:ext cx="1289304" cy="2834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7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33344"/>
                </a:solidFill>
                <a:latin typeface="DejaVu Sans"/>
              </a:rPr>
              <a:t>ELF</a:t>
            </a:r>
          </a:p>
        </p:txBody>
      </p:sp>
      <p:sp>
        <p:nvSpPr>
          <p:cNvPr id="382" name="text_0403"/>
          <p:cNvSpPr txBox="1"/>
          <p:nvPr/>
        </p:nvSpPr>
        <p:spPr>
          <a:xfrm>
            <a:off x="9701784" y="4133087"/>
            <a:ext cx="1325880" cy="20116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1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758A"/>
                </a:solidFill>
                <a:latin typeface="DejaVu Sans"/>
              </a:rPr>
              <a:t>flow head + Euler</a:t>
            </a:r>
          </a:p>
        </p:txBody>
      </p:sp>
      <p:sp>
        <p:nvSpPr>
          <p:cNvPr id="383" name="path_0404"/>
          <p:cNvSpPr/>
          <p:nvPr/>
        </p:nvSpPr>
        <p:spPr>
          <a:xfrm>
            <a:off x="11091672" y="4064508"/>
            <a:ext cx="274320" cy="0"/>
          </a:xfrm>
          <a:custGeom>
            <a:avLst/>
            <a:gdLst/>
            <a:ahLst/>
            <a:cxnLst/>
            <a:rect l="l" t="t" r="r" b="b"/>
            <a:pathLst>
              <a:path w="300" h="0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16510">
            <a:solidFill>
              <a:srgbClr val="23334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iterative_denoising_recurrence"/>
          <p:cNvSpPr/>
          <p:nvPr/>
        </p:nvSpPr>
        <p:spPr>
          <a:xfrm>
            <a:off x="8476488" y="3538728"/>
            <a:ext cx="3840480" cy="525780"/>
          </a:xfrm>
          <a:custGeom>
            <a:avLst/>
            <a:gdLst/>
            <a:ahLst/>
            <a:cxnLst/>
            <a:rect l="l" t="t" r="r" b="b"/>
            <a:pathLst>
              <a:path w="4200" h="575">
                <a:moveTo>
                  <a:pt x="4090" y="575"/>
                </a:moveTo>
                <a:lnTo>
                  <a:pt x="4200" y="575"/>
                </a:lnTo>
                <a:lnTo>
                  <a:pt x="4200" y="0"/>
                </a:lnTo>
                <a:lnTo>
                  <a:pt x="0" y="0"/>
                </a:lnTo>
                <a:lnTo>
                  <a:pt x="0" y="575"/>
                </a:lnTo>
                <a:lnTo>
                  <a:pt x="60" y="575"/>
                </a:lnTo>
              </a:path>
            </a:pathLst>
          </a:custGeom>
          <a:noFill/>
          <a:ln w="13970">
            <a:solidFill>
              <a:srgbClr val="63758A"/>
            </a:solidFill>
            <a:prstDash val="dash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_0406"/>
          <p:cNvSpPr/>
          <p:nvPr/>
        </p:nvSpPr>
        <p:spPr>
          <a:xfrm>
            <a:off x="9592056" y="3401568"/>
            <a:ext cx="1545336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_0407"/>
          <p:cNvSpPr txBox="1"/>
          <p:nvPr/>
        </p:nvSpPr>
        <p:spPr>
          <a:xfrm>
            <a:off x="9619488" y="3410712"/>
            <a:ext cx="1490472" cy="2194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Iterative denoising</a:t>
            </a:r>
          </a:p>
        </p:txBody>
      </p:sp>
      <p:sp>
        <p:nvSpPr>
          <p:cNvPr id="902" name="text_0923"/>
          <p:cNvSpPr txBox="1"/>
          <p:nvPr/>
        </p:nvSpPr>
        <p:spPr>
          <a:xfrm>
            <a:off x="8970264" y="5641848"/>
            <a:ext cx="6858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Noise</a:t>
            </a:r>
          </a:p>
        </p:txBody>
      </p:sp>
      <p:sp>
        <p:nvSpPr>
          <p:cNvPr id="903" name="path_0924"/>
          <p:cNvSpPr/>
          <p:nvPr/>
        </p:nvSpPr>
        <p:spPr>
          <a:xfrm>
            <a:off x="9660636" y="5157216"/>
            <a:ext cx="128016" cy="0"/>
          </a:xfrm>
          <a:custGeom>
            <a:avLst/>
            <a:gdLst/>
            <a:ahLst/>
            <a:cxnLst/>
            <a:rect l="l" t="t" r="r" b="b"/>
            <a:pathLst>
              <a:path w="140" h="0">
                <a:moveTo>
                  <a:pt x="0" y="0"/>
                </a:moveTo>
                <a:lnTo>
                  <a:pt x="140" y="0"/>
                </a:lnTo>
              </a:path>
            </a:pathLst>
          </a:custGeom>
          <a:noFill/>
          <a:ln w="1143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2" name="text_1173"/>
          <p:cNvSpPr txBox="1"/>
          <p:nvPr/>
        </p:nvSpPr>
        <p:spPr>
          <a:xfrm>
            <a:off x="9784080" y="5641848"/>
            <a:ext cx="6858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Early</a:t>
            </a:r>
          </a:p>
        </p:txBody>
      </p:sp>
      <p:sp>
        <p:nvSpPr>
          <p:cNvPr id="1153" name="path_1174"/>
          <p:cNvSpPr/>
          <p:nvPr/>
        </p:nvSpPr>
        <p:spPr>
          <a:xfrm>
            <a:off x="10474452" y="5157216"/>
            <a:ext cx="128016" cy="0"/>
          </a:xfrm>
          <a:custGeom>
            <a:avLst/>
            <a:gdLst/>
            <a:ahLst/>
            <a:cxnLst/>
            <a:rect l="l" t="t" r="r" b="b"/>
            <a:pathLst>
              <a:path w="140" h="0">
                <a:moveTo>
                  <a:pt x="0" y="0"/>
                </a:moveTo>
                <a:lnTo>
                  <a:pt x="140" y="0"/>
                </a:lnTo>
              </a:path>
            </a:pathLst>
          </a:custGeom>
          <a:noFill/>
          <a:ln w="1143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4" name="text_1285"/>
          <p:cNvSpPr txBox="1"/>
          <p:nvPr/>
        </p:nvSpPr>
        <p:spPr>
          <a:xfrm>
            <a:off x="10597896" y="5641848"/>
            <a:ext cx="6858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Late</a:t>
            </a:r>
          </a:p>
        </p:txBody>
      </p:sp>
      <p:sp>
        <p:nvSpPr>
          <p:cNvPr id="1265" name="path_1286"/>
          <p:cNvSpPr/>
          <p:nvPr/>
        </p:nvSpPr>
        <p:spPr>
          <a:xfrm>
            <a:off x="11288268" y="5157216"/>
            <a:ext cx="128016" cy="0"/>
          </a:xfrm>
          <a:custGeom>
            <a:avLst/>
            <a:gdLst/>
            <a:ahLst/>
            <a:cxnLst/>
            <a:rect l="l" t="t" r="r" b="b"/>
            <a:pathLst>
              <a:path w="140" h="0">
                <a:moveTo>
                  <a:pt x="0" y="0"/>
                </a:moveTo>
                <a:lnTo>
                  <a:pt x="140" y="0"/>
                </a:lnTo>
              </a:path>
            </a:pathLst>
          </a:custGeom>
          <a:noFill/>
          <a:ln w="1143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text_1299"/>
          <p:cNvSpPr txBox="1"/>
          <p:nvPr/>
        </p:nvSpPr>
        <p:spPr>
          <a:xfrm>
            <a:off x="11411712" y="5641848"/>
            <a:ext cx="6858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Clean</a:t>
            </a:r>
          </a:p>
        </p:txBody>
      </p:sp>
      <p:sp>
        <p:nvSpPr>
          <p:cNvPr id="1279" name="text_1300"/>
          <p:cNvSpPr txBox="1"/>
          <p:nvPr/>
        </p:nvSpPr>
        <p:spPr>
          <a:xfrm>
            <a:off x="8476488" y="4832604"/>
            <a:ext cx="393192" cy="2194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C917F"/>
                </a:solidFill>
                <a:latin typeface="DejaVu Sans"/>
              </a:rPr>
              <a:t>32</a:t>
            </a:r>
          </a:p>
        </p:txBody>
      </p:sp>
      <p:sp>
        <p:nvSpPr>
          <p:cNvPr id="1280" name="text_1301"/>
          <p:cNvSpPr txBox="1"/>
          <p:nvPr/>
        </p:nvSpPr>
        <p:spPr>
          <a:xfrm>
            <a:off x="8476488" y="5154930"/>
            <a:ext cx="393192" cy="2194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88A35"/>
                </a:solidFill>
                <a:latin typeface="DejaVu Sans"/>
              </a:rPr>
              <a:t>24</a:t>
            </a:r>
          </a:p>
        </p:txBody>
      </p:sp>
      <p:sp>
        <p:nvSpPr>
          <p:cNvPr id="1281" name="text_1302"/>
          <p:cNvSpPr txBox="1"/>
          <p:nvPr/>
        </p:nvSpPr>
        <p:spPr>
          <a:xfrm>
            <a:off x="8476488" y="5369814"/>
            <a:ext cx="393192" cy="2194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67AB5"/>
                </a:solidFill>
                <a:latin typeface="DejaVu Sans"/>
              </a:rPr>
              <a:t>16</a:t>
            </a:r>
          </a:p>
        </p:txBody>
      </p:sp>
      <p:sp>
        <p:nvSpPr>
          <p:cNvPr id="1282" name="path_1303"/>
          <p:cNvSpPr/>
          <p:nvPr/>
        </p:nvSpPr>
        <p:spPr>
          <a:xfrm>
            <a:off x="8586216" y="6016752"/>
            <a:ext cx="3602736" cy="0"/>
          </a:xfrm>
          <a:custGeom>
            <a:avLst/>
            <a:gdLst/>
            <a:ahLst/>
            <a:cxnLst/>
            <a:rect l="l" t="t" r="r" b="b"/>
            <a:pathLst>
              <a:path w="3940" h="0">
                <a:moveTo>
                  <a:pt x="0" y="0"/>
                </a:moveTo>
                <a:lnTo>
                  <a:pt x="3940" y="0"/>
                </a:lnTo>
              </a:path>
            </a:pathLst>
          </a:custGeom>
          <a:noFill/>
          <a:ln w="8890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3" name="text_1304"/>
          <p:cNvSpPr txBox="1"/>
          <p:nvPr/>
        </p:nvSpPr>
        <p:spPr>
          <a:xfrm>
            <a:off x="8613648" y="6099048"/>
            <a:ext cx="3538728" cy="2468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3344"/>
                </a:solidFill>
                <a:latin typeface="DejaVu Sans"/>
              </a:rPr>
              <a:t>Terminal decoding</a:t>
            </a:r>
          </a:p>
        </p:txBody>
      </p:sp>
      <p:sp>
        <p:nvSpPr>
          <p:cNvPr id="1288" name="path_1310"/>
          <p:cNvSpPr/>
          <p:nvPr/>
        </p:nvSpPr>
        <p:spPr>
          <a:xfrm>
            <a:off x="9336024" y="6620256"/>
            <a:ext cx="228600" cy="0"/>
          </a:xfrm>
          <a:custGeom>
            <a:avLst/>
            <a:gdLst/>
            <a:ahLst/>
            <a:cxnLst/>
            <a:rect l="l" t="t" r="r" b="b"/>
            <a:pathLst>
              <a:path w="250" h="0">
                <a:moveTo>
                  <a:pt x="0" y="0"/>
                </a:moveTo>
                <a:lnTo>
                  <a:pt x="25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path_1313"/>
          <p:cNvSpPr/>
          <p:nvPr/>
        </p:nvSpPr>
        <p:spPr>
          <a:xfrm>
            <a:off x="11128248" y="6620256"/>
            <a:ext cx="237744" cy="0"/>
          </a:xfrm>
          <a:custGeom>
            <a:avLst/>
            <a:gdLst/>
            <a:ahLst/>
            <a:cxnLst/>
            <a:rect l="l" t="t" r="r" b="b"/>
            <a:pathLst>
              <a:path w="260" h="0">
                <a:moveTo>
                  <a:pt x="0" y="0"/>
                </a:moveTo>
                <a:lnTo>
                  <a:pt x="26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text_1316"/>
          <p:cNvSpPr txBox="1"/>
          <p:nvPr/>
        </p:nvSpPr>
        <p:spPr>
          <a:xfrm>
            <a:off x="8577072" y="7086600"/>
            <a:ext cx="3639312" cy="1920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1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758A"/>
                </a:solidFill>
                <a:latin typeface="DejaVu Sans"/>
              </a:rPr>
              <a:t>Schematic noise contrast is exaggerated.</a:t>
            </a:r>
          </a:p>
        </p:txBody>
      </p:sp>
      <p:grpSp>
        <p:nvGrpSpPr>
          <p:cNvPr id="1295" name="v4_stage_1_heading"/>
          <p:cNvGrpSpPr/>
          <p:nvPr/>
        </p:nvGrpSpPr>
        <p:grpSpPr>
          <a:xfrm>
            <a:off x="228600" y="210312"/>
            <a:ext cx="4727448" cy="539496"/>
            <a:chOff x="228600" y="210312"/>
            <a:chExt cx="4727448" cy="539496"/>
          </a:xfrm>
          <a:effectLst/>
        </p:grpSpPr>
        <p:sp>
          <p:nvSpPr>
            <p:cNvPr id="4" name="v4_rect_0002"/>
            <p:cNvSpPr/>
            <p:nvPr/>
          </p:nvSpPr>
          <p:spPr>
            <a:xfrm>
              <a:off x="228600" y="210312"/>
              <a:ext cx="4727448" cy="539496"/>
            </a:xfrm>
            <a:prstGeom prst="roundRect">
              <a:avLst>
                <a:gd name="adj" fmla="val 12000"/>
              </a:avLst>
            </a:prstGeom>
            <a:solidFill>
              <a:srgbClr val="F3F6F9"/>
            </a:solidFill>
            <a:ln w="12700">
              <a:solidFill>
                <a:srgbClr val="F3F6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v4_text_0003"/>
            <p:cNvSpPr txBox="1"/>
            <p:nvPr/>
          </p:nvSpPr>
          <p:spPr>
            <a:xfrm>
              <a:off x="347472" y="237744"/>
              <a:ext cx="27432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237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00" b="1">
                  <a:solidFill>
                    <a:srgbClr val="63758A"/>
                  </a:solidFill>
                  <a:latin typeface="DejaVu Sans"/>
                </a:rPr>
                <a:t>1</a:t>
              </a:r>
            </a:p>
          </p:txBody>
        </p:sp>
        <p:sp>
          <p:nvSpPr>
            <p:cNvPr id="6" name="v4_text_0004"/>
            <p:cNvSpPr txBox="1"/>
            <p:nvPr/>
          </p:nvSpPr>
          <p:spPr>
            <a:xfrm>
              <a:off x="676656" y="237744"/>
              <a:ext cx="420624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ts val="203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233344"/>
                  </a:solidFill>
                  <a:latin typeface="DejaVu Sans"/>
                </a:rPr>
                <a:t>Representation learning</a:t>
              </a:r>
            </a:p>
          </p:txBody>
        </p:sp>
      </p:grpSp>
      <p:grpSp>
        <p:nvGrpSpPr>
          <p:cNvPr id="1296" name="v4_module_teacher_frozen_suffix"/>
          <p:cNvGrpSpPr/>
          <p:nvPr/>
        </p:nvGrpSpPr>
        <p:grpSpPr>
          <a:xfrm>
            <a:off x="484632" y="1975104"/>
            <a:ext cx="1600199" cy="576072"/>
            <a:chOff x="484632" y="1975104"/>
            <a:chExt cx="1600199" cy="576072"/>
          </a:xfrm>
          <a:effectLst/>
        </p:grpSpPr>
        <p:sp>
          <p:nvSpPr>
            <p:cNvPr id="7" name="v4_teacher_frozen_suffix"/>
            <p:cNvSpPr/>
            <p:nvPr/>
          </p:nvSpPr>
          <p:spPr>
            <a:xfrm>
              <a:off x="484632" y="1975104"/>
              <a:ext cx="1600199" cy="576072"/>
            </a:xfrm>
            <a:prstGeom prst="roundRect">
              <a:avLst>
                <a:gd name="adj" fmla="val 11111"/>
              </a:avLst>
            </a:prstGeom>
            <a:solidFill>
              <a:srgbClr val="F3F6F9"/>
            </a:solidFill>
            <a:ln w="12700">
              <a:solidFill>
                <a:srgbClr val="B7C3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v4_teacher_frozen_suffix_label"/>
            <p:cNvSpPr txBox="1"/>
            <p:nvPr/>
          </p:nvSpPr>
          <p:spPr>
            <a:xfrm>
              <a:off x="530352" y="1984248"/>
              <a:ext cx="1508759" cy="55778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5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>
                  <a:solidFill>
                    <a:srgbClr val="233344"/>
                  </a:solidFill>
                  <a:latin typeface="DejaVu Sans"/>
                </a:rPr>
                <a:t>Qwen 17–36</a:t>
              </a:r>
            </a:p>
            <a:p>
              <a:pPr algn="ctr">
                <a:lnSpc>
                  <a:spcPts val="15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>
                  <a:solidFill>
                    <a:srgbClr val="233344"/>
                  </a:solidFill>
                  <a:latin typeface="DejaVu Sans"/>
                </a:rPr>
                <a:t>+ vocab head</a:t>
              </a:r>
            </a:p>
          </p:txBody>
        </p:sp>
      </p:grpSp>
      <p:grpSp>
        <p:nvGrpSpPr>
          <p:cNvPr id="1297" name="v4_teacher_frozen_icon"/>
          <p:cNvGrpSpPr/>
          <p:nvPr/>
        </p:nvGrpSpPr>
        <p:grpSpPr>
          <a:xfrm>
            <a:off x="1897380" y="2028139"/>
            <a:ext cx="164592" cy="142646"/>
            <a:chOff x="1897380" y="2028139"/>
            <a:chExt cx="164592" cy="142646"/>
          </a:xfrm>
          <a:effectLst/>
        </p:grpSpPr>
        <p:sp>
          <p:nvSpPr>
            <p:cNvPr id="9" name="v4_path_0013"/>
            <p:cNvSpPr/>
            <p:nvPr/>
          </p:nvSpPr>
          <p:spPr>
            <a:xfrm>
              <a:off x="1979676" y="2099462"/>
              <a:ext cx="82296" cy="0"/>
            </a:xfrm>
            <a:custGeom>
              <a:avLst/>
              <a:gdLst/>
              <a:ahLst/>
              <a:cxnLst/>
              <a:rect l="l" t="t" r="r" b="b"/>
              <a:pathLst>
                <a:path w="90" h="0">
                  <a:moveTo>
                    <a:pt x="0" y="0"/>
                  </a:moveTo>
                  <a:lnTo>
                    <a:pt x="9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v4_path_0014"/>
            <p:cNvSpPr/>
            <p:nvPr/>
          </p:nvSpPr>
          <p:spPr>
            <a:xfrm>
              <a:off x="2033626" y="2077517"/>
              <a:ext cx="11887" cy="21946"/>
            </a:xfrm>
            <a:custGeom>
              <a:avLst/>
              <a:gdLst/>
              <a:ahLst/>
              <a:cxnLst/>
              <a:rect l="l" t="t" r="r" b="b"/>
              <a:pathLst>
                <a:path w="13" h="24">
                  <a:moveTo>
                    <a:pt x="0" y="24"/>
                  </a:moveTo>
                  <a:lnTo>
                    <a:pt x="13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v4_path_0015"/>
            <p:cNvSpPr/>
            <p:nvPr/>
          </p:nvSpPr>
          <p:spPr>
            <a:xfrm>
              <a:off x="2033626" y="2099462"/>
              <a:ext cx="11887" cy="22860"/>
            </a:xfrm>
            <a:custGeom>
              <a:avLst/>
              <a:gdLst/>
              <a:ahLst/>
              <a:cxnLst/>
              <a:rect l="l" t="t" r="r" b="b"/>
              <a:pathLst>
                <a:path w="13" h="25">
                  <a:moveTo>
                    <a:pt x="0" y="0"/>
                  </a:moveTo>
                  <a:lnTo>
                    <a:pt x="13" y="25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v4_path_0016"/>
            <p:cNvSpPr/>
            <p:nvPr/>
          </p:nvSpPr>
          <p:spPr>
            <a:xfrm>
              <a:off x="1979676" y="2099462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0" y="0"/>
                  </a:moveTo>
                  <a:lnTo>
                    <a:pt x="45" y="78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v4_path_0017"/>
            <p:cNvSpPr/>
            <p:nvPr/>
          </p:nvSpPr>
          <p:spPr>
            <a:xfrm>
              <a:off x="2006194" y="2146097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0" y="0"/>
                  </a:moveTo>
                  <a:lnTo>
                    <a:pt x="2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v4_path_0018"/>
            <p:cNvSpPr/>
            <p:nvPr/>
          </p:nvSpPr>
          <p:spPr>
            <a:xfrm>
              <a:off x="1993392" y="2146097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14" y="0"/>
                  </a:moveTo>
                  <a:lnTo>
                    <a:pt x="0" y="24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v4_path_0019"/>
            <p:cNvSpPr/>
            <p:nvPr/>
          </p:nvSpPr>
          <p:spPr>
            <a:xfrm>
              <a:off x="1938528" y="2099462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45" y="0"/>
                  </a:moveTo>
                  <a:lnTo>
                    <a:pt x="0" y="78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v4_path_0020"/>
            <p:cNvSpPr/>
            <p:nvPr/>
          </p:nvSpPr>
          <p:spPr>
            <a:xfrm>
              <a:off x="1953158" y="2146097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0" y="0"/>
                  </a:moveTo>
                  <a:lnTo>
                    <a:pt x="14" y="24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v4_path_0021"/>
            <p:cNvSpPr/>
            <p:nvPr/>
          </p:nvSpPr>
          <p:spPr>
            <a:xfrm>
              <a:off x="1927555" y="2146097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28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v4_path_0022"/>
            <p:cNvSpPr/>
            <p:nvPr/>
          </p:nvSpPr>
          <p:spPr>
            <a:xfrm>
              <a:off x="1897380" y="2099462"/>
              <a:ext cx="82296" cy="0"/>
            </a:xfrm>
            <a:custGeom>
              <a:avLst/>
              <a:gdLst/>
              <a:ahLst/>
              <a:cxnLst/>
              <a:rect l="l" t="t" r="r" b="b"/>
              <a:pathLst>
                <a:path w="90" h="0">
                  <a:moveTo>
                    <a:pt x="90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v4_path_0023"/>
            <p:cNvSpPr/>
            <p:nvPr/>
          </p:nvSpPr>
          <p:spPr>
            <a:xfrm>
              <a:off x="1913839" y="2099462"/>
              <a:ext cx="12802" cy="22860"/>
            </a:xfrm>
            <a:custGeom>
              <a:avLst/>
              <a:gdLst/>
              <a:ahLst/>
              <a:cxnLst/>
              <a:rect l="l" t="t" r="r" b="b"/>
              <a:pathLst>
                <a:path w="14" h="25">
                  <a:moveTo>
                    <a:pt x="14" y="0"/>
                  </a:moveTo>
                  <a:lnTo>
                    <a:pt x="0" y="25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v4_path_0024"/>
            <p:cNvSpPr/>
            <p:nvPr/>
          </p:nvSpPr>
          <p:spPr>
            <a:xfrm>
              <a:off x="1913839" y="2077517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14" y="2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v4_path_0025"/>
            <p:cNvSpPr/>
            <p:nvPr/>
          </p:nvSpPr>
          <p:spPr>
            <a:xfrm>
              <a:off x="1938528" y="2028139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45" y="78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v4_path_0026"/>
            <p:cNvSpPr/>
            <p:nvPr/>
          </p:nvSpPr>
          <p:spPr>
            <a:xfrm>
              <a:off x="1927555" y="2053742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28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v4_path_0027"/>
            <p:cNvSpPr/>
            <p:nvPr/>
          </p:nvSpPr>
          <p:spPr>
            <a:xfrm>
              <a:off x="1953158" y="2031797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0" y="24"/>
                  </a:moveTo>
                  <a:lnTo>
                    <a:pt x="14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v4_path_0028"/>
            <p:cNvSpPr/>
            <p:nvPr/>
          </p:nvSpPr>
          <p:spPr>
            <a:xfrm>
              <a:off x="1979676" y="2028139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0" y="78"/>
                  </a:moveTo>
                  <a:lnTo>
                    <a:pt x="45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v4_path_0029"/>
            <p:cNvSpPr/>
            <p:nvPr/>
          </p:nvSpPr>
          <p:spPr>
            <a:xfrm>
              <a:off x="1993392" y="2031797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14" y="2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v4_path_0030"/>
            <p:cNvSpPr/>
            <p:nvPr/>
          </p:nvSpPr>
          <p:spPr>
            <a:xfrm>
              <a:off x="2006194" y="2053742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0" y="0"/>
                  </a:moveTo>
                  <a:lnTo>
                    <a:pt x="2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98" name="v4_module_reconstructed_frozen_suffix"/>
          <p:cNvGrpSpPr/>
          <p:nvPr/>
        </p:nvGrpSpPr>
        <p:grpSpPr>
          <a:xfrm>
            <a:off x="3209544" y="1975104"/>
            <a:ext cx="1600200" cy="576072"/>
            <a:chOff x="3209544" y="1975104"/>
            <a:chExt cx="1600200" cy="576072"/>
          </a:xfrm>
          <a:effectLst/>
        </p:grpSpPr>
        <p:sp>
          <p:nvSpPr>
            <p:cNvPr id="28" name="v4_reconstructed_frozen_suffix"/>
            <p:cNvSpPr/>
            <p:nvPr/>
          </p:nvSpPr>
          <p:spPr>
            <a:xfrm>
              <a:off x="3209544" y="1975104"/>
              <a:ext cx="1600200" cy="576072"/>
            </a:xfrm>
            <a:prstGeom prst="roundRect">
              <a:avLst>
                <a:gd name="adj" fmla="val 11111"/>
              </a:avLst>
            </a:prstGeom>
            <a:solidFill>
              <a:srgbClr val="F3F6F9"/>
            </a:solidFill>
            <a:ln w="12700">
              <a:solidFill>
                <a:srgbClr val="B7C3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v4_reconstructed_frozen_suffix_label"/>
            <p:cNvSpPr txBox="1"/>
            <p:nvPr/>
          </p:nvSpPr>
          <p:spPr>
            <a:xfrm>
              <a:off x="3255263" y="1984248"/>
              <a:ext cx="1508760" cy="55778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5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>
                  <a:solidFill>
                    <a:srgbClr val="233344"/>
                  </a:solidFill>
                  <a:latin typeface="DejaVu Sans"/>
                </a:rPr>
                <a:t>Qwen 17–36</a:t>
              </a:r>
            </a:p>
            <a:p>
              <a:pPr algn="ctr">
                <a:lnSpc>
                  <a:spcPts val="15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>
                  <a:solidFill>
                    <a:srgbClr val="233344"/>
                  </a:solidFill>
                  <a:latin typeface="DejaVu Sans"/>
                </a:rPr>
                <a:t>+ vocab head</a:t>
              </a:r>
            </a:p>
          </p:txBody>
        </p:sp>
      </p:grpSp>
      <p:grpSp>
        <p:nvGrpSpPr>
          <p:cNvPr id="1299" name="v4_reconstructed_frozen_icon"/>
          <p:cNvGrpSpPr/>
          <p:nvPr/>
        </p:nvGrpSpPr>
        <p:grpSpPr>
          <a:xfrm>
            <a:off x="4599432" y="2030882"/>
            <a:ext cx="164592" cy="142647"/>
            <a:chOff x="4599432" y="2030882"/>
            <a:chExt cx="164592" cy="142647"/>
          </a:xfrm>
          <a:effectLst/>
        </p:grpSpPr>
        <p:sp>
          <p:nvSpPr>
            <p:cNvPr id="30" name="v4_path_0034"/>
            <p:cNvSpPr/>
            <p:nvPr/>
          </p:nvSpPr>
          <p:spPr>
            <a:xfrm>
              <a:off x="4681728" y="2102206"/>
              <a:ext cx="82296" cy="0"/>
            </a:xfrm>
            <a:custGeom>
              <a:avLst/>
              <a:gdLst/>
              <a:ahLst/>
              <a:cxnLst/>
              <a:rect l="l" t="t" r="r" b="b"/>
              <a:pathLst>
                <a:path w="90" h="0">
                  <a:moveTo>
                    <a:pt x="0" y="0"/>
                  </a:moveTo>
                  <a:lnTo>
                    <a:pt x="9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v4_path_0035"/>
            <p:cNvSpPr/>
            <p:nvPr/>
          </p:nvSpPr>
          <p:spPr>
            <a:xfrm>
              <a:off x="4734763" y="2080260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0" y="24"/>
                  </a:moveTo>
                  <a:lnTo>
                    <a:pt x="14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v4_path_0036"/>
            <p:cNvSpPr/>
            <p:nvPr/>
          </p:nvSpPr>
          <p:spPr>
            <a:xfrm>
              <a:off x="4734763" y="2102206"/>
              <a:ext cx="12802" cy="22860"/>
            </a:xfrm>
            <a:custGeom>
              <a:avLst/>
              <a:gdLst/>
              <a:ahLst/>
              <a:cxnLst/>
              <a:rect l="l" t="t" r="r" b="b"/>
              <a:pathLst>
                <a:path w="14" h="25">
                  <a:moveTo>
                    <a:pt x="0" y="0"/>
                  </a:moveTo>
                  <a:lnTo>
                    <a:pt x="14" y="25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v4_path_0037"/>
            <p:cNvSpPr/>
            <p:nvPr/>
          </p:nvSpPr>
          <p:spPr>
            <a:xfrm>
              <a:off x="4681728" y="2102206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0" y="0"/>
                  </a:moveTo>
                  <a:lnTo>
                    <a:pt x="45" y="78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v4_path_0038"/>
            <p:cNvSpPr/>
            <p:nvPr/>
          </p:nvSpPr>
          <p:spPr>
            <a:xfrm>
              <a:off x="4708246" y="2148840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0" y="0"/>
                  </a:moveTo>
                  <a:lnTo>
                    <a:pt x="2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v4_path_0039"/>
            <p:cNvSpPr/>
            <p:nvPr/>
          </p:nvSpPr>
          <p:spPr>
            <a:xfrm>
              <a:off x="4695444" y="2148840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14" y="0"/>
                  </a:moveTo>
                  <a:lnTo>
                    <a:pt x="0" y="24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v4_path_0040"/>
            <p:cNvSpPr/>
            <p:nvPr/>
          </p:nvSpPr>
          <p:spPr>
            <a:xfrm>
              <a:off x="4640580" y="2102206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45" y="0"/>
                  </a:moveTo>
                  <a:lnTo>
                    <a:pt x="0" y="78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v4_path_0041"/>
            <p:cNvSpPr/>
            <p:nvPr/>
          </p:nvSpPr>
          <p:spPr>
            <a:xfrm>
              <a:off x="4655210" y="2148840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0" y="0"/>
                  </a:moveTo>
                  <a:lnTo>
                    <a:pt x="14" y="24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v4_path_0042"/>
            <p:cNvSpPr/>
            <p:nvPr/>
          </p:nvSpPr>
          <p:spPr>
            <a:xfrm>
              <a:off x="4629607" y="2148840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28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v4_path_0043"/>
            <p:cNvSpPr/>
            <p:nvPr/>
          </p:nvSpPr>
          <p:spPr>
            <a:xfrm>
              <a:off x="4599432" y="2102206"/>
              <a:ext cx="82296" cy="0"/>
            </a:xfrm>
            <a:custGeom>
              <a:avLst/>
              <a:gdLst/>
              <a:ahLst/>
              <a:cxnLst/>
              <a:rect l="l" t="t" r="r" b="b"/>
              <a:pathLst>
                <a:path w="90" h="0">
                  <a:moveTo>
                    <a:pt x="90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v4_path_0044"/>
            <p:cNvSpPr/>
            <p:nvPr/>
          </p:nvSpPr>
          <p:spPr>
            <a:xfrm>
              <a:off x="4615891" y="2102206"/>
              <a:ext cx="11887" cy="22860"/>
            </a:xfrm>
            <a:custGeom>
              <a:avLst/>
              <a:gdLst/>
              <a:ahLst/>
              <a:cxnLst/>
              <a:rect l="l" t="t" r="r" b="b"/>
              <a:pathLst>
                <a:path w="13" h="25">
                  <a:moveTo>
                    <a:pt x="13" y="0"/>
                  </a:moveTo>
                  <a:lnTo>
                    <a:pt x="0" y="25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v4_path_0045"/>
            <p:cNvSpPr/>
            <p:nvPr/>
          </p:nvSpPr>
          <p:spPr>
            <a:xfrm>
              <a:off x="4615891" y="2080260"/>
              <a:ext cx="11887" cy="21946"/>
            </a:xfrm>
            <a:custGeom>
              <a:avLst/>
              <a:gdLst/>
              <a:ahLst/>
              <a:cxnLst/>
              <a:rect l="l" t="t" r="r" b="b"/>
              <a:pathLst>
                <a:path w="13" h="24">
                  <a:moveTo>
                    <a:pt x="13" y="2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v4_path_0046"/>
            <p:cNvSpPr/>
            <p:nvPr/>
          </p:nvSpPr>
          <p:spPr>
            <a:xfrm>
              <a:off x="4640580" y="2030882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45" y="78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v4_path_0047"/>
            <p:cNvSpPr/>
            <p:nvPr/>
          </p:nvSpPr>
          <p:spPr>
            <a:xfrm>
              <a:off x="4629607" y="2056486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28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v4_path_0048"/>
            <p:cNvSpPr/>
            <p:nvPr/>
          </p:nvSpPr>
          <p:spPr>
            <a:xfrm>
              <a:off x="4655210" y="2034540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0" y="24"/>
                  </a:moveTo>
                  <a:lnTo>
                    <a:pt x="14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v4_path_0049"/>
            <p:cNvSpPr/>
            <p:nvPr/>
          </p:nvSpPr>
          <p:spPr>
            <a:xfrm>
              <a:off x="4681728" y="2030882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0" y="78"/>
                  </a:moveTo>
                  <a:lnTo>
                    <a:pt x="45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v4_path_0050"/>
            <p:cNvSpPr/>
            <p:nvPr/>
          </p:nvSpPr>
          <p:spPr>
            <a:xfrm>
              <a:off x="4695444" y="2034540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14" y="2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v4_path_0051"/>
            <p:cNvSpPr/>
            <p:nvPr/>
          </p:nvSpPr>
          <p:spPr>
            <a:xfrm>
              <a:off x="4708246" y="2056486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0" y="0"/>
                  </a:moveTo>
                  <a:lnTo>
                    <a:pt x="2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0" name="v4_module_shared_Qwen_prefix_1_16"/>
          <p:cNvGrpSpPr/>
          <p:nvPr/>
        </p:nvGrpSpPr>
        <p:grpSpPr>
          <a:xfrm>
            <a:off x="640080" y="3922776"/>
            <a:ext cx="1792224" cy="603504"/>
            <a:chOff x="640080" y="3922776"/>
            <a:chExt cx="1792224" cy="603504"/>
          </a:xfrm>
          <a:effectLst/>
        </p:grpSpPr>
        <p:sp>
          <p:nvSpPr>
            <p:cNvPr id="49" name="v4_shared_Qwen_prefix_1_16"/>
            <p:cNvSpPr/>
            <p:nvPr/>
          </p:nvSpPr>
          <p:spPr>
            <a:xfrm>
              <a:off x="640080" y="3922776"/>
              <a:ext cx="1792224" cy="603504"/>
            </a:xfrm>
            <a:prstGeom prst="roundRect">
              <a:avLst>
                <a:gd name="adj" fmla="val 10606"/>
              </a:avLst>
            </a:prstGeom>
            <a:solidFill>
              <a:srgbClr val="F3F6F9"/>
            </a:solidFill>
            <a:ln w="12700">
              <a:solidFill>
                <a:srgbClr val="B7C3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v4_shared_Qwen_prefix_1_16_label"/>
            <p:cNvSpPr txBox="1"/>
            <p:nvPr/>
          </p:nvSpPr>
          <p:spPr>
            <a:xfrm>
              <a:off x="685800" y="3931920"/>
              <a:ext cx="1700784" cy="58521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233344"/>
                  </a:solidFill>
                  <a:latin typeface="DejaVu Sans"/>
                </a:rPr>
                <a:t>Qwen</a:t>
              </a:r>
            </a:p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233344"/>
                  </a:solidFill>
                  <a:latin typeface="DejaVu Sans"/>
                </a:rPr>
                <a:t>layers 1–16</a:t>
              </a:r>
            </a:p>
          </p:txBody>
        </p:sp>
      </p:grpSp>
      <p:grpSp>
        <p:nvGrpSpPr>
          <p:cNvPr id="1301" name="v4_shared_Qwen_prefix_frozen"/>
          <p:cNvGrpSpPr/>
          <p:nvPr/>
        </p:nvGrpSpPr>
        <p:grpSpPr>
          <a:xfrm>
            <a:off x="2208276" y="3974897"/>
            <a:ext cx="181052" cy="157276"/>
            <a:chOff x="2208276" y="3974897"/>
            <a:chExt cx="181052" cy="157276"/>
          </a:xfrm>
          <a:effectLst/>
        </p:grpSpPr>
        <p:sp>
          <p:nvSpPr>
            <p:cNvPr id="51" name="v4_path_0055"/>
            <p:cNvSpPr/>
            <p:nvPr/>
          </p:nvSpPr>
          <p:spPr>
            <a:xfrm>
              <a:off x="2298802" y="4053535"/>
              <a:ext cx="90526" cy="0"/>
            </a:xfrm>
            <a:custGeom>
              <a:avLst/>
              <a:gdLst/>
              <a:ahLst/>
              <a:cxnLst/>
              <a:rect l="l" t="t" r="r" b="b"/>
              <a:pathLst>
                <a:path w="99" h="0">
                  <a:moveTo>
                    <a:pt x="0" y="0"/>
                  </a:moveTo>
                  <a:lnTo>
                    <a:pt x="99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v4_path_0056"/>
            <p:cNvSpPr/>
            <p:nvPr/>
          </p:nvSpPr>
          <p:spPr>
            <a:xfrm>
              <a:off x="2358238" y="4028846"/>
              <a:ext cx="13716" cy="24689"/>
            </a:xfrm>
            <a:custGeom>
              <a:avLst/>
              <a:gdLst/>
              <a:ahLst/>
              <a:cxnLst/>
              <a:rect l="l" t="t" r="r" b="b"/>
              <a:pathLst>
                <a:path w="15" h="27">
                  <a:moveTo>
                    <a:pt x="0" y="27"/>
                  </a:moveTo>
                  <a:lnTo>
                    <a:pt x="1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v4_path_0057"/>
            <p:cNvSpPr/>
            <p:nvPr/>
          </p:nvSpPr>
          <p:spPr>
            <a:xfrm>
              <a:off x="2358238" y="4053535"/>
              <a:ext cx="13716" cy="24689"/>
            </a:xfrm>
            <a:custGeom>
              <a:avLst/>
              <a:gdLst/>
              <a:ahLst/>
              <a:cxnLst/>
              <a:rect l="l" t="t" r="r" b="b"/>
              <a:pathLst>
                <a:path w="15" h="27">
                  <a:moveTo>
                    <a:pt x="0" y="0"/>
                  </a:moveTo>
                  <a:lnTo>
                    <a:pt x="15" y="27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v4_path_0058"/>
            <p:cNvSpPr/>
            <p:nvPr/>
          </p:nvSpPr>
          <p:spPr>
            <a:xfrm>
              <a:off x="2298802" y="4053535"/>
              <a:ext cx="45720" cy="78638"/>
            </a:xfrm>
            <a:custGeom>
              <a:avLst/>
              <a:gdLst/>
              <a:ahLst/>
              <a:cxnLst/>
              <a:rect l="l" t="t" r="r" b="b"/>
              <a:pathLst>
                <a:path w="50" h="86">
                  <a:moveTo>
                    <a:pt x="0" y="0"/>
                  </a:moveTo>
                  <a:lnTo>
                    <a:pt x="50" y="86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v4_path_0059"/>
            <p:cNvSpPr/>
            <p:nvPr/>
          </p:nvSpPr>
          <p:spPr>
            <a:xfrm>
              <a:off x="2328977" y="4104742"/>
              <a:ext cx="27432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v4_path_0060"/>
            <p:cNvSpPr/>
            <p:nvPr/>
          </p:nvSpPr>
          <p:spPr>
            <a:xfrm>
              <a:off x="2314346" y="4104742"/>
              <a:ext cx="14630" cy="24689"/>
            </a:xfrm>
            <a:custGeom>
              <a:avLst/>
              <a:gdLst/>
              <a:ahLst/>
              <a:cxnLst/>
              <a:rect l="l" t="t" r="r" b="b"/>
              <a:pathLst>
                <a:path w="16" h="27">
                  <a:moveTo>
                    <a:pt x="16" y="0"/>
                  </a:moveTo>
                  <a:lnTo>
                    <a:pt x="0" y="27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v4_path_0061"/>
            <p:cNvSpPr/>
            <p:nvPr/>
          </p:nvSpPr>
          <p:spPr>
            <a:xfrm>
              <a:off x="2253996" y="4053535"/>
              <a:ext cx="44806" cy="78638"/>
            </a:xfrm>
            <a:custGeom>
              <a:avLst/>
              <a:gdLst/>
              <a:ahLst/>
              <a:cxnLst/>
              <a:rect l="l" t="t" r="r" b="b"/>
              <a:pathLst>
                <a:path w="49" h="86">
                  <a:moveTo>
                    <a:pt x="49" y="0"/>
                  </a:moveTo>
                  <a:lnTo>
                    <a:pt x="0" y="86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v4_path_0062"/>
            <p:cNvSpPr/>
            <p:nvPr/>
          </p:nvSpPr>
          <p:spPr>
            <a:xfrm>
              <a:off x="2269541" y="4104742"/>
              <a:ext cx="14630" cy="24689"/>
            </a:xfrm>
            <a:custGeom>
              <a:avLst/>
              <a:gdLst/>
              <a:ahLst/>
              <a:cxnLst/>
              <a:rect l="l" t="t" r="r" b="b"/>
              <a:pathLst>
                <a:path w="16" h="27">
                  <a:moveTo>
                    <a:pt x="0" y="0"/>
                  </a:moveTo>
                  <a:lnTo>
                    <a:pt x="16" y="27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v4_path_0063"/>
            <p:cNvSpPr/>
            <p:nvPr/>
          </p:nvSpPr>
          <p:spPr>
            <a:xfrm>
              <a:off x="2242109" y="4104742"/>
              <a:ext cx="27432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30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v4_path_0064"/>
            <p:cNvSpPr/>
            <p:nvPr/>
          </p:nvSpPr>
          <p:spPr>
            <a:xfrm>
              <a:off x="2208276" y="4053535"/>
              <a:ext cx="90526" cy="0"/>
            </a:xfrm>
            <a:custGeom>
              <a:avLst/>
              <a:gdLst/>
              <a:ahLst/>
              <a:cxnLst/>
              <a:rect l="l" t="t" r="r" b="b"/>
              <a:pathLst>
                <a:path w="99" h="0">
                  <a:moveTo>
                    <a:pt x="99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v4_path_0065"/>
            <p:cNvSpPr/>
            <p:nvPr/>
          </p:nvSpPr>
          <p:spPr>
            <a:xfrm>
              <a:off x="2226564" y="4053535"/>
              <a:ext cx="13716" cy="24689"/>
            </a:xfrm>
            <a:custGeom>
              <a:avLst/>
              <a:gdLst/>
              <a:ahLst/>
              <a:cxnLst/>
              <a:rect l="l" t="t" r="r" b="b"/>
              <a:pathLst>
                <a:path w="15" h="27">
                  <a:moveTo>
                    <a:pt x="15" y="0"/>
                  </a:moveTo>
                  <a:lnTo>
                    <a:pt x="0" y="27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v4_path_0066"/>
            <p:cNvSpPr/>
            <p:nvPr/>
          </p:nvSpPr>
          <p:spPr>
            <a:xfrm>
              <a:off x="2226564" y="4028846"/>
              <a:ext cx="13716" cy="24689"/>
            </a:xfrm>
            <a:custGeom>
              <a:avLst/>
              <a:gdLst/>
              <a:ahLst/>
              <a:cxnLst/>
              <a:rect l="l" t="t" r="r" b="b"/>
              <a:pathLst>
                <a:path w="15" h="27">
                  <a:moveTo>
                    <a:pt x="15" y="2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v4_path_0067"/>
            <p:cNvSpPr/>
            <p:nvPr/>
          </p:nvSpPr>
          <p:spPr>
            <a:xfrm>
              <a:off x="2253996" y="3974897"/>
              <a:ext cx="44806" cy="78638"/>
            </a:xfrm>
            <a:custGeom>
              <a:avLst/>
              <a:gdLst/>
              <a:ahLst/>
              <a:cxnLst/>
              <a:rect l="l" t="t" r="r" b="b"/>
              <a:pathLst>
                <a:path w="49" h="86">
                  <a:moveTo>
                    <a:pt x="49" y="86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v4_path_0068"/>
            <p:cNvSpPr/>
            <p:nvPr/>
          </p:nvSpPr>
          <p:spPr>
            <a:xfrm>
              <a:off x="2242109" y="4002329"/>
              <a:ext cx="27432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30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v4_path_0069"/>
            <p:cNvSpPr/>
            <p:nvPr/>
          </p:nvSpPr>
          <p:spPr>
            <a:xfrm>
              <a:off x="2269541" y="3978554"/>
              <a:ext cx="14630" cy="23774"/>
            </a:xfrm>
            <a:custGeom>
              <a:avLst/>
              <a:gdLst/>
              <a:ahLst/>
              <a:cxnLst/>
              <a:rect l="l" t="t" r="r" b="b"/>
              <a:pathLst>
                <a:path w="16" h="26">
                  <a:moveTo>
                    <a:pt x="0" y="26"/>
                  </a:moveTo>
                  <a:lnTo>
                    <a:pt x="16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v4_path_0070"/>
            <p:cNvSpPr/>
            <p:nvPr/>
          </p:nvSpPr>
          <p:spPr>
            <a:xfrm>
              <a:off x="2298802" y="3974897"/>
              <a:ext cx="45720" cy="78638"/>
            </a:xfrm>
            <a:custGeom>
              <a:avLst/>
              <a:gdLst/>
              <a:ahLst/>
              <a:cxnLst/>
              <a:rect l="l" t="t" r="r" b="b"/>
              <a:pathLst>
                <a:path w="50" h="86">
                  <a:moveTo>
                    <a:pt x="0" y="86"/>
                  </a:moveTo>
                  <a:lnTo>
                    <a:pt x="5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v4_path_0071"/>
            <p:cNvSpPr/>
            <p:nvPr/>
          </p:nvSpPr>
          <p:spPr>
            <a:xfrm>
              <a:off x="2314346" y="3978554"/>
              <a:ext cx="14630" cy="23774"/>
            </a:xfrm>
            <a:custGeom>
              <a:avLst/>
              <a:gdLst/>
              <a:ahLst/>
              <a:cxnLst/>
              <a:rect l="l" t="t" r="r" b="b"/>
              <a:pathLst>
                <a:path w="16" h="26">
                  <a:moveTo>
                    <a:pt x="16" y="2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v4_path_0072"/>
            <p:cNvSpPr/>
            <p:nvPr/>
          </p:nvSpPr>
          <p:spPr>
            <a:xfrm>
              <a:off x="2328977" y="4002329"/>
              <a:ext cx="27432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2" name="v4_encoder_16_trained"/>
          <p:cNvGrpSpPr/>
          <p:nvPr/>
        </p:nvGrpSpPr>
        <p:grpSpPr>
          <a:xfrm>
            <a:off x="2704795" y="2873959"/>
            <a:ext cx="162763" cy="195682"/>
            <a:chOff x="2704795" y="2873959"/>
            <a:chExt cx="162763" cy="195682"/>
          </a:xfrm>
          <a:effectLst/>
        </p:grpSpPr>
        <p:sp>
          <p:nvSpPr>
            <p:cNvPr id="76" name="v4_path_0082"/>
            <p:cNvSpPr/>
            <p:nvPr/>
          </p:nvSpPr>
          <p:spPr>
            <a:xfrm>
              <a:off x="2704795" y="2873959"/>
              <a:ext cx="162763" cy="195682"/>
            </a:xfrm>
            <a:custGeom>
              <a:avLst/>
              <a:gdLst/>
              <a:ahLst/>
              <a:cxnLst/>
              <a:rect l="l" t="t" r="r" b="b"/>
              <a:pathLst>
                <a:path w="178" h="214">
                  <a:moveTo>
                    <a:pt x="93" y="0"/>
                  </a:moveTo>
                  <a:lnTo>
                    <a:pt x="115" y="38"/>
                  </a:lnTo>
                  <a:lnTo>
                    <a:pt x="113" y="71"/>
                  </a:lnTo>
                  <a:lnTo>
                    <a:pt x="146" y="53"/>
                  </a:lnTo>
                  <a:lnTo>
                    <a:pt x="167" y="90"/>
                  </a:lnTo>
                  <a:lnTo>
                    <a:pt x="178" y="130"/>
                  </a:lnTo>
                  <a:lnTo>
                    <a:pt x="172" y="170"/>
                  </a:lnTo>
                  <a:lnTo>
                    <a:pt x="148" y="201"/>
                  </a:lnTo>
                  <a:lnTo>
                    <a:pt x="104" y="214"/>
                  </a:lnTo>
                  <a:lnTo>
                    <a:pt x="55" y="207"/>
                  </a:lnTo>
                  <a:lnTo>
                    <a:pt x="18" y="185"/>
                  </a:lnTo>
                  <a:lnTo>
                    <a:pt x="0" y="146"/>
                  </a:lnTo>
                  <a:lnTo>
                    <a:pt x="9" y="101"/>
                  </a:lnTo>
                  <a:lnTo>
                    <a:pt x="38" y="66"/>
                  </a:lnTo>
                  <a:lnTo>
                    <a:pt x="33" y="113"/>
                  </a:lnTo>
                  <a:lnTo>
                    <a:pt x="64" y="82"/>
                  </a:lnTo>
                  <a:lnTo>
                    <a:pt x="77" y="46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v4_path_0083"/>
            <p:cNvSpPr/>
            <p:nvPr/>
          </p:nvSpPr>
          <p:spPr>
            <a:xfrm>
              <a:off x="2753258" y="2960827"/>
              <a:ext cx="74981" cy="100584"/>
            </a:xfrm>
            <a:custGeom>
              <a:avLst/>
              <a:gdLst/>
              <a:ahLst/>
              <a:cxnLst/>
              <a:rect l="l" t="t" r="r" b="b"/>
              <a:pathLst>
                <a:path w="82" h="110">
                  <a:moveTo>
                    <a:pt x="44" y="0"/>
                  </a:moveTo>
                  <a:lnTo>
                    <a:pt x="75" y="37"/>
                  </a:lnTo>
                  <a:lnTo>
                    <a:pt x="82" y="73"/>
                  </a:lnTo>
                  <a:lnTo>
                    <a:pt x="68" y="99"/>
                  </a:lnTo>
                  <a:lnTo>
                    <a:pt x="40" y="110"/>
                  </a:lnTo>
                  <a:lnTo>
                    <a:pt x="9" y="95"/>
                  </a:lnTo>
                  <a:lnTo>
                    <a:pt x="0" y="64"/>
                  </a:lnTo>
                  <a:lnTo>
                    <a:pt x="13" y="33"/>
                  </a:lnTo>
                  <a:lnTo>
                    <a:pt x="22" y="68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3" name="v4_module_compact_z16"/>
          <p:cNvGrpSpPr/>
          <p:nvPr/>
        </p:nvGrpSpPr>
        <p:grpSpPr>
          <a:xfrm>
            <a:off x="3081528" y="2962656"/>
            <a:ext cx="365760" cy="384048"/>
            <a:chOff x="3081528" y="2962656"/>
            <a:chExt cx="365760" cy="384048"/>
          </a:xfrm>
          <a:effectLst/>
        </p:grpSpPr>
        <p:sp>
          <p:nvSpPr>
            <p:cNvPr id="80" name="v4_compact_z16"/>
            <p:cNvSpPr/>
            <p:nvPr/>
          </p:nvSpPr>
          <p:spPr>
            <a:xfrm>
              <a:off x="3081528" y="2962656"/>
              <a:ext cx="365760" cy="384048"/>
            </a:xfrm>
            <a:prstGeom prst="roundRect">
              <a:avLst>
                <a:gd name="adj" fmla="val 12000"/>
              </a:avLst>
            </a:prstGeom>
            <a:solidFill>
              <a:srgbClr val="D1E0EE"/>
            </a:solidFill>
            <a:ln w="12700">
              <a:solidFill>
                <a:srgbClr val="367A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4" name="v4_decoder_16_trained"/>
          <p:cNvGrpSpPr/>
          <p:nvPr/>
        </p:nvGrpSpPr>
        <p:grpSpPr>
          <a:xfrm>
            <a:off x="3994099" y="2816352"/>
            <a:ext cx="162763" cy="195682"/>
            <a:chOff x="3994099" y="2816352"/>
            <a:chExt cx="162763" cy="195682"/>
          </a:xfrm>
          <a:effectLst/>
        </p:grpSpPr>
        <p:sp>
          <p:nvSpPr>
            <p:cNvPr id="83" name="v4_path_0092"/>
            <p:cNvSpPr/>
            <p:nvPr/>
          </p:nvSpPr>
          <p:spPr>
            <a:xfrm>
              <a:off x="3994099" y="2816352"/>
              <a:ext cx="162763" cy="195682"/>
            </a:xfrm>
            <a:custGeom>
              <a:avLst/>
              <a:gdLst/>
              <a:ahLst/>
              <a:cxnLst/>
              <a:rect l="l" t="t" r="r" b="b"/>
              <a:pathLst>
                <a:path w="178" h="214">
                  <a:moveTo>
                    <a:pt x="92" y="0"/>
                  </a:moveTo>
                  <a:lnTo>
                    <a:pt x="114" y="38"/>
                  </a:lnTo>
                  <a:lnTo>
                    <a:pt x="112" y="71"/>
                  </a:lnTo>
                  <a:lnTo>
                    <a:pt x="145" y="53"/>
                  </a:lnTo>
                  <a:lnTo>
                    <a:pt x="167" y="90"/>
                  </a:lnTo>
                  <a:lnTo>
                    <a:pt x="178" y="130"/>
                  </a:lnTo>
                  <a:lnTo>
                    <a:pt x="171" y="170"/>
                  </a:lnTo>
                  <a:lnTo>
                    <a:pt x="147" y="201"/>
                  </a:lnTo>
                  <a:lnTo>
                    <a:pt x="103" y="214"/>
                  </a:lnTo>
                  <a:lnTo>
                    <a:pt x="55" y="207"/>
                  </a:lnTo>
                  <a:lnTo>
                    <a:pt x="18" y="185"/>
                  </a:lnTo>
                  <a:lnTo>
                    <a:pt x="0" y="146"/>
                  </a:lnTo>
                  <a:lnTo>
                    <a:pt x="9" y="101"/>
                  </a:lnTo>
                  <a:lnTo>
                    <a:pt x="37" y="66"/>
                  </a:lnTo>
                  <a:lnTo>
                    <a:pt x="33" y="113"/>
                  </a:lnTo>
                  <a:lnTo>
                    <a:pt x="64" y="82"/>
                  </a:lnTo>
                  <a:lnTo>
                    <a:pt x="77" y="46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v4_path_0093"/>
            <p:cNvSpPr/>
            <p:nvPr/>
          </p:nvSpPr>
          <p:spPr>
            <a:xfrm>
              <a:off x="4042562" y="2903220"/>
              <a:ext cx="74066" cy="100584"/>
            </a:xfrm>
            <a:custGeom>
              <a:avLst/>
              <a:gdLst/>
              <a:ahLst/>
              <a:cxnLst/>
              <a:rect l="l" t="t" r="r" b="b"/>
              <a:pathLst>
                <a:path w="81" h="110">
                  <a:moveTo>
                    <a:pt x="44" y="0"/>
                  </a:moveTo>
                  <a:lnTo>
                    <a:pt x="74" y="37"/>
                  </a:lnTo>
                  <a:lnTo>
                    <a:pt x="81" y="73"/>
                  </a:lnTo>
                  <a:lnTo>
                    <a:pt x="68" y="99"/>
                  </a:lnTo>
                  <a:lnTo>
                    <a:pt x="39" y="110"/>
                  </a:lnTo>
                  <a:lnTo>
                    <a:pt x="9" y="95"/>
                  </a:lnTo>
                  <a:lnTo>
                    <a:pt x="0" y="64"/>
                  </a:lnTo>
                  <a:lnTo>
                    <a:pt x="13" y="33"/>
                  </a:lnTo>
                  <a:lnTo>
                    <a:pt x="22" y="68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5" name="v4_module_rect_0097"/>
          <p:cNvGrpSpPr/>
          <p:nvPr/>
        </p:nvGrpSpPr>
        <p:grpSpPr>
          <a:xfrm>
            <a:off x="393192" y="4672584"/>
            <a:ext cx="987552" cy="329184"/>
            <a:chOff x="393192" y="4672584"/>
            <a:chExt cx="987552" cy="329184"/>
          </a:xfrm>
          <a:effectLst/>
        </p:grpSpPr>
        <p:sp>
          <p:nvSpPr>
            <p:cNvPr id="88" name="v4_rect_0097"/>
            <p:cNvSpPr/>
            <p:nvPr/>
          </p:nvSpPr>
          <p:spPr>
            <a:xfrm>
              <a:off x="393192" y="4672584"/>
              <a:ext cx="987552" cy="329184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965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v4_text_0098"/>
            <p:cNvSpPr txBox="1"/>
            <p:nvPr/>
          </p:nvSpPr>
          <p:spPr>
            <a:xfrm>
              <a:off x="438912" y="4681728"/>
              <a:ext cx="896112" cy="31089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>
                  <a:solidFill>
                    <a:srgbClr val="7965AA"/>
                  </a:solidFill>
                  <a:latin typeface="DejaVu Sans"/>
                </a:rPr>
                <a:t>Question</a:t>
              </a:r>
            </a:p>
          </p:txBody>
        </p:sp>
      </p:grpSp>
      <p:grpSp>
        <p:nvGrpSpPr>
          <p:cNvPr id="1306" name="v4_module_rect_0099"/>
          <p:cNvGrpSpPr/>
          <p:nvPr/>
        </p:nvGrpSpPr>
        <p:grpSpPr>
          <a:xfrm>
            <a:off x="1380744" y="4672584"/>
            <a:ext cx="1307592" cy="329184"/>
            <a:chOff x="1380744" y="4672584"/>
            <a:chExt cx="1307592" cy="329184"/>
          </a:xfrm>
          <a:effectLst/>
        </p:grpSpPr>
        <p:sp>
          <p:nvSpPr>
            <p:cNvPr id="90" name="v4_rect_0099"/>
            <p:cNvSpPr/>
            <p:nvPr/>
          </p:nvSpPr>
          <p:spPr>
            <a:xfrm>
              <a:off x="1380744" y="4672584"/>
              <a:ext cx="1307592" cy="329184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B8656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v4_text_0100"/>
            <p:cNvSpPr txBox="1"/>
            <p:nvPr/>
          </p:nvSpPr>
          <p:spPr>
            <a:xfrm>
              <a:off x="1426464" y="4681728"/>
              <a:ext cx="1216151" cy="31089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>
                  <a:solidFill>
                    <a:srgbClr val="B86565"/>
                  </a:solidFill>
                  <a:latin typeface="DejaVu Sans"/>
                </a:rPr>
                <a:t>Gold solution</a:t>
              </a:r>
            </a:p>
          </p:txBody>
        </p:sp>
      </p:grpSp>
      <p:grpSp>
        <p:nvGrpSpPr>
          <p:cNvPr id="1307" name="v4_final_encoder_L16_frozen"/>
          <p:cNvGrpSpPr/>
          <p:nvPr/>
        </p:nvGrpSpPr>
        <p:grpSpPr>
          <a:xfrm>
            <a:off x="1352398" y="6126480"/>
            <a:ext cx="148132" cy="128016"/>
            <a:chOff x="1352398" y="6126480"/>
            <a:chExt cx="148132" cy="128016"/>
          </a:xfrm>
          <a:effectLst/>
        </p:grpSpPr>
        <p:sp>
          <p:nvSpPr>
            <p:cNvPr id="100" name="v4_path_0110"/>
            <p:cNvSpPr/>
            <p:nvPr/>
          </p:nvSpPr>
          <p:spPr>
            <a:xfrm>
              <a:off x="1426464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0" y="0"/>
                  </a:moveTo>
                  <a:lnTo>
                    <a:pt x="81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v4_path_0111"/>
            <p:cNvSpPr/>
            <p:nvPr/>
          </p:nvSpPr>
          <p:spPr>
            <a:xfrm>
              <a:off x="1474927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22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v4_path_0112"/>
            <p:cNvSpPr/>
            <p:nvPr/>
          </p:nvSpPr>
          <p:spPr>
            <a:xfrm>
              <a:off x="1474927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0"/>
                  </a:moveTo>
                  <a:lnTo>
                    <a:pt x="12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v4_path_0113"/>
            <p:cNvSpPr/>
            <p:nvPr/>
          </p:nvSpPr>
          <p:spPr>
            <a:xfrm>
              <a:off x="1426464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0"/>
                  </a:moveTo>
                  <a:lnTo>
                    <a:pt x="4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v4_path_0114"/>
            <p:cNvSpPr/>
            <p:nvPr/>
          </p:nvSpPr>
          <p:spPr>
            <a:xfrm>
              <a:off x="1450238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v4_path_0115"/>
            <p:cNvSpPr/>
            <p:nvPr/>
          </p:nvSpPr>
          <p:spPr>
            <a:xfrm>
              <a:off x="1439266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0"/>
                  </a:moveTo>
                  <a:lnTo>
                    <a:pt x="0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v4_path_0116"/>
            <p:cNvSpPr/>
            <p:nvPr/>
          </p:nvSpPr>
          <p:spPr>
            <a:xfrm>
              <a:off x="1389888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0"/>
                  </a:moveTo>
                  <a:lnTo>
                    <a:pt x="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v4_path_0117"/>
            <p:cNvSpPr/>
            <p:nvPr/>
          </p:nvSpPr>
          <p:spPr>
            <a:xfrm>
              <a:off x="1402690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0"/>
                  </a:moveTo>
                  <a:lnTo>
                    <a:pt x="12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v4_path_0118"/>
            <p:cNvSpPr/>
            <p:nvPr/>
          </p:nvSpPr>
          <p:spPr>
            <a:xfrm>
              <a:off x="1379830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v4_path_0119"/>
            <p:cNvSpPr/>
            <p:nvPr/>
          </p:nvSpPr>
          <p:spPr>
            <a:xfrm>
              <a:off x="1352398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81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v4_path_0120"/>
            <p:cNvSpPr/>
            <p:nvPr/>
          </p:nvSpPr>
          <p:spPr>
            <a:xfrm>
              <a:off x="1367028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0"/>
                  </a:moveTo>
                  <a:lnTo>
                    <a:pt x="0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v4_path_0121"/>
            <p:cNvSpPr/>
            <p:nvPr/>
          </p:nvSpPr>
          <p:spPr>
            <a:xfrm>
              <a:off x="1367028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2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v4_path_0122"/>
            <p:cNvSpPr/>
            <p:nvPr/>
          </p:nvSpPr>
          <p:spPr>
            <a:xfrm>
              <a:off x="1389888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7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v4_path_0123"/>
            <p:cNvSpPr/>
            <p:nvPr/>
          </p:nvSpPr>
          <p:spPr>
            <a:xfrm>
              <a:off x="1379830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v4_path_0124"/>
            <p:cNvSpPr/>
            <p:nvPr/>
          </p:nvSpPr>
          <p:spPr>
            <a:xfrm>
              <a:off x="1402690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21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v4_path_0125"/>
            <p:cNvSpPr/>
            <p:nvPr/>
          </p:nvSpPr>
          <p:spPr>
            <a:xfrm>
              <a:off x="1426464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70"/>
                  </a:moveTo>
                  <a:lnTo>
                    <a:pt x="4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v4_path_0126"/>
            <p:cNvSpPr/>
            <p:nvPr/>
          </p:nvSpPr>
          <p:spPr>
            <a:xfrm>
              <a:off x="1439266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21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v4_path_0127"/>
            <p:cNvSpPr/>
            <p:nvPr/>
          </p:nvSpPr>
          <p:spPr>
            <a:xfrm>
              <a:off x="1450238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8" name="v4_final_encoder_L24_frozen"/>
          <p:cNvGrpSpPr/>
          <p:nvPr/>
        </p:nvGrpSpPr>
        <p:grpSpPr>
          <a:xfrm>
            <a:off x="2358238" y="6126480"/>
            <a:ext cx="148132" cy="128016"/>
            <a:chOff x="2358238" y="6126480"/>
            <a:chExt cx="148132" cy="128016"/>
          </a:xfrm>
          <a:effectLst/>
        </p:grpSpPr>
        <p:sp>
          <p:nvSpPr>
            <p:cNvPr id="124" name="v4_path_0135"/>
            <p:cNvSpPr/>
            <p:nvPr/>
          </p:nvSpPr>
          <p:spPr>
            <a:xfrm>
              <a:off x="2432304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0" y="0"/>
                  </a:moveTo>
                  <a:lnTo>
                    <a:pt x="81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v4_path_0136"/>
            <p:cNvSpPr/>
            <p:nvPr/>
          </p:nvSpPr>
          <p:spPr>
            <a:xfrm>
              <a:off x="2480767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22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v4_path_0137"/>
            <p:cNvSpPr/>
            <p:nvPr/>
          </p:nvSpPr>
          <p:spPr>
            <a:xfrm>
              <a:off x="2480767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0"/>
                  </a:moveTo>
                  <a:lnTo>
                    <a:pt x="12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v4_path_0138"/>
            <p:cNvSpPr/>
            <p:nvPr/>
          </p:nvSpPr>
          <p:spPr>
            <a:xfrm>
              <a:off x="2432304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0"/>
                  </a:moveTo>
                  <a:lnTo>
                    <a:pt x="4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v4_path_0139"/>
            <p:cNvSpPr/>
            <p:nvPr/>
          </p:nvSpPr>
          <p:spPr>
            <a:xfrm>
              <a:off x="2456078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v4_path_0140"/>
            <p:cNvSpPr/>
            <p:nvPr/>
          </p:nvSpPr>
          <p:spPr>
            <a:xfrm>
              <a:off x="2445106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0"/>
                  </a:moveTo>
                  <a:lnTo>
                    <a:pt x="0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v4_path_0141"/>
            <p:cNvSpPr/>
            <p:nvPr/>
          </p:nvSpPr>
          <p:spPr>
            <a:xfrm>
              <a:off x="2395728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0"/>
                  </a:moveTo>
                  <a:lnTo>
                    <a:pt x="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v4_path_0142"/>
            <p:cNvSpPr/>
            <p:nvPr/>
          </p:nvSpPr>
          <p:spPr>
            <a:xfrm>
              <a:off x="2408530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0"/>
                  </a:moveTo>
                  <a:lnTo>
                    <a:pt x="12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v4_path_0143"/>
            <p:cNvSpPr/>
            <p:nvPr/>
          </p:nvSpPr>
          <p:spPr>
            <a:xfrm>
              <a:off x="2385670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v4_path_0144"/>
            <p:cNvSpPr/>
            <p:nvPr/>
          </p:nvSpPr>
          <p:spPr>
            <a:xfrm>
              <a:off x="2358238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81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v4_path_0145"/>
            <p:cNvSpPr/>
            <p:nvPr/>
          </p:nvSpPr>
          <p:spPr>
            <a:xfrm>
              <a:off x="2372868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0"/>
                  </a:moveTo>
                  <a:lnTo>
                    <a:pt x="0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v4_path_0146"/>
            <p:cNvSpPr/>
            <p:nvPr/>
          </p:nvSpPr>
          <p:spPr>
            <a:xfrm>
              <a:off x="2372868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2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v4_path_0147"/>
            <p:cNvSpPr/>
            <p:nvPr/>
          </p:nvSpPr>
          <p:spPr>
            <a:xfrm>
              <a:off x="2395728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7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v4_path_0148"/>
            <p:cNvSpPr/>
            <p:nvPr/>
          </p:nvSpPr>
          <p:spPr>
            <a:xfrm>
              <a:off x="2385670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v4_path_0149"/>
            <p:cNvSpPr/>
            <p:nvPr/>
          </p:nvSpPr>
          <p:spPr>
            <a:xfrm>
              <a:off x="2408530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21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v4_path_0150"/>
            <p:cNvSpPr/>
            <p:nvPr/>
          </p:nvSpPr>
          <p:spPr>
            <a:xfrm>
              <a:off x="2432304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70"/>
                  </a:moveTo>
                  <a:lnTo>
                    <a:pt x="4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0" name="v4_path_0151"/>
            <p:cNvSpPr/>
            <p:nvPr/>
          </p:nvSpPr>
          <p:spPr>
            <a:xfrm>
              <a:off x="2445106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21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1" name="v4_path_0152"/>
            <p:cNvSpPr/>
            <p:nvPr/>
          </p:nvSpPr>
          <p:spPr>
            <a:xfrm>
              <a:off x="2456078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9" name="v4_final_encoder_L32_frozen"/>
          <p:cNvGrpSpPr/>
          <p:nvPr/>
        </p:nvGrpSpPr>
        <p:grpSpPr>
          <a:xfrm>
            <a:off x="3866998" y="6126480"/>
            <a:ext cx="148132" cy="128016"/>
            <a:chOff x="3866998" y="6126480"/>
            <a:chExt cx="148132" cy="128016"/>
          </a:xfrm>
          <a:effectLst/>
        </p:grpSpPr>
        <p:sp>
          <p:nvSpPr>
            <p:cNvPr id="148" name="v4_path_0160"/>
            <p:cNvSpPr/>
            <p:nvPr/>
          </p:nvSpPr>
          <p:spPr>
            <a:xfrm>
              <a:off x="3941064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0" y="0"/>
                  </a:moveTo>
                  <a:lnTo>
                    <a:pt x="81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v4_path_0161"/>
            <p:cNvSpPr/>
            <p:nvPr/>
          </p:nvSpPr>
          <p:spPr>
            <a:xfrm>
              <a:off x="3989527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22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v4_path_0162"/>
            <p:cNvSpPr/>
            <p:nvPr/>
          </p:nvSpPr>
          <p:spPr>
            <a:xfrm>
              <a:off x="3989527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0"/>
                  </a:moveTo>
                  <a:lnTo>
                    <a:pt x="12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v4_path_0163"/>
            <p:cNvSpPr/>
            <p:nvPr/>
          </p:nvSpPr>
          <p:spPr>
            <a:xfrm>
              <a:off x="3941064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0"/>
                  </a:moveTo>
                  <a:lnTo>
                    <a:pt x="4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v4_path_0164"/>
            <p:cNvSpPr/>
            <p:nvPr/>
          </p:nvSpPr>
          <p:spPr>
            <a:xfrm>
              <a:off x="3964838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v4_path_0165"/>
            <p:cNvSpPr/>
            <p:nvPr/>
          </p:nvSpPr>
          <p:spPr>
            <a:xfrm>
              <a:off x="3953866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0"/>
                  </a:moveTo>
                  <a:lnTo>
                    <a:pt x="0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v4_path_0166"/>
            <p:cNvSpPr/>
            <p:nvPr/>
          </p:nvSpPr>
          <p:spPr>
            <a:xfrm>
              <a:off x="3904488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0"/>
                  </a:moveTo>
                  <a:lnTo>
                    <a:pt x="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v4_path_0167"/>
            <p:cNvSpPr/>
            <p:nvPr/>
          </p:nvSpPr>
          <p:spPr>
            <a:xfrm>
              <a:off x="3917290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0"/>
                  </a:moveTo>
                  <a:lnTo>
                    <a:pt x="12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v4_path_0168"/>
            <p:cNvSpPr/>
            <p:nvPr/>
          </p:nvSpPr>
          <p:spPr>
            <a:xfrm>
              <a:off x="3894430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v4_path_0169"/>
            <p:cNvSpPr/>
            <p:nvPr/>
          </p:nvSpPr>
          <p:spPr>
            <a:xfrm>
              <a:off x="3866998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81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v4_path_0170"/>
            <p:cNvSpPr/>
            <p:nvPr/>
          </p:nvSpPr>
          <p:spPr>
            <a:xfrm>
              <a:off x="3881628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0"/>
                  </a:moveTo>
                  <a:lnTo>
                    <a:pt x="0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v4_path_0171"/>
            <p:cNvSpPr/>
            <p:nvPr/>
          </p:nvSpPr>
          <p:spPr>
            <a:xfrm>
              <a:off x="3881628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2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v4_path_0172"/>
            <p:cNvSpPr/>
            <p:nvPr/>
          </p:nvSpPr>
          <p:spPr>
            <a:xfrm>
              <a:off x="3904488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7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v4_path_0173"/>
            <p:cNvSpPr/>
            <p:nvPr/>
          </p:nvSpPr>
          <p:spPr>
            <a:xfrm>
              <a:off x="3894430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v4_path_0174"/>
            <p:cNvSpPr/>
            <p:nvPr/>
          </p:nvSpPr>
          <p:spPr>
            <a:xfrm>
              <a:off x="3917290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21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v4_path_0175"/>
            <p:cNvSpPr/>
            <p:nvPr/>
          </p:nvSpPr>
          <p:spPr>
            <a:xfrm>
              <a:off x="3941064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70"/>
                  </a:moveTo>
                  <a:lnTo>
                    <a:pt x="4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v4_path_0176"/>
            <p:cNvSpPr/>
            <p:nvPr/>
          </p:nvSpPr>
          <p:spPr>
            <a:xfrm>
              <a:off x="3953866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21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v4_path_0177"/>
            <p:cNvSpPr/>
            <p:nvPr/>
          </p:nvSpPr>
          <p:spPr>
            <a:xfrm>
              <a:off x="3964838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0" name="v4_legend_frozen"/>
          <p:cNvGrpSpPr/>
          <p:nvPr/>
        </p:nvGrpSpPr>
        <p:grpSpPr>
          <a:xfrm>
            <a:off x="385877" y="7011619"/>
            <a:ext cx="206654" cy="177394"/>
            <a:chOff x="385877" y="7011619"/>
            <a:chExt cx="206654" cy="177394"/>
          </a:xfrm>
          <a:effectLst/>
        </p:grpSpPr>
        <p:sp>
          <p:nvSpPr>
            <p:cNvPr id="169" name="v4_path_0181"/>
            <p:cNvSpPr/>
            <p:nvPr/>
          </p:nvSpPr>
          <p:spPr>
            <a:xfrm>
              <a:off x="489204" y="7100316"/>
              <a:ext cx="103327" cy="0"/>
            </a:xfrm>
            <a:custGeom>
              <a:avLst/>
              <a:gdLst/>
              <a:ahLst/>
              <a:cxnLst/>
              <a:rect l="l" t="t" r="r" b="b"/>
              <a:pathLst>
                <a:path w="113" h="0">
                  <a:moveTo>
                    <a:pt x="0" y="0"/>
                  </a:moveTo>
                  <a:lnTo>
                    <a:pt x="113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v4_path_0182"/>
            <p:cNvSpPr/>
            <p:nvPr/>
          </p:nvSpPr>
          <p:spPr>
            <a:xfrm>
              <a:off x="555955" y="7072884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0" y="30"/>
                  </a:moveTo>
                  <a:lnTo>
                    <a:pt x="1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v4_path_0183"/>
            <p:cNvSpPr/>
            <p:nvPr/>
          </p:nvSpPr>
          <p:spPr>
            <a:xfrm>
              <a:off x="555955" y="7100316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0" y="0"/>
                  </a:moveTo>
                  <a:lnTo>
                    <a:pt x="18" y="3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v4_path_0184"/>
            <p:cNvSpPr/>
            <p:nvPr/>
          </p:nvSpPr>
          <p:spPr>
            <a:xfrm>
              <a:off x="489204" y="7100316"/>
              <a:ext cx="51206" cy="88697"/>
            </a:xfrm>
            <a:custGeom>
              <a:avLst/>
              <a:gdLst/>
              <a:ahLst/>
              <a:cxnLst/>
              <a:rect l="l" t="t" r="r" b="b"/>
              <a:pathLst>
                <a:path w="56" h="97">
                  <a:moveTo>
                    <a:pt x="0" y="0"/>
                  </a:moveTo>
                  <a:lnTo>
                    <a:pt x="56" y="97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v4_path_0185"/>
            <p:cNvSpPr/>
            <p:nvPr/>
          </p:nvSpPr>
          <p:spPr>
            <a:xfrm>
              <a:off x="523037" y="7157923"/>
              <a:ext cx="32004" cy="0"/>
            </a:xfrm>
            <a:custGeom>
              <a:avLst/>
              <a:gdLst/>
              <a:ahLst/>
              <a:cxnLst/>
              <a:rect l="l" t="t" r="r" b="b"/>
              <a:pathLst>
                <a:path w="35" h="0">
                  <a:moveTo>
                    <a:pt x="0" y="0"/>
                  </a:moveTo>
                  <a:lnTo>
                    <a:pt x="3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v4_path_0186"/>
            <p:cNvSpPr/>
            <p:nvPr/>
          </p:nvSpPr>
          <p:spPr>
            <a:xfrm>
              <a:off x="506578" y="7157923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18" y="0"/>
                  </a:moveTo>
                  <a:lnTo>
                    <a:pt x="0" y="3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v4_path_0187"/>
            <p:cNvSpPr/>
            <p:nvPr/>
          </p:nvSpPr>
          <p:spPr>
            <a:xfrm>
              <a:off x="437998" y="7100316"/>
              <a:ext cx="51206" cy="88697"/>
            </a:xfrm>
            <a:custGeom>
              <a:avLst/>
              <a:gdLst/>
              <a:ahLst/>
              <a:cxnLst/>
              <a:rect l="l" t="t" r="r" b="b"/>
              <a:pathLst>
                <a:path w="56" h="97">
                  <a:moveTo>
                    <a:pt x="56" y="0"/>
                  </a:moveTo>
                  <a:lnTo>
                    <a:pt x="0" y="97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v4_path_0188"/>
            <p:cNvSpPr/>
            <p:nvPr/>
          </p:nvSpPr>
          <p:spPr>
            <a:xfrm>
              <a:off x="455371" y="7157923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0" y="0"/>
                  </a:moveTo>
                  <a:lnTo>
                    <a:pt x="18" y="3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v4_path_0189"/>
            <p:cNvSpPr/>
            <p:nvPr/>
          </p:nvSpPr>
          <p:spPr>
            <a:xfrm>
              <a:off x="423367" y="7157923"/>
              <a:ext cx="32004" cy="0"/>
            </a:xfrm>
            <a:custGeom>
              <a:avLst/>
              <a:gdLst/>
              <a:ahLst/>
              <a:cxnLst/>
              <a:rect l="l" t="t" r="r" b="b"/>
              <a:pathLst>
                <a:path w="35" h="0">
                  <a:moveTo>
                    <a:pt x="3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v4_path_0190"/>
            <p:cNvSpPr/>
            <p:nvPr/>
          </p:nvSpPr>
          <p:spPr>
            <a:xfrm>
              <a:off x="385877" y="7100316"/>
              <a:ext cx="103327" cy="0"/>
            </a:xfrm>
            <a:custGeom>
              <a:avLst/>
              <a:gdLst/>
              <a:ahLst/>
              <a:cxnLst/>
              <a:rect l="l" t="t" r="r" b="b"/>
              <a:pathLst>
                <a:path w="113" h="0">
                  <a:moveTo>
                    <a:pt x="113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v4_path_0191"/>
            <p:cNvSpPr/>
            <p:nvPr/>
          </p:nvSpPr>
          <p:spPr>
            <a:xfrm>
              <a:off x="405994" y="7100316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18" y="0"/>
                  </a:moveTo>
                  <a:lnTo>
                    <a:pt x="0" y="3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v4_path_0192"/>
            <p:cNvSpPr/>
            <p:nvPr/>
          </p:nvSpPr>
          <p:spPr>
            <a:xfrm>
              <a:off x="405994" y="7072884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18" y="3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v4_path_0193"/>
            <p:cNvSpPr/>
            <p:nvPr/>
          </p:nvSpPr>
          <p:spPr>
            <a:xfrm>
              <a:off x="437998" y="7011619"/>
              <a:ext cx="51206" cy="88697"/>
            </a:xfrm>
            <a:custGeom>
              <a:avLst/>
              <a:gdLst/>
              <a:ahLst/>
              <a:cxnLst/>
              <a:rect l="l" t="t" r="r" b="b"/>
              <a:pathLst>
                <a:path w="56" h="97">
                  <a:moveTo>
                    <a:pt x="56" y="97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v4_path_0194"/>
            <p:cNvSpPr/>
            <p:nvPr/>
          </p:nvSpPr>
          <p:spPr>
            <a:xfrm>
              <a:off x="423367" y="7042709"/>
              <a:ext cx="32004" cy="0"/>
            </a:xfrm>
            <a:custGeom>
              <a:avLst/>
              <a:gdLst/>
              <a:ahLst/>
              <a:cxnLst/>
              <a:rect l="l" t="t" r="r" b="b"/>
              <a:pathLst>
                <a:path w="35" h="0">
                  <a:moveTo>
                    <a:pt x="3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v4_path_0195"/>
            <p:cNvSpPr/>
            <p:nvPr/>
          </p:nvSpPr>
          <p:spPr>
            <a:xfrm>
              <a:off x="455371" y="7015277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0" y="30"/>
                  </a:moveTo>
                  <a:lnTo>
                    <a:pt x="1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v4_path_0196"/>
            <p:cNvSpPr/>
            <p:nvPr/>
          </p:nvSpPr>
          <p:spPr>
            <a:xfrm>
              <a:off x="489204" y="7011619"/>
              <a:ext cx="51206" cy="88697"/>
            </a:xfrm>
            <a:custGeom>
              <a:avLst/>
              <a:gdLst/>
              <a:ahLst/>
              <a:cxnLst/>
              <a:rect l="l" t="t" r="r" b="b"/>
              <a:pathLst>
                <a:path w="56" h="97">
                  <a:moveTo>
                    <a:pt x="0" y="97"/>
                  </a:moveTo>
                  <a:lnTo>
                    <a:pt x="56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v4_path_0197"/>
            <p:cNvSpPr/>
            <p:nvPr/>
          </p:nvSpPr>
          <p:spPr>
            <a:xfrm>
              <a:off x="506578" y="7015277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18" y="3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v4_path_0198"/>
            <p:cNvSpPr/>
            <p:nvPr/>
          </p:nvSpPr>
          <p:spPr>
            <a:xfrm>
              <a:off x="523037" y="7042709"/>
              <a:ext cx="32004" cy="0"/>
            </a:xfrm>
            <a:custGeom>
              <a:avLst/>
              <a:gdLst/>
              <a:ahLst/>
              <a:cxnLst/>
              <a:rect l="l" t="t" r="r" b="b"/>
              <a:pathLst>
                <a:path w="35" h="0">
                  <a:moveTo>
                    <a:pt x="0" y="0"/>
                  </a:moveTo>
                  <a:lnTo>
                    <a:pt x="3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1" name="v4_legend_trained"/>
          <p:cNvGrpSpPr/>
          <p:nvPr/>
        </p:nvGrpSpPr>
        <p:grpSpPr>
          <a:xfrm>
            <a:off x="1679753" y="6963156"/>
            <a:ext cx="200254" cy="239573"/>
            <a:chOff x="1679753" y="6963156"/>
            <a:chExt cx="200254" cy="239573"/>
          </a:xfrm>
          <a:effectLst/>
        </p:grpSpPr>
        <p:sp>
          <p:nvSpPr>
            <p:cNvPr id="188" name="v4_path_0200"/>
            <p:cNvSpPr/>
            <p:nvPr/>
          </p:nvSpPr>
          <p:spPr>
            <a:xfrm>
              <a:off x="1679753" y="6963156"/>
              <a:ext cx="200254" cy="239573"/>
            </a:xfrm>
            <a:custGeom>
              <a:avLst/>
              <a:gdLst/>
              <a:ahLst/>
              <a:cxnLst/>
              <a:rect l="l" t="t" r="r" b="b"/>
              <a:pathLst>
                <a:path w="219" h="262">
                  <a:moveTo>
                    <a:pt x="114" y="0"/>
                  </a:moveTo>
                  <a:lnTo>
                    <a:pt x="141" y="46"/>
                  </a:lnTo>
                  <a:lnTo>
                    <a:pt x="138" y="86"/>
                  </a:lnTo>
                  <a:lnTo>
                    <a:pt x="178" y="65"/>
                  </a:lnTo>
                  <a:lnTo>
                    <a:pt x="205" y="111"/>
                  </a:lnTo>
                  <a:lnTo>
                    <a:pt x="219" y="159"/>
                  </a:lnTo>
                  <a:lnTo>
                    <a:pt x="211" y="208"/>
                  </a:lnTo>
                  <a:lnTo>
                    <a:pt x="181" y="246"/>
                  </a:lnTo>
                  <a:lnTo>
                    <a:pt x="127" y="262"/>
                  </a:lnTo>
                  <a:lnTo>
                    <a:pt x="68" y="254"/>
                  </a:lnTo>
                  <a:lnTo>
                    <a:pt x="22" y="227"/>
                  </a:lnTo>
                  <a:lnTo>
                    <a:pt x="0" y="178"/>
                  </a:lnTo>
                  <a:lnTo>
                    <a:pt x="11" y="124"/>
                  </a:lnTo>
                  <a:lnTo>
                    <a:pt x="46" y="81"/>
                  </a:lnTo>
                  <a:lnTo>
                    <a:pt x="41" y="138"/>
                  </a:lnTo>
                  <a:lnTo>
                    <a:pt x="78" y="100"/>
                  </a:lnTo>
                  <a:lnTo>
                    <a:pt x="95" y="57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v4_path_0201"/>
            <p:cNvSpPr/>
            <p:nvPr/>
          </p:nvSpPr>
          <p:spPr>
            <a:xfrm>
              <a:off x="1739189" y="7069226"/>
              <a:ext cx="91440" cy="123444"/>
            </a:xfrm>
            <a:custGeom>
              <a:avLst/>
              <a:gdLst/>
              <a:ahLst/>
              <a:cxnLst/>
              <a:rect l="l" t="t" r="r" b="b"/>
              <a:pathLst>
                <a:path w="100" h="135">
                  <a:moveTo>
                    <a:pt x="54" y="0"/>
                  </a:moveTo>
                  <a:lnTo>
                    <a:pt x="92" y="46"/>
                  </a:lnTo>
                  <a:lnTo>
                    <a:pt x="100" y="89"/>
                  </a:lnTo>
                  <a:lnTo>
                    <a:pt x="84" y="122"/>
                  </a:lnTo>
                  <a:lnTo>
                    <a:pt x="49" y="135"/>
                  </a:lnTo>
                  <a:lnTo>
                    <a:pt x="11" y="116"/>
                  </a:lnTo>
                  <a:lnTo>
                    <a:pt x="0" y="78"/>
                  </a:lnTo>
                  <a:lnTo>
                    <a:pt x="16" y="41"/>
                  </a:lnTo>
                  <a:lnTo>
                    <a:pt x="27" y="84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2" name="stage_2_heading"/>
          <p:cNvGrpSpPr/>
          <p:nvPr/>
        </p:nvGrpSpPr>
        <p:grpSpPr>
          <a:xfrm>
            <a:off x="5212080" y="210312"/>
            <a:ext cx="2898648" cy="539496"/>
            <a:chOff x="5212080" y="210312"/>
            <a:chExt cx="2898648" cy="539496"/>
          </a:xfrm>
          <a:effectLst/>
        </p:grpSpPr>
        <p:sp>
          <p:nvSpPr>
            <p:cNvPr id="194" name="rect_0203"/>
            <p:cNvSpPr/>
            <p:nvPr/>
          </p:nvSpPr>
          <p:spPr>
            <a:xfrm>
              <a:off x="5212080" y="210312"/>
              <a:ext cx="2898648" cy="539496"/>
            </a:xfrm>
            <a:prstGeom prst="roundRect">
              <a:avLst>
                <a:gd name="adj" fmla="val 12000"/>
              </a:avLst>
            </a:prstGeom>
            <a:solidFill>
              <a:srgbClr val="F3F6F9"/>
            </a:solidFill>
            <a:ln w="12700">
              <a:solidFill>
                <a:srgbClr val="F3F6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text_0204"/>
            <p:cNvSpPr txBox="1"/>
            <p:nvPr/>
          </p:nvSpPr>
          <p:spPr>
            <a:xfrm>
              <a:off x="5330952" y="237744"/>
              <a:ext cx="27432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237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00" b="1">
                  <a:solidFill>
                    <a:srgbClr val="63758A"/>
                  </a:solidFill>
                  <a:latin typeface="DejaVu Sans"/>
                </a:rPr>
                <a:t>2</a:t>
              </a:r>
            </a:p>
          </p:txBody>
        </p:sp>
        <p:sp>
          <p:nvSpPr>
            <p:cNvPr id="196" name="text_0205"/>
            <p:cNvSpPr txBox="1"/>
            <p:nvPr/>
          </p:nvSpPr>
          <p:spPr>
            <a:xfrm>
              <a:off x="5660136" y="237744"/>
              <a:ext cx="237744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ts val="203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233344"/>
                  </a:solidFill>
                  <a:latin typeface="DejaVu Sans"/>
                </a:rPr>
                <a:t>Flow training</a:t>
              </a:r>
            </a:p>
          </p:txBody>
        </p:sp>
      </p:grpSp>
      <p:grpSp>
        <p:nvGrpSpPr>
          <p:cNvPr id="1313" name="module_rect_0206"/>
          <p:cNvGrpSpPr/>
          <p:nvPr/>
        </p:nvGrpSpPr>
        <p:grpSpPr>
          <a:xfrm>
            <a:off x="5330952" y="1033271"/>
            <a:ext cx="1207008" cy="393192"/>
            <a:chOff x="5330952" y="1033271"/>
            <a:chExt cx="1207008" cy="393192"/>
          </a:xfrm>
          <a:effectLst/>
        </p:grpSpPr>
        <p:sp>
          <p:nvSpPr>
            <p:cNvPr id="197" name="rect_0206"/>
            <p:cNvSpPr/>
            <p:nvPr/>
          </p:nvSpPr>
          <p:spPr>
            <a:xfrm>
              <a:off x="5330952" y="1033271"/>
              <a:ext cx="1207008" cy="39319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965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text_0207"/>
            <p:cNvSpPr txBox="1"/>
            <p:nvPr/>
          </p:nvSpPr>
          <p:spPr>
            <a:xfrm>
              <a:off x="5376672" y="1042415"/>
              <a:ext cx="1115568" cy="37490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7965AA"/>
                  </a:solidFill>
                  <a:latin typeface="DejaVu Sans"/>
                </a:rPr>
                <a:t>Question</a:t>
              </a:r>
            </a:p>
          </p:txBody>
        </p:sp>
      </p:grpSp>
      <p:grpSp>
        <p:nvGrpSpPr>
          <p:cNvPr id="1314" name="clean_answer_latents"/>
          <p:cNvGrpSpPr/>
          <p:nvPr/>
        </p:nvGrpSpPr>
        <p:grpSpPr>
          <a:xfrm>
            <a:off x="6784848" y="1426464"/>
            <a:ext cx="1225296" cy="265176"/>
            <a:chOff x="6784848" y="1426464"/>
            <a:chExt cx="1225296" cy="265176"/>
          </a:xfrm>
          <a:effectLst/>
        </p:grpSpPr>
        <p:sp>
          <p:nvSpPr>
            <p:cNvPr id="200" name="clean_answer_latents_L16"/>
            <p:cNvSpPr/>
            <p:nvPr/>
          </p:nvSpPr>
          <p:spPr>
            <a:xfrm>
              <a:off x="6784848" y="1426464"/>
              <a:ext cx="306324" cy="265176"/>
            </a:xfrm>
            <a:prstGeom prst="rect">
              <a:avLst/>
            </a:prstGeom>
            <a:solidFill>
              <a:srgbClr val="C3D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clean_answer_latents_L24"/>
            <p:cNvSpPr/>
            <p:nvPr/>
          </p:nvSpPr>
          <p:spPr>
            <a:xfrm>
              <a:off x="7091172" y="1426464"/>
              <a:ext cx="306324" cy="265176"/>
            </a:xfrm>
            <a:prstGeom prst="rect">
              <a:avLst/>
            </a:prstGeom>
            <a:solidFill>
              <a:srgbClr val="EEDC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clean_answer_latents_L32"/>
            <p:cNvSpPr/>
            <p:nvPr/>
          </p:nvSpPr>
          <p:spPr>
            <a:xfrm>
              <a:off x="7397496" y="1426464"/>
              <a:ext cx="612648" cy="265176"/>
            </a:xfrm>
            <a:prstGeom prst="rect">
              <a:avLst/>
            </a:prstGeom>
            <a:solidFill>
              <a:srgbClr val="C0DE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clean_answer_latents_outline"/>
            <p:cNvSpPr/>
            <p:nvPr/>
          </p:nvSpPr>
          <p:spPr>
            <a:xfrm>
              <a:off x="6784848" y="1426464"/>
              <a:ext cx="1225296" cy="265176"/>
            </a:xfrm>
            <a:prstGeom prst="rect">
              <a:avLst/>
            </a:prstGeom>
            <a:noFill/>
            <a:ln w="13970">
              <a:solidFill>
                <a:srgbClr val="B8656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5" name="module_rect_0214"/>
          <p:cNvGrpSpPr/>
          <p:nvPr/>
        </p:nvGrpSpPr>
        <p:grpSpPr>
          <a:xfrm>
            <a:off x="5330952" y="1920240"/>
            <a:ext cx="1261872" cy="630936"/>
            <a:chOff x="5330952" y="1920240"/>
            <a:chExt cx="1261872" cy="630936"/>
          </a:xfrm>
          <a:effectLst/>
        </p:grpSpPr>
        <p:sp>
          <p:nvSpPr>
            <p:cNvPr id="205" name="rect_0214"/>
            <p:cNvSpPr/>
            <p:nvPr/>
          </p:nvSpPr>
          <p:spPr>
            <a:xfrm>
              <a:off x="5330952" y="1920240"/>
              <a:ext cx="1261872" cy="630936"/>
            </a:xfrm>
            <a:prstGeom prst="roundRect">
              <a:avLst>
                <a:gd name="adj" fmla="val 10144"/>
              </a:avLst>
            </a:prstGeom>
            <a:solidFill>
              <a:srgbClr val="F3F1F7"/>
            </a:solidFill>
            <a:ln w="12700">
              <a:solidFill>
                <a:srgbClr val="7965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text_0215"/>
            <p:cNvSpPr txBox="1"/>
            <p:nvPr/>
          </p:nvSpPr>
          <p:spPr>
            <a:xfrm>
              <a:off x="5376672" y="1929384"/>
              <a:ext cx="1170431" cy="612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>
                  <a:solidFill>
                    <a:srgbClr val="233344"/>
                  </a:solidFill>
                  <a:latin typeface="DejaVu Sans"/>
                </a:rPr>
                <a:t>Prompt</a:t>
              </a:r>
            </a:p>
            <a:p>
              <a:pPr algn="ctr">
                <a:lnSpc>
                  <a:spcPts val="1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>
                  <a:solidFill>
                    <a:srgbClr val="233344"/>
                  </a:solidFill>
                  <a:latin typeface="DejaVu Sans"/>
                </a:rPr>
                <a:t>encoder</a:t>
              </a:r>
            </a:p>
          </p:txBody>
        </p:sp>
      </p:grpSp>
      <p:grpSp>
        <p:nvGrpSpPr>
          <p:cNvPr id="1316" name="prompt_encoder_trained"/>
          <p:cNvGrpSpPr/>
          <p:nvPr/>
        </p:nvGrpSpPr>
        <p:grpSpPr>
          <a:xfrm>
            <a:off x="6368796" y="1696212"/>
            <a:ext cx="185623" cy="222199"/>
            <a:chOff x="6368796" y="1696212"/>
            <a:chExt cx="185623" cy="222199"/>
          </a:xfrm>
          <a:effectLst/>
        </p:grpSpPr>
        <p:sp>
          <p:nvSpPr>
            <p:cNvPr id="207" name="path_0216"/>
            <p:cNvSpPr/>
            <p:nvPr/>
          </p:nvSpPr>
          <p:spPr>
            <a:xfrm>
              <a:off x="6368796" y="1696212"/>
              <a:ext cx="185623" cy="222199"/>
            </a:xfrm>
            <a:custGeom>
              <a:avLst/>
              <a:gdLst/>
              <a:ahLst/>
              <a:cxnLst/>
              <a:rect l="l" t="t" r="r" b="b"/>
              <a:pathLst>
                <a:path w="203" h="243">
                  <a:moveTo>
                    <a:pt x="105" y="0"/>
                  </a:moveTo>
                  <a:lnTo>
                    <a:pt x="130" y="43"/>
                  </a:lnTo>
                  <a:lnTo>
                    <a:pt x="127" y="80"/>
                  </a:lnTo>
                  <a:lnTo>
                    <a:pt x="165" y="60"/>
                  </a:lnTo>
                  <a:lnTo>
                    <a:pt x="190" y="103"/>
                  </a:lnTo>
                  <a:lnTo>
                    <a:pt x="203" y="147"/>
                  </a:lnTo>
                  <a:lnTo>
                    <a:pt x="195" y="193"/>
                  </a:lnTo>
                  <a:lnTo>
                    <a:pt x="167" y="227"/>
                  </a:lnTo>
                  <a:lnTo>
                    <a:pt x="118" y="243"/>
                  </a:lnTo>
                  <a:lnTo>
                    <a:pt x="63" y="235"/>
                  </a:lnTo>
                  <a:lnTo>
                    <a:pt x="20" y="210"/>
                  </a:lnTo>
                  <a:lnTo>
                    <a:pt x="0" y="165"/>
                  </a:lnTo>
                  <a:lnTo>
                    <a:pt x="10" y="115"/>
                  </a:lnTo>
                  <a:lnTo>
                    <a:pt x="43" y="75"/>
                  </a:lnTo>
                  <a:lnTo>
                    <a:pt x="37" y="128"/>
                  </a:lnTo>
                  <a:lnTo>
                    <a:pt x="73" y="93"/>
                  </a:lnTo>
                  <a:lnTo>
                    <a:pt x="87" y="53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path_0217"/>
            <p:cNvSpPr/>
            <p:nvPr/>
          </p:nvSpPr>
          <p:spPr>
            <a:xfrm>
              <a:off x="6423660" y="1794967"/>
              <a:ext cx="85039" cy="114300"/>
            </a:xfrm>
            <a:custGeom>
              <a:avLst/>
              <a:gdLst/>
              <a:ahLst/>
              <a:cxnLst/>
              <a:rect l="l" t="t" r="r" b="b"/>
              <a:pathLst>
                <a:path w="93" h="125">
                  <a:moveTo>
                    <a:pt x="50" y="0"/>
                  </a:moveTo>
                  <a:lnTo>
                    <a:pt x="85" y="42"/>
                  </a:lnTo>
                  <a:lnTo>
                    <a:pt x="93" y="82"/>
                  </a:lnTo>
                  <a:lnTo>
                    <a:pt x="77" y="112"/>
                  </a:lnTo>
                  <a:lnTo>
                    <a:pt x="45" y="125"/>
                  </a:lnTo>
                  <a:lnTo>
                    <a:pt x="10" y="107"/>
                  </a:lnTo>
                  <a:lnTo>
                    <a:pt x="0" y="72"/>
                  </a:lnTo>
                  <a:lnTo>
                    <a:pt x="15" y="37"/>
                  </a:lnTo>
                  <a:lnTo>
                    <a:pt x="25" y="77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7" name="clean_question_latents"/>
          <p:cNvGrpSpPr/>
          <p:nvPr/>
        </p:nvGrpSpPr>
        <p:grpSpPr>
          <a:xfrm>
            <a:off x="5358384" y="3246120"/>
            <a:ext cx="1225296" cy="265176"/>
            <a:chOff x="5358384" y="3246120"/>
            <a:chExt cx="1225296" cy="265176"/>
          </a:xfrm>
          <a:effectLst/>
        </p:grpSpPr>
        <p:sp>
          <p:nvSpPr>
            <p:cNvPr id="217" name="clean_question_latents_L16"/>
            <p:cNvSpPr/>
            <p:nvPr/>
          </p:nvSpPr>
          <p:spPr>
            <a:xfrm>
              <a:off x="5358384" y="3246120"/>
              <a:ext cx="306324" cy="265176"/>
            </a:xfrm>
            <a:prstGeom prst="rect">
              <a:avLst/>
            </a:prstGeom>
            <a:solidFill>
              <a:srgbClr val="C3D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clean_question_latents_L24"/>
            <p:cNvSpPr/>
            <p:nvPr/>
          </p:nvSpPr>
          <p:spPr>
            <a:xfrm>
              <a:off x="5664708" y="3246120"/>
              <a:ext cx="306324" cy="265176"/>
            </a:xfrm>
            <a:prstGeom prst="rect">
              <a:avLst/>
            </a:prstGeom>
            <a:solidFill>
              <a:srgbClr val="EEDC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clean_question_latents_L32"/>
            <p:cNvSpPr/>
            <p:nvPr/>
          </p:nvSpPr>
          <p:spPr>
            <a:xfrm>
              <a:off x="5971032" y="3246120"/>
              <a:ext cx="612648" cy="265176"/>
            </a:xfrm>
            <a:prstGeom prst="rect">
              <a:avLst/>
            </a:prstGeom>
            <a:solidFill>
              <a:srgbClr val="C0DE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clean_question_latents_outline"/>
            <p:cNvSpPr/>
            <p:nvPr/>
          </p:nvSpPr>
          <p:spPr>
            <a:xfrm>
              <a:off x="5358384" y="3246120"/>
              <a:ext cx="1225296" cy="265176"/>
            </a:xfrm>
            <a:prstGeom prst="rect">
              <a:avLst/>
            </a:prstGeom>
            <a:noFill/>
            <a:ln w="13970">
              <a:solidFill>
                <a:srgbClr val="7965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8" name="partially_noisy_answer_latents"/>
          <p:cNvGrpSpPr/>
          <p:nvPr/>
        </p:nvGrpSpPr>
        <p:grpSpPr>
          <a:xfrm>
            <a:off x="6784848" y="3246120"/>
            <a:ext cx="1225296" cy="265176"/>
            <a:chOff x="6784848" y="3246120"/>
            <a:chExt cx="1225296" cy="265176"/>
          </a:xfrm>
          <a:effectLst/>
        </p:grpSpPr>
        <p:sp>
          <p:nvSpPr>
            <p:cNvPr id="221" name="partially_noisy_answer_latents_L16"/>
            <p:cNvSpPr/>
            <p:nvPr/>
          </p:nvSpPr>
          <p:spPr>
            <a:xfrm>
              <a:off x="6784848" y="3246120"/>
              <a:ext cx="306324" cy="265176"/>
            </a:xfrm>
            <a:prstGeom prst="rect">
              <a:avLst/>
            </a:prstGeom>
            <a:solidFill>
              <a:srgbClr val="C3D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rect_0233"/>
            <p:cNvSpPr/>
            <p:nvPr/>
          </p:nvSpPr>
          <p:spPr>
            <a:xfrm>
              <a:off x="6784848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3" name="rect_0234"/>
            <p:cNvSpPr/>
            <p:nvPr/>
          </p:nvSpPr>
          <p:spPr>
            <a:xfrm>
              <a:off x="6810375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rect_0235"/>
            <p:cNvSpPr/>
            <p:nvPr/>
          </p:nvSpPr>
          <p:spPr>
            <a:xfrm>
              <a:off x="6861429" y="3246120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rect_0236"/>
            <p:cNvSpPr/>
            <p:nvPr/>
          </p:nvSpPr>
          <p:spPr>
            <a:xfrm>
              <a:off x="6912483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rect_0237"/>
            <p:cNvSpPr/>
            <p:nvPr/>
          </p:nvSpPr>
          <p:spPr>
            <a:xfrm>
              <a:off x="6963537" y="3246120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rect_0238"/>
            <p:cNvSpPr/>
            <p:nvPr/>
          </p:nvSpPr>
          <p:spPr>
            <a:xfrm>
              <a:off x="7014591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rect_0239"/>
            <p:cNvSpPr/>
            <p:nvPr/>
          </p:nvSpPr>
          <p:spPr>
            <a:xfrm>
              <a:off x="7040118" y="3246120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rect_0240"/>
            <p:cNvSpPr/>
            <p:nvPr/>
          </p:nvSpPr>
          <p:spPr>
            <a:xfrm>
              <a:off x="6835902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ct_0241"/>
            <p:cNvSpPr/>
            <p:nvPr/>
          </p:nvSpPr>
          <p:spPr>
            <a:xfrm>
              <a:off x="6861429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ct_0242"/>
            <p:cNvSpPr/>
            <p:nvPr/>
          </p:nvSpPr>
          <p:spPr>
            <a:xfrm>
              <a:off x="6912483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ect_0243"/>
            <p:cNvSpPr/>
            <p:nvPr/>
          </p:nvSpPr>
          <p:spPr>
            <a:xfrm>
              <a:off x="7014591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ct_0244"/>
            <p:cNvSpPr/>
            <p:nvPr/>
          </p:nvSpPr>
          <p:spPr>
            <a:xfrm>
              <a:off x="7040118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ct_0245"/>
            <p:cNvSpPr/>
            <p:nvPr/>
          </p:nvSpPr>
          <p:spPr>
            <a:xfrm>
              <a:off x="7065645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ct_0246"/>
            <p:cNvSpPr/>
            <p:nvPr/>
          </p:nvSpPr>
          <p:spPr>
            <a:xfrm>
              <a:off x="6784848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rect_0247"/>
            <p:cNvSpPr/>
            <p:nvPr/>
          </p:nvSpPr>
          <p:spPr>
            <a:xfrm>
              <a:off x="6938010" y="3312413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rect_0248"/>
            <p:cNvSpPr/>
            <p:nvPr/>
          </p:nvSpPr>
          <p:spPr>
            <a:xfrm>
              <a:off x="6989064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rect_0249"/>
            <p:cNvSpPr/>
            <p:nvPr/>
          </p:nvSpPr>
          <p:spPr>
            <a:xfrm>
              <a:off x="6835902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rect_0250"/>
            <p:cNvSpPr/>
            <p:nvPr/>
          </p:nvSpPr>
          <p:spPr>
            <a:xfrm>
              <a:off x="7014591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rect_0251"/>
            <p:cNvSpPr/>
            <p:nvPr/>
          </p:nvSpPr>
          <p:spPr>
            <a:xfrm>
              <a:off x="6835902" y="3378708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rect_0252"/>
            <p:cNvSpPr/>
            <p:nvPr/>
          </p:nvSpPr>
          <p:spPr>
            <a:xfrm>
              <a:off x="6861429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rect_0253"/>
            <p:cNvSpPr/>
            <p:nvPr/>
          </p:nvSpPr>
          <p:spPr>
            <a:xfrm>
              <a:off x="7065645" y="3378708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rect_0254"/>
            <p:cNvSpPr/>
            <p:nvPr/>
          </p:nvSpPr>
          <p:spPr>
            <a:xfrm>
              <a:off x="6886956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rect_0255"/>
            <p:cNvSpPr/>
            <p:nvPr/>
          </p:nvSpPr>
          <p:spPr>
            <a:xfrm>
              <a:off x="6810375" y="344500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rect_0256"/>
            <p:cNvSpPr/>
            <p:nvPr/>
          </p:nvSpPr>
          <p:spPr>
            <a:xfrm>
              <a:off x="6784848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rect_0257"/>
            <p:cNvSpPr/>
            <p:nvPr/>
          </p:nvSpPr>
          <p:spPr>
            <a:xfrm>
              <a:off x="6938010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7" name="partially_noisy_answer_latents_L24"/>
            <p:cNvSpPr/>
            <p:nvPr/>
          </p:nvSpPr>
          <p:spPr>
            <a:xfrm>
              <a:off x="7091172" y="3246120"/>
              <a:ext cx="306324" cy="265176"/>
            </a:xfrm>
            <a:prstGeom prst="rect">
              <a:avLst/>
            </a:prstGeom>
            <a:solidFill>
              <a:srgbClr val="EEDC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rect_0259"/>
            <p:cNvSpPr/>
            <p:nvPr/>
          </p:nvSpPr>
          <p:spPr>
            <a:xfrm>
              <a:off x="7142226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rect_0260"/>
            <p:cNvSpPr/>
            <p:nvPr/>
          </p:nvSpPr>
          <p:spPr>
            <a:xfrm>
              <a:off x="7269861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rect_0261"/>
            <p:cNvSpPr/>
            <p:nvPr/>
          </p:nvSpPr>
          <p:spPr>
            <a:xfrm>
              <a:off x="7320915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rect_0262"/>
            <p:cNvSpPr/>
            <p:nvPr/>
          </p:nvSpPr>
          <p:spPr>
            <a:xfrm>
              <a:off x="7142226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rect_0263"/>
            <p:cNvSpPr/>
            <p:nvPr/>
          </p:nvSpPr>
          <p:spPr>
            <a:xfrm>
              <a:off x="7218807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rect_0264"/>
            <p:cNvSpPr/>
            <p:nvPr/>
          </p:nvSpPr>
          <p:spPr>
            <a:xfrm>
              <a:off x="7320915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rect_0265"/>
            <p:cNvSpPr/>
            <p:nvPr/>
          </p:nvSpPr>
          <p:spPr>
            <a:xfrm>
              <a:off x="7142226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rect_0266"/>
            <p:cNvSpPr/>
            <p:nvPr/>
          </p:nvSpPr>
          <p:spPr>
            <a:xfrm>
              <a:off x="7218807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rect_0267"/>
            <p:cNvSpPr/>
            <p:nvPr/>
          </p:nvSpPr>
          <p:spPr>
            <a:xfrm>
              <a:off x="7346441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rect_0268"/>
            <p:cNvSpPr/>
            <p:nvPr/>
          </p:nvSpPr>
          <p:spPr>
            <a:xfrm>
              <a:off x="7142226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ct_0269"/>
            <p:cNvSpPr/>
            <p:nvPr/>
          </p:nvSpPr>
          <p:spPr>
            <a:xfrm>
              <a:off x="7346441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rect_0270"/>
            <p:cNvSpPr/>
            <p:nvPr/>
          </p:nvSpPr>
          <p:spPr>
            <a:xfrm>
              <a:off x="7193280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rect_0271"/>
            <p:cNvSpPr/>
            <p:nvPr/>
          </p:nvSpPr>
          <p:spPr>
            <a:xfrm>
              <a:off x="7218807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rect_0272"/>
            <p:cNvSpPr/>
            <p:nvPr/>
          </p:nvSpPr>
          <p:spPr>
            <a:xfrm>
              <a:off x="7244334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rect_0273"/>
            <p:cNvSpPr/>
            <p:nvPr/>
          </p:nvSpPr>
          <p:spPr>
            <a:xfrm>
              <a:off x="7320915" y="3378708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_0274"/>
            <p:cNvSpPr/>
            <p:nvPr/>
          </p:nvSpPr>
          <p:spPr>
            <a:xfrm>
              <a:off x="7371969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_0275"/>
            <p:cNvSpPr/>
            <p:nvPr/>
          </p:nvSpPr>
          <p:spPr>
            <a:xfrm>
              <a:off x="7091172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rect_0276"/>
            <p:cNvSpPr/>
            <p:nvPr/>
          </p:nvSpPr>
          <p:spPr>
            <a:xfrm>
              <a:off x="7142226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rect_0277"/>
            <p:cNvSpPr/>
            <p:nvPr/>
          </p:nvSpPr>
          <p:spPr>
            <a:xfrm>
              <a:off x="7269861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rect_0278"/>
            <p:cNvSpPr/>
            <p:nvPr/>
          </p:nvSpPr>
          <p:spPr>
            <a:xfrm>
              <a:off x="7218807" y="3478149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rect_0279"/>
            <p:cNvSpPr/>
            <p:nvPr/>
          </p:nvSpPr>
          <p:spPr>
            <a:xfrm>
              <a:off x="7244334" y="3478149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rect_0280"/>
            <p:cNvSpPr/>
            <p:nvPr/>
          </p:nvSpPr>
          <p:spPr>
            <a:xfrm>
              <a:off x="7346441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rect_0281"/>
            <p:cNvSpPr/>
            <p:nvPr/>
          </p:nvSpPr>
          <p:spPr>
            <a:xfrm>
              <a:off x="7371969" y="3478149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partially_noisy_answer_latents_L32"/>
            <p:cNvSpPr/>
            <p:nvPr/>
          </p:nvSpPr>
          <p:spPr>
            <a:xfrm>
              <a:off x="7397496" y="3246120"/>
              <a:ext cx="612648" cy="265176"/>
            </a:xfrm>
            <a:prstGeom prst="rect">
              <a:avLst/>
            </a:prstGeom>
            <a:solidFill>
              <a:srgbClr val="C0DE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rect_0283"/>
            <p:cNvSpPr/>
            <p:nvPr/>
          </p:nvSpPr>
          <p:spPr>
            <a:xfrm>
              <a:off x="7397496" y="3246120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ct_0284"/>
            <p:cNvSpPr/>
            <p:nvPr/>
          </p:nvSpPr>
          <p:spPr>
            <a:xfrm>
              <a:off x="7499604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rect_0285"/>
            <p:cNvSpPr/>
            <p:nvPr/>
          </p:nvSpPr>
          <p:spPr>
            <a:xfrm>
              <a:off x="7652766" y="3246120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rect_0286"/>
            <p:cNvSpPr/>
            <p:nvPr/>
          </p:nvSpPr>
          <p:spPr>
            <a:xfrm>
              <a:off x="7754874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rect_0287"/>
            <p:cNvSpPr/>
            <p:nvPr/>
          </p:nvSpPr>
          <p:spPr>
            <a:xfrm>
              <a:off x="7448550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rect_0288"/>
            <p:cNvSpPr/>
            <p:nvPr/>
          </p:nvSpPr>
          <p:spPr>
            <a:xfrm>
              <a:off x="7474077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rect_0289"/>
            <p:cNvSpPr/>
            <p:nvPr/>
          </p:nvSpPr>
          <p:spPr>
            <a:xfrm>
              <a:off x="7703820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rect_0290"/>
            <p:cNvSpPr/>
            <p:nvPr/>
          </p:nvSpPr>
          <p:spPr>
            <a:xfrm>
              <a:off x="7729347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rect_0291"/>
            <p:cNvSpPr/>
            <p:nvPr/>
          </p:nvSpPr>
          <p:spPr>
            <a:xfrm>
              <a:off x="7754874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rect_0292"/>
            <p:cNvSpPr/>
            <p:nvPr/>
          </p:nvSpPr>
          <p:spPr>
            <a:xfrm>
              <a:off x="7780400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rect_0293"/>
            <p:cNvSpPr/>
            <p:nvPr/>
          </p:nvSpPr>
          <p:spPr>
            <a:xfrm>
              <a:off x="7882509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rect_0294"/>
            <p:cNvSpPr/>
            <p:nvPr/>
          </p:nvSpPr>
          <p:spPr>
            <a:xfrm>
              <a:off x="7908036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rect_0295"/>
            <p:cNvSpPr/>
            <p:nvPr/>
          </p:nvSpPr>
          <p:spPr>
            <a:xfrm>
              <a:off x="7933563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rect_0296"/>
            <p:cNvSpPr/>
            <p:nvPr/>
          </p:nvSpPr>
          <p:spPr>
            <a:xfrm>
              <a:off x="7474077" y="3312413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rect_0297"/>
            <p:cNvSpPr/>
            <p:nvPr/>
          </p:nvSpPr>
          <p:spPr>
            <a:xfrm>
              <a:off x="7703820" y="3312413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rect_0298"/>
            <p:cNvSpPr/>
            <p:nvPr/>
          </p:nvSpPr>
          <p:spPr>
            <a:xfrm>
              <a:off x="7729347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rect_0299"/>
            <p:cNvSpPr/>
            <p:nvPr/>
          </p:nvSpPr>
          <p:spPr>
            <a:xfrm>
              <a:off x="7831455" y="3312413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rect_0300"/>
            <p:cNvSpPr/>
            <p:nvPr/>
          </p:nvSpPr>
          <p:spPr>
            <a:xfrm>
              <a:off x="7397496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rect_0301"/>
            <p:cNvSpPr/>
            <p:nvPr/>
          </p:nvSpPr>
          <p:spPr>
            <a:xfrm>
              <a:off x="7423022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rect_0302"/>
            <p:cNvSpPr/>
            <p:nvPr/>
          </p:nvSpPr>
          <p:spPr>
            <a:xfrm>
              <a:off x="7474077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2" name="rect_0303"/>
            <p:cNvSpPr/>
            <p:nvPr/>
          </p:nvSpPr>
          <p:spPr>
            <a:xfrm>
              <a:off x="7550658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ct_0304"/>
            <p:cNvSpPr/>
            <p:nvPr/>
          </p:nvSpPr>
          <p:spPr>
            <a:xfrm>
              <a:off x="7627239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rect_0305"/>
            <p:cNvSpPr/>
            <p:nvPr/>
          </p:nvSpPr>
          <p:spPr>
            <a:xfrm>
              <a:off x="7678292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rect_0306"/>
            <p:cNvSpPr/>
            <p:nvPr/>
          </p:nvSpPr>
          <p:spPr>
            <a:xfrm>
              <a:off x="7703820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rect_0307"/>
            <p:cNvSpPr/>
            <p:nvPr/>
          </p:nvSpPr>
          <p:spPr>
            <a:xfrm>
              <a:off x="7754874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rect_0308"/>
            <p:cNvSpPr/>
            <p:nvPr/>
          </p:nvSpPr>
          <p:spPr>
            <a:xfrm>
              <a:off x="7856981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rect_0309"/>
            <p:cNvSpPr/>
            <p:nvPr/>
          </p:nvSpPr>
          <p:spPr>
            <a:xfrm>
              <a:off x="7959089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rect_0310"/>
            <p:cNvSpPr/>
            <p:nvPr/>
          </p:nvSpPr>
          <p:spPr>
            <a:xfrm>
              <a:off x="7474077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rect_0311"/>
            <p:cNvSpPr/>
            <p:nvPr/>
          </p:nvSpPr>
          <p:spPr>
            <a:xfrm>
              <a:off x="7627239" y="3378708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rect_0312"/>
            <p:cNvSpPr/>
            <p:nvPr/>
          </p:nvSpPr>
          <p:spPr>
            <a:xfrm>
              <a:off x="7729347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rect_0313"/>
            <p:cNvSpPr/>
            <p:nvPr/>
          </p:nvSpPr>
          <p:spPr>
            <a:xfrm>
              <a:off x="7780400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rect_0314"/>
            <p:cNvSpPr/>
            <p:nvPr/>
          </p:nvSpPr>
          <p:spPr>
            <a:xfrm>
              <a:off x="7908036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rect_0315"/>
            <p:cNvSpPr/>
            <p:nvPr/>
          </p:nvSpPr>
          <p:spPr>
            <a:xfrm>
              <a:off x="7397496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rect_0316"/>
            <p:cNvSpPr/>
            <p:nvPr/>
          </p:nvSpPr>
          <p:spPr>
            <a:xfrm>
              <a:off x="7423022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rect_0317"/>
            <p:cNvSpPr/>
            <p:nvPr/>
          </p:nvSpPr>
          <p:spPr>
            <a:xfrm>
              <a:off x="7448550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rect_0318"/>
            <p:cNvSpPr/>
            <p:nvPr/>
          </p:nvSpPr>
          <p:spPr>
            <a:xfrm>
              <a:off x="7550658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rect_0319"/>
            <p:cNvSpPr/>
            <p:nvPr/>
          </p:nvSpPr>
          <p:spPr>
            <a:xfrm>
              <a:off x="7576185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rect_0320"/>
            <p:cNvSpPr/>
            <p:nvPr/>
          </p:nvSpPr>
          <p:spPr>
            <a:xfrm>
              <a:off x="7627239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rect_0321"/>
            <p:cNvSpPr/>
            <p:nvPr/>
          </p:nvSpPr>
          <p:spPr>
            <a:xfrm>
              <a:off x="7805928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rect_0322"/>
            <p:cNvSpPr/>
            <p:nvPr/>
          </p:nvSpPr>
          <p:spPr>
            <a:xfrm>
              <a:off x="7856981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rect_0323"/>
            <p:cNvSpPr/>
            <p:nvPr/>
          </p:nvSpPr>
          <p:spPr>
            <a:xfrm>
              <a:off x="7882509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rect_0324"/>
            <p:cNvSpPr/>
            <p:nvPr/>
          </p:nvSpPr>
          <p:spPr>
            <a:xfrm>
              <a:off x="7908036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rect_0325"/>
            <p:cNvSpPr/>
            <p:nvPr/>
          </p:nvSpPr>
          <p:spPr>
            <a:xfrm>
              <a:off x="7984617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rect_0326"/>
            <p:cNvSpPr/>
            <p:nvPr/>
          </p:nvSpPr>
          <p:spPr>
            <a:xfrm>
              <a:off x="7474077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rect_0327"/>
            <p:cNvSpPr/>
            <p:nvPr/>
          </p:nvSpPr>
          <p:spPr>
            <a:xfrm>
              <a:off x="7550658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rect_0328"/>
            <p:cNvSpPr/>
            <p:nvPr/>
          </p:nvSpPr>
          <p:spPr>
            <a:xfrm>
              <a:off x="7601711" y="344500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rect_0329"/>
            <p:cNvSpPr/>
            <p:nvPr/>
          </p:nvSpPr>
          <p:spPr>
            <a:xfrm>
              <a:off x="7678292" y="344500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rect_0330"/>
            <p:cNvSpPr/>
            <p:nvPr/>
          </p:nvSpPr>
          <p:spPr>
            <a:xfrm>
              <a:off x="7729347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rect_0331"/>
            <p:cNvSpPr/>
            <p:nvPr/>
          </p:nvSpPr>
          <p:spPr>
            <a:xfrm>
              <a:off x="7754874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rect_0332"/>
            <p:cNvSpPr/>
            <p:nvPr/>
          </p:nvSpPr>
          <p:spPr>
            <a:xfrm>
              <a:off x="7856981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2" name="rect_0333"/>
            <p:cNvSpPr/>
            <p:nvPr/>
          </p:nvSpPr>
          <p:spPr>
            <a:xfrm>
              <a:off x="7908036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rect_0334"/>
            <p:cNvSpPr/>
            <p:nvPr/>
          </p:nvSpPr>
          <p:spPr>
            <a:xfrm>
              <a:off x="7397496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rect_0335"/>
            <p:cNvSpPr/>
            <p:nvPr/>
          </p:nvSpPr>
          <p:spPr>
            <a:xfrm>
              <a:off x="7474077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rect_0336"/>
            <p:cNvSpPr/>
            <p:nvPr/>
          </p:nvSpPr>
          <p:spPr>
            <a:xfrm>
              <a:off x="7499604" y="3478149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rect_0337"/>
            <p:cNvSpPr/>
            <p:nvPr/>
          </p:nvSpPr>
          <p:spPr>
            <a:xfrm>
              <a:off x="7525130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rect_0338"/>
            <p:cNvSpPr/>
            <p:nvPr/>
          </p:nvSpPr>
          <p:spPr>
            <a:xfrm>
              <a:off x="7550658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rect_0339"/>
            <p:cNvSpPr/>
            <p:nvPr/>
          </p:nvSpPr>
          <p:spPr>
            <a:xfrm>
              <a:off x="7601711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rect_0340"/>
            <p:cNvSpPr/>
            <p:nvPr/>
          </p:nvSpPr>
          <p:spPr>
            <a:xfrm>
              <a:off x="7754874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rect_0341"/>
            <p:cNvSpPr/>
            <p:nvPr/>
          </p:nvSpPr>
          <p:spPr>
            <a:xfrm>
              <a:off x="7882509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rect_0342"/>
            <p:cNvSpPr/>
            <p:nvPr/>
          </p:nvSpPr>
          <p:spPr>
            <a:xfrm>
              <a:off x="7908036" y="3478149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partially_noisy_answer_latents_outline"/>
            <p:cNvSpPr/>
            <p:nvPr/>
          </p:nvSpPr>
          <p:spPr>
            <a:xfrm>
              <a:off x="6784848" y="3246120"/>
              <a:ext cx="1225296" cy="265176"/>
            </a:xfrm>
            <a:prstGeom prst="rect">
              <a:avLst/>
            </a:prstGeom>
            <a:noFill/>
            <a:ln w="13970">
              <a:solidFill>
                <a:srgbClr val="B7C3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9" name="shared_ELF_trained"/>
          <p:cNvGrpSpPr/>
          <p:nvPr/>
        </p:nvGrpSpPr>
        <p:grpSpPr>
          <a:xfrm>
            <a:off x="7712050" y="3680460"/>
            <a:ext cx="177394" cy="213055"/>
            <a:chOff x="7712050" y="3680460"/>
            <a:chExt cx="177394" cy="213055"/>
          </a:xfrm>
          <a:effectLst/>
        </p:grpSpPr>
        <p:sp>
          <p:nvSpPr>
            <p:cNvPr id="338" name="path_0349"/>
            <p:cNvSpPr/>
            <p:nvPr/>
          </p:nvSpPr>
          <p:spPr>
            <a:xfrm>
              <a:off x="7712050" y="3680460"/>
              <a:ext cx="177394" cy="213055"/>
            </a:xfrm>
            <a:custGeom>
              <a:avLst/>
              <a:gdLst/>
              <a:ahLst/>
              <a:cxnLst/>
              <a:rect l="l" t="t" r="r" b="b"/>
              <a:pathLst>
                <a:path w="194" h="233">
                  <a:moveTo>
                    <a:pt x="101" y="0"/>
                  </a:moveTo>
                  <a:lnTo>
                    <a:pt x="125" y="41"/>
                  </a:lnTo>
                  <a:lnTo>
                    <a:pt x="122" y="77"/>
                  </a:lnTo>
                  <a:lnTo>
                    <a:pt x="158" y="57"/>
                  </a:lnTo>
                  <a:lnTo>
                    <a:pt x="182" y="98"/>
                  </a:lnTo>
                  <a:lnTo>
                    <a:pt x="194" y="141"/>
                  </a:lnTo>
                  <a:lnTo>
                    <a:pt x="187" y="185"/>
                  </a:lnTo>
                  <a:lnTo>
                    <a:pt x="161" y="218"/>
                  </a:lnTo>
                  <a:lnTo>
                    <a:pt x="113" y="233"/>
                  </a:lnTo>
                  <a:lnTo>
                    <a:pt x="60" y="225"/>
                  </a:lnTo>
                  <a:lnTo>
                    <a:pt x="19" y="201"/>
                  </a:lnTo>
                  <a:lnTo>
                    <a:pt x="0" y="158"/>
                  </a:lnTo>
                  <a:lnTo>
                    <a:pt x="10" y="110"/>
                  </a:lnTo>
                  <a:lnTo>
                    <a:pt x="41" y="72"/>
                  </a:lnTo>
                  <a:lnTo>
                    <a:pt x="36" y="122"/>
                  </a:lnTo>
                  <a:lnTo>
                    <a:pt x="70" y="89"/>
                  </a:lnTo>
                  <a:lnTo>
                    <a:pt x="84" y="50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9" name="path_0350"/>
            <p:cNvSpPr/>
            <p:nvPr/>
          </p:nvSpPr>
          <p:spPr>
            <a:xfrm>
              <a:off x="7765085" y="3774643"/>
              <a:ext cx="80467" cy="109728"/>
            </a:xfrm>
            <a:custGeom>
              <a:avLst/>
              <a:gdLst/>
              <a:ahLst/>
              <a:cxnLst/>
              <a:rect l="l" t="t" r="r" b="b"/>
              <a:pathLst>
                <a:path w="88" h="120">
                  <a:moveTo>
                    <a:pt x="48" y="0"/>
                  </a:moveTo>
                  <a:lnTo>
                    <a:pt x="81" y="41"/>
                  </a:lnTo>
                  <a:lnTo>
                    <a:pt x="88" y="79"/>
                  </a:lnTo>
                  <a:lnTo>
                    <a:pt x="74" y="108"/>
                  </a:lnTo>
                  <a:lnTo>
                    <a:pt x="43" y="120"/>
                  </a:lnTo>
                  <a:lnTo>
                    <a:pt x="9" y="103"/>
                  </a:lnTo>
                  <a:lnTo>
                    <a:pt x="0" y="70"/>
                  </a:lnTo>
                  <a:lnTo>
                    <a:pt x="14" y="36"/>
                  </a:lnTo>
                  <a:lnTo>
                    <a:pt x="24" y="74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0" name="module_rect_0352"/>
          <p:cNvGrpSpPr/>
          <p:nvPr/>
        </p:nvGrpSpPr>
        <p:grpSpPr>
          <a:xfrm>
            <a:off x="5330952" y="5184648"/>
            <a:ext cx="1207008" cy="438912"/>
            <a:chOff x="5330952" y="5184648"/>
            <a:chExt cx="1207008" cy="438912"/>
          </a:xfrm>
          <a:effectLst/>
        </p:grpSpPr>
        <p:sp>
          <p:nvSpPr>
            <p:cNvPr id="341" name="rect_0352"/>
            <p:cNvSpPr/>
            <p:nvPr/>
          </p:nvSpPr>
          <p:spPr>
            <a:xfrm>
              <a:off x="5330952" y="5184648"/>
              <a:ext cx="1207008" cy="438912"/>
            </a:xfrm>
            <a:prstGeom prst="roundRect">
              <a:avLst>
                <a:gd name="adj" fmla="val 12000"/>
              </a:avLst>
            </a:prstGeom>
            <a:solidFill>
              <a:srgbClr val="EBF2F8"/>
            </a:solidFill>
            <a:ln w="12700">
              <a:solidFill>
                <a:srgbClr val="367A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2" name="text_0353"/>
            <p:cNvSpPr txBox="1"/>
            <p:nvPr/>
          </p:nvSpPr>
          <p:spPr>
            <a:xfrm>
              <a:off x="5376672" y="5193792"/>
              <a:ext cx="1115568" cy="42062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0">
                  <a:solidFill>
                    <a:srgbClr val="233344"/>
                  </a:solidFill>
                  <a:latin typeface="DejaVu Sans"/>
                </a:rPr>
                <a:t>Flow head</a:t>
              </a:r>
            </a:p>
          </p:txBody>
        </p:sp>
      </p:grpSp>
      <p:grpSp>
        <p:nvGrpSpPr>
          <p:cNvPr id="1321" name="Flow_head_trained"/>
          <p:cNvGrpSpPr/>
          <p:nvPr/>
        </p:nvGrpSpPr>
        <p:grpSpPr>
          <a:xfrm>
            <a:off x="6362395" y="5014570"/>
            <a:ext cx="133502" cy="159106"/>
            <a:chOff x="6362395" y="5014570"/>
            <a:chExt cx="133502" cy="159106"/>
          </a:xfrm>
          <a:effectLst/>
        </p:grpSpPr>
        <p:sp>
          <p:nvSpPr>
            <p:cNvPr id="343" name="path_0354"/>
            <p:cNvSpPr/>
            <p:nvPr/>
          </p:nvSpPr>
          <p:spPr>
            <a:xfrm>
              <a:off x="6362395" y="5014570"/>
              <a:ext cx="133502" cy="159106"/>
            </a:xfrm>
            <a:custGeom>
              <a:avLst/>
              <a:gdLst/>
              <a:ahLst/>
              <a:cxnLst/>
              <a:rect l="l" t="t" r="r" b="b"/>
              <a:pathLst>
                <a:path w="146" h="174">
                  <a:moveTo>
                    <a:pt x="76" y="0"/>
                  </a:moveTo>
                  <a:lnTo>
                    <a:pt x="94" y="30"/>
                  </a:lnTo>
                  <a:lnTo>
                    <a:pt x="92" y="57"/>
                  </a:lnTo>
                  <a:lnTo>
                    <a:pt x="119" y="43"/>
                  </a:lnTo>
                  <a:lnTo>
                    <a:pt x="137" y="73"/>
                  </a:lnTo>
                  <a:lnTo>
                    <a:pt x="146" y="106"/>
                  </a:lnTo>
                  <a:lnTo>
                    <a:pt x="140" y="138"/>
                  </a:lnTo>
                  <a:lnTo>
                    <a:pt x="121" y="163"/>
                  </a:lnTo>
                  <a:lnTo>
                    <a:pt x="85" y="174"/>
                  </a:lnTo>
                  <a:lnTo>
                    <a:pt x="45" y="169"/>
                  </a:lnTo>
                  <a:lnTo>
                    <a:pt x="14" y="151"/>
                  </a:lnTo>
                  <a:lnTo>
                    <a:pt x="0" y="118"/>
                  </a:lnTo>
                  <a:lnTo>
                    <a:pt x="7" y="82"/>
                  </a:lnTo>
                  <a:lnTo>
                    <a:pt x="31" y="54"/>
                  </a:lnTo>
                  <a:lnTo>
                    <a:pt x="27" y="91"/>
                  </a:lnTo>
                  <a:lnTo>
                    <a:pt x="52" y="66"/>
                  </a:lnTo>
                  <a:lnTo>
                    <a:pt x="63" y="37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path_0355"/>
            <p:cNvSpPr/>
            <p:nvPr/>
          </p:nvSpPr>
          <p:spPr>
            <a:xfrm>
              <a:off x="6401714" y="5084978"/>
              <a:ext cx="61265" cy="82296"/>
            </a:xfrm>
            <a:custGeom>
              <a:avLst/>
              <a:gdLst/>
              <a:ahLst/>
              <a:cxnLst/>
              <a:rect l="l" t="t" r="r" b="b"/>
              <a:pathLst>
                <a:path w="67" h="90">
                  <a:moveTo>
                    <a:pt x="36" y="0"/>
                  </a:moveTo>
                  <a:lnTo>
                    <a:pt x="61" y="31"/>
                  </a:lnTo>
                  <a:lnTo>
                    <a:pt x="67" y="59"/>
                  </a:lnTo>
                  <a:lnTo>
                    <a:pt x="56" y="81"/>
                  </a:lnTo>
                  <a:lnTo>
                    <a:pt x="33" y="90"/>
                  </a:lnTo>
                  <a:lnTo>
                    <a:pt x="7" y="77"/>
                  </a:lnTo>
                  <a:lnTo>
                    <a:pt x="0" y="52"/>
                  </a:lnTo>
                  <a:lnTo>
                    <a:pt x="11" y="27"/>
                  </a:lnTo>
                  <a:lnTo>
                    <a:pt x="18" y="56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2" name="module_rect_0358"/>
          <p:cNvGrpSpPr/>
          <p:nvPr/>
        </p:nvGrpSpPr>
        <p:grpSpPr>
          <a:xfrm>
            <a:off x="6803136" y="5184648"/>
            <a:ext cx="1207008" cy="438912"/>
            <a:chOff x="6803136" y="5184648"/>
            <a:chExt cx="1207008" cy="438912"/>
          </a:xfrm>
          <a:effectLst/>
        </p:grpSpPr>
        <p:sp>
          <p:nvSpPr>
            <p:cNvPr id="347" name="rect_0358"/>
            <p:cNvSpPr/>
            <p:nvPr/>
          </p:nvSpPr>
          <p:spPr>
            <a:xfrm>
              <a:off x="6803136" y="5184648"/>
              <a:ext cx="1207008" cy="438912"/>
            </a:xfrm>
            <a:prstGeom prst="roundRect">
              <a:avLst>
                <a:gd name="adj" fmla="val 12000"/>
              </a:avLst>
            </a:prstGeom>
            <a:solidFill>
              <a:srgbClr val="EAF4F2"/>
            </a:solidFill>
            <a:ln w="12700">
              <a:solidFill>
                <a:srgbClr val="2C91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8" name="text_0359"/>
            <p:cNvSpPr txBox="1"/>
            <p:nvPr/>
          </p:nvSpPr>
          <p:spPr>
            <a:xfrm>
              <a:off x="6848856" y="5193792"/>
              <a:ext cx="1115568" cy="42062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0">
                  <a:solidFill>
                    <a:srgbClr val="233344"/>
                  </a:solidFill>
                  <a:latin typeface="DejaVu Sans"/>
                </a:rPr>
                <a:t>Token head</a:t>
              </a:r>
            </a:p>
          </p:txBody>
        </p:sp>
      </p:grpSp>
      <p:grpSp>
        <p:nvGrpSpPr>
          <p:cNvPr id="1323" name="Token_head_trained"/>
          <p:cNvGrpSpPr/>
          <p:nvPr/>
        </p:nvGrpSpPr>
        <p:grpSpPr>
          <a:xfrm>
            <a:off x="7834579" y="5014570"/>
            <a:ext cx="133502" cy="159106"/>
            <a:chOff x="7834579" y="5014570"/>
            <a:chExt cx="133502" cy="159106"/>
          </a:xfrm>
          <a:effectLst/>
        </p:grpSpPr>
        <p:sp>
          <p:nvSpPr>
            <p:cNvPr id="349" name="path_0360"/>
            <p:cNvSpPr/>
            <p:nvPr/>
          </p:nvSpPr>
          <p:spPr>
            <a:xfrm>
              <a:off x="7834579" y="5014570"/>
              <a:ext cx="133502" cy="159106"/>
            </a:xfrm>
            <a:custGeom>
              <a:avLst/>
              <a:gdLst/>
              <a:ahLst/>
              <a:cxnLst/>
              <a:rect l="l" t="t" r="r" b="b"/>
              <a:pathLst>
                <a:path w="146" h="174">
                  <a:moveTo>
                    <a:pt x="76" y="0"/>
                  </a:moveTo>
                  <a:lnTo>
                    <a:pt x="94" y="30"/>
                  </a:lnTo>
                  <a:lnTo>
                    <a:pt x="92" y="57"/>
                  </a:lnTo>
                  <a:lnTo>
                    <a:pt x="119" y="43"/>
                  </a:lnTo>
                  <a:lnTo>
                    <a:pt x="137" y="73"/>
                  </a:lnTo>
                  <a:lnTo>
                    <a:pt x="146" y="106"/>
                  </a:lnTo>
                  <a:lnTo>
                    <a:pt x="140" y="138"/>
                  </a:lnTo>
                  <a:lnTo>
                    <a:pt x="121" y="163"/>
                  </a:lnTo>
                  <a:lnTo>
                    <a:pt x="85" y="174"/>
                  </a:lnTo>
                  <a:lnTo>
                    <a:pt x="45" y="169"/>
                  </a:lnTo>
                  <a:lnTo>
                    <a:pt x="14" y="151"/>
                  </a:lnTo>
                  <a:lnTo>
                    <a:pt x="0" y="118"/>
                  </a:lnTo>
                  <a:lnTo>
                    <a:pt x="7" y="82"/>
                  </a:lnTo>
                  <a:lnTo>
                    <a:pt x="31" y="54"/>
                  </a:lnTo>
                  <a:lnTo>
                    <a:pt x="27" y="91"/>
                  </a:lnTo>
                  <a:lnTo>
                    <a:pt x="52" y="66"/>
                  </a:lnTo>
                  <a:lnTo>
                    <a:pt x="63" y="37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path_0361"/>
            <p:cNvSpPr/>
            <p:nvPr/>
          </p:nvSpPr>
          <p:spPr>
            <a:xfrm>
              <a:off x="7873898" y="5084978"/>
              <a:ext cx="61265" cy="82296"/>
            </a:xfrm>
            <a:custGeom>
              <a:avLst/>
              <a:gdLst/>
              <a:ahLst/>
              <a:cxnLst/>
              <a:rect l="l" t="t" r="r" b="b"/>
              <a:pathLst>
                <a:path w="67" h="90">
                  <a:moveTo>
                    <a:pt x="36" y="0"/>
                  </a:moveTo>
                  <a:lnTo>
                    <a:pt x="61" y="31"/>
                  </a:lnTo>
                  <a:lnTo>
                    <a:pt x="67" y="59"/>
                  </a:lnTo>
                  <a:lnTo>
                    <a:pt x="56" y="81"/>
                  </a:lnTo>
                  <a:lnTo>
                    <a:pt x="33" y="90"/>
                  </a:lnTo>
                  <a:lnTo>
                    <a:pt x="7" y="77"/>
                  </a:lnTo>
                  <a:lnTo>
                    <a:pt x="0" y="52"/>
                  </a:lnTo>
                  <a:lnTo>
                    <a:pt x="11" y="27"/>
                  </a:lnTo>
                  <a:lnTo>
                    <a:pt x="18" y="56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4" name="stage_3_heading"/>
          <p:cNvGrpSpPr/>
          <p:nvPr/>
        </p:nvGrpSpPr>
        <p:grpSpPr>
          <a:xfrm>
            <a:off x="8366760" y="210312"/>
            <a:ext cx="4023360" cy="539496"/>
            <a:chOff x="8366760" y="210312"/>
            <a:chExt cx="4023360" cy="539496"/>
          </a:xfrm>
          <a:effectLst/>
        </p:grpSpPr>
        <p:sp>
          <p:nvSpPr>
            <p:cNvPr id="356" name="rect_0369"/>
            <p:cNvSpPr/>
            <p:nvPr/>
          </p:nvSpPr>
          <p:spPr>
            <a:xfrm>
              <a:off x="8366760" y="210312"/>
              <a:ext cx="4023360" cy="539496"/>
            </a:xfrm>
            <a:prstGeom prst="roundRect">
              <a:avLst>
                <a:gd name="adj" fmla="val 12000"/>
              </a:avLst>
            </a:prstGeom>
            <a:solidFill>
              <a:srgbClr val="F3F6F9"/>
            </a:solidFill>
            <a:ln w="12700">
              <a:solidFill>
                <a:srgbClr val="F3F6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7" name="text_0370"/>
            <p:cNvSpPr txBox="1"/>
            <p:nvPr/>
          </p:nvSpPr>
          <p:spPr>
            <a:xfrm>
              <a:off x="8485632" y="237744"/>
              <a:ext cx="27432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237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00" b="1">
                  <a:solidFill>
                    <a:srgbClr val="63758A"/>
                  </a:solidFill>
                  <a:latin typeface="DejaVu Sans"/>
                </a:rPr>
                <a:t>3</a:t>
              </a:r>
            </a:p>
          </p:txBody>
        </p:sp>
        <p:sp>
          <p:nvSpPr>
            <p:cNvPr id="358" name="text_0371"/>
            <p:cNvSpPr txBox="1"/>
            <p:nvPr/>
          </p:nvSpPr>
          <p:spPr>
            <a:xfrm>
              <a:off x="8814816" y="237744"/>
              <a:ext cx="3502152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ts val="203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233344"/>
                  </a:solidFill>
                  <a:latin typeface="DejaVu Sans"/>
                </a:rPr>
                <a:t>Async inference</a:t>
              </a:r>
            </a:p>
          </p:txBody>
        </p:sp>
      </p:grpSp>
      <p:grpSp>
        <p:nvGrpSpPr>
          <p:cNvPr id="1325" name="sample_state_noise_editable_token_strips"/>
          <p:cNvGrpSpPr/>
          <p:nvPr/>
        </p:nvGrpSpPr>
        <p:grpSpPr>
          <a:xfrm>
            <a:off x="8997696" y="4727448"/>
            <a:ext cx="630935" cy="859536"/>
            <a:chOff x="8997696" y="4727448"/>
            <a:chExt cx="630935" cy="859536"/>
          </a:xfrm>
          <a:effectLst/>
        </p:grpSpPr>
        <p:sp>
          <p:nvSpPr>
            <p:cNvPr id="387" name="sample_state_noise_token1_L32_solid"/>
            <p:cNvSpPr/>
            <p:nvPr/>
          </p:nvSpPr>
          <p:spPr>
            <a:xfrm>
              <a:off x="8997696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8" name="rect_0409"/>
            <p:cNvSpPr/>
            <p:nvPr/>
          </p:nvSpPr>
          <p:spPr>
            <a:xfrm>
              <a:off x="8997696" y="472744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9" name="rect_0410"/>
            <p:cNvSpPr/>
            <p:nvPr/>
          </p:nvSpPr>
          <p:spPr>
            <a:xfrm>
              <a:off x="9029192" y="472744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0" name="rect_0411"/>
            <p:cNvSpPr/>
            <p:nvPr/>
          </p:nvSpPr>
          <p:spPr>
            <a:xfrm>
              <a:off x="9060688" y="472744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1" name="rect_0412"/>
            <p:cNvSpPr/>
            <p:nvPr/>
          </p:nvSpPr>
          <p:spPr>
            <a:xfrm>
              <a:off x="9092184" y="4727448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2" name="rect_0413"/>
            <p:cNvSpPr/>
            <p:nvPr/>
          </p:nvSpPr>
          <p:spPr>
            <a:xfrm>
              <a:off x="9155176" y="472744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3" name="rect_0414"/>
            <p:cNvSpPr/>
            <p:nvPr/>
          </p:nvSpPr>
          <p:spPr>
            <a:xfrm>
              <a:off x="8997696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rect_0415"/>
            <p:cNvSpPr/>
            <p:nvPr/>
          </p:nvSpPr>
          <p:spPr>
            <a:xfrm>
              <a:off x="9029192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rect_0416"/>
            <p:cNvSpPr/>
            <p:nvPr/>
          </p:nvSpPr>
          <p:spPr>
            <a:xfrm>
              <a:off x="9060688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6" name="rect_0417"/>
            <p:cNvSpPr/>
            <p:nvPr/>
          </p:nvSpPr>
          <p:spPr>
            <a:xfrm>
              <a:off x="9092184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7" name="rect_0418"/>
            <p:cNvSpPr/>
            <p:nvPr/>
          </p:nvSpPr>
          <p:spPr>
            <a:xfrm>
              <a:off x="9123680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8" name="rect_0419"/>
            <p:cNvSpPr/>
            <p:nvPr/>
          </p:nvSpPr>
          <p:spPr>
            <a:xfrm>
              <a:off x="9155176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9" name="rect_0420"/>
            <p:cNvSpPr/>
            <p:nvPr/>
          </p:nvSpPr>
          <p:spPr>
            <a:xfrm>
              <a:off x="8997696" y="476326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0" name="rect_0421"/>
            <p:cNvSpPr/>
            <p:nvPr/>
          </p:nvSpPr>
          <p:spPr>
            <a:xfrm>
              <a:off x="9029192" y="476326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1" name="rect_0422"/>
            <p:cNvSpPr/>
            <p:nvPr/>
          </p:nvSpPr>
          <p:spPr>
            <a:xfrm>
              <a:off x="9060688" y="4763262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2" name="rect_0423"/>
            <p:cNvSpPr/>
            <p:nvPr/>
          </p:nvSpPr>
          <p:spPr>
            <a:xfrm>
              <a:off x="9123680" y="476326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3" name="rect_0424"/>
            <p:cNvSpPr/>
            <p:nvPr/>
          </p:nvSpPr>
          <p:spPr>
            <a:xfrm>
              <a:off x="9155176" y="476326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4" name="rect_0425"/>
            <p:cNvSpPr/>
            <p:nvPr/>
          </p:nvSpPr>
          <p:spPr>
            <a:xfrm>
              <a:off x="8997696" y="478116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5" name="rect_0426"/>
            <p:cNvSpPr/>
            <p:nvPr/>
          </p:nvSpPr>
          <p:spPr>
            <a:xfrm>
              <a:off x="9029192" y="478116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6" name="rect_0427"/>
            <p:cNvSpPr/>
            <p:nvPr/>
          </p:nvSpPr>
          <p:spPr>
            <a:xfrm>
              <a:off x="9060688" y="478116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" name="rect_0428"/>
            <p:cNvSpPr/>
            <p:nvPr/>
          </p:nvSpPr>
          <p:spPr>
            <a:xfrm>
              <a:off x="9092184" y="478116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8" name="rect_0429"/>
            <p:cNvSpPr/>
            <p:nvPr/>
          </p:nvSpPr>
          <p:spPr>
            <a:xfrm>
              <a:off x="9155176" y="478116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" name="rect_0430"/>
            <p:cNvSpPr/>
            <p:nvPr/>
          </p:nvSpPr>
          <p:spPr>
            <a:xfrm>
              <a:off x="8997696" y="479907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0" name="rect_0431"/>
            <p:cNvSpPr/>
            <p:nvPr/>
          </p:nvSpPr>
          <p:spPr>
            <a:xfrm>
              <a:off x="9092184" y="479907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1" name="rect_0432"/>
            <p:cNvSpPr/>
            <p:nvPr/>
          </p:nvSpPr>
          <p:spPr>
            <a:xfrm>
              <a:off x="9155176" y="479907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2" name="rect_0433"/>
            <p:cNvSpPr/>
            <p:nvPr/>
          </p:nvSpPr>
          <p:spPr>
            <a:xfrm>
              <a:off x="8997696" y="4816983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3" name="rect_0434"/>
            <p:cNvSpPr/>
            <p:nvPr/>
          </p:nvSpPr>
          <p:spPr>
            <a:xfrm>
              <a:off x="9092184" y="4816983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4" name="rect_0435"/>
            <p:cNvSpPr/>
            <p:nvPr/>
          </p:nvSpPr>
          <p:spPr>
            <a:xfrm>
              <a:off x="8997696" y="483489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5" name="rect_0436"/>
            <p:cNvSpPr/>
            <p:nvPr/>
          </p:nvSpPr>
          <p:spPr>
            <a:xfrm>
              <a:off x="9060688" y="483489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6" name="rect_0437"/>
            <p:cNvSpPr/>
            <p:nvPr/>
          </p:nvSpPr>
          <p:spPr>
            <a:xfrm>
              <a:off x="9092184" y="4834890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7" name="rect_0438"/>
            <p:cNvSpPr/>
            <p:nvPr/>
          </p:nvSpPr>
          <p:spPr>
            <a:xfrm>
              <a:off x="8997696" y="485279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8" name="rect_0439"/>
            <p:cNvSpPr/>
            <p:nvPr/>
          </p:nvSpPr>
          <p:spPr>
            <a:xfrm>
              <a:off x="9092184" y="485279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9" name="rect_0440"/>
            <p:cNvSpPr/>
            <p:nvPr/>
          </p:nvSpPr>
          <p:spPr>
            <a:xfrm>
              <a:off x="9123680" y="485279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0" name="rect_0441"/>
            <p:cNvSpPr/>
            <p:nvPr/>
          </p:nvSpPr>
          <p:spPr>
            <a:xfrm>
              <a:off x="8997696" y="487070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1" name="rect_0442"/>
            <p:cNvSpPr/>
            <p:nvPr/>
          </p:nvSpPr>
          <p:spPr>
            <a:xfrm>
              <a:off x="9029192" y="487070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2" name="rect_0443"/>
            <p:cNvSpPr/>
            <p:nvPr/>
          </p:nvSpPr>
          <p:spPr>
            <a:xfrm>
              <a:off x="9060688" y="487070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3" name="rect_0444"/>
            <p:cNvSpPr/>
            <p:nvPr/>
          </p:nvSpPr>
          <p:spPr>
            <a:xfrm>
              <a:off x="9092184" y="487070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4" name="rect_0445"/>
            <p:cNvSpPr/>
            <p:nvPr/>
          </p:nvSpPr>
          <p:spPr>
            <a:xfrm>
              <a:off x="9155176" y="487070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" name="rect_0446"/>
            <p:cNvSpPr/>
            <p:nvPr/>
          </p:nvSpPr>
          <p:spPr>
            <a:xfrm>
              <a:off x="8997696" y="488861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rect_0447"/>
            <p:cNvSpPr/>
            <p:nvPr/>
          </p:nvSpPr>
          <p:spPr>
            <a:xfrm>
              <a:off x="9060688" y="4888611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" name="rect_0448"/>
            <p:cNvSpPr/>
            <p:nvPr/>
          </p:nvSpPr>
          <p:spPr>
            <a:xfrm>
              <a:off x="8997696" y="490651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8" name="rect_0449"/>
            <p:cNvSpPr/>
            <p:nvPr/>
          </p:nvSpPr>
          <p:spPr>
            <a:xfrm>
              <a:off x="9092184" y="490651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9" name="rect_0450"/>
            <p:cNvSpPr/>
            <p:nvPr/>
          </p:nvSpPr>
          <p:spPr>
            <a:xfrm>
              <a:off x="9123680" y="490651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0" name="rect_0451"/>
            <p:cNvSpPr/>
            <p:nvPr/>
          </p:nvSpPr>
          <p:spPr>
            <a:xfrm>
              <a:off x="9155176" y="490651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1" name="rect_0452"/>
            <p:cNvSpPr/>
            <p:nvPr/>
          </p:nvSpPr>
          <p:spPr>
            <a:xfrm>
              <a:off x="8997696" y="4924425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2" name="rect_0453"/>
            <p:cNvSpPr/>
            <p:nvPr/>
          </p:nvSpPr>
          <p:spPr>
            <a:xfrm>
              <a:off x="9092184" y="492442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3" name="rect_0454"/>
            <p:cNvSpPr/>
            <p:nvPr/>
          </p:nvSpPr>
          <p:spPr>
            <a:xfrm>
              <a:off x="9123680" y="492442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4" name="rect_0455"/>
            <p:cNvSpPr/>
            <p:nvPr/>
          </p:nvSpPr>
          <p:spPr>
            <a:xfrm>
              <a:off x="8997696" y="4942332"/>
              <a:ext cx="18897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5" name="rect_0456"/>
            <p:cNvSpPr/>
            <p:nvPr/>
          </p:nvSpPr>
          <p:spPr>
            <a:xfrm>
              <a:off x="8997696" y="4960239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6" name="rect_0457"/>
            <p:cNvSpPr/>
            <p:nvPr/>
          </p:nvSpPr>
          <p:spPr>
            <a:xfrm>
              <a:off x="9123680" y="496023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7" name="rect_0458"/>
            <p:cNvSpPr/>
            <p:nvPr/>
          </p:nvSpPr>
          <p:spPr>
            <a:xfrm>
              <a:off x="8997696" y="497814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8" name="rect_0459"/>
            <p:cNvSpPr/>
            <p:nvPr/>
          </p:nvSpPr>
          <p:spPr>
            <a:xfrm>
              <a:off x="9060688" y="497814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9" name="rect_0460"/>
            <p:cNvSpPr/>
            <p:nvPr/>
          </p:nvSpPr>
          <p:spPr>
            <a:xfrm>
              <a:off x="9092184" y="497814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0" name="rect_0461"/>
            <p:cNvSpPr/>
            <p:nvPr/>
          </p:nvSpPr>
          <p:spPr>
            <a:xfrm>
              <a:off x="9123680" y="497814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1" name="rect_0462"/>
            <p:cNvSpPr/>
            <p:nvPr/>
          </p:nvSpPr>
          <p:spPr>
            <a:xfrm>
              <a:off x="9155176" y="497814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2" name="rect_0463"/>
            <p:cNvSpPr/>
            <p:nvPr/>
          </p:nvSpPr>
          <p:spPr>
            <a:xfrm>
              <a:off x="8997696" y="499605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" name="rect_0464"/>
            <p:cNvSpPr/>
            <p:nvPr/>
          </p:nvSpPr>
          <p:spPr>
            <a:xfrm>
              <a:off x="9060688" y="499605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4" name="rect_0465"/>
            <p:cNvSpPr/>
            <p:nvPr/>
          </p:nvSpPr>
          <p:spPr>
            <a:xfrm>
              <a:off x="9092184" y="499605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rect_0466"/>
            <p:cNvSpPr/>
            <p:nvPr/>
          </p:nvSpPr>
          <p:spPr>
            <a:xfrm>
              <a:off x="9123680" y="499605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" name="rect_0467"/>
            <p:cNvSpPr/>
            <p:nvPr/>
          </p:nvSpPr>
          <p:spPr>
            <a:xfrm>
              <a:off x="9155176" y="499605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" name="rect_0468"/>
            <p:cNvSpPr/>
            <p:nvPr/>
          </p:nvSpPr>
          <p:spPr>
            <a:xfrm>
              <a:off x="8997696" y="501396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8" name="rect_0469"/>
            <p:cNvSpPr/>
            <p:nvPr/>
          </p:nvSpPr>
          <p:spPr>
            <a:xfrm>
              <a:off x="9029192" y="501396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" name="rect_0470"/>
            <p:cNvSpPr/>
            <p:nvPr/>
          </p:nvSpPr>
          <p:spPr>
            <a:xfrm>
              <a:off x="9060688" y="501396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rect_0471"/>
            <p:cNvSpPr/>
            <p:nvPr/>
          </p:nvSpPr>
          <p:spPr>
            <a:xfrm>
              <a:off x="9123680" y="501396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rect_0472"/>
            <p:cNvSpPr/>
            <p:nvPr/>
          </p:nvSpPr>
          <p:spPr>
            <a:xfrm>
              <a:off x="8997696" y="503186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rect_0473"/>
            <p:cNvSpPr/>
            <p:nvPr/>
          </p:nvSpPr>
          <p:spPr>
            <a:xfrm>
              <a:off x="9092184" y="503186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rect_0474"/>
            <p:cNvSpPr/>
            <p:nvPr/>
          </p:nvSpPr>
          <p:spPr>
            <a:xfrm>
              <a:off x="9155176" y="503186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rect_0475"/>
            <p:cNvSpPr/>
            <p:nvPr/>
          </p:nvSpPr>
          <p:spPr>
            <a:xfrm>
              <a:off x="8997696" y="504977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rect_0476"/>
            <p:cNvSpPr/>
            <p:nvPr/>
          </p:nvSpPr>
          <p:spPr>
            <a:xfrm>
              <a:off x="9029192" y="5049774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rect_0477"/>
            <p:cNvSpPr/>
            <p:nvPr/>
          </p:nvSpPr>
          <p:spPr>
            <a:xfrm>
              <a:off x="9123680" y="504977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7" name="rect_0478"/>
            <p:cNvSpPr/>
            <p:nvPr/>
          </p:nvSpPr>
          <p:spPr>
            <a:xfrm>
              <a:off x="8997696" y="506768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8" name="rect_0479"/>
            <p:cNvSpPr/>
            <p:nvPr/>
          </p:nvSpPr>
          <p:spPr>
            <a:xfrm>
              <a:off x="9029192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9" name="rect_0480"/>
            <p:cNvSpPr/>
            <p:nvPr/>
          </p:nvSpPr>
          <p:spPr>
            <a:xfrm>
              <a:off x="9060688" y="506768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0" name="rect_0481"/>
            <p:cNvSpPr/>
            <p:nvPr/>
          </p:nvSpPr>
          <p:spPr>
            <a:xfrm>
              <a:off x="9092184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1" name="rect_0482"/>
            <p:cNvSpPr/>
            <p:nvPr/>
          </p:nvSpPr>
          <p:spPr>
            <a:xfrm>
              <a:off x="9123680" y="506768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2" name="rect_0483"/>
            <p:cNvSpPr/>
            <p:nvPr/>
          </p:nvSpPr>
          <p:spPr>
            <a:xfrm>
              <a:off x="9155176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3" name="rect_0484"/>
            <p:cNvSpPr/>
            <p:nvPr/>
          </p:nvSpPr>
          <p:spPr>
            <a:xfrm>
              <a:off x="8997696" y="508558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4" name="rect_0485"/>
            <p:cNvSpPr/>
            <p:nvPr/>
          </p:nvSpPr>
          <p:spPr>
            <a:xfrm>
              <a:off x="9029192" y="5085588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5" name="rect_0486"/>
            <p:cNvSpPr/>
            <p:nvPr/>
          </p:nvSpPr>
          <p:spPr>
            <a:xfrm>
              <a:off x="9123680" y="508558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6" name="rect_0487"/>
            <p:cNvSpPr/>
            <p:nvPr/>
          </p:nvSpPr>
          <p:spPr>
            <a:xfrm>
              <a:off x="9155176" y="508558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7" name="rect_0488"/>
            <p:cNvSpPr/>
            <p:nvPr/>
          </p:nvSpPr>
          <p:spPr>
            <a:xfrm>
              <a:off x="8997696" y="510349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8" name="rect_0489"/>
            <p:cNvSpPr/>
            <p:nvPr/>
          </p:nvSpPr>
          <p:spPr>
            <a:xfrm>
              <a:off x="9029192" y="5103495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9" name="rect_0490"/>
            <p:cNvSpPr/>
            <p:nvPr/>
          </p:nvSpPr>
          <p:spPr>
            <a:xfrm>
              <a:off x="9155176" y="510349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0" name="rect_0491"/>
            <p:cNvSpPr/>
            <p:nvPr/>
          </p:nvSpPr>
          <p:spPr>
            <a:xfrm>
              <a:off x="8997696" y="512140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rect_0492"/>
            <p:cNvSpPr/>
            <p:nvPr/>
          </p:nvSpPr>
          <p:spPr>
            <a:xfrm>
              <a:off x="9029192" y="5121402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2" name="rect_0493"/>
            <p:cNvSpPr/>
            <p:nvPr/>
          </p:nvSpPr>
          <p:spPr>
            <a:xfrm>
              <a:off x="9155176" y="512140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3" name="rect_0494"/>
            <p:cNvSpPr/>
            <p:nvPr/>
          </p:nvSpPr>
          <p:spPr>
            <a:xfrm>
              <a:off x="8997696" y="513930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4" name="rect_0495"/>
            <p:cNvSpPr/>
            <p:nvPr/>
          </p:nvSpPr>
          <p:spPr>
            <a:xfrm>
              <a:off x="9029192" y="513930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5" name="rect_0496"/>
            <p:cNvSpPr/>
            <p:nvPr/>
          </p:nvSpPr>
          <p:spPr>
            <a:xfrm>
              <a:off x="9092184" y="513930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6" name="rect_0497"/>
            <p:cNvSpPr/>
            <p:nvPr/>
          </p:nvSpPr>
          <p:spPr>
            <a:xfrm>
              <a:off x="9123680" y="513930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7" name="sample_state_noise_token1_L24_solid"/>
            <p:cNvSpPr/>
            <p:nvPr/>
          </p:nvSpPr>
          <p:spPr>
            <a:xfrm>
              <a:off x="8997696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8" name="rect_0499"/>
            <p:cNvSpPr/>
            <p:nvPr/>
          </p:nvSpPr>
          <p:spPr>
            <a:xfrm>
              <a:off x="8997696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9" name="rect_0500"/>
            <p:cNvSpPr/>
            <p:nvPr/>
          </p:nvSpPr>
          <p:spPr>
            <a:xfrm>
              <a:off x="9029192" y="5157216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0" name="rect_0501"/>
            <p:cNvSpPr/>
            <p:nvPr/>
          </p:nvSpPr>
          <p:spPr>
            <a:xfrm>
              <a:off x="9123680" y="515721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1" name="rect_0502"/>
            <p:cNvSpPr/>
            <p:nvPr/>
          </p:nvSpPr>
          <p:spPr>
            <a:xfrm>
              <a:off x="8997696" y="5175123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2" name="rect_0503"/>
            <p:cNvSpPr/>
            <p:nvPr/>
          </p:nvSpPr>
          <p:spPr>
            <a:xfrm>
              <a:off x="9123680" y="517512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3" name="rect_0504"/>
            <p:cNvSpPr/>
            <p:nvPr/>
          </p:nvSpPr>
          <p:spPr>
            <a:xfrm>
              <a:off x="8997696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4" name="rect_0505"/>
            <p:cNvSpPr/>
            <p:nvPr/>
          </p:nvSpPr>
          <p:spPr>
            <a:xfrm>
              <a:off x="9029192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5" name="rect_0506"/>
            <p:cNvSpPr/>
            <p:nvPr/>
          </p:nvSpPr>
          <p:spPr>
            <a:xfrm>
              <a:off x="9060688" y="519303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6" name="rect_0507"/>
            <p:cNvSpPr/>
            <p:nvPr/>
          </p:nvSpPr>
          <p:spPr>
            <a:xfrm>
              <a:off x="9123680" y="519303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7" name="rect_0508"/>
            <p:cNvSpPr/>
            <p:nvPr/>
          </p:nvSpPr>
          <p:spPr>
            <a:xfrm>
              <a:off x="8997696" y="521093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8" name="rect_0509"/>
            <p:cNvSpPr/>
            <p:nvPr/>
          </p:nvSpPr>
          <p:spPr>
            <a:xfrm>
              <a:off x="9060688" y="521093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9" name="rect_0510"/>
            <p:cNvSpPr/>
            <p:nvPr/>
          </p:nvSpPr>
          <p:spPr>
            <a:xfrm>
              <a:off x="9123680" y="521093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0" name="rect_0511"/>
            <p:cNvSpPr/>
            <p:nvPr/>
          </p:nvSpPr>
          <p:spPr>
            <a:xfrm>
              <a:off x="8997696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1" name="rect_0512"/>
            <p:cNvSpPr/>
            <p:nvPr/>
          </p:nvSpPr>
          <p:spPr>
            <a:xfrm>
              <a:off x="9029192" y="5228844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2" name="rect_0513"/>
            <p:cNvSpPr/>
            <p:nvPr/>
          </p:nvSpPr>
          <p:spPr>
            <a:xfrm>
              <a:off x="9155176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3" name="rect_0514"/>
            <p:cNvSpPr/>
            <p:nvPr/>
          </p:nvSpPr>
          <p:spPr>
            <a:xfrm>
              <a:off x="8997696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4" name="rect_0515"/>
            <p:cNvSpPr/>
            <p:nvPr/>
          </p:nvSpPr>
          <p:spPr>
            <a:xfrm>
              <a:off x="9029192" y="524675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5" name="rect_0516"/>
            <p:cNvSpPr/>
            <p:nvPr/>
          </p:nvSpPr>
          <p:spPr>
            <a:xfrm>
              <a:off x="9092184" y="5246750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6" name="rect_0517"/>
            <p:cNvSpPr/>
            <p:nvPr/>
          </p:nvSpPr>
          <p:spPr>
            <a:xfrm>
              <a:off x="8997696" y="526465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7" name="rect_0518"/>
            <p:cNvSpPr/>
            <p:nvPr/>
          </p:nvSpPr>
          <p:spPr>
            <a:xfrm>
              <a:off x="9060688" y="526465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8" name="rect_0519"/>
            <p:cNvSpPr/>
            <p:nvPr/>
          </p:nvSpPr>
          <p:spPr>
            <a:xfrm>
              <a:off x="9155176" y="526465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9" name="rect_0520"/>
            <p:cNvSpPr/>
            <p:nvPr/>
          </p:nvSpPr>
          <p:spPr>
            <a:xfrm>
              <a:off x="8997696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0" name="rect_0521"/>
            <p:cNvSpPr/>
            <p:nvPr/>
          </p:nvSpPr>
          <p:spPr>
            <a:xfrm>
              <a:off x="9029192" y="5282564"/>
              <a:ext cx="157479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1" name="rect_0522"/>
            <p:cNvSpPr/>
            <p:nvPr/>
          </p:nvSpPr>
          <p:spPr>
            <a:xfrm>
              <a:off x="8997696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2" name="rect_0523"/>
            <p:cNvSpPr/>
            <p:nvPr/>
          </p:nvSpPr>
          <p:spPr>
            <a:xfrm>
              <a:off x="9029192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3" name="rect_0524"/>
            <p:cNvSpPr/>
            <p:nvPr/>
          </p:nvSpPr>
          <p:spPr>
            <a:xfrm>
              <a:off x="9060688" y="5300471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4" name="rect_0525"/>
            <p:cNvSpPr/>
            <p:nvPr/>
          </p:nvSpPr>
          <p:spPr>
            <a:xfrm>
              <a:off x="9155176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5" name="rect_0526"/>
            <p:cNvSpPr/>
            <p:nvPr/>
          </p:nvSpPr>
          <p:spPr>
            <a:xfrm>
              <a:off x="8997696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6" name="rect_0527"/>
            <p:cNvSpPr/>
            <p:nvPr/>
          </p:nvSpPr>
          <p:spPr>
            <a:xfrm>
              <a:off x="9029192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7" name="rect_0528"/>
            <p:cNvSpPr/>
            <p:nvPr/>
          </p:nvSpPr>
          <p:spPr>
            <a:xfrm>
              <a:off x="9060688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8" name="rect_0529"/>
            <p:cNvSpPr/>
            <p:nvPr/>
          </p:nvSpPr>
          <p:spPr>
            <a:xfrm>
              <a:off x="9092184" y="5318378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9" name="rect_0530"/>
            <p:cNvSpPr/>
            <p:nvPr/>
          </p:nvSpPr>
          <p:spPr>
            <a:xfrm>
              <a:off x="9155176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0" name="rect_0531"/>
            <p:cNvSpPr/>
            <p:nvPr/>
          </p:nvSpPr>
          <p:spPr>
            <a:xfrm>
              <a:off x="8997696" y="533628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1" name="rect_0532"/>
            <p:cNvSpPr/>
            <p:nvPr/>
          </p:nvSpPr>
          <p:spPr>
            <a:xfrm>
              <a:off x="9060688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2" name="rect_0533"/>
            <p:cNvSpPr/>
            <p:nvPr/>
          </p:nvSpPr>
          <p:spPr>
            <a:xfrm>
              <a:off x="9092184" y="533628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3" name="rect_0534"/>
            <p:cNvSpPr/>
            <p:nvPr/>
          </p:nvSpPr>
          <p:spPr>
            <a:xfrm>
              <a:off x="9155176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4" name="rect_0535"/>
            <p:cNvSpPr/>
            <p:nvPr/>
          </p:nvSpPr>
          <p:spPr>
            <a:xfrm>
              <a:off x="8997696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5" name="rect_0536"/>
            <p:cNvSpPr/>
            <p:nvPr/>
          </p:nvSpPr>
          <p:spPr>
            <a:xfrm>
              <a:off x="9029192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6" name="rect_0537"/>
            <p:cNvSpPr/>
            <p:nvPr/>
          </p:nvSpPr>
          <p:spPr>
            <a:xfrm>
              <a:off x="9060688" y="5354193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7" name="sample_state_noise_token1_L16_solid"/>
            <p:cNvSpPr/>
            <p:nvPr/>
          </p:nvSpPr>
          <p:spPr>
            <a:xfrm>
              <a:off x="8997696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8" name="rect_0539"/>
            <p:cNvSpPr/>
            <p:nvPr/>
          </p:nvSpPr>
          <p:spPr>
            <a:xfrm>
              <a:off x="8997696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9" name="rect_0540"/>
            <p:cNvSpPr/>
            <p:nvPr/>
          </p:nvSpPr>
          <p:spPr>
            <a:xfrm>
              <a:off x="9029192" y="5372100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0" name="rect_0541"/>
            <p:cNvSpPr/>
            <p:nvPr/>
          </p:nvSpPr>
          <p:spPr>
            <a:xfrm>
              <a:off x="9155176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1" name="rect_0542"/>
            <p:cNvSpPr/>
            <p:nvPr/>
          </p:nvSpPr>
          <p:spPr>
            <a:xfrm>
              <a:off x="8997696" y="539000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2" name="rect_0543"/>
            <p:cNvSpPr/>
            <p:nvPr/>
          </p:nvSpPr>
          <p:spPr>
            <a:xfrm>
              <a:off x="9123680" y="539000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3" name="rect_0544"/>
            <p:cNvSpPr/>
            <p:nvPr/>
          </p:nvSpPr>
          <p:spPr>
            <a:xfrm>
              <a:off x="8997696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4" name="rect_0545"/>
            <p:cNvSpPr/>
            <p:nvPr/>
          </p:nvSpPr>
          <p:spPr>
            <a:xfrm>
              <a:off x="9029192" y="5407914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5" name="rect_0546"/>
            <p:cNvSpPr/>
            <p:nvPr/>
          </p:nvSpPr>
          <p:spPr>
            <a:xfrm>
              <a:off x="9155176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6" name="rect_0547"/>
            <p:cNvSpPr/>
            <p:nvPr/>
          </p:nvSpPr>
          <p:spPr>
            <a:xfrm>
              <a:off x="8997696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7" name="rect_0548"/>
            <p:cNvSpPr/>
            <p:nvPr/>
          </p:nvSpPr>
          <p:spPr>
            <a:xfrm>
              <a:off x="9029192" y="542582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8" name="rect_0549"/>
            <p:cNvSpPr/>
            <p:nvPr/>
          </p:nvSpPr>
          <p:spPr>
            <a:xfrm>
              <a:off x="9092184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9" name="rect_0550"/>
            <p:cNvSpPr/>
            <p:nvPr/>
          </p:nvSpPr>
          <p:spPr>
            <a:xfrm>
              <a:off x="9123680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0" name="rect_0551"/>
            <p:cNvSpPr/>
            <p:nvPr/>
          </p:nvSpPr>
          <p:spPr>
            <a:xfrm>
              <a:off x="9155176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1" name="rect_0552"/>
            <p:cNvSpPr/>
            <p:nvPr/>
          </p:nvSpPr>
          <p:spPr>
            <a:xfrm>
              <a:off x="8997696" y="5443728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2" name="rect_0553"/>
            <p:cNvSpPr/>
            <p:nvPr/>
          </p:nvSpPr>
          <p:spPr>
            <a:xfrm>
              <a:off x="9123680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3" name="rect_0554"/>
            <p:cNvSpPr/>
            <p:nvPr/>
          </p:nvSpPr>
          <p:spPr>
            <a:xfrm>
              <a:off x="9155176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4" name="rect_0555"/>
            <p:cNvSpPr/>
            <p:nvPr/>
          </p:nvSpPr>
          <p:spPr>
            <a:xfrm>
              <a:off x="8997696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5" name="rect_0556"/>
            <p:cNvSpPr/>
            <p:nvPr/>
          </p:nvSpPr>
          <p:spPr>
            <a:xfrm>
              <a:off x="9029192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6" name="rect_0557"/>
            <p:cNvSpPr/>
            <p:nvPr/>
          </p:nvSpPr>
          <p:spPr>
            <a:xfrm>
              <a:off x="9060688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7" name="rect_0558"/>
            <p:cNvSpPr/>
            <p:nvPr/>
          </p:nvSpPr>
          <p:spPr>
            <a:xfrm>
              <a:off x="9092184" y="5461635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8" name="rect_0559"/>
            <p:cNvSpPr/>
            <p:nvPr/>
          </p:nvSpPr>
          <p:spPr>
            <a:xfrm>
              <a:off x="9155176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9" name="rect_0560"/>
            <p:cNvSpPr/>
            <p:nvPr/>
          </p:nvSpPr>
          <p:spPr>
            <a:xfrm>
              <a:off x="8997696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0" name="rect_0561"/>
            <p:cNvSpPr/>
            <p:nvPr/>
          </p:nvSpPr>
          <p:spPr>
            <a:xfrm>
              <a:off x="9029192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1" name="rect_0562"/>
            <p:cNvSpPr/>
            <p:nvPr/>
          </p:nvSpPr>
          <p:spPr>
            <a:xfrm>
              <a:off x="9060688" y="5479542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2" name="rect_0563"/>
            <p:cNvSpPr/>
            <p:nvPr/>
          </p:nvSpPr>
          <p:spPr>
            <a:xfrm>
              <a:off x="9123680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3" name="rect_0564"/>
            <p:cNvSpPr/>
            <p:nvPr/>
          </p:nvSpPr>
          <p:spPr>
            <a:xfrm>
              <a:off x="9155176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4" name="rect_0565"/>
            <p:cNvSpPr/>
            <p:nvPr/>
          </p:nvSpPr>
          <p:spPr>
            <a:xfrm>
              <a:off x="8997696" y="549744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5" name="rect_0566"/>
            <p:cNvSpPr/>
            <p:nvPr/>
          </p:nvSpPr>
          <p:spPr>
            <a:xfrm>
              <a:off x="9029192" y="549744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6" name="rect_0567"/>
            <p:cNvSpPr/>
            <p:nvPr/>
          </p:nvSpPr>
          <p:spPr>
            <a:xfrm>
              <a:off x="9092184" y="5497449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7" name="rect_0568"/>
            <p:cNvSpPr/>
            <p:nvPr/>
          </p:nvSpPr>
          <p:spPr>
            <a:xfrm>
              <a:off x="8997696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8" name="rect_0569"/>
            <p:cNvSpPr/>
            <p:nvPr/>
          </p:nvSpPr>
          <p:spPr>
            <a:xfrm>
              <a:off x="9029192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9" name="rect_0570"/>
            <p:cNvSpPr/>
            <p:nvPr/>
          </p:nvSpPr>
          <p:spPr>
            <a:xfrm>
              <a:off x="9060688" y="551535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0" name="rect_0571"/>
            <p:cNvSpPr/>
            <p:nvPr/>
          </p:nvSpPr>
          <p:spPr>
            <a:xfrm>
              <a:off x="9123680" y="551535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1" name="rect_0572"/>
            <p:cNvSpPr/>
            <p:nvPr/>
          </p:nvSpPr>
          <p:spPr>
            <a:xfrm>
              <a:off x="8997696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2" name="rect_0573"/>
            <p:cNvSpPr/>
            <p:nvPr/>
          </p:nvSpPr>
          <p:spPr>
            <a:xfrm>
              <a:off x="9029192" y="553326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3" name="rect_0574"/>
            <p:cNvSpPr/>
            <p:nvPr/>
          </p:nvSpPr>
          <p:spPr>
            <a:xfrm>
              <a:off x="9092184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4" name="rect_0575"/>
            <p:cNvSpPr/>
            <p:nvPr/>
          </p:nvSpPr>
          <p:spPr>
            <a:xfrm>
              <a:off x="9123680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5" name="rect_0576"/>
            <p:cNvSpPr/>
            <p:nvPr/>
          </p:nvSpPr>
          <p:spPr>
            <a:xfrm>
              <a:off x="9155176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6" name="rect_0577"/>
            <p:cNvSpPr/>
            <p:nvPr/>
          </p:nvSpPr>
          <p:spPr>
            <a:xfrm>
              <a:off x="8997696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7" name="rect_0578"/>
            <p:cNvSpPr/>
            <p:nvPr/>
          </p:nvSpPr>
          <p:spPr>
            <a:xfrm>
              <a:off x="9029192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8" name="rect_0579"/>
            <p:cNvSpPr/>
            <p:nvPr/>
          </p:nvSpPr>
          <p:spPr>
            <a:xfrm>
              <a:off x="9060688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9" name="rect_0580"/>
            <p:cNvSpPr/>
            <p:nvPr/>
          </p:nvSpPr>
          <p:spPr>
            <a:xfrm>
              <a:off x="9092184" y="555117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0" name="rect_0581"/>
            <p:cNvSpPr/>
            <p:nvPr/>
          </p:nvSpPr>
          <p:spPr>
            <a:xfrm>
              <a:off x="9155176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1" name="rect_0582"/>
            <p:cNvSpPr/>
            <p:nvPr/>
          </p:nvSpPr>
          <p:spPr>
            <a:xfrm>
              <a:off x="8997696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2" name="rect_0583"/>
            <p:cNvSpPr/>
            <p:nvPr/>
          </p:nvSpPr>
          <p:spPr>
            <a:xfrm>
              <a:off x="9029192" y="556907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3" name="rect_0584"/>
            <p:cNvSpPr/>
            <p:nvPr/>
          </p:nvSpPr>
          <p:spPr>
            <a:xfrm>
              <a:off x="9092184" y="556907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4" name="sample_state_noise_token1_bold_boundary"/>
            <p:cNvSpPr/>
            <p:nvPr/>
          </p:nvSpPr>
          <p:spPr>
            <a:xfrm>
              <a:off x="8997696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5" name="sample_state_noise_token2_L32_solid"/>
            <p:cNvSpPr/>
            <p:nvPr/>
          </p:nvSpPr>
          <p:spPr>
            <a:xfrm>
              <a:off x="9218676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6" name="rect_0587"/>
            <p:cNvSpPr/>
            <p:nvPr/>
          </p:nvSpPr>
          <p:spPr>
            <a:xfrm>
              <a:off x="9218676" y="472744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7" name="rect_0588"/>
            <p:cNvSpPr/>
            <p:nvPr/>
          </p:nvSpPr>
          <p:spPr>
            <a:xfrm>
              <a:off x="9250172" y="472744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8" name="rect_0589"/>
            <p:cNvSpPr/>
            <p:nvPr/>
          </p:nvSpPr>
          <p:spPr>
            <a:xfrm>
              <a:off x="9313164" y="472744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9" name="rect_0590"/>
            <p:cNvSpPr/>
            <p:nvPr/>
          </p:nvSpPr>
          <p:spPr>
            <a:xfrm>
              <a:off x="9344660" y="472744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0" name="rect_0591"/>
            <p:cNvSpPr/>
            <p:nvPr/>
          </p:nvSpPr>
          <p:spPr>
            <a:xfrm>
              <a:off x="9218676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1" name="rect_0592"/>
            <p:cNvSpPr/>
            <p:nvPr/>
          </p:nvSpPr>
          <p:spPr>
            <a:xfrm>
              <a:off x="9250172" y="474535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2" name="rect_0593"/>
            <p:cNvSpPr/>
            <p:nvPr/>
          </p:nvSpPr>
          <p:spPr>
            <a:xfrm>
              <a:off x="9313164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3" name="rect_0594"/>
            <p:cNvSpPr/>
            <p:nvPr/>
          </p:nvSpPr>
          <p:spPr>
            <a:xfrm>
              <a:off x="9344660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4" name="rect_0595"/>
            <p:cNvSpPr/>
            <p:nvPr/>
          </p:nvSpPr>
          <p:spPr>
            <a:xfrm>
              <a:off x="9376156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5" name="rect_0596"/>
            <p:cNvSpPr/>
            <p:nvPr/>
          </p:nvSpPr>
          <p:spPr>
            <a:xfrm>
              <a:off x="9218676" y="4763262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6" name="rect_0597"/>
            <p:cNvSpPr/>
            <p:nvPr/>
          </p:nvSpPr>
          <p:spPr>
            <a:xfrm>
              <a:off x="9344660" y="4763262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7" name="rect_0598"/>
            <p:cNvSpPr/>
            <p:nvPr/>
          </p:nvSpPr>
          <p:spPr>
            <a:xfrm>
              <a:off x="9218676" y="478116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8" name="rect_0599"/>
            <p:cNvSpPr/>
            <p:nvPr/>
          </p:nvSpPr>
          <p:spPr>
            <a:xfrm>
              <a:off x="9281668" y="478116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9" name="rect_0600"/>
            <p:cNvSpPr/>
            <p:nvPr/>
          </p:nvSpPr>
          <p:spPr>
            <a:xfrm>
              <a:off x="9313164" y="4781169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0" name="rect_0601"/>
            <p:cNvSpPr/>
            <p:nvPr/>
          </p:nvSpPr>
          <p:spPr>
            <a:xfrm>
              <a:off x="9218676" y="479907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1" name="rect_0602"/>
            <p:cNvSpPr/>
            <p:nvPr/>
          </p:nvSpPr>
          <p:spPr>
            <a:xfrm>
              <a:off x="9250172" y="479907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2" name="rect_0603"/>
            <p:cNvSpPr/>
            <p:nvPr/>
          </p:nvSpPr>
          <p:spPr>
            <a:xfrm>
              <a:off x="9344660" y="479907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3" name="rect_0604"/>
            <p:cNvSpPr/>
            <p:nvPr/>
          </p:nvSpPr>
          <p:spPr>
            <a:xfrm>
              <a:off x="9376156" y="479907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4" name="rect_0605"/>
            <p:cNvSpPr/>
            <p:nvPr/>
          </p:nvSpPr>
          <p:spPr>
            <a:xfrm>
              <a:off x="9218676" y="4816983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5" name="rect_0606"/>
            <p:cNvSpPr/>
            <p:nvPr/>
          </p:nvSpPr>
          <p:spPr>
            <a:xfrm>
              <a:off x="9313164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6" name="rect_0607"/>
            <p:cNvSpPr/>
            <p:nvPr/>
          </p:nvSpPr>
          <p:spPr>
            <a:xfrm>
              <a:off x="9344660" y="481698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7" name="rect_0608"/>
            <p:cNvSpPr/>
            <p:nvPr/>
          </p:nvSpPr>
          <p:spPr>
            <a:xfrm>
              <a:off x="9376156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8" name="rect_0609"/>
            <p:cNvSpPr/>
            <p:nvPr/>
          </p:nvSpPr>
          <p:spPr>
            <a:xfrm>
              <a:off x="9218676" y="4834890"/>
              <a:ext cx="157479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9" name="rect_0610"/>
            <p:cNvSpPr/>
            <p:nvPr/>
          </p:nvSpPr>
          <p:spPr>
            <a:xfrm>
              <a:off x="9376156" y="483489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0" name="rect_0611"/>
            <p:cNvSpPr/>
            <p:nvPr/>
          </p:nvSpPr>
          <p:spPr>
            <a:xfrm>
              <a:off x="9218676" y="485279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1" name="rect_0612"/>
            <p:cNvSpPr/>
            <p:nvPr/>
          </p:nvSpPr>
          <p:spPr>
            <a:xfrm>
              <a:off x="9281668" y="485279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2" name="rect_0613"/>
            <p:cNvSpPr/>
            <p:nvPr/>
          </p:nvSpPr>
          <p:spPr>
            <a:xfrm>
              <a:off x="9313164" y="485279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3" name="rect_0614"/>
            <p:cNvSpPr/>
            <p:nvPr/>
          </p:nvSpPr>
          <p:spPr>
            <a:xfrm>
              <a:off x="9218676" y="4870704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4" name="rect_0615"/>
            <p:cNvSpPr/>
            <p:nvPr/>
          </p:nvSpPr>
          <p:spPr>
            <a:xfrm>
              <a:off x="9376156" y="487070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5" name="rect_0616"/>
            <p:cNvSpPr/>
            <p:nvPr/>
          </p:nvSpPr>
          <p:spPr>
            <a:xfrm>
              <a:off x="9218676" y="488861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6" name="rect_0617"/>
            <p:cNvSpPr/>
            <p:nvPr/>
          </p:nvSpPr>
          <p:spPr>
            <a:xfrm>
              <a:off x="9250172" y="488861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7" name="rect_0618"/>
            <p:cNvSpPr/>
            <p:nvPr/>
          </p:nvSpPr>
          <p:spPr>
            <a:xfrm>
              <a:off x="9281668" y="488861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8" name="rect_0619"/>
            <p:cNvSpPr/>
            <p:nvPr/>
          </p:nvSpPr>
          <p:spPr>
            <a:xfrm>
              <a:off x="9344660" y="488861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9" name="rect_0620"/>
            <p:cNvSpPr/>
            <p:nvPr/>
          </p:nvSpPr>
          <p:spPr>
            <a:xfrm>
              <a:off x="9218676" y="490651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0" name="rect_0621"/>
            <p:cNvSpPr/>
            <p:nvPr/>
          </p:nvSpPr>
          <p:spPr>
            <a:xfrm>
              <a:off x="9250172" y="490651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1" name="rect_0622"/>
            <p:cNvSpPr/>
            <p:nvPr/>
          </p:nvSpPr>
          <p:spPr>
            <a:xfrm>
              <a:off x="9281668" y="490651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2" name="rect_0623"/>
            <p:cNvSpPr/>
            <p:nvPr/>
          </p:nvSpPr>
          <p:spPr>
            <a:xfrm>
              <a:off x="9376156" y="490651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3" name="rect_0624"/>
            <p:cNvSpPr/>
            <p:nvPr/>
          </p:nvSpPr>
          <p:spPr>
            <a:xfrm>
              <a:off x="9218676" y="492442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4" name="rect_0625"/>
            <p:cNvSpPr/>
            <p:nvPr/>
          </p:nvSpPr>
          <p:spPr>
            <a:xfrm>
              <a:off x="9313164" y="492442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5" name="rect_0626"/>
            <p:cNvSpPr/>
            <p:nvPr/>
          </p:nvSpPr>
          <p:spPr>
            <a:xfrm>
              <a:off x="9344660" y="492442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6" name="rect_0627"/>
            <p:cNvSpPr/>
            <p:nvPr/>
          </p:nvSpPr>
          <p:spPr>
            <a:xfrm>
              <a:off x="9376156" y="492442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7" name="rect_0628"/>
            <p:cNvSpPr/>
            <p:nvPr/>
          </p:nvSpPr>
          <p:spPr>
            <a:xfrm>
              <a:off x="9218676" y="4942332"/>
              <a:ext cx="18897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8" name="rect_0629"/>
            <p:cNvSpPr/>
            <p:nvPr/>
          </p:nvSpPr>
          <p:spPr>
            <a:xfrm>
              <a:off x="9218676" y="496023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9" name="rect_0630"/>
            <p:cNvSpPr/>
            <p:nvPr/>
          </p:nvSpPr>
          <p:spPr>
            <a:xfrm>
              <a:off x="9281668" y="496023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0" name="rect_0631"/>
            <p:cNvSpPr/>
            <p:nvPr/>
          </p:nvSpPr>
          <p:spPr>
            <a:xfrm>
              <a:off x="9344660" y="496023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1" name="rect_0632"/>
            <p:cNvSpPr/>
            <p:nvPr/>
          </p:nvSpPr>
          <p:spPr>
            <a:xfrm>
              <a:off x="9376156" y="496023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2" name="rect_0633"/>
            <p:cNvSpPr/>
            <p:nvPr/>
          </p:nvSpPr>
          <p:spPr>
            <a:xfrm>
              <a:off x="9218676" y="4978146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3" name="rect_0634"/>
            <p:cNvSpPr/>
            <p:nvPr/>
          </p:nvSpPr>
          <p:spPr>
            <a:xfrm>
              <a:off x="9313164" y="497814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4" name="rect_0635"/>
            <p:cNvSpPr/>
            <p:nvPr/>
          </p:nvSpPr>
          <p:spPr>
            <a:xfrm>
              <a:off x="9344660" y="497814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5" name="rect_0636"/>
            <p:cNvSpPr/>
            <p:nvPr/>
          </p:nvSpPr>
          <p:spPr>
            <a:xfrm>
              <a:off x="9218676" y="499605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6" name="rect_0637"/>
            <p:cNvSpPr/>
            <p:nvPr/>
          </p:nvSpPr>
          <p:spPr>
            <a:xfrm>
              <a:off x="9250172" y="4996053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7" name="rect_0638"/>
            <p:cNvSpPr/>
            <p:nvPr/>
          </p:nvSpPr>
          <p:spPr>
            <a:xfrm>
              <a:off x="9218676" y="501396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8" name="rect_0639"/>
            <p:cNvSpPr/>
            <p:nvPr/>
          </p:nvSpPr>
          <p:spPr>
            <a:xfrm>
              <a:off x="9250172" y="501396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9" name="rect_0640"/>
            <p:cNvSpPr/>
            <p:nvPr/>
          </p:nvSpPr>
          <p:spPr>
            <a:xfrm>
              <a:off x="9281668" y="501396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0" name="rect_0641"/>
            <p:cNvSpPr/>
            <p:nvPr/>
          </p:nvSpPr>
          <p:spPr>
            <a:xfrm>
              <a:off x="9313164" y="501396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1" name="rect_0642"/>
            <p:cNvSpPr/>
            <p:nvPr/>
          </p:nvSpPr>
          <p:spPr>
            <a:xfrm>
              <a:off x="9344660" y="501396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2" name="rect_0643"/>
            <p:cNvSpPr/>
            <p:nvPr/>
          </p:nvSpPr>
          <p:spPr>
            <a:xfrm>
              <a:off x="9376156" y="501396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3" name="rect_0644"/>
            <p:cNvSpPr/>
            <p:nvPr/>
          </p:nvSpPr>
          <p:spPr>
            <a:xfrm>
              <a:off x="9218676" y="503186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4" name="rect_0645"/>
            <p:cNvSpPr/>
            <p:nvPr/>
          </p:nvSpPr>
          <p:spPr>
            <a:xfrm>
              <a:off x="9250172" y="503186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5" name="rect_0646"/>
            <p:cNvSpPr/>
            <p:nvPr/>
          </p:nvSpPr>
          <p:spPr>
            <a:xfrm>
              <a:off x="9344660" y="503186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6" name="rect_0647"/>
            <p:cNvSpPr/>
            <p:nvPr/>
          </p:nvSpPr>
          <p:spPr>
            <a:xfrm>
              <a:off x="9376156" y="503186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7" name="rect_0648"/>
            <p:cNvSpPr/>
            <p:nvPr/>
          </p:nvSpPr>
          <p:spPr>
            <a:xfrm>
              <a:off x="9218676" y="504977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8" name="rect_0649"/>
            <p:cNvSpPr/>
            <p:nvPr/>
          </p:nvSpPr>
          <p:spPr>
            <a:xfrm>
              <a:off x="9250172" y="504977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9" name="rect_0650"/>
            <p:cNvSpPr/>
            <p:nvPr/>
          </p:nvSpPr>
          <p:spPr>
            <a:xfrm>
              <a:off x="9313164" y="504977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0" name="rect_0651"/>
            <p:cNvSpPr/>
            <p:nvPr/>
          </p:nvSpPr>
          <p:spPr>
            <a:xfrm>
              <a:off x="9344660" y="504977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1" name="rect_0652"/>
            <p:cNvSpPr/>
            <p:nvPr/>
          </p:nvSpPr>
          <p:spPr>
            <a:xfrm>
              <a:off x="9376156" y="504977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2" name="rect_0653"/>
            <p:cNvSpPr/>
            <p:nvPr/>
          </p:nvSpPr>
          <p:spPr>
            <a:xfrm>
              <a:off x="9218676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3" name="rect_0654"/>
            <p:cNvSpPr/>
            <p:nvPr/>
          </p:nvSpPr>
          <p:spPr>
            <a:xfrm>
              <a:off x="9250172" y="506768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4" name="rect_0655"/>
            <p:cNvSpPr/>
            <p:nvPr/>
          </p:nvSpPr>
          <p:spPr>
            <a:xfrm>
              <a:off x="9281668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5" name="rect_0656"/>
            <p:cNvSpPr/>
            <p:nvPr/>
          </p:nvSpPr>
          <p:spPr>
            <a:xfrm>
              <a:off x="9313164" y="506768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6" name="rect_0657"/>
            <p:cNvSpPr/>
            <p:nvPr/>
          </p:nvSpPr>
          <p:spPr>
            <a:xfrm>
              <a:off x="9376156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7" name="rect_0658"/>
            <p:cNvSpPr/>
            <p:nvPr/>
          </p:nvSpPr>
          <p:spPr>
            <a:xfrm>
              <a:off x="9218676" y="508558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8" name="rect_0659"/>
            <p:cNvSpPr/>
            <p:nvPr/>
          </p:nvSpPr>
          <p:spPr>
            <a:xfrm>
              <a:off x="9250172" y="508558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9" name="rect_0660"/>
            <p:cNvSpPr/>
            <p:nvPr/>
          </p:nvSpPr>
          <p:spPr>
            <a:xfrm>
              <a:off x="9281668" y="508558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0" name="rect_0661"/>
            <p:cNvSpPr/>
            <p:nvPr/>
          </p:nvSpPr>
          <p:spPr>
            <a:xfrm>
              <a:off x="9313164" y="508558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1" name="rect_0662"/>
            <p:cNvSpPr/>
            <p:nvPr/>
          </p:nvSpPr>
          <p:spPr>
            <a:xfrm>
              <a:off x="9344660" y="508558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2" name="rect_0663"/>
            <p:cNvSpPr/>
            <p:nvPr/>
          </p:nvSpPr>
          <p:spPr>
            <a:xfrm>
              <a:off x="9376156" y="508558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3" name="rect_0664"/>
            <p:cNvSpPr/>
            <p:nvPr/>
          </p:nvSpPr>
          <p:spPr>
            <a:xfrm>
              <a:off x="9218676" y="510349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4" name="rect_0665"/>
            <p:cNvSpPr/>
            <p:nvPr/>
          </p:nvSpPr>
          <p:spPr>
            <a:xfrm>
              <a:off x="9250172" y="510349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5" name="rect_0666"/>
            <p:cNvSpPr/>
            <p:nvPr/>
          </p:nvSpPr>
          <p:spPr>
            <a:xfrm>
              <a:off x="9281668" y="510349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6" name="rect_0667"/>
            <p:cNvSpPr/>
            <p:nvPr/>
          </p:nvSpPr>
          <p:spPr>
            <a:xfrm>
              <a:off x="9313164" y="5103495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7" name="rect_0668"/>
            <p:cNvSpPr/>
            <p:nvPr/>
          </p:nvSpPr>
          <p:spPr>
            <a:xfrm>
              <a:off x="9218676" y="512140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8" name="rect_0669"/>
            <p:cNvSpPr/>
            <p:nvPr/>
          </p:nvSpPr>
          <p:spPr>
            <a:xfrm>
              <a:off x="9250172" y="5121402"/>
              <a:ext cx="157479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9" name="rect_0670"/>
            <p:cNvSpPr/>
            <p:nvPr/>
          </p:nvSpPr>
          <p:spPr>
            <a:xfrm>
              <a:off x="9218676" y="513930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0" name="rect_0671"/>
            <p:cNvSpPr/>
            <p:nvPr/>
          </p:nvSpPr>
          <p:spPr>
            <a:xfrm>
              <a:off x="9250172" y="5139309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1" name="rect_0672"/>
            <p:cNvSpPr/>
            <p:nvPr/>
          </p:nvSpPr>
          <p:spPr>
            <a:xfrm>
              <a:off x="9376156" y="513930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2" name="sample_state_noise_token2_L24_solid"/>
            <p:cNvSpPr/>
            <p:nvPr/>
          </p:nvSpPr>
          <p:spPr>
            <a:xfrm>
              <a:off x="9218676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3" name="rect_0674"/>
            <p:cNvSpPr/>
            <p:nvPr/>
          </p:nvSpPr>
          <p:spPr>
            <a:xfrm>
              <a:off x="9218676" y="5157216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4" name="rect_0675"/>
            <p:cNvSpPr/>
            <p:nvPr/>
          </p:nvSpPr>
          <p:spPr>
            <a:xfrm>
              <a:off x="9344660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5" name="rect_0676"/>
            <p:cNvSpPr/>
            <p:nvPr/>
          </p:nvSpPr>
          <p:spPr>
            <a:xfrm>
              <a:off x="9376156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6" name="rect_0677"/>
            <p:cNvSpPr/>
            <p:nvPr/>
          </p:nvSpPr>
          <p:spPr>
            <a:xfrm>
              <a:off x="9218676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7" name="rect_0678"/>
            <p:cNvSpPr/>
            <p:nvPr/>
          </p:nvSpPr>
          <p:spPr>
            <a:xfrm>
              <a:off x="9250172" y="5175123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8" name="rect_0679"/>
            <p:cNvSpPr/>
            <p:nvPr/>
          </p:nvSpPr>
          <p:spPr>
            <a:xfrm>
              <a:off x="9376156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9" name="rect_0680"/>
            <p:cNvSpPr/>
            <p:nvPr/>
          </p:nvSpPr>
          <p:spPr>
            <a:xfrm>
              <a:off x="9218676" y="519303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0" name="rect_0681"/>
            <p:cNvSpPr/>
            <p:nvPr/>
          </p:nvSpPr>
          <p:spPr>
            <a:xfrm>
              <a:off x="9281668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1" name="rect_0682"/>
            <p:cNvSpPr/>
            <p:nvPr/>
          </p:nvSpPr>
          <p:spPr>
            <a:xfrm>
              <a:off x="9313164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2" name="rect_0683"/>
            <p:cNvSpPr/>
            <p:nvPr/>
          </p:nvSpPr>
          <p:spPr>
            <a:xfrm>
              <a:off x="9344660" y="519303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3" name="rect_0684"/>
            <p:cNvSpPr/>
            <p:nvPr/>
          </p:nvSpPr>
          <p:spPr>
            <a:xfrm>
              <a:off x="9218676" y="521093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4" name="rect_0685"/>
            <p:cNvSpPr/>
            <p:nvPr/>
          </p:nvSpPr>
          <p:spPr>
            <a:xfrm>
              <a:off x="9344660" y="521093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5" name="rect_0686"/>
            <p:cNvSpPr/>
            <p:nvPr/>
          </p:nvSpPr>
          <p:spPr>
            <a:xfrm>
              <a:off x="9376156" y="521093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6" name="rect_0687"/>
            <p:cNvSpPr/>
            <p:nvPr/>
          </p:nvSpPr>
          <p:spPr>
            <a:xfrm>
              <a:off x="9218676" y="522884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7" name="rect_0688"/>
            <p:cNvSpPr/>
            <p:nvPr/>
          </p:nvSpPr>
          <p:spPr>
            <a:xfrm>
              <a:off x="9250172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8" name="rect_0689"/>
            <p:cNvSpPr/>
            <p:nvPr/>
          </p:nvSpPr>
          <p:spPr>
            <a:xfrm>
              <a:off x="9281668" y="522884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9" name="rect_0690"/>
            <p:cNvSpPr/>
            <p:nvPr/>
          </p:nvSpPr>
          <p:spPr>
            <a:xfrm>
              <a:off x="9313164" y="5228844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0" name="rect_0691"/>
            <p:cNvSpPr/>
            <p:nvPr/>
          </p:nvSpPr>
          <p:spPr>
            <a:xfrm>
              <a:off x="9218676" y="5246750"/>
              <a:ext cx="157479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1" name="rect_0692"/>
            <p:cNvSpPr/>
            <p:nvPr/>
          </p:nvSpPr>
          <p:spPr>
            <a:xfrm>
              <a:off x="9376156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2" name="rect_0693"/>
            <p:cNvSpPr/>
            <p:nvPr/>
          </p:nvSpPr>
          <p:spPr>
            <a:xfrm>
              <a:off x="9218676" y="526465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3" name="rect_0694"/>
            <p:cNvSpPr/>
            <p:nvPr/>
          </p:nvSpPr>
          <p:spPr>
            <a:xfrm>
              <a:off x="9250172" y="526465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4" name="rect_0695"/>
            <p:cNvSpPr/>
            <p:nvPr/>
          </p:nvSpPr>
          <p:spPr>
            <a:xfrm>
              <a:off x="9281668" y="526465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5" name="rect_0696"/>
            <p:cNvSpPr/>
            <p:nvPr/>
          </p:nvSpPr>
          <p:spPr>
            <a:xfrm>
              <a:off x="9218676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6" name="rect_0697"/>
            <p:cNvSpPr/>
            <p:nvPr/>
          </p:nvSpPr>
          <p:spPr>
            <a:xfrm>
              <a:off x="9250172" y="5282564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7" name="rect_0698"/>
            <p:cNvSpPr/>
            <p:nvPr/>
          </p:nvSpPr>
          <p:spPr>
            <a:xfrm>
              <a:off x="9376156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8" name="rect_0699"/>
            <p:cNvSpPr/>
            <p:nvPr/>
          </p:nvSpPr>
          <p:spPr>
            <a:xfrm>
              <a:off x="9218676" y="5300471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9" name="rect_0700"/>
            <p:cNvSpPr/>
            <p:nvPr/>
          </p:nvSpPr>
          <p:spPr>
            <a:xfrm>
              <a:off x="9313164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0" name="rect_0701"/>
            <p:cNvSpPr/>
            <p:nvPr/>
          </p:nvSpPr>
          <p:spPr>
            <a:xfrm>
              <a:off x="9344660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1" name="rect_0702"/>
            <p:cNvSpPr/>
            <p:nvPr/>
          </p:nvSpPr>
          <p:spPr>
            <a:xfrm>
              <a:off x="9376156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2" name="rect_0703"/>
            <p:cNvSpPr/>
            <p:nvPr/>
          </p:nvSpPr>
          <p:spPr>
            <a:xfrm>
              <a:off x="9218676" y="5318378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3" name="rect_0704"/>
            <p:cNvSpPr/>
            <p:nvPr/>
          </p:nvSpPr>
          <p:spPr>
            <a:xfrm>
              <a:off x="9344660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4" name="rect_0705"/>
            <p:cNvSpPr/>
            <p:nvPr/>
          </p:nvSpPr>
          <p:spPr>
            <a:xfrm>
              <a:off x="9376156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5" name="rect_0706"/>
            <p:cNvSpPr/>
            <p:nvPr/>
          </p:nvSpPr>
          <p:spPr>
            <a:xfrm>
              <a:off x="9218676" y="5336286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6" name="rect_0707"/>
            <p:cNvSpPr/>
            <p:nvPr/>
          </p:nvSpPr>
          <p:spPr>
            <a:xfrm>
              <a:off x="9344660" y="533628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7" name="rect_0708"/>
            <p:cNvSpPr/>
            <p:nvPr/>
          </p:nvSpPr>
          <p:spPr>
            <a:xfrm>
              <a:off x="9218676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8" name="rect_0709"/>
            <p:cNvSpPr/>
            <p:nvPr/>
          </p:nvSpPr>
          <p:spPr>
            <a:xfrm>
              <a:off x="9250172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9" name="rect_0710"/>
            <p:cNvSpPr/>
            <p:nvPr/>
          </p:nvSpPr>
          <p:spPr>
            <a:xfrm>
              <a:off x="9281668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0" name="rect_0711"/>
            <p:cNvSpPr/>
            <p:nvPr/>
          </p:nvSpPr>
          <p:spPr>
            <a:xfrm>
              <a:off x="9313164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1" name="rect_0712"/>
            <p:cNvSpPr/>
            <p:nvPr/>
          </p:nvSpPr>
          <p:spPr>
            <a:xfrm>
              <a:off x="9344660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2" name="rect_0713"/>
            <p:cNvSpPr/>
            <p:nvPr/>
          </p:nvSpPr>
          <p:spPr>
            <a:xfrm>
              <a:off x="9376156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3" name="sample_state_noise_token2_L16_solid"/>
            <p:cNvSpPr/>
            <p:nvPr/>
          </p:nvSpPr>
          <p:spPr>
            <a:xfrm>
              <a:off x="9218676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4" name="rect_0715"/>
            <p:cNvSpPr/>
            <p:nvPr/>
          </p:nvSpPr>
          <p:spPr>
            <a:xfrm>
              <a:off x="9218676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5" name="rect_0716"/>
            <p:cNvSpPr/>
            <p:nvPr/>
          </p:nvSpPr>
          <p:spPr>
            <a:xfrm>
              <a:off x="9250172" y="537210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6" name="rect_0717"/>
            <p:cNvSpPr/>
            <p:nvPr/>
          </p:nvSpPr>
          <p:spPr>
            <a:xfrm>
              <a:off x="9313164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7" name="rect_0718"/>
            <p:cNvSpPr/>
            <p:nvPr/>
          </p:nvSpPr>
          <p:spPr>
            <a:xfrm>
              <a:off x="9344660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8" name="rect_0719"/>
            <p:cNvSpPr/>
            <p:nvPr/>
          </p:nvSpPr>
          <p:spPr>
            <a:xfrm>
              <a:off x="9376156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9" name="rect_0720"/>
            <p:cNvSpPr/>
            <p:nvPr/>
          </p:nvSpPr>
          <p:spPr>
            <a:xfrm>
              <a:off x="9218676" y="539000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0" name="rect_0721"/>
            <p:cNvSpPr/>
            <p:nvPr/>
          </p:nvSpPr>
          <p:spPr>
            <a:xfrm>
              <a:off x="9250172" y="5390007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1" name="rect_0722"/>
            <p:cNvSpPr/>
            <p:nvPr/>
          </p:nvSpPr>
          <p:spPr>
            <a:xfrm>
              <a:off x="9218676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2" name="rect_0723"/>
            <p:cNvSpPr/>
            <p:nvPr/>
          </p:nvSpPr>
          <p:spPr>
            <a:xfrm>
              <a:off x="9250172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3" name="rect_0724"/>
            <p:cNvSpPr/>
            <p:nvPr/>
          </p:nvSpPr>
          <p:spPr>
            <a:xfrm>
              <a:off x="9281668" y="540791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4" name="rect_0725"/>
            <p:cNvSpPr/>
            <p:nvPr/>
          </p:nvSpPr>
          <p:spPr>
            <a:xfrm>
              <a:off x="9344660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5" name="rect_0726"/>
            <p:cNvSpPr/>
            <p:nvPr/>
          </p:nvSpPr>
          <p:spPr>
            <a:xfrm>
              <a:off x="9218676" y="5425821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6" name="rect_0727"/>
            <p:cNvSpPr/>
            <p:nvPr/>
          </p:nvSpPr>
          <p:spPr>
            <a:xfrm>
              <a:off x="9313164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7" name="rect_0728"/>
            <p:cNvSpPr/>
            <p:nvPr/>
          </p:nvSpPr>
          <p:spPr>
            <a:xfrm>
              <a:off x="9344660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8" name="rect_0729"/>
            <p:cNvSpPr/>
            <p:nvPr/>
          </p:nvSpPr>
          <p:spPr>
            <a:xfrm>
              <a:off x="9376156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9" name="rect_0730"/>
            <p:cNvSpPr/>
            <p:nvPr/>
          </p:nvSpPr>
          <p:spPr>
            <a:xfrm>
              <a:off x="9218676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0" name="rect_0731"/>
            <p:cNvSpPr/>
            <p:nvPr/>
          </p:nvSpPr>
          <p:spPr>
            <a:xfrm>
              <a:off x="9250172" y="544372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1" name="rect_0732"/>
            <p:cNvSpPr/>
            <p:nvPr/>
          </p:nvSpPr>
          <p:spPr>
            <a:xfrm>
              <a:off x="9344660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2" name="rect_0733"/>
            <p:cNvSpPr/>
            <p:nvPr/>
          </p:nvSpPr>
          <p:spPr>
            <a:xfrm>
              <a:off x="9376156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3" name="rect_0734"/>
            <p:cNvSpPr/>
            <p:nvPr/>
          </p:nvSpPr>
          <p:spPr>
            <a:xfrm>
              <a:off x="9218676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4" name="rect_0735"/>
            <p:cNvSpPr/>
            <p:nvPr/>
          </p:nvSpPr>
          <p:spPr>
            <a:xfrm>
              <a:off x="9250172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5" name="rect_0736"/>
            <p:cNvSpPr/>
            <p:nvPr/>
          </p:nvSpPr>
          <p:spPr>
            <a:xfrm>
              <a:off x="9281668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6" name="rect_0737"/>
            <p:cNvSpPr/>
            <p:nvPr/>
          </p:nvSpPr>
          <p:spPr>
            <a:xfrm>
              <a:off x="9313164" y="546163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7" name="rect_0738"/>
            <p:cNvSpPr/>
            <p:nvPr/>
          </p:nvSpPr>
          <p:spPr>
            <a:xfrm>
              <a:off x="9218676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8" name="rect_0739"/>
            <p:cNvSpPr/>
            <p:nvPr/>
          </p:nvSpPr>
          <p:spPr>
            <a:xfrm>
              <a:off x="9250172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9" name="rect_0740"/>
            <p:cNvSpPr/>
            <p:nvPr/>
          </p:nvSpPr>
          <p:spPr>
            <a:xfrm>
              <a:off x="9281668" y="547954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0" name="rect_0741"/>
            <p:cNvSpPr/>
            <p:nvPr/>
          </p:nvSpPr>
          <p:spPr>
            <a:xfrm>
              <a:off x="9376156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1" name="rect_0742"/>
            <p:cNvSpPr/>
            <p:nvPr/>
          </p:nvSpPr>
          <p:spPr>
            <a:xfrm>
              <a:off x="9218676" y="549744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2" name="rect_0743"/>
            <p:cNvSpPr/>
            <p:nvPr/>
          </p:nvSpPr>
          <p:spPr>
            <a:xfrm>
              <a:off x="9250172" y="5497449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3" name="rect_0744"/>
            <p:cNvSpPr/>
            <p:nvPr/>
          </p:nvSpPr>
          <p:spPr>
            <a:xfrm>
              <a:off x="9218676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4" name="rect_0745"/>
            <p:cNvSpPr/>
            <p:nvPr/>
          </p:nvSpPr>
          <p:spPr>
            <a:xfrm>
              <a:off x="9250172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5" name="rect_0746"/>
            <p:cNvSpPr/>
            <p:nvPr/>
          </p:nvSpPr>
          <p:spPr>
            <a:xfrm>
              <a:off x="9281668" y="5515356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6" name="rect_0747"/>
            <p:cNvSpPr/>
            <p:nvPr/>
          </p:nvSpPr>
          <p:spPr>
            <a:xfrm>
              <a:off x="9218676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7" name="rect_0748"/>
            <p:cNvSpPr/>
            <p:nvPr/>
          </p:nvSpPr>
          <p:spPr>
            <a:xfrm>
              <a:off x="9250172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8" name="rect_0749"/>
            <p:cNvSpPr/>
            <p:nvPr/>
          </p:nvSpPr>
          <p:spPr>
            <a:xfrm>
              <a:off x="9281668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9" name="rect_0750"/>
            <p:cNvSpPr/>
            <p:nvPr/>
          </p:nvSpPr>
          <p:spPr>
            <a:xfrm>
              <a:off x="9313164" y="553326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0" name="rect_0751"/>
            <p:cNvSpPr/>
            <p:nvPr/>
          </p:nvSpPr>
          <p:spPr>
            <a:xfrm>
              <a:off x="9376156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1" name="rect_0752"/>
            <p:cNvSpPr/>
            <p:nvPr/>
          </p:nvSpPr>
          <p:spPr>
            <a:xfrm>
              <a:off x="9218676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2" name="rect_0753"/>
            <p:cNvSpPr/>
            <p:nvPr/>
          </p:nvSpPr>
          <p:spPr>
            <a:xfrm>
              <a:off x="9250172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3" name="rect_0754"/>
            <p:cNvSpPr/>
            <p:nvPr/>
          </p:nvSpPr>
          <p:spPr>
            <a:xfrm>
              <a:off x="9281668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4" name="rect_0755"/>
            <p:cNvSpPr/>
            <p:nvPr/>
          </p:nvSpPr>
          <p:spPr>
            <a:xfrm>
              <a:off x="9313164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5" name="rect_0756"/>
            <p:cNvSpPr/>
            <p:nvPr/>
          </p:nvSpPr>
          <p:spPr>
            <a:xfrm>
              <a:off x="9344660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6" name="rect_0757"/>
            <p:cNvSpPr/>
            <p:nvPr/>
          </p:nvSpPr>
          <p:spPr>
            <a:xfrm>
              <a:off x="9376156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7" name="rect_0758"/>
            <p:cNvSpPr/>
            <p:nvPr/>
          </p:nvSpPr>
          <p:spPr>
            <a:xfrm>
              <a:off x="9218676" y="556907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8" name="rect_0759"/>
            <p:cNvSpPr/>
            <p:nvPr/>
          </p:nvSpPr>
          <p:spPr>
            <a:xfrm>
              <a:off x="9313164" y="556907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9" name="sample_state_noise_token2_bold_boundary"/>
            <p:cNvSpPr/>
            <p:nvPr/>
          </p:nvSpPr>
          <p:spPr>
            <a:xfrm>
              <a:off x="9218676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0" name="sample_state_noise_token3_L32_solid"/>
            <p:cNvSpPr/>
            <p:nvPr/>
          </p:nvSpPr>
          <p:spPr>
            <a:xfrm>
              <a:off x="9439656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1" name="rect_0762"/>
            <p:cNvSpPr/>
            <p:nvPr/>
          </p:nvSpPr>
          <p:spPr>
            <a:xfrm>
              <a:off x="9439656" y="4727448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2" name="rect_0763"/>
            <p:cNvSpPr/>
            <p:nvPr/>
          </p:nvSpPr>
          <p:spPr>
            <a:xfrm>
              <a:off x="9597136" y="472744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3" name="rect_0764"/>
            <p:cNvSpPr/>
            <p:nvPr/>
          </p:nvSpPr>
          <p:spPr>
            <a:xfrm>
              <a:off x="9439656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4" name="rect_0765"/>
            <p:cNvSpPr/>
            <p:nvPr/>
          </p:nvSpPr>
          <p:spPr>
            <a:xfrm>
              <a:off x="9471152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5" name="rect_0766"/>
            <p:cNvSpPr/>
            <p:nvPr/>
          </p:nvSpPr>
          <p:spPr>
            <a:xfrm>
              <a:off x="9502648" y="4745355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6" name="rect_0767"/>
            <p:cNvSpPr/>
            <p:nvPr/>
          </p:nvSpPr>
          <p:spPr>
            <a:xfrm>
              <a:off x="9565640" y="474535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7" name="rect_0768"/>
            <p:cNvSpPr/>
            <p:nvPr/>
          </p:nvSpPr>
          <p:spPr>
            <a:xfrm>
              <a:off x="9439656" y="476326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8" name="rect_0769"/>
            <p:cNvSpPr/>
            <p:nvPr/>
          </p:nvSpPr>
          <p:spPr>
            <a:xfrm>
              <a:off x="9471152" y="476326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9" name="rect_0770"/>
            <p:cNvSpPr/>
            <p:nvPr/>
          </p:nvSpPr>
          <p:spPr>
            <a:xfrm>
              <a:off x="9502648" y="476326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0" name="rect_0771"/>
            <p:cNvSpPr/>
            <p:nvPr/>
          </p:nvSpPr>
          <p:spPr>
            <a:xfrm>
              <a:off x="9534144" y="476326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1" name="rect_0772"/>
            <p:cNvSpPr/>
            <p:nvPr/>
          </p:nvSpPr>
          <p:spPr>
            <a:xfrm>
              <a:off x="9439656" y="478116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2" name="rect_0773"/>
            <p:cNvSpPr/>
            <p:nvPr/>
          </p:nvSpPr>
          <p:spPr>
            <a:xfrm>
              <a:off x="9502648" y="4781169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3" name="rect_0774"/>
            <p:cNvSpPr/>
            <p:nvPr/>
          </p:nvSpPr>
          <p:spPr>
            <a:xfrm>
              <a:off x="9597136" y="478116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4" name="rect_0775"/>
            <p:cNvSpPr/>
            <p:nvPr/>
          </p:nvSpPr>
          <p:spPr>
            <a:xfrm>
              <a:off x="9439656" y="479907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5" name="rect_0776"/>
            <p:cNvSpPr/>
            <p:nvPr/>
          </p:nvSpPr>
          <p:spPr>
            <a:xfrm>
              <a:off x="9534144" y="479907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6" name="rect_0777"/>
            <p:cNvSpPr/>
            <p:nvPr/>
          </p:nvSpPr>
          <p:spPr>
            <a:xfrm>
              <a:off x="9565640" y="479907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7" name="rect_0778"/>
            <p:cNvSpPr/>
            <p:nvPr/>
          </p:nvSpPr>
          <p:spPr>
            <a:xfrm>
              <a:off x="9439656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8" name="rect_0779"/>
            <p:cNvSpPr/>
            <p:nvPr/>
          </p:nvSpPr>
          <p:spPr>
            <a:xfrm>
              <a:off x="9471152" y="481698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9" name="rect_0780"/>
            <p:cNvSpPr/>
            <p:nvPr/>
          </p:nvSpPr>
          <p:spPr>
            <a:xfrm>
              <a:off x="9502648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0" name="rect_0781"/>
            <p:cNvSpPr/>
            <p:nvPr/>
          </p:nvSpPr>
          <p:spPr>
            <a:xfrm>
              <a:off x="9534144" y="481698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1" name="rect_0782"/>
            <p:cNvSpPr/>
            <p:nvPr/>
          </p:nvSpPr>
          <p:spPr>
            <a:xfrm>
              <a:off x="9597136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2" name="rect_0783"/>
            <p:cNvSpPr/>
            <p:nvPr/>
          </p:nvSpPr>
          <p:spPr>
            <a:xfrm>
              <a:off x="9439656" y="4834890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3" name="rect_0784"/>
            <p:cNvSpPr/>
            <p:nvPr/>
          </p:nvSpPr>
          <p:spPr>
            <a:xfrm>
              <a:off x="9534144" y="483489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4" name="rect_0785"/>
            <p:cNvSpPr/>
            <p:nvPr/>
          </p:nvSpPr>
          <p:spPr>
            <a:xfrm>
              <a:off x="9597136" y="483489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5" name="rect_0786"/>
            <p:cNvSpPr/>
            <p:nvPr/>
          </p:nvSpPr>
          <p:spPr>
            <a:xfrm>
              <a:off x="9439656" y="485279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6" name="rect_0787"/>
            <p:cNvSpPr/>
            <p:nvPr/>
          </p:nvSpPr>
          <p:spPr>
            <a:xfrm>
              <a:off x="9471152" y="485279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7" name="rect_0788"/>
            <p:cNvSpPr/>
            <p:nvPr/>
          </p:nvSpPr>
          <p:spPr>
            <a:xfrm>
              <a:off x="9502648" y="485279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8" name="rect_0789"/>
            <p:cNvSpPr/>
            <p:nvPr/>
          </p:nvSpPr>
          <p:spPr>
            <a:xfrm>
              <a:off x="9534144" y="485279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9" name="rect_0790"/>
            <p:cNvSpPr/>
            <p:nvPr/>
          </p:nvSpPr>
          <p:spPr>
            <a:xfrm>
              <a:off x="9439656" y="487070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0" name="rect_0791"/>
            <p:cNvSpPr/>
            <p:nvPr/>
          </p:nvSpPr>
          <p:spPr>
            <a:xfrm>
              <a:off x="9502648" y="487070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1" name="rect_0792"/>
            <p:cNvSpPr/>
            <p:nvPr/>
          </p:nvSpPr>
          <p:spPr>
            <a:xfrm>
              <a:off x="9534144" y="487070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2" name="rect_0793"/>
            <p:cNvSpPr/>
            <p:nvPr/>
          </p:nvSpPr>
          <p:spPr>
            <a:xfrm>
              <a:off x="9565640" y="487070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3" name="rect_0794"/>
            <p:cNvSpPr/>
            <p:nvPr/>
          </p:nvSpPr>
          <p:spPr>
            <a:xfrm>
              <a:off x="9439656" y="4888611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4" name="rect_0795"/>
            <p:cNvSpPr/>
            <p:nvPr/>
          </p:nvSpPr>
          <p:spPr>
            <a:xfrm>
              <a:off x="9534144" y="488861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5" name="rect_0796"/>
            <p:cNvSpPr/>
            <p:nvPr/>
          </p:nvSpPr>
          <p:spPr>
            <a:xfrm>
              <a:off x="9597136" y="488861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6" name="rect_0797"/>
            <p:cNvSpPr/>
            <p:nvPr/>
          </p:nvSpPr>
          <p:spPr>
            <a:xfrm>
              <a:off x="9439656" y="490651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7" name="rect_0798"/>
            <p:cNvSpPr/>
            <p:nvPr/>
          </p:nvSpPr>
          <p:spPr>
            <a:xfrm>
              <a:off x="9471152" y="490651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8" name="rect_0799"/>
            <p:cNvSpPr/>
            <p:nvPr/>
          </p:nvSpPr>
          <p:spPr>
            <a:xfrm>
              <a:off x="9565640" y="490651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9" name="rect_0800"/>
            <p:cNvSpPr/>
            <p:nvPr/>
          </p:nvSpPr>
          <p:spPr>
            <a:xfrm>
              <a:off x="9439656" y="4924425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0" name="rect_0801"/>
            <p:cNvSpPr/>
            <p:nvPr/>
          </p:nvSpPr>
          <p:spPr>
            <a:xfrm>
              <a:off x="9502648" y="492442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1" name="rect_0802"/>
            <p:cNvSpPr/>
            <p:nvPr/>
          </p:nvSpPr>
          <p:spPr>
            <a:xfrm>
              <a:off x="9565640" y="4924425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2" name="rect_0803"/>
            <p:cNvSpPr/>
            <p:nvPr/>
          </p:nvSpPr>
          <p:spPr>
            <a:xfrm>
              <a:off x="9439656" y="494233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3" name="rect_0804"/>
            <p:cNvSpPr/>
            <p:nvPr/>
          </p:nvSpPr>
          <p:spPr>
            <a:xfrm>
              <a:off x="9534144" y="4942332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4" name="rect_0805"/>
            <p:cNvSpPr/>
            <p:nvPr/>
          </p:nvSpPr>
          <p:spPr>
            <a:xfrm>
              <a:off x="9597136" y="494233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5" name="rect_0806"/>
            <p:cNvSpPr/>
            <p:nvPr/>
          </p:nvSpPr>
          <p:spPr>
            <a:xfrm>
              <a:off x="9439656" y="496023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6" name="rect_0807"/>
            <p:cNvSpPr/>
            <p:nvPr/>
          </p:nvSpPr>
          <p:spPr>
            <a:xfrm>
              <a:off x="9502648" y="496023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7" name="rect_0808"/>
            <p:cNvSpPr/>
            <p:nvPr/>
          </p:nvSpPr>
          <p:spPr>
            <a:xfrm>
              <a:off x="9534144" y="496023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8" name="rect_0809"/>
            <p:cNvSpPr/>
            <p:nvPr/>
          </p:nvSpPr>
          <p:spPr>
            <a:xfrm>
              <a:off x="9597136" y="496023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9" name="rect_0810"/>
            <p:cNvSpPr/>
            <p:nvPr/>
          </p:nvSpPr>
          <p:spPr>
            <a:xfrm>
              <a:off x="9439656" y="497814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0" name="rect_0811"/>
            <p:cNvSpPr/>
            <p:nvPr/>
          </p:nvSpPr>
          <p:spPr>
            <a:xfrm>
              <a:off x="9502648" y="497814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1" name="rect_0812"/>
            <p:cNvSpPr/>
            <p:nvPr/>
          </p:nvSpPr>
          <p:spPr>
            <a:xfrm>
              <a:off x="9534144" y="497814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2" name="rect_0813"/>
            <p:cNvSpPr/>
            <p:nvPr/>
          </p:nvSpPr>
          <p:spPr>
            <a:xfrm>
              <a:off x="9439656" y="499605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3" name="rect_0814"/>
            <p:cNvSpPr/>
            <p:nvPr/>
          </p:nvSpPr>
          <p:spPr>
            <a:xfrm>
              <a:off x="9502648" y="499605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4" name="rect_0815"/>
            <p:cNvSpPr/>
            <p:nvPr/>
          </p:nvSpPr>
          <p:spPr>
            <a:xfrm>
              <a:off x="9534144" y="499605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5" name="rect_0816"/>
            <p:cNvSpPr/>
            <p:nvPr/>
          </p:nvSpPr>
          <p:spPr>
            <a:xfrm>
              <a:off x="9565640" y="499605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6" name="rect_0817"/>
            <p:cNvSpPr/>
            <p:nvPr/>
          </p:nvSpPr>
          <p:spPr>
            <a:xfrm>
              <a:off x="9439656" y="501396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7" name="rect_0818"/>
            <p:cNvSpPr/>
            <p:nvPr/>
          </p:nvSpPr>
          <p:spPr>
            <a:xfrm>
              <a:off x="9502648" y="501396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8" name="rect_0819"/>
            <p:cNvSpPr/>
            <p:nvPr/>
          </p:nvSpPr>
          <p:spPr>
            <a:xfrm>
              <a:off x="9534144" y="5013960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9" name="rect_0820"/>
            <p:cNvSpPr/>
            <p:nvPr/>
          </p:nvSpPr>
          <p:spPr>
            <a:xfrm>
              <a:off x="9439656" y="503186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0" name="rect_0821"/>
            <p:cNvSpPr/>
            <p:nvPr/>
          </p:nvSpPr>
          <p:spPr>
            <a:xfrm>
              <a:off x="9471152" y="503186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1" name="rect_0822"/>
            <p:cNvSpPr/>
            <p:nvPr/>
          </p:nvSpPr>
          <p:spPr>
            <a:xfrm>
              <a:off x="9534144" y="503186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2" name="rect_0823"/>
            <p:cNvSpPr/>
            <p:nvPr/>
          </p:nvSpPr>
          <p:spPr>
            <a:xfrm>
              <a:off x="9565640" y="503186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3" name="rect_0824"/>
            <p:cNvSpPr/>
            <p:nvPr/>
          </p:nvSpPr>
          <p:spPr>
            <a:xfrm>
              <a:off x="9439656" y="504977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4" name="rect_0825"/>
            <p:cNvSpPr/>
            <p:nvPr/>
          </p:nvSpPr>
          <p:spPr>
            <a:xfrm>
              <a:off x="9502648" y="504977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5" name="rect_0826"/>
            <p:cNvSpPr/>
            <p:nvPr/>
          </p:nvSpPr>
          <p:spPr>
            <a:xfrm>
              <a:off x="9534144" y="5049774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6" name="rect_0827"/>
            <p:cNvSpPr/>
            <p:nvPr/>
          </p:nvSpPr>
          <p:spPr>
            <a:xfrm>
              <a:off x="9439656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7" name="rect_0828"/>
            <p:cNvSpPr/>
            <p:nvPr/>
          </p:nvSpPr>
          <p:spPr>
            <a:xfrm>
              <a:off x="9471152" y="506768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8" name="rect_0829"/>
            <p:cNvSpPr/>
            <p:nvPr/>
          </p:nvSpPr>
          <p:spPr>
            <a:xfrm>
              <a:off x="9502648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9" name="rect_0830"/>
            <p:cNvSpPr/>
            <p:nvPr/>
          </p:nvSpPr>
          <p:spPr>
            <a:xfrm>
              <a:off x="9534144" y="506768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0" name="rect_0831"/>
            <p:cNvSpPr/>
            <p:nvPr/>
          </p:nvSpPr>
          <p:spPr>
            <a:xfrm>
              <a:off x="9597136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1" name="rect_0832"/>
            <p:cNvSpPr/>
            <p:nvPr/>
          </p:nvSpPr>
          <p:spPr>
            <a:xfrm>
              <a:off x="9439656" y="5085588"/>
              <a:ext cx="18897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2" name="rect_0833"/>
            <p:cNvSpPr/>
            <p:nvPr/>
          </p:nvSpPr>
          <p:spPr>
            <a:xfrm>
              <a:off x="9439656" y="5103495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3" name="rect_0834"/>
            <p:cNvSpPr/>
            <p:nvPr/>
          </p:nvSpPr>
          <p:spPr>
            <a:xfrm>
              <a:off x="9565640" y="510349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4" name="rect_0835"/>
            <p:cNvSpPr/>
            <p:nvPr/>
          </p:nvSpPr>
          <p:spPr>
            <a:xfrm>
              <a:off x="9597136" y="510349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5" name="rect_0836"/>
            <p:cNvSpPr/>
            <p:nvPr/>
          </p:nvSpPr>
          <p:spPr>
            <a:xfrm>
              <a:off x="9439656" y="512140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6" name="rect_0837"/>
            <p:cNvSpPr/>
            <p:nvPr/>
          </p:nvSpPr>
          <p:spPr>
            <a:xfrm>
              <a:off x="9471152" y="512140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7" name="rect_0838"/>
            <p:cNvSpPr/>
            <p:nvPr/>
          </p:nvSpPr>
          <p:spPr>
            <a:xfrm>
              <a:off x="9565640" y="5121402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8" name="rect_0839"/>
            <p:cNvSpPr/>
            <p:nvPr/>
          </p:nvSpPr>
          <p:spPr>
            <a:xfrm>
              <a:off x="9439656" y="5139309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9" name="rect_0840"/>
            <p:cNvSpPr/>
            <p:nvPr/>
          </p:nvSpPr>
          <p:spPr>
            <a:xfrm>
              <a:off x="9597136" y="513930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0" name="sample_state_noise_token3_L24_solid"/>
            <p:cNvSpPr/>
            <p:nvPr/>
          </p:nvSpPr>
          <p:spPr>
            <a:xfrm>
              <a:off x="9439656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1" name="rect_0842"/>
            <p:cNvSpPr/>
            <p:nvPr/>
          </p:nvSpPr>
          <p:spPr>
            <a:xfrm>
              <a:off x="9439656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2" name="rect_0843"/>
            <p:cNvSpPr/>
            <p:nvPr/>
          </p:nvSpPr>
          <p:spPr>
            <a:xfrm>
              <a:off x="9471152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3" name="rect_0844"/>
            <p:cNvSpPr/>
            <p:nvPr/>
          </p:nvSpPr>
          <p:spPr>
            <a:xfrm>
              <a:off x="9502648" y="515721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4" name="rect_0845"/>
            <p:cNvSpPr/>
            <p:nvPr/>
          </p:nvSpPr>
          <p:spPr>
            <a:xfrm>
              <a:off x="9565640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5" name="rect_0846"/>
            <p:cNvSpPr/>
            <p:nvPr/>
          </p:nvSpPr>
          <p:spPr>
            <a:xfrm>
              <a:off x="9597136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6" name="rect_0847"/>
            <p:cNvSpPr/>
            <p:nvPr/>
          </p:nvSpPr>
          <p:spPr>
            <a:xfrm>
              <a:off x="9439656" y="517512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7" name="rect_0848"/>
            <p:cNvSpPr/>
            <p:nvPr/>
          </p:nvSpPr>
          <p:spPr>
            <a:xfrm>
              <a:off x="9471152" y="5175123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8" name="rect_0849"/>
            <p:cNvSpPr/>
            <p:nvPr/>
          </p:nvSpPr>
          <p:spPr>
            <a:xfrm>
              <a:off x="9565640" y="517512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9" name="rect_0850"/>
            <p:cNvSpPr/>
            <p:nvPr/>
          </p:nvSpPr>
          <p:spPr>
            <a:xfrm>
              <a:off x="9439656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0" name="rect_0851"/>
            <p:cNvSpPr/>
            <p:nvPr/>
          </p:nvSpPr>
          <p:spPr>
            <a:xfrm>
              <a:off x="9471152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1" name="rect_0852"/>
            <p:cNvSpPr/>
            <p:nvPr/>
          </p:nvSpPr>
          <p:spPr>
            <a:xfrm>
              <a:off x="9502648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2" name="rect_0853"/>
            <p:cNvSpPr/>
            <p:nvPr/>
          </p:nvSpPr>
          <p:spPr>
            <a:xfrm>
              <a:off x="9534144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3" name="rect_0854"/>
            <p:cNvSpPr/>
            <p:nvPr/>
          </p:nvSpPr>
          <p:spPr>
            <a:xfrm>
              <a:off x="9565640" y="519303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4" name="rect_0855"/>
            <p:cNvSpPr/>
            <p:nvPr/>
          </p:nvSpPr>
          <p:spPr>
            <a:xfrm>
              <a:off x="9439656" y="5210937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5" name="rect_0856"/>
            <p:cNvSpPr/>
            <p:nvPr/>
          </p:nvSpPr>
          <p:spPr>
            <a:xfrm>
              <a:off x="9565640" y="521093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6" name="rect_0857"/>
            <p:cNvSpPr/>
            <p:nvPr/>
          </p:nvSpPr>
          <p:spPr>
            <a:xfrm>
              <a:off x="9439656" y="5228844"/>
              <a:ext cx="18897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7" name="rect_0858"/>
            <p:cNvSpPr/>
            <p:nvPr/>
          </p:nvSpPr>
          <p:spPr>
            <a:xfrm>
              <a:off x="9439656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8" name="rect_0859"/>
            <p:cNvSpPr/>
            <p:nvPr/>
          </p:nvSpPr>
          <p:spPr>
            <a:xfrm>
              <a:off x="9471152" y="524675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9" name="rect_0860"/>
            <p:cNvSpPr/>
            <p:nvPr/>
          </p:nvSpPr>
          <p:spPr>
            <a:xfrm>
              <a:off x="9534144" y="524675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0" name="rect_0861"/>
            <p:cNvSpPr/>
            <p:nvPr/>
          </p:nvSpPr>
          <p:spPr>
            <a:xfrm>
              <a:off x="9597136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1" name="rect_0862"/>
            <p:cNvSpPr/>
            <p:nvPr/>
          </p:nvSpPr>
          <p:spPr>
            <a:xfrm>
              <a:off x="9439656" y="526465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2" name="rect_0863"/>
            <p:cNvSpPr/>
            <p:nvPr/>
          </p:nvSpPr>
          <p:spPr>
            <a:xfrm>
              <a:off x="9502648" y="526465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3" name="rect_0864"/>
            <p:cNvSpPr/>
            <p:nvPr/>
          </p:nvSpPr>
          <p:spPr>
            <a:xfrm>
              <a:off x="9439656" y="528256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4" name="rect_0865"/>
            <p:cNvSpPr/>
            <p:nvPr/>
          </p:nvSpPr>
          <p:spPr>
            <a:xfrm>
              <a:off x="9502648" y="528256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5" name="rect_0866"/>
            <p:cNvSpPr/>
            <p:nvPr/>
          </p:nvSpPr>
          <p:spPr>
            <a:xfrm>
              <a:off x="9565640" y="528256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6" name="rect_0867"/>
            <p:cNvSpPr/>
            <p:nvPr/>
          </p:nvSpPr>
          <p:spPr>
            <a:xfrm>
              <a:off x="9439656" y="530047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7" name="rect_0868"/>
            <p:cNvSpPr/>
            <p:nvPr/>
          </p:nvSpPr>
          <p:spPr>
            <a:xfrm>
              <a:off x="9502648" y="530047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8" name="rect_0869"/>
            <p:cNvSpPr/>
            <p:nvPr/>
          </p:nvSpPr>
          <p:spPr>
            <a:xfrm>
              <a:off x="9565640" y="530047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9" name="rect_0870"/>
            <p:cNvSpPr/>
            <p:nvPr/>
          </p:nvSpPr>
          <p:spPr>
            <a:xfrm>
              <a:off x="9439656" y="531837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0" name="rect_0871"/>
            <p:cNvSpPr/>
            <p:nvPr/>
          </p:nvSpPr>
          <p:spPr>
            <a:xfrm>
              <a:off x="9502648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1" name="rect_0872"/>
            <p:cNvSpPr/>
            <p:nvPr/>
          </p:nvSpPr>
          <p:spPr>
            <a:xfrm>
              <a:off x="9534144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2" name="rect_0873"/>
            <p:cNvSpPr/>
            <p:nvPr/>
          </p:nvSpPr>
          <p:spPr>
            <a:xfrm>
              <a:off x="9565640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3" name="rect_0874"/>
            <p:cNvSpPr/>
            <p:nvPr/>
          </p:nvSpPr>
          <p:spPr>
            <a:xfrm>
              <a:off x="9597136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4" name="rect_0875"/>
            <p:cNvSpPr/>
            <p:nvPr/>
          </p:nvSpPr>
          <p:spPr>
            <a:xfrm>
              <a:off x="9439656" y="533628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5" name="rect_0876"/>
            <p:cNvSpPr/>
            <p:nvPr/>
          </p:nvSpPr>
          <p:spPr>
            <a:xfrm>
              <a:off x="9471152" y="5336286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6" name="rect_0877"/>
            <p:cNvSpPr/>
            <p:nvPr/>
          </p:nvSpPr>
          <p:spPr>
            <a:xfrm>
              <a:off x="9439656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7" name="rect_0878"/>
            <p:cNvSpPr/>
            <p:nvPr/>
          </p:nvSpPr>
          <p:spPr>
            <a:xfrm>
              <a:off x="9471152" y="5354193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8" name="sample_state_noise_token3_L16_solid"/>
            <p:cNvSpPr/>
            <p:nvPr/>
          </p:nvSpPr>
          <p:spPr>
            <a:xfrm>
              <a:off x="9439656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9" name="rect_0880"/>
            <p:cNvSpPr/>
            <p:nvPr/>
          </p:nvSpPr>
          <p:spPr>
            <a:xfrm>
              <a:off x="9439656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0" name="rect_0881"/>
            <p:cNvSpPr/>
            <p:nvPr/>
          </p:nvSpPr>
          <p:spPr>
            <a:xfrm>
              <a:off x="9471152" y="537210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1" name="rect_0882"/>
            <p:cNvSpPr/>
            <p:nvPr/>
          </p:nvSpPr>
          <p:spPr>
            <a:xfrm>
              <a:off x="9534144" y="5372100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2" name="rect_0883"/>
            <p:cNvSpPr/>
            <p:nvPr/>
          </p:nvSpPr>
          <p:spPr>
            <a:xfrm>
              <a:off x="9439656" y="539000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3" name="rect_0884"/>
            <p:cNvSpPr/>
            <p:nvPr/>
          </p:nvSpPr>
          <p:spPr>
            <a:xfrm>
              <a:off x="9565640" y="539000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4" name="rect_0885"/>
            <p:cNvSpPr/>
            <p:nvPr/>
          </p:nvSpPr>
          <p:spPr>
            <a:xfrm>
              <a:off x="9439656" y="5407914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5" name="rect_0886"/>
            <p:cNvSpPr/>
            <p:nvPr/>
          </p:nvSpPr>
          <p:spPr>
            <a:xfrm>
              <a:off x="9534144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6" name="rect_0887"/>
            <p:cNvSpPr/>
            <p:nvPr/>
          </p:nvSpPr>
          <p:spPr>
            <a:xfrm>
              <a:off x="9565640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7" name="rect_0888"/>
            <p:cNvSpPr/>
            <p:nvPr/>
          </p:nvSpPr>
          <p:spPr>
            <a:xfrm>
              <a:off x="9439656" y="5425821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8" name="rect_0889"/>
            <p:cNvSpPr/>
            <p:nvPr/>
          </p:nvSpPr>
          <p:spPr>
            <a:xfrm>
              <a:off x="9534144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9" name="rect_0890"/>
            <p:cNvSpPr/>
            <p:nvPr/>
          </p:nvSpPr>
          <p:spPr>
            <a:xfrm>
              <a:off x="9565640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0" name="rect_0891"/>
            <p:cNvSpPr/>
            <p:nvPr/>
          </p:nvSpPr>
          <p:spPr>
            <a:xfrm>
              <a:off x="9597136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1" name="rect_0892"/>
            <p:cNvSpPr/>
            <p:nvPr/>
          </p:nvSpPr>
          <p:spPr>
            <a:xfrm>
              <a:off x="9439656" y="5443728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2" name="rect_0893"/>
            <p:cNvSpPr/>
            <p:nvPr/>
          </p:nvSpPr>
          <p:spPr>
            <a:xfrm>
              <a:off x="9534144" y="544372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3" name="rect_0894"/>
            <p:cNvSpPr/>
            <p:nvPr/>
          </p:nvSpPr>
          <p:spPr>
            <a:xfrm>
              <a:off x="9439656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4" name="rect_0895"/>
            <p:cNvSpPr/>
            <p:nvPr/>
          </p:nvSpPr>
          <p:spPr>
            <a:xfrm>
              <a:off x="9471152" y="546163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5" name="rect_0896"/>
            <p:cNvSpPr/>
            <p:nvPr/>
          </p:nvSpPr>
          <p:spPr>
            <a:xfrm>
              <a:off x="9565640" y="546163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6" name="rect_0897"/>
            <p:cNvSpPr/>
            <p:nvPr/>
          </p:nvSpPr>
          <p:spPr>
            <a:xfrm>
              <a:off x="9439656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7" name="rect_0898"/>
            <p:cNvSpPr/>
            <p:nvPr/>
          </p:nvSpPr>
          <p:spPr>
            <a:xfrm>
              <a:off x="9471152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8" name="rect_0899"/>
            <p:cNvSpPr/>
            <p:nvPr/>
          </p:nvSpPr>
          <p:spPr>
            <a:xfrm>
              <a:off x="9502648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9" name="rect_0900"/>
            <p:cNvSpPr/>
            <p:nvPr/>
          </p:nvSpPr>
          <p:spPr>
            <a:xfrm>
              <a:off x="9534144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0" name="rect_0901"/>
            <p:cNvSpPr/>
            <p:nvPr/>
          </p:nvSpPr>
          <p:spPr>
            <a:xfrm>
              <a:off x="9565640" y="5479542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1" name="rect_0902"/>
            <p:cNvSpPr/>
            <p:nvPr/>
          </p:nvSpPr>
          <p:spPr>
            <a:xfrm>
              <a:off x="9439656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2" name="rect_0903"/>
            <p:cNvSpPr/>
            <p:nvPr/>
          </p:nvSpPr>
          <p:spPr>
            <a:xfrm>
              <a:off x="9471152" y="5497449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3" name="rect_0904"/>
            <p:cNvSpPr/>
            <p:nvPr/>
          </p:nvSpPr>
          <p:spPr>
            <a:xfrm>
              <a:off x="9597136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4" name="rect_0905"/>
            <p:cNvSpPr/>
            <p:nvPr/>
          </p:nvSpPr>
          <p:spPr>
            <a:xfrm>
              <a:off x="9439656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5" name="rect_0906"/>
            <p:cNvSpPr/>
            <p:nvPr/>
          </p:nvSpPr>
          <p:spPr>
            <a:xfrm>
              <a:off x="9471152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6" name="rect_0907"/>
            <p:cNvSpPr/>
            <p:nvPr/>
          </p:nvSpPr>
          <p:spPr>
            <a:xfrm>
              <a:off x="9502648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7" name="rect_0908"/>
            <p:cNvSpPr/>
            <p:nvPr/>
          </p:nvSpPr>
          <p:spPr>
            <a:xfrm>
              <a:off x="9534144" y="551535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8" name="rect_0909"/>
            <p:cNvSpPr/>
            <p:nvPr/>
          </p:nvSpPr>
          <p:spPr>
            <a:xfrm>
              <a:off x="9439656" y="553326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9" name="rect_0910"/>
            <p:cNvSpPr/>
            <p:nvPr/>
          </p:nvSpPr>
          <p:spPr>
            <a:xfrm>
              <a:off x="9502648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0" name="rect_0911"/>
            <p:cNvSpPr/>
            <p:nvPr/>
          </p:nvSpPr>
          <p:spPr>
            <a:xfrm>
              <a:off x="9534144" y="5533263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1" name="rect_0912"/>
            <p:cNvSpPr/>
            <p:nvPr/>
          </p:nvSpPr>
          <p:spPr>
            <a:xfrm>
              <a:off x="9439656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2" name="rect_0913"/>
            <p:cNvSpPr/>
            <p:nvPr/>
          </p:nvSpPr>
          <p:spPr>
            <a:xfrm>
              <a:off x="9471152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3" name="rect_0914"/>
            <p:cNvSpPr/>
            <p:nvPr/>
          </p:nvSpPr>
          <p:spPr>
            <a:xfrm>
              <a:off x="9502648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4" name="rect_0915"/>
            <p:cNvSpPr/>
            <p:nvPr/>
          </p:nvSpPr>
          <p:spPr>
            <a:xfrm>
              <a:off x="9534144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5" name="rect_0916"/>
            <p:cNvSpPr/>
            <p:nvPr/>
          </p:nvSpPr>
          <p:spPr>
            <a:xfrm>
              <a:off x="9565640" y="555117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6" name="rect_0917"/>
            <p:cNvSpPr/>
            <p:nvPr/>
          </p:nvSpPr>
          <p:spPr>
            <a:xfrm>
              <a:off x="9439656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7" name="rect_0918"/>
            <p:cNvSpPr/>
            <p:nvPr/>
          </p:nvSpPr>
          <p:spPr>
            <a:xfrm>
              <a:off x="9471152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8" name="rect_0919"/>
            <p:cNvSpPr/>
            <p:nvPr/>
          </p:nvSpPr>
          <p:spPr>
            <a:xfrm>
              <a:off x="9502648" y="556907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9" name="rect_0920"/>
            <p:cNvSpPr/>
            <p:nvPr/>
          </p:nvSpPr>
          <p:spPr>
            <a:xfrm>
              <a:off x="9565640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0" name="rect_0921"/>
            <p:cNvSpPr/>
            <p:nvPr/>
          </p:nvSpPr>
          <p:spPr>
            <a:xfrm>
              <a:off x="9597136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1" name="sample_state_noise_token3_bold_boundary"/>
            <p:cNvSpPr/>
            <p:nvPr/>
          </p:nvSpPr>
          <p:spPr>
            <a:xfrm>
              <a:off x="9439656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6" name="sample_state_early_editable_token_strips"/>
          <p:cNvGrpSpPr/>
          <p:nvPr/>
        </p:nvGrpSpPr>
        <p:grpSpPr>
          <a:xfrm>
            <a:off x="9811512" y="4727448"/>
            <a:ext cx="630935" cy="859536"/>
            <a:chOff x="9811512" y="4727448"/>
            <a:chExt cx="630935" cy="859536"/>
          </a:xfrm>
          <a:effectLst/>
        </p:grpSpPr>
        <p:sp>
          <p:nvSpPr>
            <p:cNvPr id="904" name="sample_state_early_token1_L32_solid"/>
            <p:cNvSpPr/>
            <p:nvPr/>
          </p:nvSpPr>
          <p:spPr>
            <a:xfrm>
              <a:off x="9811512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5" name="rect_0926"/>
            <p:cNvSpPr/>
            <p:nvPr/>
          </p:nvSpPr>
          <p:spPr>
            <a:xfrm>
              <a:off x="9906000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6" name="rect_0927"/>
            <p:cNvSpPr/>
            <p:nvPr/>
          </p:nvSpPr>
          <p:spPr>
            <a:xfrm>
              <a:off x="9937496" y="476326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7" name="rect_0928"/>
            <p:cNvSpPr/>
            <p:nvPr/>
          </p:nvSpPr>
          <p:spPr>
            <a:xfrm>
              <a:off x="9874504" y="478116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8" name="rect_0929"/>
            <p:cNvSpPr/>
            <p:nvPr/>
          </p:nvSpPr>
          <p:spPr>
            <a:xfrm>
              <a:off x="9811512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9" name="rect_0930"/>
            <p:cNvSpPr/>
            <p:nvPr/>
          </p:nvSpPr>
          <p:spPr>
            <a:xfrm>
              <a:off x="9843008" y="488861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0" name="rect_0931"/>
            <p:cNvSpPr/>
            <p:nvPr/>
          </p:nvSpPr>
          <p:spPr>
            <a:xfrm>
              <a:off x="9874504" y="497814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1" name="rect_0932"/>
            <p:cNvSpPr/>
            <p:nvPr/>
          </p:nvSpPr>
          <p:spPr>
            <a:xfrm>
              <a:off x="9968992" y="499605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2" name="rect_0933"/>
            <p:cNvSpPr/>
            <p:nvPr/>
          </p:nvSpPr>
          <p:spPr>
            <a:xfrm>
              <a:off x="9968992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3" name="rect_0934"/>
            <p:cNvSpPr/>
            <p:nvPr/>
          </p:nvSpPr>
          <p:spPr>
            <a:xfrm>
              <a:off x="9937496" y="513930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4" name="sample_state_early_token1_L24_solid"/>
            <p:cNvSpPr/>
            <p:nvPr/>
          </p:nvSpPr>
          <p:spPr>
            <a:xfrm>
              <a:off x="9811512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5" name="rect_0936"/>
            <p:cNvSpPr/>
            <p:nvPr/>
          </p:nvSpPr>
          <p:spPr>
            <a:xfrm>
              <a:off x="9811512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6" name="rect_0937"/>
            <p:cNvSpPr/>
            <p:nvPr/>
          </p:nvSpPr>
          <p:spPr>
            <a:xfrm>
              <a:off x="9874504" y="517512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7" name="rect_0938"/>
            <p:cNvSpPr/>
            <p:nvPr/>
          </p:nvSpPr>
          <p:spPr>
            <a:xfrm>
              <a:off x="9937496" y="517512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8" name="rect_0939"/>
            <p:cNvSpPr/>
            <p:nvPr/>
          </p:nvSpPr>
          <p:spPr>
            <a:xfrm>
              <a:off x="9811512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9" name="rect_0940"/>
            <p:cNvSpPr/>
            <p:nvPr/>
          </p:nvSpPr>
          <p:spPr>
            <a:xfrm>
              <a:off x="9843008" y="521093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0" name="rect_0941"/>
            <p:cNvSpPr/>
            <p:nvPr/>
          </p:nvSpPr>
          <p:spPr>
            <a:xfrm>
              <a:off x="9874504" y="521093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1" name="rect_0942"/>
            <p:cNvSpPr/>
            <p:nvPr/>
          </p:nvSpPr>
          <p:spPr>
            <a:xfrm>
              <a:off x="9937496" y="521093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2" name="rect_0943"/>
            <p:cNvSpPr/>
            <p:nvPr/>
          </p:nvSpPr>
          <p:spPr>
            <a:xfrm>
              <a:off x="9874504" y="522884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3" name="rect_0944"/>
            <p:cNvSpPr/>
            <p:nvPr/>
          </p:nvSpPr>
          <p:spPr>
            <a:xfrm>
              <a:off x="9968992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4" name="rect_0945"/>
            <p:cNvSpPr/>
            <p:nvPr/>
          </p:nvSpPr>
          <p:spPr>
            <a:xfrm>
              <a:off x="9811512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5" name="rect_0946"/>
            <p:cNvSpPr/>
            <p:nvPr/>
          </p:nvSpPr>
          <p:spPr>
            <a:xfrm>
              <a:off x="9874504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6" name="rect_0947"/>
            <p:cNvSpPr/>
            <p:nvPr/>
          </p:nvSpPr>
          <p:spPr>
            <a:xfrm>
              <a:off x="9906000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7" name="rect_0948"/>
            <p:cNvSpPr/>
            <p:nvPr/>
          </p:nvSpPr>
          <p:spPr>
            <a:xfrm>
              <a:off x="9811512" y="526465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8" name="rect_0949"/>
            <p:cNvSpPr/>
            <p:nvPr/>
          </p:nvSpPr>
          <p:spPr>
            <a:xfrm>
              <a:off x="9874504" y="526465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9" name="rect_0950"/>
            <p:cNvSpPr/>
            <p:nvPr/>
          </p:nvSpPr>
          <p:spPr>
            <a:xfrm>
              <a:off x="9811512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0" name="rect_0951"/>
            <p:cNvSpPr/>
            <p:nvPr/>
          </p:nvSpPr>
          <p:spPr>
            <a:xfrm>
              <a:off x="9843008" y="5282564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1" name="rect_0952"/>
            <p:cNvSpPr/>
            <p:nvPr/>
          </p:nvSpPr>
          <p:spPr>
            <a:xfrm>
              <a:off x="9968992" y="528256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2" name="rect_0953"/>
            <p:cNvSpPr/>
            <p:nvPr/>
          </p:nvSpPr>
          <p:spPr>
            <a:xfrm>
              <a:off x="9811512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3" name="rect_0954"/>
            <p:cNvSpPr/>
            <p:nvPr/>
          </p:nvSpPr>
          <p:spPr>
            <a:xfrm>
              <a:off x="9843008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4" name="rect_0955"/>
            <p:cNvSpPr/>
            <p:nvPr/>
          </p:nvSpPr>
          <p:spPr>
            <a:xfrm>
              <a:off x="9906000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5" name="rect_0956"/>
            <p:cNvSpPr/>
            <p:nvPr/>
          </p:nvSpPr>
          <p:spPr>
            <a:xfrm>
              <a:off x="9811512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6" name="rect_0957"/>
            <p:cNvSpPr/>
            <p:nvPr/>
          </p:nvSpPr>
          <p:spPr>
            <a:xfrm>
              <a:off x="9843008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7" name="rect_0958"/>
            <p:cNvSpPr/>
            <p:nvPr/>
          </p:nvSpPr>
          <p:spPr>
            <a:xfrm>
              <a:off x="9874504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8" name="rect_0959"/>
            <p:cNvSpPr/>
            <p:nvPr/>
          </p:nvSpPr>
          <p:spPr>
            <a:xfrm>
              <a:off x="9937496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9" name="rect_0960"/>
            <p:cNvSpPr/>
            <p:nvPr/>
          </p:nvSpPr>
          <p:spPr>
            <a:xfrm>
              <a:off x="9968992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0" name="rect_0961"/>
            <p:cNvSpPr/>
            <p:nvPr/>
          </p:nvSpPr>
          <p:spPr>
            <a:xfrm>
              <a:off x="9843008" y="533628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1" name="rect_0962"/>
            <p:cNvSpPr/>
            <p:nvPr/>
          </p:nvSpPr>
          <p:spPr>
            <a:xfrm>
              <a:off x="9874504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2" name="rect_0963"/>
            <p:cNvSpPr/>
            <p:nvPr/>
          </p:nvSpPr>
          <p:spPr>
            <a:xfrm>
              <a:off x="9937496" y="533628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3" name="rect_0964"/>
            <p:cNvSpPr/>
            <p:nvPr/>
          </p:nvSpPr>
          <p:spPr>
            <a:xfrm>
              <a:off x="9811512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4" name="rect_0965"/>
            <p:cNvSpPr/>
            <p:nvPr/>
          </p:nvSpPr>
          <p:spPr>
            <a:xfrm>
              <a:off x="9874504" y="5354193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5" name="sample_state_early_token1_L16_solid"/>
            <p:cNvSpPr/>
            <p:nvPr/>
          </p:nvSpPr>
          <p:spPr>
            <a:xfrm>
              <a:off x="9811512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6" name="rect_0967"/>
            <p:cNvSpPr/>
            <p:nvPr/>
          </p:nvSpPr>
          <p:spPr>
            <a:xfrm>
              <a:off x="9811512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7" name="rect_0968"/>
            <p:cNvSpPr/>
            <p:nvPr/>
          </p:nvSpPr>
          <p:spPr>
            <a:xfrm>
              <a:off x="9843008" y="5372100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8" name="rect_0969"/>
            <p:cNvSpPr/>
            <p:nvPr/>
          </p:nvSpPr>
          <p:spPr>
            <a:xfrm>
              <a:off x="9968992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9" name="rect_0970"/>
            <p:cNvSpPr/>
            <p:nvPr/>
          </p:nvSpPr>
          <p:spPr>
            <a:xfrm>
              <a:off x="9811512" y="539000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0" name="rect_0971"/>
            <p:cNvSpPr/>
            <p:nvPr/>
          </p:nvSpPr>
          <p:spPr>
            <a:xfrm>
              <a:off x="9937496" y="539000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1" name="rect_0972"/>
            <p:cNvSpPr/>
            <p:nvPr/>
          </p:nvSpPr>
          <p:spPr>
            <a:xfrm>
              <a:off x="9811512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2" name="rect_0973"/>
            <p:cNvSpPr/>
            <p:nvPr/>
          </p:nvSpPr>
          <p:spPr>
            <a:xfrm>
              <a:off x="9843008" y="5407914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3" name="rect_0974"/>
            <p:cNvSpPr/>
            <p:nvPr/>
          </p:nvSpPr>
          <p:spPr>
            <a:xfrm>
              <a:off x="9968992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4" name="rect_0975"/>
            <p:cNvSpPr/>
            <p:nvPr/>
          </p:nvSpPr>
          <p:spPr>
            <a:xfrm>
              <a:off x="9811512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5" name="rect_0976"/>
            <p:cNvSpPr/>
            <p:nvPr/>
          </p:nvSpPr>
          <p:spPr>
            <a:xfrm>
              <a:off x="9843008" y="542582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6" name="rect_0977"/>
            <p:cNvSpPr/>
            <p:nvPr/>
          </p:nvSpPr>
          <p:spPr>
            <a:xfrm>
              <a:off x="9937496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7" name="rect_0978"/>
            <p:cNvSpPr/>
            <p:nvPr/>
          </p:nvSpPr>
          <p:spPr>
            <a:xfrm>
              <a:off x="9968992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8" name="rect_0979"/>
            <p:cNvSpPr/>
            <p:nvPr/>
          </p:nvSpPr>
          <p:spPr>
            <a:xfrm>
              <a:off x="9811512" y="5443728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9" name="rect_0980"/>
            <p:cNvSpPr/>
            <p:nvPr/>
          </p:nvSpPr>
          <p:spPr>
            <a:xfrm>
              <a:off x="9937496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0" name="rect_0981"/>
            <p:cNvSpPr/>
            <p:nvPr/>
          </p:nvSpPr>
          <p:spPr>
            <a:xfrm>
              <a:off x="9968992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1" name="rect_0982"/>
            <p:cNvSpPr/>
            <p:nvPr/>
          </p:nvSpPr>
          <p:spPr>
            <a:xfrm>
              <a:off x="9811512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2" name="rect_0983"/>
            <p:cNvSpPr/>
            <p:nvPr/>
          </p:nvSpPr>
          <p:spPr>
            <a:xfrm>
              <a:off x="9843008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3" name="rect_0984"/>
            <p:cNvSpPr/>
            <p:nvPr/>
          </p:nvSpPr>
          <p:spPr>
            <a:xfrm>
              <a:off x="9874504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4" name="rect_0985"/>
            <p:cNvSpPr/>
            <p:nvPr/>
          </p:nvSpPr>
          <p:spPr>
            <a:xfrm>
              <a:off x="9906000" y="5461635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5" name="rect_0986"/>
            <p:cNvSpPr/>
            <p:nvPr/>
          </p:nvSpPr>
          <p:spPr>
            <a:xfrm>
              <a:off x="9968992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6" name="rect_0987"/>
            <p:cNvSpPr/>
            <p:nvPr/>
          </p:nvSpPr>
          <p:spPr>
            <a:xfrm>
              <a:off x="9811512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7" name="rect_0988"/>
            <p:cNvSpPr/>
            <p:nvPr/>
          </p:nvSpPr>
          <p:spPr>
            <a:xfrm>
              <a:off x="9843008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8" name="rect_0989"/>
            <p:cNvSpPr/>
            <p:nvPr/>
          </p:nvSpPr>
          <p:spPr>
            <a:xfrm>
              <a:off x="9874504" y="5479542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9" name="rect_0990"/>
            <p:cNvSpPr/>
            <p:nvPr/>
          </p:nvSpPr>
          <p:spPr>
            <a:xfrm>
              <a:off x="9937496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0" name="rect_0991"/>
            <p:cNvSpPr/>
            <p:nvPr/>
          </p:nvSpPr>
          <p:spPr>
            <a:xfrm>
              <a:off x="9968992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1" name="rect_0992"/>
            <p:cNvSpPr/>
            <p:nvPr/>
          </p:nvSpPr>
          <p:spPr>
            <a:xfrm>
              <a:off x="9843008" y="549744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2" name="rect_0993"/>
            <p:cNvSpPr/>
            <p:nvPr/>
          </p:nvSpPr>
          <p:spPr>
            <a:xfrm>
              <a:off x="9937496" y="549744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3" name="rect_0994"/>
            <p:cNvSpPr/>
            <p:nvPr/>
          </p:nvSpPr>
          <p:spPr>
            <a:xfrm>
              <a:off x="9811512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4" name="rect_0995"/>
            <p:cNvSpPr/>
            <p:nvPr/>
          </p:nvSpPr>
          <p:spPr>
            <a:xfrm>
              <a:off x="9843008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5" name="rect_0996"/>
            <p:cNvSpPr/>
            <p:nvPr/>
          </p:nvSpPr>
          <p:spPr>
            <a:xfrm>
              <a:off x="9874504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6" name="rect_0997"/>
            <p:cNvSpPr/>
            <p:nvPr/>
          </p:nvSpPr>
          <p:spPr>
            <a:xfrm>
              <a:off x="9937496" y="551535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7" name="rect_0998"/>
            <p:cNvSpPr/>
            <p:nvPr/>
          </p:nvSpPr>
          <p:spPr>
            <a:xfrm>
              <a:off x="9811512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8" name="rect_0999"/>
            <p:cNvSpPr/>
            <p:nvPr/>
          </p:nvSpPr>
          <p:spPr>
            <a:xfrm>
              <a:off x="9843008" y="553326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9" name="rect_1000"/>
            <p:cNvSpPr/>
            <p:nvPr/>
          </p:nvSpPr>
          <p:spPr>
            <a:xfrm>
              <a:off x="9906000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0" name="rect_1001"/>
            <p:cNvSpPr/>
            <p:nvPr/>
          </p:nvSpPr>
          <p:spPr>
            <a:xfrm>
              <a:off x="9937496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1" name="rect_1002"/>
            <p:cNvSpPr/>
            <p:nvPr/>
          </p:nvSpPr>
          <p:spPr>
            <a:xfrm>
              <a:off x="9968992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2" name="rect_1003"/>
            <p:cNvSpPr/>
            <p:nvPr/>
          </p:nvSpPr>
          <p:spPr>
            <a:xfrm>
              <a:off x="9811512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3" name="rect_1004"/>
            <p:cNvSpPr/>
            <p:nvPr/>
          </p:nvSpPr>
          <p:spPr>
            <a:xfrm>
              <a:off x="9843008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4" name="rect_1005"/>
            <p:cNvSpPr/>
            <p:nvPr/>
          </p:nvSpPr>
          <p:spPr>
            <a:xfrm>
              <a:off x="9874504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5" name="rect_1006"/>
            <p:cNvSpPr/>
            <p:nvPr/>
          </p:nvSpPr>
          <p:spPr>
            <a:xfrm>
              <a:off x="9906000" y="555117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6" name="rect_1007"/>
            <p:cNvSpPr/>
            <p:nvPr/>
          </p:nvSpPr>
          <p:spPr>
            <a:xfrm>
              <a:off x="9968992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7" name="rect_1008"/>
            <p:cNvSpPr/>
            <p:nvPr/>
          </p:nvSpPr>
          <p:spPr>
            <a:xfrm>
              <a:off x="9843008" y="556907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8" name="rect_1009"/>
            <p:cNvSpPr/>
            <p:nvPr/>
          </p:nvSpPr>
          <p:spPr>
            <a:xfrm>
              <a:off x="9906000" y="556907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9" name="sample_state_early_token1_bold_boundary"/>
            <p:cNvSpPr/>
            <p:nvPr/>
          </p:nvSpPr>
          <p:spPr>
            <a:xfrm>
              <a:off x="9811512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0" name="sample_state_early_token2_L32_solid"/>
            <p:cNvSpPr/>
            <p:nvPr/>
          </p:nvSpPr>
          <p:spPr>
            <a:xfrm>
              <a:off x="10032492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1" name="rect_1012"/>
            <p:cNvSpPr/>
            <p:nvPr/>
          </p:nvSpPr>
          <p:spPr>
            <a:xfrm>
              <a:off x="10095484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2" name="rect_1013"/>
            <p:cNvSpPr/>
            <p:nvPr/>
          </p:nvSpPr>
          <p:spPr>
            <a:xfrm>
              <a:off x="10189972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3" name="rect_1014"/>
            <p:cNvSpPr/>
            <p:nvPr/>
          </p:nvSpPr>
          <p:spPr>
            <a:xfrm>
              <a:off x="10032492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4" name="sample_state_early_token2_L24_solid"/>
            <p:cNvSpPr/>
            <p:nvPr/>
          </p:nvSpPr>
          <p:spPr>
            <a:xfrm>
              <a:off x="10032492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5" name="rect_1016"/>
            <p:cNvSpPr/>
            <p:nvPr/>
          </p:nvSpPr>
          <p:spPr>
            <a:xfrm>
              <a:off x="10063988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6" name="rect_1017"/>
            <p:cNvSpPr/>
            <p:nvPr/>
          </p:nvSpPr>
          <p:spPr>
            <a:xfrm>
              <a:off x="10126980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7" name="rect_1018"/>
            <p:cNvSpPr/>
            <p:nvPr/>
          </p:nvSpPr>
          <p:spPr>
            <a:xfrm>
              <a:off x="10158476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8" name="rect_1019"/>
            <p:cNvSpPr/>
            <p:nvPr/>
          </p:nvSpPr>
          <p:spPr>
            <a:xfrm>
              <a:off x="10032492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9" name="rect_1020"/>
            <p:cNvSpPr/>
            <p:nvPr/>
          </p:nvSpPr>
          <p:spPr>
            <a:xfrm>
              <a:off x="10063988" y="517512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0" name="rect_1021"/>
            <p:cNvSpPr/>
            <p:nvPr/>
          </p:nvSpPr>
          <p:spPr>
            <a:xfrm>
              <a:off x="10158476" y="517512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1" name="rect_1022"/>
            <p:cNvSpPr/>
            <p:nvPr/>
          </p:nvSpPr>
          <p:spPr>
            <a:xfrm>
              <a:off x="10189972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2" name="rect_1023"/>
            <p:cNvSpPr/>
            <p:nvPr/>
          </p:nvSpPr>
          <p:spPr>
            <a:xfrm>
              <a:off x="10032492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3" name="rect_1024"/>
            <p:cNvSpPr/>
            <p:nvPr/>
          </p:nvSpPr>
          <p:spPr>
            <a:xfrm>
              <a:off x="10095484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4" name="rect_1025"/>
            <p:cNvSpPr/>
            <p:nvPr/>
          </p:nvSpPr>
          <p:spPr>
            <a:xfrm>
              <a:off x="10158476" y="519303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5" name="rect_1026"/>
            <p:cNvSpPr/>
            <p:nvPr/>
          </p:nvSpPr>
          <p:spPr>
            <a:xfrm>
              <a:off x="10095484" y="521093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6" name="rect_1027"/>
            <p:cNvSpPr/>
            <p:nvPr/>
          </p:nvSpPr>
          <p:spPr>
            <a:xfrm>
              <a:off x="10158476" y="521093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7" name="rect_1028"/>
            <p:cNvSpPr/>
            <p:nvPr/>
          </p:nvSpPr>
          <p:spPr>
            <a:xfrm>
              <a:off x="10189972" y="521093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8" name="rect_1029"/>
            <p:cNvSpPr/>
            <p:nvPr/>
          </p:nvSpPr>
          <p:spPr>
            <a:xfrm>
              <a:off x="10032492" y="522884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9" name="rect_1030"/>
            <p:cNvSpPr/>
            <p:nvPr/>
          </p:nvSpPr>
          <p:spPr>
            <a:xfrm>
              <a:off x="10126980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0" name="rect_1031"/>
            <p:cNvSpPr/>
            <p:nvPr/>
          </p:nvSpPr>
          <p:spPr>
            <a:xfrm>
              <a:off x="10189972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1" name="rect_1032"/>
            <p:cNvSpPr/>
            <p:nvPr/>
          </p:nvSpPr>
          <p:spPr>
            <a:xfrm>
              <a:off x="10063988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2" name="rect_1033"/>
            <p:cNvSpPr/>
            <p:nvPr/>
          </p:nvSpPr>
          <p:spPr>
            <a:xfrm>
              <a:off x="10158476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3" name="rect_1034"/>
            <p:cNvSpPr/>
            <p:nvPr/>
          </p:nvSpPr>
          <p:spPr>
            <a:xfrm>
              <a:off x="10189972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4" name="rect_1035"/>
            <p:cNvSpPr/>
            <p:nvPr/>
          </p:nvSpPr>
          <p:spPr>
            <a:xfrm>
              <a:off x="10032492" y="526465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5" name="rect_1036"/>
            <p:cNvSpPr/>
            <p:nvPr/>
          </p:nvSpPr>
          <p:spPr>
            <a:xfrm>
              <a:off x="10063988" y="526465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6" name="rect_1037"/>
            <p:cNvSpPr/>
            <p:nvPr/>
          </p:nvSpPr>
          <p:spPr>
            <a:xfrm>
              <a:off x="10095484" y="526465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7" name="rect_1038"/>
            <p:cNvSpPr/>
            <p:nvPr/>
          </p:nvSpPr>
          <p:spPr>
            <a:xfrm>
              <a:off x="10032492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8" name="rect_1039"/>
            <p:cNvSpPr/>
            <p:nvPr/>
          </p:nvSpPr>
          <p:spPr>
            <a:xfrm>
              <a:off x="10063988" y="528256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9" name="rect_1040"/>
            <p:cNvSpPr/>
            <p:nvPr/>
          </p:nvSpPr>
          <p:spPr>
            <a:xfrm>
              <a:off x="10158476" y="528256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0" name="rect_1041"/>
            <p:cNvSpPr/>
            <p:nvPr/>
          </p:nvSpPr>
          <p:spPr>
            <a:xfrm>
              <a:off x="10063988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1" name="rect_1042"/>
            <p:cNvSpPr/>
            <p:nvPr/>
          </p:nvSpPr>
          <p:spPr>
            <a:xfrm>
              <a:off x="10126980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2" name="rect_1043"/>
            <p:cNvSpPr/>
            <p:nvPr/>
          </p:nvSpPr>
          <p:spPr>
            <a:xfrm>
              <a:off x="10158476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3" name="rect_1044"/>
            <p:cNvSpPr/>
            <p:nvPr/>
          </p:nvSpPr>
          <p:spPr>
            <a:xfrm>
              <a:off x="10063988" y="531837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4" name="rect_1045"/>
            <p:cNvSpPr/>
            <p:nvPr/>
          </p:nvSpPr>
          <p:spPr>
            <a:xfrm>
              <a:off x="10189972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5" name="rect_1046"/>
            <p:cNvSpPr/>
            <p:nvPr/>
          </p:nvSpPr>
          <p:spPr>
            <a:xfrm>
              <a:off x="10032492" y="533628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6" name="rect_1047"/>
            <p:cNvSpPr/>
            <p:nvPr/>
          </p:nvSpPr>
          <p:spPr>
            <a:xfrm>
              <a:off x="10126980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7" name="rect_1048"/>
            <p:cNvSpPr/>
            <p:nvPr/>
          </p:nvSpPr>
          <p:spPr>
            <a:xfrm>
              <a:off x="10158476" y="533628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8" name="rect_1049"/>
            <p:cNvSpPr/>
            <p:nvPr/>
          </p:nvSpPr>
          <p:spPr>
            <a:xfrm>
              <a:off x="10032492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9" name="rect_1050"/>
            <p:cNvSpPr/>
            <p:nvPr/>
          </p:nvSpPr>
          <p:spPr>
            <a:xfrm>
              <a:off x="10063988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0" name="rect_1051"/>
            <p:cNvSpPr/>
            <p:nvPr/>
          </p:nvSpPr>
          <p:spPr>
            <a:xfrm>
              <a:off x="10095484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1" name="rect_1052"/>
            <p:cNvSpPr/>
            <p:nvPr/>
          </p:nvSpPr>
          <p:spPr>
            <a:xfrm>
              <a:off x="10189972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2" name="sample_state_early_token2_L16_solid"/>
            <p:cNvSpPr/>
            <p:nvPr/>
          </p:nvSpPr>
          <p:spPr>
            <a:xfrm>
              <a:off x="10032492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3" name="rect_1054"/>
            <p:cNvSpPr/>
            <p:nvPr/>
          </p:nvSpPr>
          <p:spPr>
            <a:xfrm>
              <a:off x="10032492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4" name="rect_1055"/>
            <p:cNvSpPr/>
            <p:nvPr/>
          </p:nvSpPr>
          <p:spPr>
            <a:xfrm>
              <a:off x="10095484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5" name="rect_1056"/>
            <p:cNvSpPr/>
            <p:nvPr/>
          </p:nvSpPr>
          <p:spPr>
            <a:xfrm>
              <a:off x="10126980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6" name="rect_1057"/>
            <p:cNvSpPr/>
            <p:nvPr/>
          </p:nvSpPr>
          <p:spPr>
            <a:xfrm>
              <a:off x="10158476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7" name="rect_1058"/>
            <p:cNvSpPr/>
            <p:nvPr/>
          </p:nvSpPr>
          <p:spPr>
            <a:xfrm>
              <a:off x="10032492" y="539000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8" name="rect_1059"/>
            <p:cNvSpPr/>
            <p:nvPr/>
          </p:nvSpPr>
          <p:spPr>
            <a:xfrm>
              <a:off x="10063988" y="5390007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9" name="rect_1060"/>
            <p:cNvSpPr/>
            <p:nvPr/>
          </p:nvSpPr>
          <p:spPr>
            <a:xfrm>
              <a:off x="10032492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0" name="rect_1061"/>
            <p:cNvSpPr/>
            <p:nvPr/>
          </p:nvSpPr>
          <p:spPr>
            <a:xfrm>
              <a:off x="10063988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1" name="rect_1062"/>
            <p:cNvSpPr/>
            <p:nvPr/>
          </p:nvSpPr>
          <p:spPr>
            <a:xfrm>
              <a:off x="10095484" y="540791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2" name="rect_1063"/>
            <p:cNvSpPr/>
            <p:nvPr/>
          </p:nvSpPr>
          <p:spPr>
            <a:xfrm>
              <a:off x="10158476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3" name="rect_1064"/>
            <p:cNvSpPr/>
            <p:nvPr/>
          </p:nvSpPr>
          <p:spPr>
            <a:xfrm>
              <a:off x="10032492" y="5425821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4" name="rect_1065"/>
            <p:cNvSpPr/>
            <p:nvPr/>
          </p:nvSpPr>
          <p:spPr>
            <a:xfrm>
              <a:off x="10126980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5" name="rect_1066"/>
            <p:cNvSpPr/>
            <p:nvPr/>
          </p:nvSpPr>
          <p:spPr>
            <a:xfrm>
              <a:off x="10189972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6" name="rect_1067"/>
            <p:cNvSpPr/>
            <p:nvPr/>
          </p:nvSpPr>
          <p:spPr>
            <a:xfrm>
              <a:off x="10063988" y="544372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7" name="rect_1068"/>
            <p:cNvSpPr/>
            <p:nvPr/>
          </p:nvSpPr>
          <p:spPr>
            <a:xfrm>
              <a:off x="10158476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8" name="rect_1069"/>
            <p:cNvSpPr/>
            <p:nvPr/>
          </p:nvSpPr>
          <p:spPr>
            <a:xfrm>
              <a:off x="10189972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9" name="rect_1070"/>
            <p:cNvSpPr/>
            <p:nvPr/>
          </p:nvSpPr>
          <p:spPr>
            <a:xfrm>
              <a:off x="10032492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0" name="rect_1071"/>
            <p:cNvSpPr/>
            <p:nvPr/>
          </p:nvSpPr>
          <p:spPr>
            <a:xfrm>
              <a:off x="10063988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1" name="rect_1072"/>
            <p:cNvSpPr/>
            <p:nvPr/>
          </p:nvSpPr>
          <p:spPr>
            <a:xfrm>
              <a:off x="10095484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2" name="rect_1073"/>
            <p:cNvSpPr/>
            <p:nvPr/>
          </p:nvSpPr>
          <p:spPr>
            <a:xfrm>
              <a:off x="10126980" y="546163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3" name="rect_1074"/>
            <p:cNvSpPr/>
            <p:nvPr/>
          </p:nvSpPr>
          <p:spPr>
            <a:xfrm>
              <a:off x="10032492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4" name="rect_1075"/>
            <p:cNvSpPr/>
            <p:nvPr/>
          </p:nvSpPr>
          <p:spPr>
            <a:xfrm>
              <a:off x="10063988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5" name="rect_1076"/>
            <p:cNvSpPr/>
            <p:nvPr/>
          </p:nvSpPr>
          <p:spPr>
            <a:xfrm>
              <a:off x="10095484" y="547954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6" name="rect_1077"/>
            <p:cNvSpPr/>
            <p:nvPr/>
          </p:nvSpPr>
          <p:spPr>
            <a:xfrm>
              <a:off x="10189972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7" name="rect_1078"/>
            <p:cNvSpPr/>
            <p:nvPr/>
          </p:nvSpPr>
          <p:spPr>
            <a:xfrm>
              <a:off x="10032492" y="549744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8" name="rect_1079"/>
            <p:cNvSpPr/>
            <p:nvPr/>
          </p:nvSpPr>
          <p:spPr>
            <a:xfrm>
              <a:off x="10063988" y="5497449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9" name="rect_1080"/>
            <p:cNvSpPr/>
            <p:nvPr/>
          </p:nvSpPr>
          <p:spPr>
            <a:xfrm>
              <a:off x="10032492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0" name="rect_1081"/>
            <p:cNvSpPr/>
            <p:nvPr/>
          </p:nvSpPr>
          <p:spPr>
            <a:xfrm>
              <a:off x="10126980" y="5515356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1" name="rect_1082"/>
            <p:cNvSpPr/>
            <p:nvPr/>
          </p:nvSpPr>
          <p:spPr>
            <a:xfrm>
              <a:off x="10032492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2" name="rect_1083"/>
            <p:cNvSpPr/>
            <p:nvPr/>
          </p:nvSpPr>
          <p:spPr>
            <a:xfrm>
              <a:off x="10095484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3" name="rect_1084"/>
            <p:cNvSpPr/>
            <p:nvPr/>
          </p:nvSpPr>
          <p:spPr>
            <a:xfrm>
              <a:off x="10126980" y="553326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4" name="rect_1085"/>
            <p:cNvSpPr/>
            <p:nvPr/>
          </p:nvSpPr>
          <p:spPr>
            <a:xfrm>
              <a:off x="10189972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5" name="rect_1086"/>
            <p:cNvSpPr/>
            <p:nvPr/>
          </p:nvSpPr>
          <p:spPr>
            <a:xfrm>
              <a:off x="10032492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6" name="rect_1087"/>
            <p:cNvSpPr/>
            <p:nvPr/>
          </p:nvSpPr>
          <p:spPr>
            <a:xfrm>
              <a:off x="10063988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7" name="rect_1088"/>
            <p:cNvSpPr/>
            <p:nvPr/>
          </p:nvSpPr>
          <p:spPr>
            <a:xfrm>
              <a:off x="10126980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8" name="rect_1089"/>
            <p:cNvSpPr/>
            <p:nvPr/>
          </p:nvSpPr>
          <p:spPr>
            <a:xfrm>
              <a:off x="10158476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9" name="rect_1090"/>
            <p:cNvSpPr/>
            <p:nvPr/>
          </p:nvSpPr>
          <p:spPr>
            <a:xfrm>
              <a:off x="10189972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0" name="rect_1091"/>
            <p:cNvSpPr/>
            <p:nvPr/>
          </p:nvSpPr>
          <p:spPr>
            <a:xfrm>
              <a:off x="10032492" y="556907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1" name="rect_1092"/>
            <p:cNvSpPr/>
            <p:nvPr/>
          </p:nvSpPr>
          <p:spPr>
            <a:xfrm>
              <a:off x="10126980" y="556907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2" name="sample_state_early_token2_bold_boundary"/>
            <p:cNvSpPr/>
            <p:nvPr/>
          </p:nvSpPr>
          <p:spPr>
            <a:xfrm>
              <a:off x="10032492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3" name="sample_state_early_token3_L32_solid"/>
            <p:cNvSpPr/>
            <p:nvPr/>
          </p:nvSpPr>
          <p:spPr>
            <a:xfrm>
              <a:off x="10253472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4" name="rect_1095"/>
            <p:cNvSpPr/>
            <p:nvPr/>
          </p:nvSpPr>
          <p:spPr>
            <a:xfrm>
              <a:off x="10316464" y="476326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5" name="rect_1096"/>
            <p:cNvSpPr/>
            <p:nvPr/>
          </p:nvSpPr>
          <p:spPr>
            <a:xfrm>
              <a:off x="10347960" y="476326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6" name="rect_1097"/>
            <p:cNvSpPr/>
            <p:nvPr/>
          </p:nvSpPr>
          <p:spPr>
            <a:xfrm>
              <a:off x="10379456" y="483489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7" name="rect_1098"/>
            <p:cNvSpPr/>
            <p:nvPr/>
          </p:nvSpPr>
          <p:spPr>
            <a:xfrm>
              <a:off x="10253472" y="492442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8" name="rect_1099"/>
            <p:cNvSpPr/>
            <p:nvPr/>
          </p:nvSpPr>
          <p:spPr>
            <a:xfrm>
              <a:off x="10347960" y="497814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9" name="rect_1100"/>
            <p:cNvSpPr/>
            <p:nvPr/>
          </p:nvSpPr>
          <p:spPr>
            <a:xfrm>
              <a:off x="10284968" y="503186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0" name="sample_state_early_token3_L24_solid"/>
            <p:cNvSpPr/>
            <p:nvPr/>
          </p:nvSpPr>
          <p:spPr>
            <a:xfrm>
              <a:off x="10253472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1" name="rect_1102"/>
            <p:cNvSpPr/>
            <p:nvPr/>
          </p:nvSpPr>
          <p:spPr>
            <a:xfrm>
              <a:off x="10284968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2" name="rect_1103"/>
            <p:cNvSpPr/>
            <p:nvPr/>
          </p:nvSpPr>
          <p:spPr>
            <a:xfrm>
              <a:off x="10316464" y="515721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3" name="rect_1104"/>
            <p:cNvSpPr/>
            <p:nvPr/>
          </p:nvSpPr>
          <p:spPr>
            <a:xfrm>
              <a:off x="10379456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4" name="rect_1105"/>
            <p:cNvSpPr/>
            <p:nvPr/>
          </p:nvSpPr>
          <p:spPr>
            <a:xfrm>
              <a:off x="10410952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5" name="rect_1106"/>
            <p:cNvSpPr/>
            <p:nvPr/>
          </p:nvSpPr>
          <p:spPr>
            <a:xfrm>
              <a:off x="10253472" y="517512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6" name="rect_1107"/>
            <p:cNvSpPr/>
            <p:nvPr/>
          </p:nvSpPr>
          <p:spPr>
            <a:xfrm>
              <a:off x="10284968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7" name="rect_1108"/>
            <p:cNvSpPr/>
            <p:nvPr/>
          </p:nvSpPr>
          <p:spPr>
            <a:xfrm>
              <a:off x="10253472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8" name="rect_1109"/>
            <p:cNvSpPr/>
            <p:nvPr/>
          </p:nvSpPr>
          <p:spPr>
            <a:xfrm>
              <a:off x="10284968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9" name="rect_1110"/>
            <p:cNvSpPr/>
            <p:nvPr/>
          </p:nvSpPr>
          <p:spPr>
            <a:xfrm>
              <a:off x="10316464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0" name="rect_1111"/>
            <p:cNvSpPr/>
            <p:nvPr/>
          </p:nvSpPr>
          <p:spPr>
            <a:xfrm>
              <a:off x="10410952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1" name="rect_1112"/>
            <p:cNvSpPr/>
            <p:nvPr/>
          </p:nvSpPr>
          <p:spPr>
            <a:xfrm>
              <a:off x="10253472" y="5210937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2" name="rect_1113"/>
            <p:cNvSpPr/>
            <p:nvPr/>
          </p:nvSpPr>
          <p:spPr>
            <a:xfrm>
              <a:off x="10379456" y="521093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3" name="rect_1114"/>
            <p:cNvSpPr/>
            <p:nvPr/>
          </p:nvSpPr>
          <p:spPr>
            <a:xfrm>
              <a:off x="10253472" y="522884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4" name="rect_1115"/>
            <p:cNvSpPr/>
            <p:nvPr/>
          </p:nvSpPr>
          <p:spPr>
            <a:xfrm>
              <a:off x="10379456" y="522884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5" name="rect_1116"/>
            <p:cNvSpPr/>
            <p:nvPr/>
          </p:nvSpPr>
          <p:spPr>
            <a:xfrm>
              <a:off x="10284968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6" name="rect_1117"/>
            <p:cNvSpPr/>
            <p:nvPr/>
          </p:nvSpPr>
          <p:spPr>
            <a:xfrm>
              <a:off x="10379456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7" name="rect_1118"/>
            <p:cNvSpPr/>
            <p:nvPr/>
          </p:nvSpPr>
          <p:spPr>
            <a:xfrm>
              <a:off x="10410952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8" name="rect_1119"/>
            <p:cNvSpPr/>
            <p:nvPr/>
          </p:nvSpPr>
          <p:spPr>
            <a:xfrm>
              <a:off x="10253472" y="526465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9" name="rect_1120"/>
            <p:cNvSpPr/>
            <p:nvPr/>
          </p:nvSpPr>
          <p:spPr>
            <a:xfrm>
              <a:off x="10379456" y="526465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0" name="rect_1121"/>
            <p:cNvSpPr/>
            <p:nvPr/>
          </p:nvSpPr>
          <p:spPr>
            <a:xfrm>
              <a:off x="10253472" y="528256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1" name="rect_1122"/>
            <p:cNvSpPr/>
            <p:nvPr/>
          </p:nvSpPr>
          <p:spPr>
            <a:xfrm>
              <a:off x="10379456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2" name="rect_1123"/>
            <p:cNvSpPr/>
            <p:nvPr/>
          </p:nvSpPr>
          <p:spPr>
            <a:xfrm>
              <a:off x="10316464" y="530047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3" name="rect_1124"/>
            <p:cNvSpPr/>
            <p:nvPr/>
          </p:nvSpPr>
          <p:spPr>
            <a:xfrm>
              <a:off x="10379456" y="530047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4" name="rect_1125"/>
            <p:cNvSpPr/>
            <p:nvPr/>
          </p:nvSpPr>
          <p:spPr>
            <a:xfrm>
              <a:off x="10253472" y="531837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5" name="rect_1126"/>
            <p:cNvSpPr/>
            <p:nvPr/>
          </p:nvSpPr>
          <p:spPr>
            <a:xfrm>
              <a:off x="10347960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6" name="rect_1127"/>
            <p:cNvSpPr/>
            <p:nvPr/>
          </p:nvSpPr>
          <p:spPr>
            <a:xfrm>
              <a:off x="10410952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7" name="rect_1128"/>
            <p:cNvSpPr/>
            <p:nvPr/>
          </p:nvSpPr>
          <p:spPr>
            <a:xfrm>
              <a:off x="10284968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8" name="rect_1129"/>
            <p:cNvSpPr/>
            <p:nvPr/>
          </p:nvSpPr>
          <p:spPr>
            <a:xfrm>
              <a:off x="10410952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9" name="rect_1130"/>
            <p:cNvSpPr/>
            <p:nvPr/>
          </p:nvSpPr>
          <p:spPr>
            <a:xfrm>
              <a:off x="10284968" y="535419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0" name="rect_1131"/>
            <p:cNvSpPr/>
            <p:nvPr/>
          </p:nvSpPr>
          <p:spPr>
            <a:xfrm>
              <a:off x="10379456" y="535419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1" name="sample_state_early_token3_L16_solid"/>
            <p:cNvSpPr/>
            <p:nvPr/>
          </p:nvSpPr>
          <p:spPr>
            <a:xfrm>
              <a:off x="10253472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2" name="rect_1133"/>
            <p:cNvSpPr/>
            <p:nvPr/>
          </p:nvSpPr>
          <p:spPr>
            <a:xfrm>
              <a:off x="10253472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3" name="rect_1134"/>
            <p:cNvSpPr/>
            <p:nvPr/>
          </p:nvSpPr>
          <p:spPr>
            <a:xfrm>
              <a:off x="10284968" y="537210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4" name="rect_1135"/>
            <p:cNvSpPr/>
            <p:nvPr/>
          </p:nvSpPr>
          <p:spPr>
            <a:xfrm>
              <a:off x="10347960" y="5372100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5" name="rect_1136"/>
            <p:cNvSpPr/>
            <p:nvPr/>
          </p:nvSpPr>
          <p:spPr>
            <a:xfrm>
              <a:off x="10253472" y="539000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6" name="rect_1137"/>
            <p:cNvSpPr/>
            <p:nvPr/>
          </p:nvSpPr>
          <p:spPr>
            <a:xfrm>
              <a:off x="10379456" y="539000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7" name="rect_1138"/>
            <p:cNvSpPr/>
            <p:nvPr/>
          </p:nvSpPr>
          <p:spPr>
            <a:xfrm>
              <a:off x="10253472" y="5407914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8" name="rect_1139"/>
            <p:cNvSpPr/>
            <p:nvPr/>
          </p:nvSpPr>
          <p:spPr>
            <a:xfrm>
              <a:off x="10347960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9" name="rect_1140"/>
            <p:cNvSpPr/>
            <p:nvPr/>
          </p:nvSpPr>
          <p:spPr>
            <a:xfrm>
              <a:off x="10379456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0" name="rect_1141"/>
            <p:cNvSpPr/>
            <p:nvPr/>
          </p:nvSpPr>
          <p:spPr>
            <a:xfrm>
              <a:off x="10284968" y="542582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1" name="rect_1142"/>
            <p:cNvSpPr/>
            <p:nvPr/>
          </p:nvSpPr>
          <p:spPr>
            <a:xfrm>
              <a:off x="10347960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2" name="rect_1143"/>
            <p:cNvSpPr/>
            <p:nvPr/>
          </p:nvSpPr>
          <p:spPr>
            <a:xfrm>
              <a:off x="10379456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3" name="rect_1144"/>
            <p:cNvSpPr/>
            <p:nvPr/>
          </p:nvSpPr>
          <p:spPr>
            <a:xfrm>
              <a:off x="10253472" y="5443728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4" name="rect_1145"/>
            <p:cNvSpPr/>
            <p:nvPr/>
          </p:nvSpPr>
          <p:spPr>
            <a:xfrm>
              <a:off x="10347960" y="544372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5" name="rect_1146"/>
            <p:cNvSpPr/>
            <p:nvPr/>
          </p:nvSpPr>
          <p:spPr>
            <a:xfrm>
              <a:off x="10253472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6" name="rect_1147"/>
            <p:cNvSpPr/>
            <p:nvPr/>
          </p:nvSpPr>
          <p:spPr>
            <a:xfrm>
              <a:off x="10284968" y="546163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7" name="rect_1148"/>
            <p:cNvSpPr/>
            <p:nvPr/>
          </p:nvSpPr>
          <p:spPr>
            <a:xfrm>
              <a:off x="10379456" y="546163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8" name="rect_1149"/>
            <p:cNvSpPr/>
            <p:nvPr/>
          </p:nvSpPr>
          <p:spPr>
            <a:xfrm>
              <a:off x="10253472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9" name="rect_1150"/>
            <p:cNvSpPr/>
            <p:nvPr/>
          </p:nvSpPr>
          <p:spPr>
            <a:xfrm>
              <a:off x="10284968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0" name="rect_1151"/>
            <p:cNvSpPr/>
            <p:nvPr/>
          </p:nvSpPr>
          <p:spPr>
            <a:xfrm>
              <a:off x="10347960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1" name="rect_1152"/>
            <p:cNvSpPr/>
            <p:nvPr/>
          </p:nvSpPr>
          <p:spPr>
            <a:xfrm>
              <a:off x="10379456" y="5479542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2" name="rect_1153"/>
            <p:cNvSpPr/>
            <p:nvPr/>
          </p:nvSpPr>
          <p:spPr>
            <a:xfrm>
              <a:off x="10253472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3" name="rect_1154"/>
            <p:cNvSpPr/>
            <p:nvPr/>
          </p:nvSpPr>
          <p:spPr>
            <a:xfrm>
              <a:off x="10284968" y="5497449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4" name="rect_1155"/>
            <p:cNvSpPr/>
            <p:nvPr/>
          </p:nvSpPr>
          <p:spPr>
            <a:xfrm>
              <a:off x="10410952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5" name="rect_1156"/>
            <p:cNvSpPr/>
            <p:nvPr/>
          </p:nvSpPr>
          <p:spPr>
            <a:xfrm>
              <a:off x="10253472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6" name="rect_1157"/>
            <p:cNvSpPr/>
            <p:nvPr/>
          </p:nvSpPr>
          <p:spPr>
            <a:xfrm>
              <a:off x="10284968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7" name="rect_1158"/>
            <p:cNvSpPr/>
            <p:nvPr/>
          </p:nvSpPr>
          <p:spPr>
            <a:xfrm>
              <a:off x="10316464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8" name="rect_1159"/>
            <p:cNvSpPr/>
            <p:nvPr/>
          </p:nvSpPr>
          <p:spPr>
            <a:xfrm>
              <a:off x="10347960" y="551535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9" name="rect_1160"/>
            <p:cNvSpPr/>
            <p:nvPr/>
          </p:nvSpPr>
          <p:spPr>
            <a:xfrm>
              <a:off x="10253472" y="553326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0" name="rect_1161"/>
            <p:cNvSpPr/>
            <p:nvPr/>
          </p:nvSpPr>
          <p:spPr>
            <a:xfrm>
              <a:off x="10316464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1" name="rect_1162"/>
            <p:cNvSpPr/>
            <p:nvPr/>
          </p:nvSpPr>
          <p:spPr>
            <a:xfrm>
              <a:off x="10347960" y="5533263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2" name="rect_1163"/>
            <p:cNvSpPr/>
            <p:nvPr/>
          </p:nvSpPr>
          <p:spPr>
            <a:xfrm>
              <a:off x="10253472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3" name="rect_1164"/>
            <p:cNvSpPr/>
            <p:nvPr/>
          </p:nvSpPr>
          <p:spPr>
            <a:xfrm>
              <a:off x="10284968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4" name="rect_1165"/>
            <p:cNvSpPr/>
            <p:nvPr/>
          </p:nvSpPr>
          <p:spPr>
            <a:xfrm>
              <a:off x="10316464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5" name="rect_1166"/>
            <p:cNvSpPr/>
            <p:nvPr/>
          </p:nvSpPr>
          <p:spPr>
            <a:xfrm>
              <a:off x="10347960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6" name="rect_1167"/>
            <p:cNvSpPr/>
            <p:nvPr/>
          </p:nvSpPr>
          <p:spPr>
            <a:xfrm>
              <a:off x="10379456" y="555117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7" name="rect_1168"/>
            <p:cNvSpPr/>
            <p:nvPr/>
          </p:nvSpPr>
          <p:spPr>
            <a:xfrm>
              <a:off x="10253472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8" name="rect_1169"/>
            <p:cNvSpPr/>
            <p:nvPr/>
          </p:nvSpPr>
          <p:spPr>
            <a:xfrm>
              <a:off x="10284968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9" name="rect_1170"/>
            <p:cNvSpPr/>
            <p:nvPr/>
          </p:nvSpPr>
          <p:spPr>
            <a:xfrm>
              <a:off x="10316464" y="556907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0" name="rect_1171"/>
            <p:cNvSpPr/>
            <p:nvPr/>
          </p:nvSpPr>
          <p:spPr>
            <a:xfrm>
              <a:off x="10410952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1" name="sample_state_early_token3_bold_boundary"/>
            <p:cNvSpPr/>
            <p:nvPr/>
          </p:nvSpPr>
          <p:spPr>
            <a:xfrm>
              <a:off x="10253472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7" name="sample_state_late_editable_token_strips"/>
          <p:cNvGrpSpPr/>
          <p:nvPr/>
        </p:nvGrpSpPr>
        <p:grpSpPr>
          <a:xfrm>
            <a:off x="10625328" y="4727448"/>
            <a:ext cx="630934" cy="859536"/>
            <a:chOff x="10625328" y="4727448"/>
            <a:chExt cx="630934" cy="859536"/>
          </a:xfrm>
          <a:effectLst/>
        </p:grpSpPr>
        <p:sp>
          <p:nvSpPr>
            <p:cNvPr id="1154" name="sample_state_late_token1_L32_solid"/>
            <p:cNvSpPr/>
            <p:nvPr/>
          </p:nvSpPr>
          <p:spPr>
            <a:xfrm>
              <a:off x="10625328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5" name="sample_state_late_token1_L24_solid"/>
            <p:cNvSpPr/>
            <p:nvPr/>
          </p:nvSpPr>
          <p:spPr>
            <a:xfrm>
              <a:off x="10625328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6" name="rect_1177"/>
            <p:cNvSpPr/>
            <p:nvPr/>
          </p:nvSpPr>
          <p:spPr>
            <a:xfrm>
              <a:off x="10656824" y="521093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7" name="rect_1178"/>
            <p:cNvSpPr/>
            <p:nvPr/>
          </p:nvSpPr>
          <p:spPr>
            <a:xfrm>
              <a:off x="10688320" y="521093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8" name="rect_1179"/>
            <p:cNvSpPr/>
            <p:nvPr/>
          </p:nvSpPr>
          <p:spPr>
            <a:xfrm>
              <a:off x="10688320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9" name="rect_1180"/>
            <p:cNvSpPr/>
            <p:nvPr/>
          </p:nvSpPr>
          <p:spPr>
            <a:xfrm>
              <a:off x="10656824" y="526465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0" name="rect_1181"/>
            <p:cNvSpPr/>
            <p:nvPr/>
          </p:nvSpPr>
          <p:spPr>
            <a:xfrm>
              <a:off x="10656824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1" name="rect_1182"/>
            <p:cNvSpPr/>
            <p:nvPr/>
          </p:nvSpPr>
          <p:spPr>
            <a:xfrm>
              <a:off x="10782808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2" name="sample_state_late_token1_L16_solid"/>
            <p:cNvSpPr/>
            <p:nvPr/>
          </p:nvSpPr>
          <p:spPr>
            <a:xfrm>
              <a:off x="10625328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3" name="rect_1184"/>
            <p:cNvSpPr/>
            <p:nvPr/>
          </p:nvSpPr>
          <p:spPr>
            <a:xfrm>
              <a:off x="10656824" y="537210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4" name="rect_1185"/>
            <p:cNvSpPr/>
            <p:nvPr/>
          </p:nvSpPr>
          <p:spPr>
            <a:xfrm>
              <a:off x="10782808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5" name="rect_1186"/>
            <p:cNvSpPr/>
            <p:nvPr/>
          </p:nvSpPr>
          <p:spPr>
            <a:xfrm>
              <a:off x="10688320" y="539000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6" name="rect_1187"/>
            <p:cNvSpPr/>
            <p:nvPr/>
          </p:nvSpPr>
          <p:spPr>
            <a:xfrm>
              <a:off x="10751312" y="539000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7" name="rect_1188"/>
            <p:cNvSpPr/>
            <p:nvPr/>
          </p:nvSpPr>
          <p:spPr>
            <a:xfrm>
              <a:off x="10625328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8" name="rect_1189"/>
            <p:cNvSpPr/>
            <p:nvPr/>
          </p:nvSpPr>
          <p:spPr>
            <a:xfrm>
              <a:off x="10656824" y="5407914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9" name="rect_1190"/>
            <p:cNvSpPr/>
            <p:nvPr/>
          </p:nvSpPr>
          <p:spPr>
            <a:xfrm>
              <a:off x="10782808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0" name="rect_1191"/>
            <p:cNvSpPr/>
            <p:nvPr/>
          </p:nvSpPr>
          <p:spPr>
            <a:xfrm>
              <a:off x="10625328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1" name="rect_1192"/>
            <p:cNvSpPr/>
            <p:nvPr/>
          </p:nvSpPr>
          <p:spPr>
            <a:xfrm>
              <a:off x="10625328" y="544372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2" name="rect_1193"/>
            <p:cNvSpPr/>
            <p:nvPr/>
          </p:nvSpPr>
          <p:spPr>
            <a:xfrm>
              <a:off x="10782808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3" name="rect_1194"/>
            <p:cNvSpPr/>
            <p:nvPr/>
          </p:nvSpPr>
          <p:spPr>
            <a:xfrm>
              <a:off x="10656824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4" name="rect_1195"/>
            <p:cNvSpPr/>
            <p:nvPr/>
          </p:nvSpPr>
          <p:spPr>
            <a:xfrm>
              <a:off x="10688320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5" name="rect_1196"/>
            <p:cNvSpPr/>
            <p:nvPr/>
          </p:nvSpPr>
          <p:spPr>
            <a:xfrm>
              <a:off x="10719816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6" name="rect_1197"/>
            <p:cNvSpPr/>
            <p:nvPr/>
          </p:nvSpPr>
          <p:spPr>
            <a:xfrm>
              <a:off x="10656824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7" name="rect_1198"/>
            <p:cNvSpPr/>
            <p:nvPr/>
          </p:nvSpPr>
          <p:spPr>
            <a:xfrm>
              <a:off x="10719816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8" name="rect_1199"/>
            <p:cNvSpPr/>
            <p:nvPr/>
          </p:nvSpPr>
          <p:spPr>
            <a:xfrm>
              <a:off x="10751312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9" name="rect_1200"/>
            <p:cNvSpPr/>
            <p:nvPr/>
          </p:nvSpPr>
          <p:spPr>
            <a:xfrm>
              <a:off x="10782808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0" name="rect_1201"/>
            <p:cNvSpPr/>
            <p:nvPr/>
          </p:nvSpPr>
          <p:spPr>
            <a:xfrm>
              <a:off x="10751312" y="549744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1" name="rect_1202"/>
            <p:cNvSpPr/>
            <p:nvPr/>
          </p:nvSpPr>
          <p:spPr>
            <a:xfrm>
              <a:off x="10656824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2" name="rect_1203"/>
            <p:cNvSpPr/>
            <p:nvPr/>
          </p:nvSpPr>
          <p:spPr>
            <a:xfrm>
              <a:off x="10688320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3" name="rect_1204"/>
            <p:cNvSpPr/>
            <p:nvPr/>
          </p:nvSpPr>
          <p:spPr>
            <a:xfrm>
              <a:off x="10751312" y="551535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4" name="rect_1205"/>
            <p:cNvSpPr/>
            <p:nvPr/>
          </p:nvSpPr>
          <p:spPr>
            <a:xfrm>
              <a:off x="10625328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5" name="rect_1206"/>
            <p:cNvSpPr/>
            <p:nvPr/>
          </p:nvSpPr>
          <p:spPr>
            <a:xfrm>
              <a:off x="10688320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6" name="rect_1207"/>
            <p:cNvSpPr/>
            <p:nvPr/>
          </p:nvSpPr>
          <p:spPr>
            <a:xfrm>
              <a:off x="10751312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7" name="rect_1208"/>
            <p:cNvSpPr/>
            <p:nvPr/>
          </p:nvSpPr>
          <p:spPr>
            <a:xfrm>
              <a:off x="10656824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8" name="rect_1209"/>
            <p:cNvSpPr/>
            <p:nvPr/>
          </p:nvSpPr>
          <p:spPr>
            <a:xfrm>
              <a:off x="10782808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9" name="rect_1210"/>
            <p:cNvSpPr/>
            <p:nvPr/>
          </p:nvSpPr>
          <p:spPr>
            <a:xfrm>
              <a:off x="10656824" y="556907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0" name="rect_1211"/>
            <p:cNvSpPr/>
            <p:nvPr/>
          </p:nvSpPr>
          <p:spPr>
            <a:xfrm>
              <a:off x="10719816" y="556907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1" name="sample_state_late_token1_bold_boundary"/>
            <p:cNvSpPr/>
            <p:nvPr/>
          </p:nvSpPr>
          <p:spPr>
            <a:xfrm>
              <a:off x="10625328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2" name="sample_state_late_token2_L32_solid"/>
            <p:cNvSpPr/>
            <p:nvPr/>
          </p:nvSpPr>
          <p:spPr>
            <a:xfrm>
              <a:off x="10846308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3" name="sample_state_late_token2_L24_solid"/>
            <p:cNvSpPr/>
            <p:nvPr/>
          </p:nvSpPr>
          <p:spPr>
            <a:xfrm>
              <a:off x="10846308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4" name="rect_1215"/>
            <p:cNvSpPr/>
            <p:nvPr/>
          </p:nvSpPr>
          <p:spPr>
            <a:xfrm>
              <a:off x="10846308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5" name="rect_1216"/>
            <p:cNvSpPr/>
            <p:nvPr/>
          </p:nvSpPr>
          <p:spPr>
            <a:xfrm>
              <a:off x="10909300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6" name="rect_1217"/>
            <p:cNvSpPr/>
            <p:nvPr/>
          </p:nvSpPr>
          <p:spPr>
            <a:xfrm>
              <a:off x="10972292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7" name="rect_1218"/>
            <p:cNvSpPr/>
            <p:nvPr/>
          </p:nvSpPr>
          <p:spPr>
            <a:xfrm>
              <a:off x="10940796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8" name="rect_1219"/>
            <p:cNvSpPr/>
            <p:nvPr/>
          </p:nvSpPr>
          <p:spPr>
            <a:xfrm>
              <a:off x="10846308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9" name="sample_state_late_token2_L16_solid"/>
            <p:cNvSpPr/>
            <p:nvPr/>
          </p:nvSpPr>
          <p:spPr>
            <a:xfrm>
              <a:off x="10846308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0" name="rect_1221"/>
            <p:cNvSpPr/>
            <p:nvPr/>
          </p:nvSpPr>
          <p:spPr>
            <a:xfrm>
              <a:off x="10846308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1" name="rect_1222"/>
            <p:cNvSpPr/>
            <p:nvPr/>
          </p:nvSpPr>
          <p:spPr>
            <a:xfrm>
              <a:off x="10909300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2" name="rect_1223"/>
            <p:cNvSpPr/>
            <p:nvPr/>
          </p:nvSpPr>
          <p:spPr>
            <a:xfrm>
              <a:off x="10940796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3" name="rect_1224"/>
            <p:cNvSpPr/>
            <p:nvPr/>
          </p:nvSpPr>
          <p:spPr>
            <a:xfrm>
              <a:off x="10972292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4" name="rect_1225"/>
            <p:cNvSpPr/>
            <p:nvPr/>
          </p:nvSpPr>
          <p:spPr>
            <a:xfrm>
              <a:off x="10846308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5" name="rect_1226"/>
            <p:cNvSpPr/>
            <p:nvPr/>
          </p:nvSpPr>
          <p:spPr>
            <a:xfrm>
              <a:off x="10877804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6" name="rect_1227"/>
            <p:cNvSpPr/>
            <p:nvPr/>
          </p:nvSpPr>
          <p:spPr>
            <a:xfrm>
              <a:off x="10909300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7" name="rect_1228"/>
            <p:cNvSpPr/>
            <p:nvPr/>
          </p:nvSpPr>
          <p:spPr>
            <a:xfrm>
              <a:off x="10972292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8" name="rect_1229"/>
            <p:cNvSpPr/>
            <p:nvPr/>
          </p:nvSpPr>
          <p:spPr>
            <a:xfrm>
              <a:off x="10846308" y="5425821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9" name="rect_1230"/>
            <p:cNvSpPr/>
            <p:nvPr/>
          </p:nvSpPr>
          <p:spPr>
            <a:xfrm>
              <a:off x="10877804" y="544372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0" name="rect_1231"/>
            <p:cNvSpPr/>
            <p:nvPr/>
          </p:nvSpPr>
          <p:spPr>
            <a:xfrm>
              <a:off x="10972292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1" name="rect_1232"/>
            <p:cNvSpPr/>
            <p:nvPr/>
          </p:nvSpPr>
          <p:spPr>
            <a:xfrm>
              <a:off x="11003788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2" name="rect_1233"/>
            <p:cNvSpPr/>
            <p:nvPr/>
          </p:nvSpPr>
          <p:spPr>
            <a:xfrm>
              <a:off x="10877804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3" name="rect_1234"/>
            <p:cNvSpPr/>
            <p:nvPr/>
          </p:nvSpPr>
          <p:spPr>
            <a:xfrm>
              <a:off x="10940796" y="546163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4" name="rect_1235"/>
            <p:cNvSpPr/>
            <p:nvPr/>
          </p:nvSpPr>
          <p:spPr>
            <a:xfrm>
              <a:off x="10877804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5" name="rect_1236"/>
            <p:cNvSpPr/>
            <p:nvPr/>
          </p:nvSpPr>
          <p:spPr>
            <a:xfrm>
              <a:off x="10909300" y="547954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6" name="rect_1237"/>
            <p:cNvSpPr/>
            <p:nvPr/>
          </p:nvSpPr>
          <p:spPr>
            <a:xfrm>
              <a:off x="10877804" y="5497449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7" name="rect_1238"/>
            <p:cNvSpPr/>
            <p:nvPr/>
          </p:nvSpPr>
          <p:spPr>
            <a:xfrm>
              <a:off x="10846308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8" name="rect_1239"/>
            <p:cNvSpPr/>
            <p:nvPr/>
          </p:nvSpPr>
          <p:spPr>
            <a:xfrm>
              <a:off x="10972292" y="551535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9" name="rect_1240"/>
            <p:cNvSpPr/>
            <p:nvPr/>
          </p:nvSpPr>
          <p:spPr>
            <a:xfrm>
              <a:off x="10909300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0" name="rect_1241"/>
            <p:cNvSpPr/>
            <p:nvPr/>
          </p:nvSpPr>
          <p:spPr>
            <a:xfrm>
              <a:off x="10972292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1" name="rect_1242"/>
            <p:cNvSpPr/>
            <p:nvPr/>
          </p:nvSpPr>
          <p:spPr>
            <a:xfrm>
              <a:off x="11003788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2" name="rect_1243"/>
            <p:cNvSpPr/>
            <p:nvPr/>
          </p:nvSpPr>
          <p:spPr>
            <a:xfrm>
              <a:off x="10909300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3" name="rect_1244"/>
            <p:cNvSpPr/>
            <p:nvPr/>
          </p:nvSpPr>
          <p:spPr>
            <a:xfrm>
              <a:off x="11003788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4" name="sample_state_late_token2_bold_boundary"/>
            <p:cNvSpPr/>
            <p:nvPr/>
          </p:nvSpPr>
          <p:spPr>
            <a:xfrm>
              <a:off x="10846308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5" name="sample_state_late_token3_L32_solid"/>
            <p:cNvSpPr/>
            <p:nvPr/>
          </p:nvSpPr>
          <p:spPr>
            <a:xfrm>
              <a:off x="11067287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6" name="sample_state_late_token3_L24_solid"/>
            <p:cNvSpPr/>
            <p:nvPr/>
          </p:nvSpPr>
          <p:spPr>
            <a:xfrm>
              <a:off x="11067287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7" name="rect_1248"/>
            <p:cNvSpPr/>
            <p:nvPr/>
          </p:nvSpPr>
          <p:spPr>
            <a:xfrm>
              <a:off x="11130279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8" name="rect_1249"/>
            <p:cNvSpPr/>
            <p:nvPr/>
          </p:nvSpPr>
          <p:spPr>
            <a:xfrm>
              <a:off x="11098783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9" name="rect_1250"/>
            <p:cNvSpPr/>
            <p:nvPr/>
          </p:nvSpPr>
          <p:spPr>
            <a:xfrm>
              <a:off x="11067287" y="531837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0" name="rect_1251"/>
            <p:cNvSpPr/>
            <p:nvPr/>
          </p:nvSpPr>
          <p:spPr>
            <a:xfrm>
              <a:off x="11224767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1" name="sample_state_late_token3_L16_solid"/>
            <p:cNvSpPr/>
            <p:nvPr/>
          </p:nvSpPr>
          <p:spPr>
            <a:xfrm>
              <a:off x="11067287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2" name="rect_1253"/>
            <p:cNvSpPr/>
            <p:nvPr/>
          </p:nvSpPr>
          <p:spPr>
            <a:xfrm>
              <a:off x="11098783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3" name="rect_1254"/>
            <p:cNvSpPr/>
            <p:nvPr/>
          </p:nvSpPr>
          <p:spPr>
            <a:xfrm>
              <a:off x="11193271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4" name="rect_1255"/>
            <p:cNvSpPr/>
            <p:nvPr/>
          </p:nvSpPr>
          <p:spPr>
            <a:xfrm>
              <a:off x="11067287" y="539000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5" name="rect_1256"/>
            <p:cNvSpPr/>
            <p:nvPr/>
          </p:nvSpPr>
          <p:spPr>
            <a:xfrm>
              <a:off x="11130279" y="539000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6" name="rect_1257"/>
            <p:cNvSpPr/>
            <p:nvPr/>
          </p:nvSpPr>
          <p:spPr>
            <a:xfrm>
              <a:off x="11193271" y="539000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7" name="rect_1258"/>
            <p:cNvSpPr/>
            <p:nvPr/>
          </p:nvSpPr>
          <p:spPr>
            <a:xfrm>
              <a:off x="11067287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8" name="rect_1259"/>
            <p:cNvSpPr/>
            <p:nvPr/>
          </p:nvSpPr>
          <p:spPr>
            <a:xfrm>
              <a:off x="11161775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9" name="rect_1260"/>
            <p:cNvSpPr/>
            <p:nvPr/>
          </p:nvSpPr>
          <p:spPr>
            <a:xfrm>
              <a:off x="11098783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0" name="rect_1261"/>
            <p:cNvSpPr/>
            <p:nvPr/>
          </p:nvSpPr>
          <p:spPr>
            <a:xfrm>
              <a:off x="11161775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1" name="rect_1262"/>
            <p:cNvSpPr/>
            <p:nvPr/>
          </p:nvSpPr>
          <p:spPr>
            <a:xfrm>
              <a:off x="11067287" y="5443728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2" name="rect_1263"/>
            <p:cNvSpPr/>
            <p:nvPr/>
          </p:nvSpPr>
          <p:spPr>
            <a:xfrm>
              <a:off x="11161775" y="544372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3" name="rect_1264"/>
            <p:cNvSpPr/>
            <p:nvPr/>
          </p:nvSpPr>
          <p:spPr>
            <a:xfrm>
              <a:off x="11067287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4" name="rect_1265"/>
            <p:cNvSpPr/>
            <p:nvPr/>
          </p:nvSpPr>
          <p:spPr>
            <a:xfrm>
              <a:off x="11098783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5" name="rect_1266"/>
            <p:cNvSpPr/>
            <p:nvPr/>
          </p:nvSpPr>
          <p:spPr>
            <a:xfrm>
              <a:off x="11193271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6" name="rect_1267"/>
            <p:cNvSpPr/>
            <p:nvPr/>
          </p:nvSpPr>
          <p:spPr>
            <a:xfrm>
              <a:off x="11067287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7" name="rect_1268"/>
            <p:cNvSpPr/>
            <p:nvPr/>
          </p:nvSpPr>
          <p:spPr>
            <a:xfrm>
              <a:off x="11067287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8" name="rect_1269"/>
            <p:cNvSpPr/>
            <p:nvPr/>
          </p:nvSpPr>
          <p:spPr>
            <a:xfrm>
              <a:off x="11161775" y="549744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9" name="rect_1270"/>
            <p:cNvSpPr/>
            <p:nvPr/>
          </p:nvSpPr>
          <p:spPr>
            <a:xfrm>
              <a:off x="11224767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0" name="rect_1271"/>
            <p:cNvSpPr/>
            <p:nvPr/>
          </p:nvSpPr>
          <p:spPr>
            <a:xfrm>
              <a:off x="11067287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1" name="rect_1272"/>
            <p:cNvSpPr/>
            <p:nvPr/>
          </p:nvSpPr>
          <p:spPr>
            <a:xfrm>
              <a:off x="11098783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2" name="rect_1273"/>
            <p:cNvSpPr/>
            <p:nvPr/>
          </p:nvSpPr>
          <p:spPr>
            <a:xfrm>
              <a:off x="11130279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3" name="rect_1274"/>
            <p:cNvSpPr/>
            <p:nvPr/>
          </p:nvSpPr>
          <p:spPr>
            <a:xfrm>
              <a:off x="11161775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4" name="rect_1275"/>
            <p:cNvSpPr/>
            <p:nvPr/>
          </p:nvSpPr>
          <p:spPr>
            <a:xfrm>
              <a:off x="11067287" y="553326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5" name="rect_1276"/>
            <p:cNvSpPr/>
            <p:nvPr/>
          </p:nvSpPr>
          <p:spPr>
            <a:xfrm>
              <a:off x="11130279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6" name="rect_1277"/>
            <p:cNvSpPr/>
            <p:nvPr/>
          </p:nvSpPr>
          <p:spPr>
            <a:xfrm>
              <a:off x="11161775" y="553326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7" name="rect_1278"/>
            <p:cNvSpPr/>
            <p:nvPr/>
          </p:nvSpPr>
          <p:spPr>
            <a:xfrm>
              <a:off x="11098783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8" name="rect_1279"/>
            <p:cNvSpPr/>
            <p:nvPr/>
          </p:nvSpPr>
          <p:spPr>
            <a:xfrm>
              <a:off x="11130279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9" name="rect_1280"/>
            <p:cNvSpPr/>
            <p:nvPr/>
          </p:nvSpPr>
          <p:spPr>
            <a:xfrm>
              <a:off x="11161775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0" name="rect_1281"/>
            <p:cNvSpPr/>
            <p:nvPr/>
          </p:nvSpPr>
          <p:spPr>
            <a:xfrm>
              <a:off x="11067287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1" name="rect_1282"/>
            <p:cNvSpPr/>
            <p:nvPr/>
          </p:nvSpPr>
          <p:spPr>
            <a:xfrm>
              <a:off x="11098783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2" name="rect_1283"/>
            <p:cNvSpPr/>
            <p:nvPr/>
          </p:nvSpPr>
          <p:spPr>
            <a:xfrm>
              <a:off x="11224767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3" name="sample_state_late_token3_bold_boundary"/>
            <p:cNvSpPr/>
            <p:nvPr/>
          </p:nvSpPr>
          <p:spPr>
            <a:xfrm>
              <a:off x="11067287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8" name="sample_state_clean_editable_token_strips"/>
          <p:cNvGrpSpPr/>
          <p:nvPr/>
        </p:nvGrpSpPr>
        <p:grpSpPr>
          <a:xfrm>
            <a:off x="11439144" y="4727448"/>
            <a:ext cx="630934" cy="859536"/>
            <a:chOff x="11439144" y="4727448"/>
            <a:chExt cx="630934" cy="859536"/>
          </a:xfrm>
          <a:effectLst/>
        </p:grpSpPr>
        <p:sp>
          <p:nvSpPr>
            <p:cNvPr id="1266" name="sample_state_clean_token1_L32_solid"/>
            <p:cNvSpPr/>
            <p:nvPr/>
          </p:nvSpPr>
          <p:spPr>
            <a:xfrm>
              <a:off x="11439144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7" name="sample_state_clean_token1_L24_solid"/>
            <p:cNvSpPr/>
            <p:nvPr/>
          </p:nvSpPr>
          <p:spPr>
            <a:xfrm>
              <a:off x="11439144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8" name="sample_state_clean_token1_L16_solid"/>
            <p:cNvSpPr/>
            <p:nvPr/>
          </p:nvSpPr>
          <p:spPr>
            <a:xfrm>
              <a:off x="11439144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9" name="sample_state_clean_token1_bold_boundary"/>
            <p:cNvSpPr/>
            <p:nvPr/>
          </p:nvSpPr>
          <p:spPr>
            <a:xfrm>
              <a:off x="11439144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0" name="sample_state_clean_token2_L32_solid"/>
            <p:cNvSpPr/>
            <p:nvPr/>
          </p:nvSpPr>
          <p:spPr>
            <a:xfrm>
              <a:off x="11660124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1" name="sample_state_clean_token2_L24_solid"/>
            <p:cNvSpPr/>
            <p:nvPr/>
          </p:nvSpPr>
          <p:spPr>
            <a:xfrm>
              <a:off x="11660124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2" name="sample_state_clean_token2_L16_solid"/>
            <p:cNvSpPr/>
            <p:nvPr/>
          </p:nvSpPr>
          <p:spPr>
            <a:xfrm>
              <a:off x="11660124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3" name="sample_state_clean_token2_bold_boundary"/>
            <p:cNvSpPr/>
            <p:nvPr/>
          </p:nvSpPr>
          <p:spPr>
            <a:xfrm>
              <a:off x="11660124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4" name="sample_state_clean_token3_L32_solid"/>
            <p:cNvSpPr/>
            <p:nvPr/>
          </p:nvSpPr>
          <p:spPr>
            <a:xfrm>
              <a:off x="11881103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5" name="sample_state_clean_token3_L24_solid"/>
            <p:cNvSpPr/>
            <p:nvPr/>
          </p:nvSpPr>
          <p:spPr>
            <a:xfrm>
              <a:off x="11881103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6" name="sample_state_clean_token3_L16_solid"/>
            <p:cNvSpPr/>
            <p:nvPr/>
          </p:nvSpPr>
          <p:spPr>
            <a:xfrm>
              <a:off x="11881103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7" name="sample_state_clean_token3_bold_boundary"/>
            <p:cNvSpPr/>
            <p:nvPr/>
          </p:nvSpPr>
          <p:spPr>
            <a:xfrm>
              <a:off x="11881103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9" name="terminal_clean_latents"/>
          <p:cNvGrpSpPr/>
          <p:nvPr/>
        </p:nvGrpSpPr>
        <p:grpSpPr>
          <a:xfrm>
            <a:off x="8549640" y="6492240"/>
            <a:ext cx="758952" cy="201168"/>
            <a:chOff x="8549640" y="6492240"/>
            <a:chExt cx="758952" cy="201168"/>
          </a:xfrm>
          <a:effectLst/>
        </p:grpSpPr>
        <p:sp>
          <p:nvSpPr>
            <p:cNvPr id="1284" name="terminal_clean_latents_L16"/>
            <p:cNvSpPr/>
            <p:nvPr/>
          </p:nvSpPr>
          <p:spPr>
            <a:xfrm>
              <a:off x="8549640" y="6492240"/>
              <a:ext cx="189738" cy="201168"/>
            </a:xfrm>
            <a:prstGeom prst="rect">
              <a:avLst/>
            </a:prstGeom>
            <a:solidFill>
              <a:srgbClr val="C3D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5" name="terminal_clean_latents_L24"/>
            <p:cNvSpPr/>
            <p:nvPr/>
          </p:nvSpPr>
          <p:spPr>
            <a:xfrm>
              <a:off x="8739378" y="6492240"/>
              <a:ext cx="189738" cy="201168"/>
            </a:xfrm>
            <a:prstGeom prst="rect">
              <a:avLst/>
            </a:prstGeom>
            <a:solidFill>
              <a:srgbClr val="EEDC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6" name="terminal_clean_latents_L32"/>
            <p:cNvSpPr/>
            <p:nvPr/>
          </p:nvSpPr>
          <p:spPr>
            <a:xfrm>
              <a:off x="8929115" y="6492240"/>
              <a:ext cx="379476" cy="201168"/>
            </a:xfrm>
            <a:prstGeom prst="rect">
              <a:avLst/>
            </a:prstGeom>
            <a:solidFill>
              <a:srgbClr val="C0DE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7" name="terminal_clean_latents_outline"/>
            <p:cNvSpPr/>
            <p:nvPr/>
          </p:nvSpPr>
          <p:spPr>
            <a:xfrm>
              <a:off x="8549640" y="6492240"/>
              <a:ext cx="758952" cy="201168"/>
            </a:xfrm>
            <a:prstGeom prst="rect">
              <a:avLst/>
            </a:prstGeom>
            <a:noFill/>
            <a:ln w="13970">
              <a:solidFill>
                <a:srgbClr val="B7C3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30" name="module_terminal_shared_ELF_plus_head"/>
          <p:cNvGrpSpPr/>
          <p:nvPr/>
        </p:nvGrpSpPr>
        <p:grpSpPr>
          <a:xfrm>
            <a:off x="9601200" y="6391656"/>
            <a:ext cx="1499616" cy="502920"/>
            <a:chOff x="9601200" y="6391656"/>
            <a:chExt cx="1499616" cy="502920"/>
          </a:xfrm>
          <a:effectLst/>
        </p:grpSpPr>
        <p:sp>
          <p:nvSpPr>
            <p:cNvPr id="1289" name="terminal_shared_ELF_plus_head"/>
            <p:cNvSpPr/>
            <p:nvPr/>
          </p:nvSpPr>
          <p:spPr>
            <a:xfrm>
              <a:off x="9601200" y="6391656"/>
              <a:ext cx="1499616" cy="502920"/>
            </a:xfrm>
            <a:prstGeom prst="roundRect">
              <a:avLst>
                <a:gd name="adj" fmla="val 12000"/>
              </a:avLst>
            </a:prstGeom>
            <a:solidFill>
              <a:srgbClr val="EEF6F5"/>
            </a:solidFill>
            <a:ln w="12700">
              <a:solidFill>
                <a:srgbClr val="2C91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0" name="terminal_shared_ELF_plus_head_label"/>
            <p:cNvSpPr txBox="1"/>
            <p:nvPr/>
          </p:nvSpPr>
          <p:spPr>
            <a:xfrm>
              <a:off x="9646920" y="6400800"/>
              <a:ext cx="1408175" cy="48463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233344"/>
                  </a:solidFill>
                  <a:latin typeface="DejaVu Sans"/>
                </a:rPr>
                <a:t>ELF +</a:t>
              </a:r>
            </a:p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233344"/>
                  </a:solidFill>
                  <a:latin typeface="DejaVu Sans"/>
                </a:rPr>
                <a:t>token head</a:t>
              </a:r>
            </a:p>
          </p:txBody>
        </p:sp>
      </p:grpSp>
      <p:grpSp>
        <p:nvGrpSpPr>
          <p:cNvPr id="1331" name="module_decoded_answer"/>
          <p:cNvGrpSpPr/>
          <p:nvPr/>
        </p:nvGrpSpPr>
        <p:grpSpPr>
          <a:xfrm>
            <a:off x="11402568" y="6409944"/>
            <a:ext cx="859536" cy="466344"/>
            <a:chOff x="11402568" y="6409944"/>
            <a:chExt cx="859536" cy="466344"/>
          </a:xfrm>
          <a:effectLst/>
        </p:grpSpPr>
        <p:sp>
          <p:nvSpPr>
            <p:cNvPr id="1292" name="decoded_answer"/>
            <p:cNvSpPr/>
            <p:nvPr/>
          </p:nvSpPr>
          <p:spPr>
            <a:xfrm>
              <a:off x="11402568" y="6409944"/>
              <a:ext cx="859536" cy="466344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C91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3" name="decoded_answer_label"/>
            <p:cNvSpPr txBox="1"/>
            <p:nvPr/>
          </p:nvSpPr>
          <p:spPr>
            <a:xfrm>
              <a:off x="11448288" y="6419088"/>
              <a:ext cx="768096" cy="44805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233344"/>
                  </a:solidFill>
                  <a:latin typeface="DejaVu Sans"/>
                </a:rPr>
                <a:t>Answer</a:t>
              </a:r>
            </a:p>
          </p:txBody>
        </p:sp>
      </p:grp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2" name="loss_CCE"/>
              <p:cNvSpPr txBox="1"/>
              <p:nvPr/>
            </p:nvSpPr>
            <p:spPr>
              <a:xfrm>
                <a:off x="594360" y="987552"/>
                <a:ext cx="4151376" cy="32918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800" b="0">
                            <a:solidFill>
                              <a:srgbClr val="B8656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800" b="0">
                            <a:solidFill>
                              <a:srgbClr val="B86565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b="0">
                            <a:solidFill>
                              <a:srgbClr val="B86565"/>
                            </a:solidFill>
                            <a:latin typeface="Cambria Math"/>
                          </a:rPr>
                          <m:t>repr</m:t>
                        </m:r>
                      </m:sub>
                    </m:sSub>
                    <m:r>
                      <m:rPr>
                        <m:sty m:val="i"/>
                      </m:rPr>
                      <a:rPr lang="en-US" sz="1800" b="0">
                        <a:solidFill>
                          <a:srgbClr val="B86565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800" b="0">
                        <a:solidFill>
                          <a:srgbClr val="B86565"/>
                        </a:solidFill>
                        <a:latin typeface="Cambria Math"/>
                      </a:rPr>
                      <m:t>CCE</m:t>
                    </m:r>
                    <m:d>
                      <m:dPr>
                        <m:begChr m:val="("/>
                        <m:endChr m:val=")"/>
                        <m:ctrlPr>
                          <a:rPr lang="en-US" sz="1800" b="0">
                            <a:solidFill>
                              <a:srgbClr val="B86565"/>
                            </a:solidFill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i"/>
                              </m:r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  <m:t>p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  <m:t>teacher</m:t>
                            </m:r>
                          </m:sup>
                        </m:sSup>
                        <m:r>
                          <m:rPr>
                            <m:sty m:val="i"/>
                          </m:rPr>
                          <a:rPr lang="en-US" sz="1800" b="0">
                            <a:solidFill>
                              <a:srgbClr val="B86565"/>
                            </a:solidFill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m:rPr>
                                <m:sty m:val="i"/>
                              </m:r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i"/>
                              </m:r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  <m:t>16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  <m:t>recon</m:t>
                            </m:r>
                          </m:sup>
                        </m:sSubSup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332" name="loss_CCE"/>
              <p:cNvSpPr txBox="1"/>
              <p:nvPr/>
            </p:nvSpPr>
            <p:spPr>
              <a:xfrm>
                <a:off x="594360" y="987552"/>
                <a:ext cx="4151376" cy="32918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>
                    <a:solidFill>
                      <a:srgbClr val="B86565"/>
                    </a:solidFill>
                    <a:latin typeface="Cambria Math"/>
                  </a:rPr>
                  <a:t>\mathcal{L}_{\mathrm{repr}}=\mathrm{CCE}\!\left(p^{\mathrm{teacher}},p_{16}^{\mathrm{recon}}\right)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3" name="v4_text_0007_math"/>
              <p:cNvSpPr txBox="1"/>
              <p:nvPr/>
            </p:nvSpPr>
            <p:spPr>
              <a:xfrm>
                <a:off x="475488" y="1517904"/>
                <a:ext cx="162763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p>
                      <m:sSupPr>
                        <m:ctrlPr>
                          <a:rPr lang="en-US" sz="16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6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p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teacher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333" name="v4_text_0007_math"/>
              <p:cNvSpPr txBox="1"/>
              <p:nvPr/>
            </p:nvSpPr>
            <p:spPr>
              <a:xfrm>
                <a:off x="475488" y="1517904"/>
                <a:ext cx="162763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>
                    <a:solidFill>
                      <a:srgbClr val="233344"/>
                    </a:solidFill>
                    <a:latin typeface="Cambria Math"/>
                  </a:rPr>
                  <a:t>p^{\mathrm{teacher}}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4" name="v4_text_0008_math"/>
              <p:cNvSpPr txBox="1"/>
              <p:nvPr/>
            </p:nvSpPr>
            <p:spPr>
              <a:xfrm>
                <a:off x="3118104" y="1517904"/>
                <a:ext cx="1801368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Sup>
                      <m:sSubSupPr>
                        <m:ctrlPr>
                          <a:rPr lang="en-US" sz="15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m:rPr>
                            <m:sty m:val="i"/>
                          </m:rPr>
                          <a:rPr lang="en-US" sz="15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p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5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5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recon</m:t>
                        </m:r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1334" name="v4_text_0008_math"/>
              <p:cNvSpPr txBox="1"/>
              <p:nvPr/>
            </p:nvSpPr>
            <p:spPr>
              <a:xfrm>
                <a:off x="3118104" y="1517904"/>
                <a:ext cx="1801368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500">
                    <a:solidFill>
                      <a:srgbClr val="367AB5"/>
                    </a:solidFill>
                    <a:latin typeface="Cambria Math"/>
                  </a:rPr>
                  <a:t>p_{16}^{\mathrm{recon}}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5" name="v4_text_0075_math"/>
              <p:cNvSpPr txBox="1"/>
              <p:nvPr/>
            </p:nvSpPr>
            <p:spPr>
              <a:xfrm>
                <a:off x="1636776" y="3364992"/>
                <a:ext cx="448056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16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35" name="v4_text_0075_math"/>
              <p:cNvSpPr txBox="1"/>
              <p:nvPr/>
            </p:nvSpPr>
            <p:spPr>
              <a:xfrm>
                <a:off x="1636776" y="3364992"/>
                <a:ext cx="448056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700">
                    <a:solidFill>
                      <a:srgbClr val="233344"/>
                    </a:solidFill>
                    <a:latin typeface="Cambria Math"/>
                  </a:rPr>
                  <a:t>h_{16}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6" name="v4_text_0081_math"/>
              <p:cNvSpPr txBox="1"/>
              <p:nvPr/>
            </p:nvSpPr>
            <p:spPr>
              <a:xfrm>
                <a:off x="2450592" y="3008376"/>
                <a:ext cx="347472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6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6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E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6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36" name="v4_text_0081_math"/>
              <p:cNvSpPr txBox="1"/>
              <p:nvPr/>
            </p:nvSpPr>
            <p:spPr>
              <a:xfrm>
                <a:off x="2450592" y="3008376"/>
                <a:ext cx="347472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>
                    <a:solidFill>
                      <a:srgbClr val="367AB5"/>
                    </a:solidFill>
                    <a:latin typeface="Cambria Math"/>
                  </a:rPr>
                  <a:t>E_{16}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7" name="v4_compact_z16_label_math"/>
              <p:cNvSpPr txBox="1"/>
              <p:nvPr/>
            </p:nvSpPr>
            <p:spPr>
              <a:xfrm>
                <a:off x="3127248" y="2971800"/>
                <a:ext cx="274320" cy="365759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4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37" name="v4_compact_z16_label_math"/>
              <p:cNvSpPr txBox="1"/>
              <p:nvPr/>
            </p:nvSpPr>
            <p:spPr>
              <a:xfrm>
                <a:off x="3127248" y="2971800"/>
                <a:ext cx="274320" cy="365759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>
                    <a:solidFill>
                      <a:srgbClr val="367AB5"/>
                    </a:solidFill>
                    <a:latin typeface="Cambria Math"/>
                  </a:rPr>
                  <a:t>z_{16}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8" name="v4_text_0091_math"/>
              <p:cNvSpPr txBox="1"/>
              <p:nvPr/>
            </p:nvSpPr>
            <p:spPr>
              <a:xfrm>
                <a:off x="3694176" y="3008376"/>
                <a:ext cx="356616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6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6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6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38" name="v4_text_0091_math"/>
              <p:cNvSpPr txBox="1"/>
              <p:nvPr/>
            </p:nvSpPr>
            <p:spPr>
              <a:xfrm>
                <a:off x="3694176" y="3008376"/>
                <a:ext cx="356616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>
                    <a:solidFill>
                      <a:srgbClr val="367AB5"/>
                    </a:solidFill>
                    <a:latin typeface="Cambria Math"/>
                  </a:rPr>
                  <a:t>D_{16}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9" name="v4_text_0109_math"/>
              <p:cNvSpPr txBox="1"/>
              <p:nvPr/>
            </p:nvSpPr>
            <p:spPr>
              <a:xfrm>
                <a:off x="822959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4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E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39" name="v4_text_0109_math"/>
              <p:cNvSpPr txBox="1"/>
              <p:nvPr/>
            </p:nvSpPr>
            <p:spPr>
              <a:xfrm>
                <a:off x="822959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>
                    <a:solidFill>
                      <a:srgbClr val="367AB5"/>
                    </a:solidFill>
                    <a:latin typeface="Cambria Math"/>
                  </a:rPr>
                  <a:t>E_{16}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0" name="v4_text_0134_math"/>
              <p:cNvSpPr txBox="1"/>
              <p:nvPr/>
            </p:nvSpPr>
            <p:spPr>
              <a:xfrm>
                <a:off x="1828800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400" b="0">
                            <a:solidFill>
                              <a:srgbClr val="C88A3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C88A35"/>
                            </a:solidFill>
                            <a:latin typeface="Cambria Math"/>
                          </a:rPr>
                          <m:t>E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C88A35"/>
                            </a:solidFill>
                            <a:latin typeface="Cambria Math"/>
                          </a:rPr>
                          <m:t>24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40" name="v4_text_0134_math"/>
              <p:cNvSpPr txBox="1"/>
              <p:nvPr/>
            </p:nvSpPr>
            <p:spPr>
              <a:xfrm>
                <a:off x="1828800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>
                    <a:solidFill>
                      <a:srgbClr val="C88A35"/>
                    </a:solidFill>
                    <a:latin typeface="Cambria Math"/>
                  </a:rPr>
                  <a:t>E_{24}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1" name="v4_text_0159_math"/>
              <p:cNvSpPr txBox="1"/>
              <p:nvPr/>
            </p:nvSpPr>
            <p:spPr>
              <a:xfrm>
                <a:off x="3337560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400" b="0">
                            <a:solidFill>
                              <a:srgbClr val="2C917F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E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32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41" name="v4_text_0159_math"/>
              <p:cNvSpPr txBox="1"/>
              <p:nvPr/>
            </p:nvSpPr>
            <p:spPr>
              <a:xfrm>
                <a:off x="3337560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>
                    <a:solidFill>
                      <a:srgbClr val="2C917F"/>
                    </a:solidFill>
                    <a:latin typeface="Cambria Math"/>
                  </a:rPr>
                  <a:t>E_{32}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2" name="latent_dimension_d16"/>
              <p:cNvSpPr txBox="1"/>
              <p:nvPr/>
            </p:nvSpPr>
            <p:spPr>
              <a:xfrm>
                <a:off x="2889504" y="2706624"/>
                <a:ext cx="804672" cy="26517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2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2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2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</m:sSub>
                    <m:r>
                      <m:rPr>
                        <m:sty m:val="i"/>
                      </m:rPr>
                      <a:rPr lang="en-US" sz="1200" b="0">
                        <a:solidFill>
                          <a:srgbClr val="367AB5"/>
                        </a:solidFill>
                        <a:latin typeface="Cambria Math"/>
                      </a:rPr>
                      <m:t>=256</m:t>
                    </m:r>
                  </m:oMath>
                </a14:m>
              </a:p>
            </p:txBody>
          </p:sp>
        </mc:Choice>
        <mc:Fallback>
          <p:sp>
            <p:nvSpPr>
              <p:cNvPr id="1342" name="latent_dimension_d16"/>
              <p:cNvSpPr txBox="1"/>
              <p:nvPr/>
            </p:nvSpPr>
            <p:spPr>
              <a:xfrm>
                <a:off x="2889504" y="2706624"/>
                <a:ext cx="804672" cy="26517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>
                    <a:solidFill>
                      <a:srgbClr val="367AB5"/>
                    </a:solidFill>
                    <a:latin typeface="Cambria Math"/>
                  </a:rPr>
                  <a:t>d_{16}=256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3" name="add_Gaussian_noise"/>
              <p:cNvSpPr txBox="1"/>
              <p:nvPr/>
            </p:nvSpPr>
            <p:spPr>
              <a:xfrm>
                <a:off x="6803136" y="1965960"/>
                <a:ext cx="256032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r>
                      <m:rPr>
                        <m:sty m:val="i"/>
                      </m:rPr>
                      <a:rPr lang="en-US" sz="2100" b="0">
                        <a:solidFill>
                          <a:srgbClr val="233344"/>
                        </a:solidFill>
                        <a:latin typeface="Cambria Math"/>
                      </a:rPr>
                      <m:t>+</m:t>
                    </m:r>
                  </m:oMath>
                </a14:m>
              </a:p>
            </p:txBody>
          </p:sp>
        </mc:Choice>
        <mc:Fallback>
          <p:sp>
            <p:nvSpPr>
              <p:cNvPr id="1343" name="add_Gaussian_noise"/>
              <p:cNvSpPr txBox="1"/>
              <p:nvPr/>
            </p:nvSpPr>
            <p:spPr>
              <a:xfrm>
                <a:off x="6803136" y="1965960"/>
                <a:ext cx="256032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>
                    <a:solidFill>
                      <a:srgbClr val="233344"/>
                    </a:solidFill>
                    <a:latin typeface="Cambria Math"/>
                  </a:rPr>
                  <a:t>+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4" name="Gaussian_epsilon"/>
              <p:cNvSpPr txBox="1"/>
              <p:nvPr/>
            </p:nvSpPr>
            <p:spPr>
              <a:xfrm>
                <a:off x="7836408" y="1965960"/>
                <a:ext cx="256032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r>
                      <m:rPr>
                        <m:sty m:val="i"/>
                      </m:rPr>
                      <a:rPr lang="en-US" sz="1800" b="0">
                        <a:solidFill>
                          <a:srgbClr val="63758A"/>
                        </a:solidFill>
                        <a:latin typeface="Cambria Math"/>
                      </a:rPr>
                      <m:t>ε</m:t>
                    </m:r>
                  </m:oMath>
                </a14:m>
              </a:p>
            </p:txBody>
          </p:sp>
        </mc:Choice>
        <mc:Fallback>
          <p:sp>
            <p:nvSpPr>
              <p:cNvPr id="1344" name="Gaussian_epsilon"/>
              <p:cNvSpPr txBox="1"/>
              <p:nvPr/>
            </p:nvSpPr>
            <p:spPr>
              <a:xfrm>
                <a:off x="7836408" y="1965960"/>
                <a:ext cx="256032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>
                    <a:solidFill>
                      <a:srgbClr val="63758A"/>
                    </a:solidFill>
                    <a:latin typeface="Cambria Math"/>
                  </a:rPr>
                  <a:t>\epsilon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5" name="flow_loss_math"/>
              <p:cNvSpPr txBox="1"/>
              <p:nvPr/>
            </p:nvSpPr>
            <p:spPr>
              <a:xfrm>
                <a:off x="5413248" y="5897880"/>
                <a:ext cx="1069848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21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21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flow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45" name="flow_loss_math"/>
              <p:cNvSpPr txBox="1"/>
              <p:nvPr/>
            </p:nvSpPr>
            <p:spPr>
              <a:xfrm>
                <a:off x="5413248" y="5897880"/>
                <a:ext cx="1069848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>
                    <a:solidFill>
                      <a:srgbClr val="367AB5"/>
                    </a:solidFill>
                    <a:latin typeface="Cambria Math"/>
                  </a:rPr>
                  <a:t>\mathcal{L}_{\mathrm{flow}}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6" name="decoder_loss_math"/>
              <p:cNvSpPr txBox="1"/>
              <p:nvPr/>
            </p:nvSpPr>
            <p:spPr>
              <a:xfrm>
                <a:off x="6885432" y="5897880"/>
                <a:ext cx="1069848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2100" b="0">
                            <a:solidFill>
                              <a:srgbClr val="2C917F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21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CE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46" name="decoder_loss_math"/>
              <p:cNvSpPr txBox="1"/>
              <p:nvPr/>
            </p:nvSpPr>
            <p:spPr>
              <a:xfrm>
                <a:off x="6885432" y="5897880"/>
                <a:ext cx="1069848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>
                    <a:solidFill>
                      <a:srgbClr val="2C917F"/>
                    </a:solidFill>
                    <a:latin typeface="Cambria Math"/>
                  </a:rPr>
                  <a:t>\mathcal{L}_{\mathrm{CE}}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7" name="asynchronous_clocks_equation"/>
              <p:cNvSpPr txBox="1"/>
              <p:nvPr/>
            </p:nvSpPr>
            <p:spPr>
              <a:xfrm>
                <a:off x="8641080" y="978408"/>
                <a:ext cx="3456432" cy="31089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ℓ</m:t>
                        </m:r>
                      </m:sub>
                    </m:sSub>
                    <m:r>
                      <m:rPr>
                        <m:sty m:val="i"/>
                      </m:rPr>
                      <a:rPr lang="en-US" sz="1700" b="0">
                        <a:solidFill>
                          <a:srgbClr val="233344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τ</m:t>
                        </m:r>
                      </m:e>
                      <m:sup>
                        <m:sSub>
                          <m:sSubPr>
                            <m:ctrlPr>
                              <a:rPr lang="en-US" sz="17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i"/>
                              </m:rPr>
                              <a:rPr lang="en-US" sz="17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  <m:t>γ</m:t>
                            </m:r>
                          </m:e>
                          <m:sub>
                            <m:r>
                              <m:rPr>
                                <m:sty m:val="i"/>
                              </m:rPr>
                              <a:rPr lang="en-US" sz="17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  <m:t>ℓ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US" sz="1700" b="0">
                        <a:solidFill>
                          <a:srgbClr val="233344"/>
                        </a:solidFill>
                        <a:latin typeface="Cambria Math"/>
                      </a:rPr>
                      <m:t>,   ℓ ∈ {16,24,32}</m:t>
                    </m:r>
                  </m:oMath>
                </a14:m>
              </a:p>
            </p:txBody>
          </p:sp>
        </mc:Choice>
        <mc:Fallback>
          <p:sp>
            <p:nvSpPr>
              <p:cNvPr id="1347" name="asynchronous_clocks_equation"/>
              <p:cNvSpPr txBox="1"/>
              <p:nvPr/>
            </p:nvSpPr>
            <p:spPr>
              <a:xfrm>
                <a:off x="8641080" y="978408"/>
                <a:ext cx="3456432" cy="31089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700">
                    <a:solidFill>
                      <a:srgbClr val="233344"/>
                    </a:solidFill>
                    <a:latin typeface="Cambria Math"/>
                  </a:rPr>
                  <a:t>t_\ell=\tau^{\gamma_\ell},\quad\ell\in\{16,24,32\}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8" name="gamma_16"/>
              <p:cNvSpPr txBox="1"/>
              <p:nvPr/>
            </p:nvSpPr>
            <p:spPr>
              <a:xfrm>
                <a:off x="8860536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3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γ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</m:sSub>
                    <m:r>
                      <m:rPr>
                        <m:sty m:val="i"/>
                      </m:rPr>
                      <a:rPr lang="en-US" sz="1300" b="0">
                        <a:solidFill>
                          <a:srgbClr val="367AB5"/>
                        </a:solidFill>
                        <a:latin typeface="Cambria Math"/>
                      </a:rPr>
                      <m:t>=2.5</m:t>
                    </m:r>
                  </m:oMath>
                </a14:m>
              </a:p>
            </p:txBody>
          </p:sp>
        </mc:Choice>
        <mc:Fallback>
          <p:sp>
            <p:nvSpPr>
              <p:cNvPr id="1348" name="gamma_16"/>
              <p:cNvSpPr txBox="1"/>
              <p:nvPr/>
            </p:nvSpPr>
            <p:spPr>
              <a:xfrm>
                <a:off x="8860536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300">
                    <a:solidFill>
                      <a:srgbClr val="367AB5"/>
                    </a:solidFill>
                    <a:latin typeface="Cambria Math"/>
                  </a:rPr>
                  <a:t>\gamma_{16}=2.5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9" name="gamma_24"/>
              <p:cNvSpPr txBox="1"/>
              <p:nvPr/>
            </p:nvSpPr>
            <p:spPr>
              <a:xfrm>
                <a:off x="10168128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300" b="0">
                            <a:solidFill>
                              <a:srgbClr val="C88A3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C88A35"/>
                            </a:solidFill>
                            <a:latin typeface="Cambria Math"/>
                          </a:rPr>
                          <m:t>γ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C88A35"/>
                            </a:solidFill>
                            <a:latin typeface="Cambria Math"/>
                          </a:rPr>
                          <m:t>24</m:t>
                        </m:r>
                      </m:sub>
                    </m:sSub>
                    <m:r>
                      <m:rPr>
                        <m:sty m:val="i"/>
                      </m:rPr>
                      <a:rPr lang="en-US" sz="1300" b="0">
                        <a:solidFill>
                          <a:srgbClr val="C88A35"/>
                        </a:solidFill>
                        <a:latin typeface="Cambria Math"/>
                      </a:rPr>
                      <m:t>=2</m:t>
                    </m:r>
                  </m:oMath>
                </a14:m>
              </a:p>
            </p:txBody>
          </p:sp>
        </mc:Choice>
        <mc:Fallback>
          <p:sp>
            <p:nvSpPr>
              <p:cNvPr id="1349" name="gamma_24"/>
              <p:cNvSpPr txBox="1"/>
              <p:nvPr/>
            </p:nvSpPr>
            <p:spPr>
              <a:xfrm>
                <a:off x="10168128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300">
                    <a:solidFill>
                      <a:srgbClr val="C88A35"/>
                    </a:solidFill>
                    <a:latin typeface="Cambria Math"/>
                  </a:rPr>
                  <a:t>\gamma_{24}=2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0" name="gamma_32"/>
              <p:cNvSpPr txBox="1"/>
              <p:nvPr/>
            </p:nvSpPr>
            <p:spPr>
              <a:xfrm>
                <a:off x="11329415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300" b="0">
                            <a:solidFill>
                              <a:srgbClr val="2C917F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γ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32</m:t>
                        </m:r>
                      </m:sub>
                    </m:sSub>
                    <m:r>
                      <m:rPr>
                        <m:sty m:val="i"/>
                      </m:rPr>
                      <a:rPr lang="en-US" sz="1300" b="0">
                        <a:solidFill>
                          <a:srgbClr val="2C917F"/>
                        </a:solidFill>
                        <a:latin typeface="Cambria Math"/>
                      </a:rPr>
                      <m:t>=1.5</m:t>
                    </m:r>
                  </m:oMath>
                </a14:m>
              </a:p>
            </p:txBody>
          </p:sp>
        </mc:Choice>
        <mc:Fallback>
          <p:sp>
            <p:nvSpPr>
              <p:cNvPr id="1350" name="gamma_32"/>
              <p:cNvSpPr txBox="1"/>
              <p:nvPr/>
            </p:nvSpPr>
            <p:spPr>
              <a:xfrm>
                <a:off x="11329415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300">
                    <a:solidFill>
                      <a:srgbClr val="2C917F"/>
                    </a:solidFill>
                    <a:latin typeface="Cambria Math"/>
                  </a:rPr>
                  <a:t>\gamma_{32}=1.5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1" name="local_time_math"/>
              <p:cNvSpPr txBox="1"/>
              <p:nvPr/>
            </p:nvSpPr>
            <p:spPr>
              <a:xfrm>
                <a:off x="8567928" y="2304288"/>
                <a:ext cx="292608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600" b="0">
                            <a:solidFill>
                              <a:srgbClr val="63758A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600" b="0">
                            <a:solidFill>
                              <a:srgbClr val="63758A"/>
                            </a:solidFill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600" b="0">
                            <a:solidFill>
                              <a:srgbClr val="63758A"/>
                            </a:solidFill>
                            <a:latin typeface="Cambria Math"/>
                          </a:rPr>
                          <m:t>ℓ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51" name="local_time_math"/>
              <p:cNvSpPr txBox="1"/>
              <p:nvPr/>
            </p:nvSpPr>
            <p:spPr>
              <a:xfrm>
                <a:off x="8567928" y="2304288"/>
                <a:ext cx="292608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>
                    <a:solidFill>
                      <a:srgbClr val="63758A"/>
                    </a:solidFill>
                    <a:latin typeface="Cambria Math"/>
                  </a:rPr>
                  <a:t>t_\ell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2" name="global_time_math"/>
              <p:cNvSpPr txBox="1"/>
              <p:nvPr/>
            </p:nvSpPr>
            <p:spPr>
              <a:xfrm>
                <a:off x="10332720" y="3108960"/>
                <a:ext cx="292608" cy="28346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r>
                      <m:rPr>
                        <m:sty m:val="i"/>
                      </m:rPr>
                      <a:rPr lang="en-US" sz="1600" b="0">
                        <a:solidFill>
                          <a:srgbClr val="63758A"/>
                        </a:solidFill>
                        <a:latin typeface="Cambria Math"/>
                      </a:rPr>
                      <m:t>τ</m:t>
                    </m:r>
                  </m:oMath>
                </a14:m>
              </a:p>
            </p:txBody>
          </p:sp>
        </mc:Choice>
        <mc:Fallback>
          <p:sp>
            <p:nvSpPr>
              <p:cNvPr id="1352" name="global_time_math"/>
              <p:cNvSpPr txBox="1"/>
              <p:nvPr/>
            </p:nvSpPr>
            <p:spPr>
              <a:xfrm>
                <a:off x="10332720" y="3108960"/>
                <a:ext cx="292608" cy="28346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>
                    <a:solidFill>
                      <a:srgbClr val="63758A"/>
                    </a:solidFill>
                    <a:latin typeface="Cambria Math"/>
                  </a:rPr>
                  <a:t>\tau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3" name="iterative_input_state"/>
              <p:cNvSpPr txBox="1"/>
              <p:nvPr/>
            </p:nvSpPr>
            <p:spPr>
              <a:xfrm>
                <a:off x="8549640" y="3877056"/>
                <a:ext cx="749808" cy="37490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20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20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sSub>
                          <m:sSubPr>
                            <m:ctrlPr>
                              <a:rPr lang="en-US" sz="20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i"/>
                              </m:rPr>
                              <a:rPr lang="en-US" sz="20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  <m:t>τ</m:t>
                            </m:r>
                          </m:e>
                          <m:sub>
                            <m:r>
                              <m:rPr>
                                <m:sty m:val="i"/>
                              </m:rPr>
                              <a:rPr lang="en-US" sz="20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  <m:t>i</m:t>
                            </m:r>
                          </m:sub>
                        </m:sSub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53" name="iterative_input_state"/>
              <p:cNvSpPr txBox="1"/>
              <p:nvPr/>
            </p:nvSpPr>
            <p:spPr>
              <a:xfrm>
                <a:off x="8549640" y="3877056"/>
                <a:ext cx="749808" cy="37490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>
                    <a:solidFill>
                      <a:srgbClr val="233344"/>
                    </a:solidFill>
                    <a:latin typeface="Cambria Math"/>
                  </a:rPr>
                  <a:t>z_{\tau_i}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4" name="iterative_output_state"/>
              <p:cNvSpPr txBox="1"/>
              <p:nvPr/>
            </p:nvSpPr>
            <p:spPr>
              <a:xfrm>
                <a:off x="11384280" y="3877056"/>
                <a:ext cx="822960" cy="37490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9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9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sSub>
                          <m:sSubPr>
                            <m:ctrlPr>
                              <a:rPr lang="en-US" sz="19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i"/>
                              </m:rPr>
                              <a:rPr lang="en-US" sz="19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  <m:t>τ</m:t>
                            </m:r>
                          </m:e>
                          <m:sub>
                            <m:r>
                              <m:rPr>
                                <m:sty m:val="i"/>
                              </m:rPr>
                              <a:rPr lang="en-US" sz="19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  <m:t>i+1</m:t>
                            </m:r>
                          </m:sub>
                        </m:sSub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54" name="iterative_output_state"/>
              <p:cNvSpPr txBox="1"/>
              <p:nvPr/>
            </p:nvSpPr>
            <p:spPr>
              <a:xfrm>
                <a:off x="11384280" y="3877056"/>
                <a:ext cx="822960" cy="37490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900">
                    <a:solidFill>
                      <a:srgbClr val="233344"/>
                    </a:solidFill>
                    <a:latin typeface="Cambria Math"/>
                  </a:rPr>
                  <a:t>z_{\tau_{i+1}}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5" name="terminal_clean_state_math"/>
              <p:cNvSpPr txBox="1"/>
              <p:nvPr/>
            </p:nvSpPr>
            <p:spPr>
              <a:xfrm>
                <a:off x="8732520" y="6757416"/>
                <a:ext cx="384048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5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5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5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55" name="terminal_clean_state_math"/>
              <p:cNvSpPr txBox="1"/>
              <p:nvPr/>
            </p:nvSpPr>
            <p:spPr>
              <a:xfrm>
                <a:off x="8732520" y="6757416"/>
                <a:ext cx="384048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500">
                    <a:solidFill>
                      <a:srgbClr val="233344"/>
                    </a:solidFill>
                    <a:latin typeface="Cambria Math"/>
                  </a:rPr>
                  <a:t>z_1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effectLst/>
      </a:spPr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effectLst/>
      </a:spPr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reasoning pipeline — v6</dc:title>
  <dc:subject>User v5 revision: editable equations, partial static, Gaussian noise, iterative ELF and terminal decoding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