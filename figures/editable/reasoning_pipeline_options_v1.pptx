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618720" cy="7315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references (original artwork, not reproduced figures):</a:t>
            </a:r>
          </a:p>
          <a:p>
            <a:r>
              <a:t>SFD Figure 3: https://arxiv.org/pdf/2512.04926</a:t>
            </a:r>
          </a:p>
          <a:p>
            <a:r>
              <a:t>Learning When to Denoise Figure 1: https://arxiv.org/pdf/2606.19662</a:t>
            </a:r>
          </a:p>
          <a:p>
            <a:r>
              <a:t>Diffusion Forcing Figure 2: https://arxiv.org/pdf/2407.01392</a:t>
            </a:r>
          </a:p>
          <a:p>
            <a:r>
              <a:t>Method checked against qwen3_math5m_elf_l_paper_methods_and_lineage_handoff.md and qwen3_elf_b_paper_methods_and_ablation_lineages_handoff.md.</a:t>
            </a:r>
          </a:p>
          <a:p>
            <a:r>
              <a:t>All boxes, labels, connectors, noise tiles, and schedule curves are native editable PowerPoint objects. No diagram is embedded as a bitmap. PDF/SVG exports come from the same geometry.</a:t>
            </a:r>
          </a:p>
          <a:p>
            <a:r>
              <a:t>Representation: post-block Qwen states at layers 16/24/32; independent learned maps with widths 256/256/512, concatenated along the feature dimension. E_l includes covariance whitening; reconstruction maps D_l are trained via soft teacher CE through frozen Qwen suffixes. The representation is then frozen.</a:t>
            </a:r>
          </a:p>
          <a:p>
            <a:r>
              <a:t>Flow: question-only prompt encoder. Initial flow training uses original teacher prompt states; MSE-trained prompt encoder is substituted before joint prompt/ELF training. Noisy answers do not enter the prompt encoder. Shared bidirectional ELF backbone, flow prediction and token head. Decoder corruption differs from flow corruption; modes are mixed across rows (80/20). SCCFG auxiliary targets are detached; the primary joint prompt path receives gradients.</a:t>
            </a:r>
          </a:p>
          <a:p>
            <a:r>
              <a:t>Inference: all three latent groups are evaluated jointly in each shared ELF forward. Clocks are tau^2.5, tau^2, tau^1.5 in layer order 16/24/32; larger local time is cleaner. Euler updates include f'_l(tau). This is a fixed evaluation schedule, not a learned schedule or a claim of optimality. Cell textures are schematic noise levels, not measured latent values or decoded intermediate solutions. Prompt encoding is computed once. Terminal decoding reuses the shared ELF backbone plus the token head once. The Qwen Transformer is absent from inference.</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references (original artwork, not reproduced figures):</a:t>
            </a:r>
          </a:p>
          <a:p>
            <a:r>
              <a:t>SFD Figure 3: https://arxiv.org/pdf/2512.04926</a:t>
            </a:r>
          </a:p>
          <a:p>
            <a:r>
              <a:t>Learning When to Denoise Figure 1: https://arxiv.org/pdf/2606.19662</a:t>
            </a:r>
          </a:p>
          <a:p>
            <a:r>
              <a:t>Diffusion Forcing Figure 2: https://arxiv.org/pdf/2407.01392</a:t>
            </a:r>
          </a:p>
          <a:p>
            <a:r>
              <a:t>Method checked against qwen3_math5m_elf_l_paper_methods_and_lineage_handoff.md and qwen3_elf_b_paper_methods_and_ablation_lineages_handoff.md.</a:t>
            </a:r>
          </a:p>
          <a:p>
            <a:r>
              <a:t>All boxes, labels, connectors, noise tiles, and schedule curves are native editable PowerPoint objects. No diagram is embedded as a bitmap. PDF/SVG exports come from the same geometry.</a:t>
            </a:r>
          </a:p>
          <a:p>
            <a:r>
              <a:t>NFT: each group has 15 generated latent endpoints from the old policy plus one cached gold endpoint. Generated decoded text is used only for reward scoring; NFT trains on the saved latent endpoints. Rewards: correct generated=0.75, wrong=0, gold=1. Filter all-generated-correct groups before computing retained reward statistics. Center by the 16-endpoint group mean and normalize with the population SD of all retained raw rewards; advantage is clipped to [-5,5], mapped to rho=clip(0.5+A/10,0,1).</a:t>
            </a:r>
          </a:p>
          <a:p>
            <a:r>
              <a:t>Training uses fresh forward-process time/noise draws (eight per endpoint in the runs), synchronous clocks, and each role's own prompt encoder. Only current-policy main predictions carry gradients. The SCCFG correction, bootstrap, old/reference outputs and targets are detached. Beta=1; e+=e_c, e-=2e_o-e_c; weighted squared residuals plus fixed-reference penalty use response-token masks. There is no differentiation through rollout trajectories and no NFT decoder CE. Update ELF flow/shared backbone and prompt body, freeze decoder-only parameter leaves and token lookup. Old policy is refreshed from current with the verified retention schedule; reference stays fixed. Exact coefficients and masks belong in the methods text.</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Visual references (original artwork, not reproduced figures):</a:t>
            </a:r>
          </a:p>
          <a:p>
            <a:r>
              <a:t>SFD Figure 3: https://arxiv.org/pdf/2512.04926</a:t>
            </a:r>
          </a:p>
          <a:p>
            <a:r>
              <a:t>Learning When to Denoise Figure 1: https://arxiv.org/pdf/2606.19662</a:t>
            </a:r>
          </a:p>
          <a:p>
            <a:r>
              <a:t>Diffusion Forcing Figure 2: https://arxiv.org/pdf/2407.01392</a:t>
            </a:r>
          </a:p>
          <a:p>
            <a:r>
              <a:t>Method checked against qwen3_math5m_elf_l_paper_methods_and_lineage_handoff.md and qwen3_elf_b_paper_methods_and_ablation_lineages_handoff.md.</a:t>
            </a:r>
          </a:p>
          <a:p>
            <a:r>
              <a:t>All boxes, labels, connectors, noise tiles, and schedule curves are native editable PowerPoint objects. No diagram is embedded as a bitmap. PDF/SVG exports come from the same geometry.</a:t>
            </a:r>
          </a:p>
          <a:p>
            <a:r>
              <a:t>Representation: post-block Qwen states at layers 16/24/32; independent learned maps with widths 256/256/512, concatenated along the feature dimension. E_l includes covariance whitening; reconstruction maps D_l are trained via soft teacher CE through frozen Qwen suffixes. The representation is then frozen.</a:t>
            </a:r>
          </a:p>
          <a:p>
            <a:r>
              <a:t>Flow: question-only prompt encoder. Initial flow training uses original teacher prompt states; MSE-trained prompt encoder is substituted before joint prompt/ELF training. Noisy answers do not enter the prompt encoder. Shared bidirectional ELF backbone, flow prediction and token head. Decoder corruption differs from flow corruption; modes are mixed across rows (80/20). SCCFG auxiliary targets are detached; the primary joint prompt path receives gradients.</a:t>
            </a:r>
          </a:p>
          <a:p>
            <a:r>
              <a:t>Inference: all three latent groups are evaluated jointly in each shared ELF forward. Clocks are tau^2.5, tau^2, tau^1.5 in layer order 16/24/32; larger local time is cleaner. Euler updates include f'_l(tau). This is a fixed evaluation schedule, not a learned schedule or a claim of optimality. Cell textures are schematic noise levels, not measured latent values or decoded intermediate solutions. Prompt encoding is computed once. Terminal decoding reuses the shared ELF backbone plus the token head once. The Qwen Transformer is absent from inference.</a:t>
            </a:r>
          </a:p>
          <a:p>
            <a:r>
              <a:t>NFT: each group has 15 generated latent endpoints from the old policy plus one cached gold endpoint. Generated decoded text is used only for reward scoring; NFT trains on the saved latent endpoints. Rewards: correct generated=0.75, wrong=0, gold=1. Filter all-generated-correct groups before computing retained reward statistics. Center by the 16-endpoint group mean and normalize with the population SD of all retained raw rewards; advantage is clipped to [-5,5], mapped to rho=clip(0.5+A/10,0,1).</a:t>
            </a:r>
          </a:p>
          <a:p>
            <a:r>
              <a:t>Training uses fresh forward-process time/noise draws (eight per endpoint in the runs), synchronous clocks, and each role's own prompt encoder. Only current-policy main predictions carry gradients. The SCCFG correction, bootstrap, old/reference outputs and targets are detached. Beta=1; e+=e_c, e-=2e_o-e_c; weighted squared residuals plus fixed-reference penalty use response-token masks. There is no differentiation through rollout trajectories and no NFT decoder CE. Update ELF flow/shared backbone and prompt body, freeze decoder-only parameter leaves and token lookup. Old policy is refreshed from current with the verified retention schedule; reference stays fixed. Exact coefficients and masks belong in the methods text.</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name="pipeline_overview_v1">
    <p:bg>
      <p:bgPr>
        <a:solidFill>
          <a:srgbClr val="FFFFFF"/>
        </a:solidFill>
        <a:effectLst/>
      </p:bgPr>
    </p:bg>
    <p:spTree>
      <p:nvGrpSpPr>
        <p:cNvPr id="1" name=""/>
        <p:cNvGrpSpPr/>
        <p:nvPr/>
      </p:nvGrpSpPr>
      <p:grpSpPr/>
      <p:sp>
        <p:nvSpPr>
          <p:cNvPr id="2" name="path_0000"/>
          <p:cNvSpPr/>
          <p:nvPr/>
        </p:nvSpPr>
        <p:spPr>
          <a:xfrm>
            <a:off x="420624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th_0001"/>
          <p:cNvSpPr/>
          <p:nvPr/>
        </p:nvSpPr>
        <p:spPr>
          <a:xfrm>
            <a:off x="841248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_0007"/>
          <p:cNvSpPr txBox="1"/>
          <p:nvPr/>
        </p:nvSpPr>
        <p:spPr>
          <a:xfrm>
            <a:off x="338328" y="1472184"/>
            <a:ext cx="1143000" cy="475488"/>
          </a:xfrm>
          <a:prstGeom prst="rect">
            <a:avLst/>
          </a:prstGeom>
          <a:noFill/>
        </p:spPr>
        <p:txBody>
          <a:bodyPr wrap="none" lIns="0" rIns="0" tIns="0" bIns="0" anchor="ctr">
            <a:spAutoFit/>
          </a:bodyPr>
          <a:lstStyle/>
          <a:p>
            <a:pPr algn="ctr">
              <a:lnSpc>
                <a:spcPts val="1807"/>
              </a:lnSpc>
              <a:spcBef>
                <a:spcPts val="0"/>
              </a:spcBef>
              <a:spcAft>
                <a:spcPts val="0"/>
              </a:spcAft>
            </a:pPr>
            <a:r>
              <a:rPr sz="1600" b="1">
                <a:solidFill>
                  <a:srgbClr val="233344"/>
                </a:solidFill>
                <a:latin typeface="DejaVu Sans"/>
              </a:rPr>
              <a:t>Frozen</a:t>
            </a:r>
          </a:p>
          <a:p>
            <a:pPr algn="ctr">
              <a:lnSpc>
                <a:spcPts val="1807"/>
              </a:lnSpc>
              <a:spcBef>
                <a:spcPts val="0"/>
              </a:spcBef>
              <a:spcAft>
                <a:spcPts val="0"/>
              </a:spcAft>
            </a:pPr>
            <a:r>
              <a:rPr sz="1600" b="1">
                <a:solidFill>
                  <a:srgbClr val="233344"/>
                </a:solidFill>
                <a:latin typeface="DejaVu Sans"/>
              </a:rPr>
              <a:t>Qwen3-4B</a:t>
            </a:r>
          </a:p>
        </p:txBody>
      </p:sp>
      <p:sp>
        <p:nvSpPr>
          <p:cNvPr id="10" name="text_0008"/>
          <p:cNvSpPr txBox="1"/>
          <p:nvPr/>
        </p:nvSpPr>
        <p:spPr>
          <a:xfrm>
            <a:off x="1773936" y="1490472"/>
            <a:ext cx="1014984" cy="438912"/>
          </a:xfrm>
          <a:prstGeom prst="rect">
            <a:avLst/>
          </a:prstGeom>
          <a:noFill/>
        </p:spPr>
        <p:txBody>
          <a:bodyPr wrap="none" lIns="0" rIns="0" tIns="0" bIns="0" anchor="ctr">
            <a:spAutoFit/>
          </a:bodyPr>
          <a:lstStyle/>
          <a:p>
            <a:pPr algn="ctr">
              <a:lnSpc>
                <a:spcPts val="1695"/>
              </a:lnSpc>
              <a:spcBef>
                <a:spcPts val="0"/>
              </a:spcBef>
              <a:spcAft>
                <a:spcPts val="0"/>
              </a:spcAft>
            </a:pPr>
            <a:r>
              <a:rPr sz="1500" b="1">
                <a:solidFill>
                  <a:srgbClr val="233344"/>
                </a:solidFill>
                <a:latin typeface="DejaVu Sans"/>
              </a:rPr>
              <a:t>Learned</a:t>
            </a:r>
          </a:p>
          <a:p>
            <a:pPr algn="ctr">
              <a:lnSpc>
                <a:spcPts val="1695"/>
              </a:lnSpc>
              <a:spcBef>
                <a:spcPts val="0"/>
              </a:spcBef>
              <a:spcAft>
                <a:spcPts val="0"/>
              </a:spcAft>
            </a:pPr>
            <a:r>
              <a:rPr sz="1500" b="1">
                <a:solidFill>
                  <a:srgbClr val="233344"/>
                </a:solidFill>
                <a:latin typeface="DejaVu Sans"/>
              </a:rPr>
              <a:t>projectors</a:t>
            </a:r>
          </a:p>
        </p:txBody>
      </p:sp>
      <p:sp>
        <p:nvSpPr>
          <p:cNvPr id="11" name="text_0009"/>
          <p:cNvSpPr txBox="1"/>
          <p:nvPr/>
        </p:nvSpPr>
        <p:spPr>
          <a:xfrm>
            <a:off x="3044952" y="1481328"/>
            <a:ext cx="941832" cy="429768"/>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233344"/>
                </a:solidFill>
                <a:latin typeface="DejaVu Sans"/>
              </a:rPr>
              <a:t>Concatenate</a:t>
            </a:r>
          </a:p>
          <a:p>
            <a:pPr algn="ctr">
              <a:lnSpc>
                <a:spcPts val="1581"/>
              </a:lnSpc>
              <a:spcBef>
                <a:spcPts val="0"/>
              </a:spcBef>
              <a:spcAft>
                <a:spcPts val="0"/>
              </a:spcAft>
            </a:pPr>
            <a:r>
              <a:rPr sz="1400" b="1">
                <a:solidFill>
                  <a:srgbClr val="233344"/>
                </a:solidFill>
                <a:latin typeface="DejaVu Sans"/>
              </a:rPr>
              <a:t>features</a:t>
            </a:r>
          </a:p>
        </p:txBody>
      </p:sp>
      <p:sp>
        <p:nvSpPr>
          <p:cNvPr id="12" name="frozen_qwen_stack"/>
          <p:cNvSpPr/>
          <p:nvPr/>
        </p:nvSpPr>
        <p:spPr>
          <a:xfrm>
            <a:off x="338328" y="1920240"/>
            <a:ext cx="1143000" cy="2395728"/>
          </a:xfrm>
          <a:prstGeom prst="roundRect">
            <a:avLst>
              <a:gd name="adj" fmla="val 64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ath_0011"/>
          <p:cNvSpPr/>
          <p:nvPr/>
        </p:nvSpPr>
        <p:spPr>
          <a:xfrm>
            <a:off x="905256" y="1426464"/>
            <a:ext cx="0" cy="82296"/>
          </a:xfrm>
          <a:custGeom>
            <a:avLst/>
            <a:gdLst/>
            <a:ahLst/>
            <a:cxnLst/>
            <a:rect l="l" t="t" r="r" b="b"/>
            <a:pathLst>
              <a:path w="0" h="90">
                <a:moveTo>
                  <a:pt x="0" y="0"/>
                </a:moveTo>
                <a:lnTo>
                  <a:pt x="0" y="9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th_0014"/>
          <p:cNvSpPr/>
          <p:nvPr/>
        </p:nvSpPr>
        <p:spPr>
          <a:xfrm>
            <a:off x="1490472" y="2212848"/>
            <a:ext cx="292608" cy="0"/>
          </a:xfrm>
          <a:custGeom>
            <a:avLst/>
            <a:gdLst/>
            <a:ahLst/>
            <a:cxnLst/>
            <a:rect l="l" t="t" r="r" b="b"/>
            <a:pathLst>
              <a:path w="320" h="0">
                <a:moveTo>
                  <a:pt x="0" y="0"/>
                </a:moveTo>
                <a:lnTo>
                  <a:pt x="32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rojector_E_16"/>
          <p:cNvSpPr/>
          <p:nvPr/>
        </p:nvSpPr>
        <p:spPr>
          <a:xfrm>
            <a:off x="1837944" y="1965960"/>
            <a:ext cx="905256" cy="493776"/>
          </a:xfrm>
          <a:custGeom>
            <a:avLst/>
            <a:gdLst/>
            <a:ahLst/>
            <a:cxnLst/>
            <a:rect l="l" t="t" r="r" b="b"/>
            <a:pathLst>
              <a:path w="990" h="540">
                <a:moveTo>
                  <a:pt x="0" y="0"/>
                </a:moveTo>
                <a:lnTo>
                  <a:pt x="990" y="90"/>
                </a:lnTo>
                <a:lnTo>
                  <a:pt x="990" y="450"/>
                </a:lnTo>
                <a:lnTo>
                  <a:pt x="0" y="540"/>
                </a:lnTo>
                <a:close/>
              </a:path>
            </a:pathLst>
          </a:custGeom>
          <a:solidFill>
            <a:srgbClr val="DFEAF3"/>
          </a:solidFill>
          <a:ln w="1524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_0016"/>
          <p:cNvSpPr txBox="1"/>
          <p:nvPr/>
        </p:nvSpPr>
        <p:spPr>
          <a:xfrm>
            <a:off x="1874519" y="2039112"/>
            <a:ext cx="777240" cy="347472"/>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367AB5"/>
                </a:solidFill>
                <a:latin typeface="DejaVu Sans"/>
              </a:rPr>
              <a:t>E₁₆</a:t>
            </a:r>
          </a:p>
        </p:txBody>
      </p:sp>
      <p:sp>
        <p:nvSpPr>
          <p:cNvPr id="19" name="path_0017"/>
          <p:cNvSpPr/>
          <p:nvPr/>
        </p:nvSpPr>
        <p:spPr>
          <a:xfrm>
            <a:off x="2752344" y="2212848"/>
            <a:ext cx="457200" cy="0"/>
          </a:xfrm>
          <a:custGeom>
            <a:avLst/>
            <a:gdLst/>
            <a:ahLst/>
            <a:cxnLst/>
            <a:rect l="l" t="t" r="r" b="b"/>
            <a:pathLst>
              <a:path w="500" h="0">
                <a:moveTo>
                  <a:pt x="0" y="0"/>
                </a:moveTo>
                <a:lnTo>
                  <a:pt x="50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_0018"/>
          <p:cNvSpPr txBox="1"/>
          <p:nvPr/>
        </p:nvSpPr>
        <p:spPr>
          <a:xfrm>
            <a:off x="2752344" y="1956815"/>
            <a:ext cx="457200"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367AB5"/>
                </a:solidFill>
                <a:latin typeface="DejaVu Sans"/>
              </a:rPr>
              <a:t>256</a:t>
            </a:r>
          </a:p>
        </p:txBody>
      </p:sp>
      <p:sp>
        <p:nvSpPr>
          <p:cNvPr id="23" name="path_0021"/>
          <p:cNvSpPr/>
          <p:nvPr/>
        </p:nvSpPr>
        <p:spPr>
          <a:xfrm>
            <a:off x="1490472" y="2871216"/>
            <a:ext cx="292608" cy="0"/>
          </a:xfrm>
          <a:custGeom>
            <a:avLst/>
            <a:gdLst/>
            <a:ahLst/>
            <a:cxnLst/>
            <a:rect l="l" t="t" r="r" b="b"/>
            <a:pathLst>
              <a:path w="320" h="0">
                <a:moveTo>
                  <a:pt x="0" y="0"/>
                </a:moveTo>
                <a:lnTo>
                  <a:pt x="320" y="0"/>
                </a:lnTo>
              </a:path>
            </a:pathLst>
          </a:custGeom>
          <a:noFill/>
          <a:ln w="1651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rojector_E_24"/>
          <p:cNvSpPr/>
          <p:nvPr/>
        </p:nvSpPr>
        <p:spPr>
          <a:xfrm>
            <a:off x="1837944" y="2624328"/>
            <a:ext cx="905256" cy="493776"/>
          </a:xfrm>
          <a:custGeom>
            <a:avLst/>
            <a:gdLst/>
            <a:ahLst/>
            <a:cxnLst/>
            <a:rect l="l" t="t" r="r" b="b"/>
            <a:pathLst>
              <a:path w="990" h="540">
                <a:moveTo>
                  <a:pt x="0" y="0"/>
                </a:moveTo>
                <a:lnTo>
                  <a:pt x="990" y="90"/>
                </a:lnTo>
                <a:lnTo>
                  <a:pt x="990" y="450"/>
                </a:lnTo>
                <a:lnTo>
                  <a:pt x="0" y="540"/>
                </a:lnTo>
                <a:close/>
              </a:path>
            </a:pathLst>
          </a:custGeom>
          <a:solidFill>
            <a:srgbClr val="F6ECDF"/>
          </a:solidFill>
          <a:ln w="1524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_0023"/>
          <p:cNvSpPr txBox="1"/>
          <p:nvPr/>
        </p:nvSpPr>
        <p:spPr>
          <a:xfrm>
            <a:off x="1874519" y="2697480"/>
            <a:ext cx="777240" cy="347472"/>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C88A35"/>
                </a:solidFill>
                <a:latin typeface="DejaVu Sans"/>
              </a:rPr>
              <a:t>E₂₄</a:t>
            </a:r>
          </a:p>
        </p:txBody>
      </p:sp>
      <p:sp>
        <p:nvSpPr>
          <p:cNvPr id="26" name="path_0024"/>
          <p:cNvSpPr/>
          <p:nvPr/>
        </p:nvSpPr>
        <p:spPr>
          <a:xfrm>
            <a:off x="2752344" y="2871216"/>
            <a:ext cx="457200" cy="0"/>
          </a:xfrm>
          <a:custGeom>
            <a:avLst/>
            <a:gdLst/>
            <a:ahLst/>
            <a:cxnLst/>
            <a:rect l="l" t="t" r="r" b="b"/>
            <a:pathLst>
              <a:path w="500" h="0">
                <a:moveTo>
                  <a:pt x="0" y="0"/>
                </a:moveTo>
                <a:lnTo>
                  <a:pt x="500" y="0"/>
                </a:lnTo>
              </a:path>
            </a:pathLst>
          </a:custGeom>
          <a:noFill/>
          <a:ln w="1651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_0025"/>
          <p:cNvSpPr txBox="1"/>
          <p:nvPr/>
        </p:nvSpPr>
        <p:spPr>
          <a:xfrm>
            <a:off x="2752344" y="2615184"/>
            <a:ext cx="457200"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C88A35"/>
                </a:solidFill>
                <a:latin typeface="DejaVu Sans"/>
              </a:rPr>
              <a:t>256</a:t>
            </a:r>
          </a:p>
        </p:txBody>
      </p:sp>
      <p:sp>
        <p:nvSpPr>
          <p:cNvPr id="30" name="path_0028"/>
          <p:cNvSpPr/>
          <p:nvPr/>
        </p:nvSpPr>
        <p:spPr>
          <a:xfrm>
            <a:off x="1490472" y="3858768"/>
            <a:ext cx="292608" cy="0"/>
          </a:xfrm>
          <a:custGeom>
            <a:avLst/>
            <a:gdLst/>
            <a:ahLst/>
            <a:cxnLst/>
            <a:rect l="l" t="t" r="r" b="b"/>
            <a:pathLst>
              <a:path w="320" h="0">
                <a:moveTo>
                  <a:pt x="0" y="0"/>
                </a:moveTo>
                <a:lnTo>
                  <a:pt x="320" y="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rojector_E_32"/>
          <p:cNvSpPr/>
          <p:nvPr/>
        </p:nvSpPr>
        <p:spPr>
          <a:xfrm>
            <a:off x="1837944" y="3611880"/>
            <a:ext cx="905256" cy="493776"/>
          </a:xfrm>
          <a:custGeom>
            <a:avLst/>
            <a:gdLst/>
            <a:ahLst/>
            <a:cxnLst/>
            <a:rect l="l" t="t" r="r" b="b"/>
            <a:pathLst>
              <a:path w="990" h="540">
                <a:moveTo>
                  <a:pt x="0" y="0"/>
                </a:moveTo>
                <a:lnTo>
                  <a:pt x="990" y="90"/>
                </a:lnTo>
                <a:lnTo>
                  <a:pt x="990" y="450"/>
                </a:lnTo>
                <a:lnTo>
                  <a:pt x="0" y="540"/>
                </a:lnTo>
                <a:close/>
              </a:path>
            </a:pathLst>
          </a:custGeom>
          <a:solidFill>
            <a:srgbClr val="DDEDEB"/>
          </a:solidFill>
          <a:ln w="1524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_0030"/>
          <p:cNvSpPr txBox="1"/>
          <p:nvPr/>
        </p:nvSpPr>
        <p:spPr>
          <a:xfrm>
            <a:off x="1874519" y="3685031"/>
            <a:ext cx="777240" cy="347472"/>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2C917F"/>
                </a:solidFill>
                <a:latin typeface="DejaVu Sans"/>
              </a:rPr>
              <a:t>E₃₂</a:t>
            </a:r>
          </a:p>
        </p:txBody>
      </p:sp>
      <p:sp>
        <p:nvSpPr>
          <p:cNvPr id="33" name="path_0031"/>
          <p:cNvSpPr/>
          <p:nvPr/>
        </p:nvSpPr>
        <p:spPr>
          <a:xfrm>
            <a:off x="2752344" y="3858768"/>
            <a:ext cx="457200" cy="0"/>
          </a:xfrm>
          <a:custGeom>
            <a:avLst/>
            <a:gdLst/>
            <a:ahLst/>
            <a:cxnLst/>
            <a:rect l="l" t="t" r="r" b="b"/>
            <a:pathLst>
              <a:path w="500" h="0">
                <a:moveTo>
                  <a:pt x="0" y="0"/>
                </a:moveTo>
                <a:lnTo>
                  <a:pt x="500" y="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_0032"/>
          <p:cNvSpPr txBox="1"/>
          <p:nvPr/>
        </p:nvSpPr>
        <p:spPr>
          <a:xfrm>
            <a:off x="2752344" y="3602735"/>
            <a:ext cx="457200"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C917F"/>
                </a:solidFill>
                <a:latin typeface="DejaVu Sans"/>
              </a:rPr>
              <a:t>512</a:t>
            </a:r>
          </a:p>
        </p:txBody>
      </p:sp>
      <p:sp>
        <p:nvSpPr>
          <p:cNvPr id="35" name="text_0033"/>
          <p:cNvSpPr txBox="1"/>
          <p:nvPr/>
        </p:nvSpPr>
        <p:spPr>
          <a:xfrm>
            <a:off x="585216" y="2459736"/>
            <a:ext cx="640080" cy="283464"/>
          </a:xfrm>
          <a:prstGeom prst="rect">
            <a:avLst/>
          </a:prstGeom>
          <a:noFill/>
        </p:spPr>
        <p:txBody>
          <a:bodyPr wrap="none" lIns="0" rIns="0" tIns="0" bIns="0" anchor="ctr">
            <a:spAutoFit/>
          </a:bodyPr>
          <a:lstStyle/>
          <a:p>
            <a:pPr algn="ctr">
              <a:lnSpc>
                <a:spcPts val="2147"/>
              </a:lnSpc>
              <a:spcBef>
                <a:spcPts val="0"/>
              </a:spcBef>
              <a:spcAft>
                <a:spcPts val="0"/>
              </a:spcAft>
            </a:pPr>
            <a:r>
              <a:rPr sz="1900" b="0">
                <a:solidFill>
                  <a:srgbClr val="63758A"/>
                </a:solidFill>
                <a:latin typeface="DejaVu Sans"/>
              </a:rPr>
              <a:t>⋮</a:t>
            </a:r>
          </a:p>
        </p:txBody>
      </p:sp>
      <p:sp>
        <p:nvSpPr>
          <p:cNvPr id="36" name="text_0034"/>
          <p:cNvSpPr txBox="1"/>
          <p:nvPr/>
        </p:nvSpPr>
        <p:spPr>
          <a:xfrm>
            <a:off x="585216" y="3209544"/>
            <a:ext cx="640080" cy="301752"/>
          </a:xfrm>
          <a:prstGeom prst="rect">
            <a:avLst/>
          </a:prstGeom>
          <a:noFill/>
        </p:spPr>
        <p:txBody>
          <a:bodyPr wrap="none" lIns="0" rIns="0" tIns="0" bIns="0" anchor="ctr">
            <a:spAutoFit/>
          </a:bodyPr>
          <a:lstStyle/>
          <a:p>
            <a:pPr algn="ctr">
              <a:lnSpc>
                <a:spcPts val="2260"/>
              </a:lnSpc>
              <a:spcBef>
                <a:spcPts val="0"/>
              </a:spcBef>
              <a:spcAft>
                <a:spcPts val="0"/>
              </a:spcAft>
            </a:pPr>
            <a:r>
              <a:rPr sz="2000" b="0">
                <a:solidFill>
                  <a:srgbClr val="63758A"/>
                </a:solidFill>
                <a:latin typeface="DejaVu Sans"/>
              </a:rPr>
              <a:t>⋮</a:t>
            </a:r>
          </a:p>
        </p:txBody>
      </p:sp>
      <p:sp>
        <p:nvSpPr>
          <p:cNvPr id="50" name="text_0048"/>
          <p:cNvSpPr txBox="1"/>
          <p:nvPr/>
        </p:nvSpPr>
        <p:spPr>
          <a:xfrm>
            <a:off x="457200" y="4590288"/>
            <a:ext cx="3355848" cy="292608"/>
          </a:xfrm>
          <a:prstGeom prst="rect">
            <a:avLst/>
          </a:prstGeom>
          <a:noFill/>
        </p:spPr>
        <p:txBody>
          <a:bodyPr wrap="none" lIns="0" rIns="0" tIns="0" bIns="0" anchor="ctr">
            <a:spAutoFit/>
          </a:bodyPr>
          <a:lstStyle/>
          <a:p>
            <a:pPr algn="ctr">
              <a:lnSpc>
                <a:spcPts val="1695"/>
              </a:lnSpc>
              <a:spcBef>
                <a:spcPts val="0"/>
              </a:spcBef>
              <a:spcAft>
                <a:spcPts val="0"/>
              </a:spcAft>
            </a:pPr>
            <a:r>
              <a:rPr sz="1500" b="1">
                <a:solidFill>
                  <a:srgbClr val="233344"/>
                </a:solidFill>
                <a:latin typeface="DejaVu Sans"/>
              </a:rPr>
              <a:t>1024-D = 256 + 256 + 512</a:t>
            </a:r>
          </a:p>
        </p:txBody>
      </p:sp>
      <p:sp>
        <p:nvSpPr>
          <p:cNvPr id="51" name="text_0049"/>
          <p:cNvSpPr txBox="1"/>
          <p:nvPr/>
        </p:nvSpPr>
        <p:spPr>
          <a:xfrm>
            <a:off x="411480" y="4965192"/>
            <a:ext cx="3456432" cy="329184"/>
          </a:xfrm>
          <a:prstGeom prst="rect">
            <a:avLst/>
          </a:prstGeom>
          <a:noFill/>
        </p:spPr>
        <p:txBody>
          <a:bodyPr wrap="none" lIns="0" rIns="0" tIns="0" bIns="0" anchor="ctr">
            <a:spAutoFit/>
          </a:bodyPr>
          <a:lstStyle/>
          <a:p>
            <a:pPr algn="ctr">
              <a:lnSpc>
                <a:spcPts val="2260"/>
              </a:lnSpc>
              <a:spcBef>
                <a:spcPts val="0"/>
              </a:spcBef>
              <a:spcAft>
                <a:spcPts val="0"/>
              </a:spcAft>
            </a:pPr>
            <a:r>
              <a:rPr sz="2000" b="0">
                <a:solidFill>
                  <a:srgbClr val="233344"/>
                </a:solidFill>
                <a:latin typeface="DejaVu Sans"/>
              </a:rPr>
              <a:t>xℓ = (hℓ − μℓ) Eℓ</a:t>
            </a:r>
          </a:p>
        </p:txBody>
      </p:sp>
      <p:sp>
        <p:nvSpPr>
          <p:cNvPr id="52" name="path_0050"/>
          <p:cNvSpPr/>
          <p:nvPr/>
        </p:nvSpPr>
        <p:spPr>
          <a:xfrm>
            <a:off x="457200" y="5431536"/>
            <a:ext cx="3328416" cy="0"/>
          </a:xfrm>
          <a:custGeom>
            <a:avLst/>
            <a:gdLst/>
            <a:ahLst/>
            <a:cxnLst/>
            <a:rect l="l" t="t" r="r" b="b"/>
            <a:pathLst>
              <a:path w="3640" h="0">
                <a:moveTo>
                  <a:pt x="0" y="0"/>
                </a:moveTo>
                <a:lnTo>
                  <a:pt x="3640" y="0"/>
                </a:lnTo>
              </a:path>
            </a:pathLst>
          </a:custGeom>
          <a:noFill/>
          <a:ln w="1016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_0051"/>
          <p:cNvSpPr txBox="1"/>
          <p:nvPr/>
        </p:nvSpPr>
        <p:spPr>
          <a:xfrm>
            <a:off x="411480" y="5541264"/>
            <a:ext cx="3456432" cy="310896"/>
          </a:xfrm>
          <a:prstGeom prst="rect">
            <a:avLst/>
          </a:prstGeom>
          <a:noFill/>
        </p:spPr>
        <p:txBody>
          <a:bodyPr wrap="none" lIns="0" rIns="0" tIns="0" bIns="0" anchor="ctr">
            <a:spAutoFit/>
          </a:bodyPr>
          <a:lstStyle/>
          <a:p>
            <a:pPr algn="ctr">
              <a:lnSpc>
                <a:spcPts val="1920"/>
              </a:lnSpc>
              <a:spcBef>
                <a:spcPts val="0"/>
              </a:spcBef>
              <a:spcAft>
                <a:spcPts val="0"/>
              </a:spcAft>
            </a:pPr>
            <a:r>
              <a:rPr sz="1700" b="1">
                <a:solidFill>
                  <a:srgbClr val="233344"/>
                </a:solidFill>
                <a:latin typeface="DejaVu Sans"/>
              </a:rPr>
              <a:t>Teacher-CE supervision</a:t>
            </a:r>
          </a:p>
        </p:txBody>
      </p:sp>
      <p:sp>
        <p:nvSpPr>
          <p:cNvPr id="56" name="path_0054"/>
          <p:cNvSpPr/>
          <p:nvPr/>
        </p:nvSpPr>
        <p:spPr>
          <a:xfrm>
            <a:off x="996696" y="6190488"/>
            <a:ext cx="155448" cy="0"/>
          </a:xfrm>
          <a:custGeom>
            <a:avLst/>
            <a:gdLst/>
            <a:ahLst/>
            <a:cxnLst/>
            <a:rect l="l" t="t" r="r" b="b"/>
            <a:pathLst>
              <a:path w="170" h="0">
                <a:moveTo>
                  <a:pt x="0" y="0"/>
                </a:moveTo>
                <a:lnTo>
                  <a:pt x="170" y="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ath_0057"/>
          <p:cNvSpPr/>
          <p:nvPr/>
        </p:nvSpPr>
        <p:spPr>
          <a:xfrm>
            <a:off x="1773936" y="6190488"/>
            <a:ext cx="155448" cy="0"/>
          </a:xfrm>
          <a:custGeom>
            <a:avLst/>
            <a:gdLst/>
            <a:ahLst/>
            <a:cxnLst/>
            <a:rect l="l" t="t" r="r" b="b"/>
            <a:pathLst>
              <a:path w="170" h="0">
                <a:moveTo>
                  <a:pt x="0" y="0"/>
                </a:moveTo>
                <a:lnTo>
                  <a:pt x="170" y="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ath_0060"/>
          <p:cNvSpPr/>
          <p:nvPr/>
        </p:nvSpPr>
        <p:spPr>
          <a:xfrm>
            <a:off x="3054096" y="6190488"/>
            <a:ext cx="182880" cy="0"/>
          </a:xfrm>
          <a:custGeom>
            <a:avLst/>
            <a:gdLst/>
            <a:ahLst/>
            <a:cxnLst/>
            <a:rect l="l" t="t" r="r" b="b"/>
            <a:pathLst>
              <a:path w="200" h="0">
                <a:moveTo>
                  <a:pt x="0" y="0"/>
                </a:moveTo>
                <a:lnTo>
                  <a:pt x="200" y="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_0061"/>
          <p:cNvSpPr txBox="1"/>
          <p:nvPr/>
        </p:nvSpPr>
        <p:spPr>
          <a:xfrm>
            <a:off x="3246120" y="5989320"/>
            <a:ext cx="612648" cy="402336"/>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B86565"/>
                </a:solidFill>
                <a:latin typeface="DejaVu Sans"/>
              </a:rPr>
              <a:t>soft</a:t>
            </a:r>
          </a:p>
          <a:p>
            <a:pPr algn="ctr">
              <a:lnSpc>
                <a:spcPts val="1581"/>
              </a:lnSpc>
              <a:spcBef>
                <a:spcPts val="0"/>
              </a:spcBef>
              <a:spcAft>
                <a:spcPts val="0"/>
              </a:spcAft>
            </a:pPr>
            <a:r>
              <a:rPr sz="1400" b="1">
                <a:solidFill>
                  <a:srgbClr val="B86565"/>
                </a:solidFill>
                <a:latin typeface="DejaVu Sans"/>
              </a:rPr>
              <a:t>CE</a:t>
            </a:r>
          </a:p>
        </p:txBody>
      </p:sp>
      <p:sp>
        <p:nvSpPr>
          <p:cNvPr id="64" name="text_0062"/>
          <p:cNvSpPr txBox="1"/>
          <p:nvPr/>
        </p:nvSpPr>
        <p:spPr>
          <a:xfrm>
            <a:off x="356616" y="6583680"/>
            <a:ext cx="3529584" cy="41148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Covariance whitening; then freeze</a:t>
            </a:r>
          </a:p>
          <a:p>
            <a:pPr algn="ctr">
              <a:lnSpc>
                <a:spcPts val="1468"/>
              </a:lnSpc>
              <a:spcBef>
                <a:spcPts val="0"/>
              </a:spcBef>
              <a:spcAft>
                <a:spcPts val="0"/>
              </a:spcAft>
            </a:pPr>
            <a:r>
              <a:rPr sz="1300" b="0">
                <a:solidFill>
                  <a:srgbClr val="63758A"/>
                </a:solidFill>
                <a:latin typeface="DejaVu Sans"/>
              </a:rPr>
              <a:t>the representation for flow training.</a:t>
            </a:r>
          </a:p>
        </p:txBody>
      </p:sp>
      <p:sp>
        <p:nvSpPr>
          <p:cNvPr id="70" name="path_0068"/>
          <p:cNvSpPr/>
          <p:nvPr/>
        </p:nvSpPr>
        <p:spPr>
          <a:xfrm>
            <a:off x="5568696" y="1216152"/>
            <a:ext cx="420624" cy="0"/>
          </a:xfrm>
          <a:custGeom>
            <a:avLst/>
            <a:gdLst/>
            <a:ahLst/>
            <a:cxnLst/>
            <a:rect l="l" t="t" r="r" b="b"/>
            <a:pathLst>
              <a:path w="460" h="0">
                <a:moveTo>
                  <a:pt x="0" y="0"/>
                </a:moveTo>
                <a:lnTo>
                  <a:pt x="460" y="0"/>
                </a:lnTo>
              </a:path>
            </a:pathLst>
          </a:custGeom>
          <a:noFill/>
          <a:ln w="1651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lean_prompt_condition_path"/>
          <p:cNvSpPr/>
          <p:nvPr/>
        </p:nvSpPr>
        <p:spPr>
          <a:xfrm>
            <a:off x="5065776" y="1499616"/>
            <a:ext cx="1975104" cy="914400"/>
          </a:xfrm>
          <a:custGeom>
            <a:avLst/>
            <a:gdLst/>
            <a:ahLst/>
            <a:cxnLst/>
            <a:rect l="l" t="t" r="r" b="b"/>
            <a:pathLst>
              <a:path w="2160" h="1000">
                <a:moveTo>
                  <a:pt x="2160" y="0"/>
                </a:moveTo>
                <a:lnTo>
                  <a:pt x="2160" y="340"/>
                </a:lnTo>
                <a:lnTo>
                  <a:pt x="0" y="340"/>
                </a:lnTo>
                <a:lnTo>
                  <a:pt x="0" y="1000"/>
                </a:lnTo>
              </a:path>
            </a:pathLst>
          </a:custGeom>
          <a:noFill/>
          <a:ln w="1524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_0072"/>
          <p:cNvSpPr txBox="1"/>
          <p:nvPr/>
        </p:nvSpPr>
        <p:spPr>
          <a:xfrm>
            <a:off x="4453127" y="2048256"/>
            <a:ext cx="1417320" cy="292608"/>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7965AA"/>
                </a:solidFill>
                <a:latin typeface="DejaVu Sans"/>
              </a:rPr>
              <a:t>clean prompt c</a:t>
            </a:r>
          </a:p>
        </p:txBody>
      </p:sp>
      <p:sp>
        <p:nvSpPr>
          <p:cNvPr id="77" name="path_0075"/>
          <p:cNvSpPr/>
          <p:nvPr/>
        </p:nvSpPr>
        <p:spPr>
          <a:xfrm>
            <a:off x="7086600" y="2395728"/>
            <a:ext cx="0" cy="128016"/>
          </a:xfrm>
          <a:custGeom>
            <a:avLst/>
            <a:gdLst/>
            <a:ahLst/>
            <a:cxnLst/>
            <a:rect l="l" t="t" r="r" b="b"/>
            <a:pathLst>
              <a:path w="0" h="140">
                <a:moveTo>
                  <a:pt x="0" y="0"/>
                </a:moveTo>
                <a:lnTo>
                  <a:pt x="0" y="14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lean_prompt_tokens"/>
          <p:cNvSpPr/>
          <p:nvPr/>
        </p:nvSpPr>
        <p:spPr>
          <a:xfrm>
            <a:off x="4636007" y="2551176"/>
            <a:ext cx="877824" cy="502920"/>
          </a:xfrm>
          <a:prstGeom prst="rect">
            <a:avLst/>
          </a:prstGeom>
          <a:solidFill>
            <a:srgbClr val="E2DDEC"/>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_0077"/>
          <p:cNvSpPr txBox="1"/>
          <p:nvPr/>
        </p:nvSpPr>
        <p:spPr>
          <a:xfrm>
            <a:off x="4672583" y="2615184"/>
            <a:ext cx="804672" cy="320040"/>
          </a:xfrm>
          <a:prstGeom prst="rect">
            <a:avLst/>
          </a:prstGeom>
          <a:noFill/>
        </p:spPr>
        <p:txBody>
          <a:bodyPr wrap="none" lIns="0" rIns="0" tIns="0" bIns="0" anchor="ctr">
            <a:spAutoFit/>
          </a:bodyPr>
          <a:lstStyle/>
          <a:p>
            <a:pPr algn="ctr">
              <a:lnSpc>
                <a:spcPts val="2372"/>
              </a:lnSpc>
              <a:spcBef>
                <a:spcPts val="0"/>
              </a:spcBef>
              <a:spcAft>
                <a:spcPts val="0"/>
              </a:spcAft>
            </a:pPr>
            <a:r>
              <a:rPr sz="2100" b="0">
                <a:solidFill>
                  <a:srgbClr val="7965AA"/>
                </a:solidFill>
                <a:latin typeface="DejaVu Sans"/>
              </a:rPr>
              <a:t>c</a:t>
            </a:r>
          </a:p>
        </p:txBody>
      </p:sp>
      <p:sp>
        <p:nvSpPr>
          <p:cNvPr id="129" name="text_0127"/>
          <p:cNvSpPr txBox="1"/>
          <p:nvPr/>
        </p:nvSpPr>
        <p:spPr>
          <a:xfrm>
            <a:off x="5696712" y="2368296"/>
            <a:ext cx="1143000" cy="210312"/>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noisy zt</a:t>
            </a:r>
          </a:p>
        </p:txBody>
      </p:sp>
      <p:sp>
        <p:nvSpPr>
          <p:cNvPr id="130" name="path_0128"/>
          <p:cNvSpPr/>
          <p:nvPr/>
        </p:nvSpPr>
        <p:spPr>
          <a:xfrm>
            <a:off x="6355080" y="3081528"/>
            <a:ext cx="0" cy="603504"/>
          </a:xfrm>
          <a:custGeom>
            <a:avLst/>
            <a:gdLst/>
            <a:ahLst/>
            <a:cxnLst/>
            <a:rect l="l" t="t" r="r" b="b"/>
            <a:pathLst>
              <a:path w="0" h="660">
                <a:moveTo>
                  <a:pt x="0" y="0"/>
                </a:moveTo>
                <a:lnTo>
                  <a:pt x="0" y="66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ath_0131"/>
          <p:cNvSpPr/>
          <p:nvPr/>
        </p:nvSpPr>
        <p:spPr>
          <a:xfrm>
            <a:off x="5852160" y="3401568"/>
            <a:ext cx="475488" cy="0"/>
          </a:xfrm>
          <a:custGeom>
            <a:avLst/>
            <a:gdLst/>
            <a:ahLst/>
            <a:cxnLst/>
            <a:rect l="l" t="t" r="r" b="b"/>
            <a:pathLst>
              <a:path w="520" h="0">
                <a:moveTo>
                  <a:pt x="0" y="0"/>
                </a:moveTo>
                <a:lnTo>
                  <a:pt x="52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ath_0134"/>
          <p:cNvSpPr/>
          <p:nvPr/>
        </p:nvSpPr>
        <p:spPr>
          <a:xfrm>
            <a:off x="6391656" y="3401568"/>
            <a:ext cx="374904" cy="0"/>
          </a:xfrm>
          <a:custGeom>
            <a:avLst/>
            <a:gdLst/>
            <a:ahLst/>
            <a:cxnLst/>
            <a:rect l="l" t="t" r="r" b="b"/>
            <a:pathLst>
              <a:path w="410" h="0">
                <a:moveTo>
                  <a:pt x="410" y="0"/>
                </a:moveTo>
                <a:lnTo>
                  <a:pt x="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shared_elf_transformer"/>
          <p:cNvSpPr/>
          <p:nvPr/>
        </p:nvSpPr>
        <p:spPr>
          <a:xfrm>
            <a:off x="4773168" y="3749039"/>
            <a:ext cx="3200400" cy="914400"/>
          </a:xfrm>
          <a:prstGeom prst="roundRect">
            <a:avLst>
              <a:gd name="adj" fmla="val 7000"/>
            </a:avLst>
          </a:prstGeom>
          <a:solidFill>
            <a:srgbClr val="F1F6FA"/>
          </a:solidFill>
          <a:ln w="1905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_0136"/>
          <p:cNvSpPr txBox="1"/>
          <p:nvPr/>
        </p:nvSpPr>
        <p:spPr>
          <a:xfrm>
            <a:off x="4910327" y="3877056"/>
            <a:ext cx="2926080" cy="347472"/>
          </a:xfrm>
          <a:prstGeom prst="rect">
            <a:avLst/>
          </a:prstGeom>
          <a:noFill/>
        </p:spPr>
        <p:txBody>
          <a:bodyPr wrap="none" lIns="0" rIns="0" tIns="0" bIns="0" anchor="ctr">
            <a:spAutoFit/>
          </a:bodyPr>
          <a:lstStyle/>
          <a:p>
            <a:pPr algn="ctr">
              <a:lnSpc>
                <a:spcPts val="2486"/>
              </a:lnSpc>
              <a:spcBef>
                <a:spcPts val="0"/>
              </a:spcBef>
              <a:spcAft>
                <a:spcPts val="0"/>
              </a:spcAft>
            </a:pPr>
            <a:r>
              <a:rPr sz="2200" b="1">
                <a:solidFill>
                  <a:srgbClr val="233344"/>
                </a:solidFill>
                <a:latin typeface="DejaVu Sans"/>
              </a:rPr>
              <a:t>Shared ELF</a:t>
            </a:r>
          </a:p>
        </p:txBody>
      </p:sp>
      <p:sp>
        <p:nvSpPr>
          <p:cNvPr id="139" name="text_0137"/>
          <p:cNvSpPr txBox="1"/>
          <p:nvPr/>
        </p:nvSpPr>
        <p:spPr>
          <a:xfrm>
            <a:off x="4910327" y="4297680"/>
            <a:ext cx="2926080" cy="228600"/>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63758A"/>
                </a:solidFill>
                <a:latin typeface="DejaVu Sans"/>
              </a:rPr>
              <a:t>Bidirectional Transformer</a:t>
            </a:r>
          </a:p>
        </p:txBody>
      </p:sp>
      <p:sp>
        <p:nvSpPr>
          <p:cNvPr id="140" name="path_0138"/>
          <p:cNvSpPr/>
          <p:nvPr/>
        </p:nvSpPr>
        <p:spPr>
          <a:xfrm>
            <a:off x="5404104" y="4681728"/>
            <a:ext cx="969264" cy="429768"/>
          </a:xfrm>
          <a:custGeom>
            <a:avLst/>
            <a:gdLst/>
            <a:ahLst/>
            <a:cxnLst/>
            <a:rect l="l" t="t" r="r" b="b"/>
            <a:pathLst>
              <a:path w="1060" h="470">
                <a:moveTo>
                  <a:pt x="1060" y="0"/>
                </a:moveTo>
                <a:lnTo>
                  <a:pt x="1060" y="250"/>
                </a:lnTo>
                <a:lnTo>
                  <a:pt x="0" y="250"/>
                </a:lnTo>
                <a:lnTo>
                  <a:pt x="0" y="47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ath_0139"/>
          <p:cNvSpPr/>
          <p:nvPr/>
        </p:nvSpPr>
        <p:spPr>
          <a:xfrm>
            <a:off x="6373368" y="4681728"/>
            <a:ext cx="905256" cy="429768"/>
          </a:xfrm>
          <a:custGeom>
            <a:avLst/>
            <a:gdLst/>
            <a:ahLst/>
            <a:cxnLst/>
            <a:rect l="l" t="t" r="r" b="b"/>
            <a:pathLst>
              <a:path w="990" h="470">
                <a:moveTo>
                  <a:pt x="0" y="0"/>
                </a:moveTo>
                <a:lnTo>
                  <a:pt x="0" y="250"/>
                </a:lnTo>
                <a:lnTo>
                  <a:pt x="990" y="250"/>
                </a:lnTo>
                <a:lnTo>
                  <a:pt x="990" y="47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ath_0144"/>
          <p:cNvSpPr/>
          <p:nvPr/>
        </p:nvSpPr>
        <p:spPr>
          <a:xfrm>
            <a:off x="5413248" y="5605272"/>
            <a:ext cx="0" cy="210312"/>
          </a:xfrm>
          <a:custGeom>
            <a:avLst/>
            <a:gdLst/>
            <a:ahLst/>
            <a:cxnLst/>
            <a:rect l="l" t="t" r="r" b="b"/>
            <a:pathLst>
              <a:path w="0" h="230">
                <a:moveTo>
                  <a:pt x="0" y="0"/>
                </a:moveTo>
                <a:lnTo>
                  <a:pt x="0" y="23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ath_0145"/>
          <p:cNvSpPr/>
          <p:nvPr/>
        </p:nvSpPr>
        <p:spPr>
          <a:xfrm>
            <a:off x="7269480" y="5605272"/>
            <a:ext cx="0" cy="210312"/>
          </a:xfrm>
          <a:custGeom>
            <a:avLst/>
            <a:gdLst/>
            <a:ahLst/>
            <a:cxnLst/>
            <a:rect l="l" t="t" r="r" b="b"/>
            <a:pathLst>
              <a:path w="0" h="230">
                <a:moveTo>
                  <a:pt x="0" y="0"/>
                </a:moveTo>
                <a:lnTo>
                  <a:pt x="0" y="23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_0146"/>
          <p:cNvSpPr txBox="1"/>
          <p:nvPr/>
        </p:nvSpPr>
        <p:spPr>
          <a:xfrm>
            <a:off x="4581144" y="5852160"/>
            <a:ext cx="1673352" cy="329184"/>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367AB5"/>
                </a:solidFill>
                <a:latin typeface="DejaVu Sans"/>
              </a:rPr>
              <a:t>Flow MSE</a:t>
            </a:r>
          </a:p>
        </p:txBody>
      </p:sp>
      <p:sp>
        <p:nvSpPr>
          <p:cNvPr id="149" name="text_0147"/>
          <p:cNvSpPr txBox="1"/>
          <p:nvPr/>
        </p:nvSpPr>
        <p:spPr>
          <a:xfrm>
            <a:off x="6437375" y="5852160"/>
            <a:ext cx="1673352" cy="329184"/>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2C917F"/>
                </a:solidFill>
                <a:latin typeface="DejaVu Sans"/>
              </a:rPr>
              <a:t>Token CE</a:t>
            </a:r>
          </a:p>
        </p:txBody>
      </p:sp>
      <p:sp>
        <p:nvSpPr>
          <p:cNvPr id="150" name="text_0148"/>
          <p:cNvSpPr txBox="1"/>
          <p:nvPr/>
        </p:nvSpPr>
        <p:spPr>
          <a:xfrm>
            <a:off x="4507992" y="6336792"/>
            <a:ext cx="3602736" cy="292608"/>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80% flow rows · 20% decoder rows</a:t>
            </a:r>
          </a:p>
        </p:txBody>
      </p:sp>
      <p:sp>
        <p:nvSpPr>
          <p:cNvPr id="151" name="rect_0149"/>
          <p:cNvSpPr/>
          <p:nvPr/>
        </p:nvSpPr>
        <p:spPr>
          <a:xfrm>
            <a:off x="4480559" y="6766560"/>
            <a:ext cx="3657600" cy="365760"/>
          </a:xfrm>
          <a:prstGeom prst="roundRect">
            <a:avLst>
              <a:gd name="adj" fmla="val 12000"/>
            </a:avLst>
          </a:prstGeom>
          <a:solidFill>
            <a:srgbClr val="F6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_0150"/>
          <p:cNvSpPr txBox="1"/>
          <p:nvPr/>
        </p:nvSpPr>
        <p:spPr>
          <a:xfrm>
            <a:off x="4526279" y="6793992"/>
            <a:ext cx="3566160" cy="274320"/>
          </a:xfrm>
          <a:prstGeom prst="rect">
            <a:avLst/>
          </a:prstGeom>
          <a:noFill/>
        </p:spPr>
        <p:txBody>
          <a:bodyPr wrap="none" lIns="0" rIns="0" tIns="0" bIns="0" anchor="ctr">
            <a:spAutoFit/>
          </a:bodyPr>
          <a:lstStyle/>
          <a:p>
            <a:pPr algn="ctr">
              <a:lnSpc>
                <a:spcPts val="1412"/>
              </a:lnSpc>
              <a:spcBef>
                <a:spcPts val="0"/>
              </a:spcBef>
              <a:spcAft>
                <a:spcPts val="0"/>
              </a:spcAft>
            </a:pPr>
            <a:r>
              <a:rPr sz="1250" b="0">
                <a:solidFill>
                  <a:srgbClr val="7965AA"/>
                </a:solidFill>
                <a:latin typeface="DejaVu Sans"/>
              </a:rPr>
              <a:t>Teacher prompt → MSE warm start → joint</a:t>
            </a:r>
          </a:p>
        </p:txBody>
      </p:sp>
      <p:sp>
        <p:nvSpPr>
          <p:cNvPr id="158" name="text_0156"/>
          <p:cNvSpPr txBox="1"/>
          <p:nvPr/>
        </p:nvSpPr>
        <p:spPr>
          <a:xfrm>
            <a:off x="9006840" y="1499616"/>
            <a:ext cx="2971800" cy="292608"/>
          </a:xfrm>
          <a:prstGeom prst="rect">
            <a:avLst/>
          </a:prstGeom>
          <a:noFill/>
        </p:spPr>
        <p:txBody>
          <a:bodyPr wrap="none" lIns="0" rIns="0" tIns="0" bIns="0" anchor="ctr">
            <a:spAutoFit/>
          </a:bodyPr>
          <a:lstStyle/>
          <a:p>
            <a:pPr algn="ctr">
              <a:lnSpc>
                <a:spcPts val="1807"/>
              </a:lnSpc>
              <a:spcBef>
                <a:spcPts val="0"/>
              </a:spcBef>
              <a:spcAft>
                <a:spcPts val="0"/>
              </a:spcAft>
            </a:pPr>
            <a:r>
              <a:rPr sz="1600" b="1">
                <a:solidFill>
                  <a:srgbClr val="233344"/>
                </a:solidFill>
                <a:latin typeface="DejaVu Sans"/>
              </a:rPr>
              <a:t>Local clocks: tℓ = fℓ(τ)</a:t>
            </a:r>
          </a:p>
        </p:txBody>
      </p:sp>
      <p:sp>
        <p:nvSpPr>
          <p:cNvPr id="159" name="path_0157"/>
          <p:cNvSpPr/>
          <p:nvPr/>
        </p:nvSpPr>
        <p:spPr>
          <a:xfrm>
            <a:off x="9928555" y="1783080"/>
            <a:ext cx="0" cy="1481328"/>
          </a:xfrm>
          <a:custGeom>
            <a:avLst/>
            <a:gdLst/>
            <a:ahLst/>
            <a:cxnLst/>
            <a:rect l="l" t="t" r="r" b="b"/>
            <a:pathLst>
              <a:path w="0" h="1620">
                <a:moveTo>
                  <a:pt x="0" y="0"/>
                </a:moveTo>
                <a:lnTo>
                  <a:pt x="0" y="162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path_0158"/>
          <p:cNvSpPr/>
          <p:nvPr/>
        </p:nvSpPr>
        <p:spPr>
          <a:xfrm>
            <a:off x="9299448" y="2894076"/>
            <a:ext cx="2514600" cy="0"/>
          </a:xfrm>
          <a:custGeom>
            <a:avLst/>
            <a:gdLst/>
            <a:ahLst/>
            <a:cxnLst/>
            <a:rect l="l" t="t" r="r" b="b"/>
            <a:pathLst>
              <a:path w="2750" h="0">
                <a:moveTo>
                  <a:pt x="0" y="0"/>
                </a:moveTo>
                <a:lnTo>
                  <a:pt x="275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path_0159"/>
          <p:cNvSpPr/>
          <p:nvPr/>
        </p:nvSpPr>
        <p:spPr>
          <a:xfrm>
            <a:off x="10556748" y="1783080"/>
            <a:ext cx="0" cy="1481328"/>
          </a:xfrm>
          <a:custGeom>
            <a:avLst/>
            <a:gdLst/>
            <a:ahLst/>
            <a:cxnLst/>
            <a:rect l="l" t="t" r="r" b="b"/>
            <a:pathLst>
              <a:path w="0" h="1620">
                <a:moveTo>
                  <a:pt x="0" y="0"/>
                </a:moveTo>
                <a:lnTo>
                  <a:pt x="0" y="162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path_0160"/>
          <p:cNvSpPr/>
          <p:nvPr/>
        </p:nvSpPr>
        <p:spPr>
          <a:xfrm>
            <a:off x="9299448" y="2523744"/>
            <a:ext cx="2514600" cy="0"/>
          </a:xfrm>
          <a:custGeom>
            <a:avLst/>
            <a:gdLst/>
            <a:ahLst/>
            <a:cxnLst/>
            <a:rect l="l" t="t" r="r" b="b"/>
            <a:pathLst>
              <a:path w="2750" h="0">
                <a:moveTo>
                  <a:pt x="0" y="0"/>
                </a:moveTo>
                <a:lnTo>
                  <a:pt x="275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path_0161"/>
          <p:cNvSpPr/>
          <p:nvPr/>
        </p:nvSpPr>
        <p:spPr>
          <a:xfrm>
            <a:off x="11184941" y="1783080"/>
            <a:ext cx="0" cy="1481328"/>
          </a:xfrm>
          <a:custGeom>
            <a:avLst/>
            <a:gdLst/>
            <a:ahLst/>
            <a:cxnLst/>
            <a:rect l="l" t="t" r="r" b="b"/>
            <a:pathLst>
              <a:path w="0" h="1620">
                <a:moveTo>
                  <a:pt x="0" y="0"/>
                </a:moveTo>
                <a:lnTo>
                  <a:pt x="0" y="162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path_0162"/>
          <p:cNvSpPr/>
          <p:nvPr/>
        </p:nvSpPr>
        <p:spPr>
          <a:xfrm>
            <a:off x="9299448" y="2153412"/>
            <a:ext cx="2514600" cy="0"/>
          </a:xfrm>
          <a:custGeom>
            <a:avLst/>
            <a:gdLst/>
            <a:ahLst/>
            <a:cxnLst/>
            <a:rect l="l" t="t" r="r" b="b"/>
            <a:pathLst>
              <a:path w="2750" h="0">
                <a:moveTo>
                  <a:pt x="0" y="0"/>
                </a:moveTo>
                <a:lnTo>
                  <a:pt x="275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ath_0163"/>
          <p:cNvSpPr/>
          <p:nvPr/>
        </p:nvSpPr>
        <p:spPr>
          <a:xfrm>
            <a:off x="11814048" y="1783080"/>
            <a:ext cx="0" cy="1481328"/>
          </a:xfrm>
          <a:custGeom>
            <a:avLst/>
            <a:gdLst/>
            <a:ahLst/>
            <a:cxnLst/>
            <a:rect l="l" t="t" r="r" b="b"/>
            <a:pathLst>
              <a:path w="0" h="1620">
                <a:moveTo>
                  <a:pt x="0" y="0"/>
                </a:moveTo>
                <a:lnTo>
                  <a:pt x="0" y="162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path_0164"/>
          <p:cNvSpPr/>
          <p:nvPr/>
        </p:nvSpPr>
        <p:spPr>
          <a:xfrm>
            <a:off x="9299448" y="1783080"/>
            <a:ext cx="2514600" cy="0"/>
          </a:xfrm>
          <a:custGeom>
            <a:avLst/>
            <a:gdLst/>
            <a:ahLst/>
            <a:cxnLst/>
            <a:rect l="l" t="t" r="r" b="b"/>
            <a:pathLst>
              <a:path w="2750" h="0">
                <a:moveTo>
                  <a:pt x="0" y="0"/>
                </a:moveTo>
                <a:lnTo>
                  <a:pt x="2750" y="0"/>
                </a:lnTo>
              </a:path>
            </a:pathLst>
          </a:custGeom>
          <a:noFill/>
          <a:ln w="1016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path_0165"/>
          <p:cNvSpPr/>
          <p:nvPr/>
        </p:nvSpPr>
        <p:spPr>
          <a:xfrm>
            <a:off x="9299448" y="3264408"/>
            <a:ext cx="2514600" cy="0"/>
          </a:xfrm>
          <a:custGeom>
            <a:avLst/>
            <a:gdLst/>
            <a:ahLst/>
            <a:cxnLst/>
            <a:rect l="l" t="t" r="r" b="b"/>
            <a:pathLst>
              <a:path w="2750" h="0">
                <a:moveTo>
                  <a:pt x="0" y="0"/>
                </a:moveTo>
                <a:lnTo>
                  <a:pt x="2750" y="0"/>
                </a:lnTo>
              </a:path>
            </a:pathLst>
          </a:custGeom>
          <a:noFill/>
          <a:ln w="1270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ath_0166"/>
          <p:cNvSpPr/>
          <p:nvPr/>
        </p:nvSpPr>
        <p:spPr>
          <a:xfrm>
            <a:off x="9299448" y="1783080"/>
            <a:ext cx="0" cy="1481328"/>
          </a:xfrm>
          <a:custGeom>
            <a:avLst/>
            <a:gdLst/>
            <a:ahLst/>
            <a:cxnLst/>
            <a:rect l="l" t="t" r="r" b="b"/>
            <a:pathLst>
              <a:path w="0" h="1620">
                <a:moveTo>
                  <a:pt x="0" y="1620"/>
                </a:moveTo>
                <a:lnTo>
                  <a:pt x="0" y="0"/>
                </a:lnTo>
              </a:path>
            </a:pathLst>
          </a:custGeom>
          <a:noFill/>
          <a:ln w="12700">
            <a:solidFill>
              <a:srgbClr val="2333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 name="path_0167"/>
          <p:cNvSpPr/>
          <p:nvPr/>
        </p:nvSpPr>
        <p:spPr>
          <a:xfrm>
            <a:off x="9299448" y="1783080"/>
            <a:ext cx="2514600" cy="1481328"/>
          </a:xfrm>
          <a:custGeom>
            <a:avLst/>
            <a:gdLst/>
            <a:ahLst/>
            <a:cxnLst/>
            <a:rect l="l" t="t" r="r" b="b"/>
            <a:pathLst>
              <a:path w="2750" h="1620">
                <a:moveTo>
                  <a:pt x="0" y="1620"/>
                </a:moveTo>
                <a:lnTo>
                  <a:pt x="2750" y="0"/>
                </a:lnTo>
              </a:path>
            </a:pathLst>
          </a:custGeom>
          <a:noFill/>
          <a:ln w="11430">
            <a:solidFill>
              <a:srgbClr val="B7C3CF"/>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editable_clock_L16_gamma2.5"/>
          <p:cNvSpPr/>
          <p:nvPr/>
        </p:nvSpPr>
        <p:spPr>
          <a:xfrm>
            <a:off x="9299448" y="1783080"/>
            <a:ext cx="2514600" cy="1481328"/>
          </a:xfrm>
          <a:custGeom>
            <a:avLst/>
            <a:gdLst/>
            <a:ahLst/>
            <a:cxnLst/>
            <a:rect l="l" t="t" r="r" b="b"/>
            <a:pathLst>
              <a:path w="2750" h="1620">
                <a:moveTo>
                  <a:pt x="0" y="1620"/>
                </a:moveTo>
                <a:lnTo>
                  <a:pt x="69" y="1620"/>
                </a:lnTo>
                <a:lnTo>
                  <a:pt x="138" y="1619"/>
                </a:lnTo>
                <a:lnTo>
                  <a:pt x="206" y="1618"/>
                </a:lnTo>
                <a:lnTo>
                  <a:pt x="275" y="1615"/>
                </a:lnTo>
                <a:lnTo>
                  <a:pt x="344" y="1611"/>
                </a:lnTo>
                <a:lnTo>
                  <a:pt x="412" y="1606"/>
                </a:lnTo>
                <a:lnTo>
                  <a:pt x="481" y="1599"/>
                </a:lnTo>
                <a:lnTo>
                  <a:pt x="550" y="1591"/>
                </a:lnTo>
                <a:lnTo>
                  <a:pt x="619" y="1581"/>
                </a:lnTo>
                <a:lnTo>
                  <a:pt x="688" y="1569"/>
                </a:lnTo>
                <a:lnTo>
                  <a:pt x="756" y="1556"/>
                </a:lnTo>
                <a:lnTo>
                  <a:pt x="825" y="1540"/>
                </a:lnTo>
                <a:lnTo>
                  <a:pt x="894" y="1522"/>
                </a:lnTo>
                <a:lnTo>
                  <a:pt x="962" y="1503"/>
                </a:lnTo>
                <a:lnTo>
                  <a:pt x="1031" y="1480"/>
                </a:lnTo>
                <a:lnTo>
                  <a:pt x="1100" y="1456"/>
                </a:lnTo>
                <a:lnTo>
                  <a:pt x="1169" y="1429"/>
                </a:lnTo>
                <a:lnTo>
                  <a:pt x="1238" y="1400"/>
                </a:lnTo>
                <a:lnTo>
                  <a:pt x="1306" y="1368"/>
                </a:lnTo>
                <a:lnTo>
                  <a:pt x="1375" y="1334"/>
                </a:lnTo>
                <a:lnTo>
                  <a:pt x="1444" y="1296"/>
                </a:lnTo>
                <a:lnTo>
                  <a:pt x="1512" y="1257"/>
                </a:lnTo>
                <a:lnTo>
                  <a:pt x="1581" y="1214"/>
                </a:lnTo>
                <a:lnTo>
                  <a:pt x="1650" y="1168"/>
                </a:lnTo>
                <a:lnTo>
                  <a:pt x="1719" y="1120"/>
                </a:lnTo>
                <a:lnTo>
                  <a:pt x="1788" y="1068"/>
                </a:lnTo>
                <a:lnTo>
                  <a:pt x="1856" y="1014"/>
                </a:lnTo>
                <a:lnTo>
                  <a:pt x="1925" y="956"/>
                </a:lnTo>
                <a:lnTo>
                  <a:pt x="1994" y="895"/>
                </a:lnTo>
                <a:lnTo>
                  <a:pt x="2062" y="831"/>
                </a:lnTo>
                <a:lnTo>
                  <a:pt x="2131" y="763"/>
                </a:lnTo>
                <a:lnTo>
                  <a:pt x="2200" y="693"/>
                </a:lnTo>
                <a:lnTo>
                  <a:pt x="2269" y="619"/>
                </a:lnTo>
                <a:lnTo>
                  <a:pt x="2338" y="541"/>
                </a:lnTo>
                <a:lnTo>
                  <a:pt x="2406" y="460"/>
                </a:lnTo>
                <a:lnTo>
                  <a:pt x="2475" y="375"/>
                </a:lnTo>
                <a:lnTo>
                  <a:pt x="2544" y="287"/>
                </a:lnTo>
                <a:lnTo>
                  <a:pt x="2612" y="195"/>
                </a:lnTo>
                <a:lnTo>
                  <a:pt x="2681" y="99"/>
                </a:lnTo>
                <a:lnTo>
                  <a:pt x="2750" y="0"/>
                </a:lnTo>
              </a:path>
            </a:pathLst>
          </a:custGeom>
          <a:noFill/>
          <a:ln w="254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editable_clock_L24_gamma2"/>
          <p:cNvSpPr/>
          <p:nvPr/>
        </p:nvSpPr>
        <p:spPr>
          <a:xfrm>
            <a:off x="9299448" y="1783080"/>
            <a:ext cx="2514600" cy="1481328"/>
          </a:xfrm>
          <a:custGeom>
            <a:avLst/>
            <a:gdLst/>
            <a:ahLst/>
            <a:cxnLst/>
            <a:rect l="l" t="t" r="r" b="b"/>
            <a:pathLst>
              <a:path w="2750" h="1620">
                <a:moveTo>
                  <a:pt x="0" y="1620"/>
                </a:moveTo>
                <a:lnTo>
                  <a:pt x="69" y="1619"/>
                </a:lnTo>
                <a:lnTo>
                  <a:pt x="138" y="1616"/>
                </a:lnTo>
                <a:lnTo>
                  <a:pt x="206" y="1611"/>
                </a:lnTo>
                <a:lnTo>
                  <a:pt x="275" y="1604"/>
                </a:lnTo>
                <a:lnTo>
                  <a:pt x="344" y="1595"/>
                </a:lnTo>
                <a:lnTo>
                  <a:pt x="412" y="1584"/>
                </a:lnTo>
                <a:lnTo>
                  <a:pt x="481" y="1570"/>
                </a:lnTo>
                <a:lnTo>
                  <a:pt x="550" y="1555"/>
                </a:lnTo>
                <a:lnTo>
                  <a:pt x="619" y="1538"/>
                </a:lnTo>
                <a:lnTo>
                  <a:pt x="688" y="1519"/>
                </a:lnTo>
                <a:lnTo>
                  <a:pt x="756" y="1497"/>
                </a:lnTo>
                <a:lnTo>
                  <a:pt x="825" y="1474"/>
                </a:lnTo>
                <a:lnTo>
                  <a:pt x="894" y="1449"/>
                </a:lnTo>
                <a:lnTo>
                  <a:pt x="962" y="1422"/>
                </a:lnTo>
                <a:lnTo>
                  <a:pt x="1031" y="1392"/>
                </a:lnTo>
                <a:lnTo>
                  <a:pt x="1100" y="1361"/>
                </a:lnTo>
                <a:lnTo>
                  <a:pt x="1169" y="1327"/>
                </a:lnTo>
                <a:lnTo>
                  <a:pt x="1238" y="1292"/>
                </a:lnTo>
                <a:lnTo>
                  <a:pt x="1306" y="1254"/>
                </a:lnTo>
                <a:lnTo>
                  <a:pt x="1375" y="1215"/>
                </a:lnTo>
                <a:lnTo>
                  <a:pt x="1444" y="1173"/>
                </a:lnTo>
                <a:lnTo>
                  <a:pt x="1512" y="1130"/>
                </a:lnTo>
                <a:lnTo>
                  <a:pt x="1581" y="1084"/>
                </a:lnTo>
                <a:lnTo>
                  <a:pt x="1650" y="1037"/>
                </a:lnTo>
                <a:lnTo>
                  <a:pt x="1719" y="987"/>
                </a:lnTo>
                <a:lnTo>
                  <a:pt x="1788" y="936"/>
                </a:lnTo>
                <a:lnTo>
                  <a:pt x="1856" y="882"/>
                </a:lnTo>
                <a:lnTo>
                  <a:pt x="1925" y="826"/>
                </a:lnTo>
                <a:lnTo>
                  <a:pt x="1994" y="768"/>
                </a:lnTo>
                <a:lnTo>
                  <a:pt x="2062" y="709"/>
                </a:lnTo>
                <a:lnTo>
                  <a:pt x="2131" y="647"/>
                </a:lnTo>
                <a:lnTo>
                  <a:pt x="2200" y="583"/>
                </a:lnTo>
                <a:lnTo>
                  <a:pt x="2269" y="517"/>
                </a:lnTo>
                <a:lnTo>
                  <a:pt x="2338" y="450"/>
                </a:lnTo>
                <a:lnTo>
                  <a:pt x="2406" y="380"/>
                </a:lnTo>
                <a:lnTo>
                  <a:pt x="2475" y="308"/>
                </a:lnTo>
                <a:lnTo>
                  <a:pt x="2544" y="234"/>
                </a:lnTo>
                <a:lnTo>
                  <a:pt x="2612" y="158"/>
                </a:lnTo>
                <a:lnTo>
                  <a:pt x="2681" y="80"/>
                </a:lnTo>
                <a:lnTo>
                  <a:pt x="2750" y="0"/>
                </a:lnTo>
              </a:path>
            </a:pathLst>
          </a:custGeom>
          <a:noFill/>
          <a:ln w="254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 name="editable_clock_L32_gamma1.5"/>
          <p:cNvSpPr/>
          <p:nvPr/>
        </p:nvSpPr>
        <p:spPr>
          <a:xfrm>
            <a:off x="9299448" y="1783080"/>
            <a:ext cx="2514600" cy="1481328"/>
          </a:xfrm>
          <a:custGeom>
            <a:avLst/>
            <a:gdLst/>
            <a:ahLst/>
            <a:cxnLst/>
            <a:rect l="l" t="t" r="r" b="b"/>
            <a:pathLst>
              <a:path w="2750" h="1620">
                <a:moveTo>
                  <a:pt x="0" y="1620"/>
                </a:moveTo>
                <a:lnTo>
                  <a:pt x="69" y="1614"/>
                </a:lnTo>
                <a:lnTo>
                  <a:pt x="138" y="1602"/>
                </a:lnTo>
                <a:lnTo>
                  <a:pt x="206" y="1587"/>
                </a:lnTo>
                <a:lnTo>
                  <a:pt x="275" y="1569"/>
                </a:lnTo>
                <a:lnTo>
                  <a:pt x="344" y="1548"/>
                </a:lnTo>
                <a:lnTo>
                  <a:pt x="412" y="1526"/>
                </a:lnTo>
                <a:lnTo>
                  <a:pt x="481" y="1501"/>
                </a:lnTo>
                <a:lnTo>
                  <a:pt x="550" y="1475"/>
                </a:lnTo>
                <a:lnTo>
                  <a:pt x="619" y="1447"/>
                </a:lnTo>
                <a:lnTo>
                  <a:pt x="688" y="1417"/>
                </a:lnTo>
                <a:lnTo>
                  <a:pt x="756" y="1386"/>
                </a:lnTo>
                <a:lnTo>
                  <a:pt x="825" y="1354"/>
                </a:lnTo>
                <a:lnTo>
                  <a:pt x="894" y="1320"/>
                </a:lnTo>
                <a:lnTo>
                  <a:pt x="962" y="1285"/>
                </a:lnTo>
                <a:lnTo>
                  <a:pt x="1031" y="1248"/>
                </a:lnTo>
                <a:lnTo>
                  <a:pt x="1100" y="1210"/>
                </a:lnTo>
                <a:lnTo>
                  <a:pt x="1169" y="1171"/>
                </a:lnTo>
                <a:lnTo>
                  <a:pt x="1238" y="1131"/>
                </a:lnTo>
                <a:lnTo>
                  <a:pt x="1306" y="1090"/>
                </a:lnTo>
                <a:lnTo>
                  <a:pt x="1375" y="1047"/>
                </a:lnTo>
                <a:lnTo>
                  <a:pt x="1444" y="1004"/>
                </a:lnTo>
                <a:lnTo>
                  <a:pt x="1512" y="959"/>
                </a:lnTo>
                <a:lnTo>
                  <a:pt x="1581" y="914"/>
                </a:lnTo>
                <a:lnTo>
                  <a:pt x="1650" y="867"/>
                </a:lnTo>
                <a:lnTo>
                  <a:pt x="1719" y="820"/>
                </a:lnTo>
                <a:lnTo>
                  <a:pt x="1788" y="771"/>
                </a:lnTo>
                <a:lnTo>
                  <a:pt x="1856" y="722"/>
                </a:lnTo>
                <a:lnTo>
                  <a:pt x="1925" y="671"/>
                </a:lnTo>
                <a:lnTo>
                  <a:pt x="1994" y="620"/>
                </a:lnTo>
                <a:lnTo>
                  <a:pt x="2062" y="568"/>
                </a:lnTo>
                <a:lnTo>
                  <a:pt x="2131" y="515"/>
                </a:lnTo>
                <a:lnTo>
                  <a:pt x="2200" y="461"/>
                </a:lnTo>
                <a:lnTo>
                  <a:pt x="2269" y="406"/>
                </a:lnTo>
                <a:lnTo>
                  <a:pt x="2338" y="350"/>
                </a:lnTo>
                <a:lnTo>
                  <a:pt x="2406" y="294"/>
                </a:lnTo>
                <a:lnTo>
                  <a:pt x="2475" y="237"/>
                </a:lnTo>
                <a:lnTo>
                  <a:pt x="2544" y="179"/>
                </a:lnTo>
                <a:lnTo>
                  <a:pt x="2612" y="120"/>
                </a:lnTo>
                <a:lnTo>
                  <a:pt x="2681" y="60"/>
                </a:lnTo>
                <a:lnTo>
                  <a:pt x="2750" y="0"/>
                </a:lnTo>
              </a:path>
            </a:pathLst>
          </a:custGeom>
          <a:noFill/>
          <a:ln w="254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_0171"/>
          <p:cNvSpPr txBox="1"/>
          <p:nvPr/>
        </p:nvSpPr>
        <p:spPr>
          <a:xfrm>
            <a:off x="9025128" y="3172968"/>
            <a:ext cx="201168"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63758A"/>
                </a:solidFill>
                <a:latin typeface="DejaVu Sans"/>
              </a:rPr>
              <a:t>0</a:t>
            </a:r>
          </a:p>
        </p:txBody>
      </p:sp>
      <p:sp>
        <p:nvSpPr>
          <p:cNvPr id="174" name="text_0172"/>
          <p:cNvSpPr txBox="1"/>
          <p:nvPr/>
        </p:nvSpPr>
        <p:spPr>
          <a:xfrm>
            <a:off x="9025128" y="1682495"/>
            <a:ext cx="201168"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63758A"/>
                </a:solidFill>
                <a:latin typeface="DejaVu Sans"/>
              </a:rPr>
              <a:t>1</a:t>
            </a:r>
          </a:p>
        </p:txBody>
      </p:sp>
      <p:sp>
        <p:nvSpPr>
          <p:cNvPr id="175" name="text_0173"/>
          <p:cNvSpPr txBox="1"/>
          <p:nvPr/>
        </p:nvSpPr>
        <p:spPr>
          <a:xfrm>
            <a:off x="11722608" y="3319272"/>
            <a:ext cx="201168"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63758A"/>
                </a:solidFill>
                <a:latin typeface="DejaVu Sans"/>
              </a:rPr>
              <a:t>1</a:t>
            </a:r>
          </a:p>
        </p:txBody>
      </p:sp>
      <p:sp>
        <p:nvSpPr>
          <p:cNvPr id="176" name="text_0174"/>
          <p:cNvSpPr txBox="1"/>
          <p:nvPr/>
        </p:nvSpPr>
        <p:spPr>
          <a:xfrm>
            <a:off x="8714232" y="2176272"/>
            <a:ext cx="539496" cy="58521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local</a:t>
            </a:r>
          </a:p>
          <a:p>
            <a:pPr algn="ctr">
              <a:lnSpc>
                <a:spcPts val="1355"/>
              </a:lnSpc>
              <a:spcBef>
                <a:spcPts val="0"/>
              </a:spcBef>
              <a:spcAft>
                <a:spcPts val="0"/>
              </a:spcAft>
            </a:pPr>
            <a:r>
              <a:rPr sz="1200" b="0">
                <a:solidFill>
                  <a:srgbClr val="63758A"/>
                </a:solidFill>
                <a:latin typeface="DejaVu Sans"/>
              </a:rPr>
              <a:t>time tℓ</a:t>
            </a:r>
          </a:p>
        </p:txBody>
      </p:sp>
      <p:sp>
        <p:nvSpPr>
          <p:cNvPr id="177" name="text_0175"/>
          <p:cNvSpPr txBox="1"/>
          <p:nvPr/>
        </p:nvSpPr>
        <p:spPr>
          <a:xfrm>
            <a:off x="9866376" y="3346704"/>
            <a:ext cx="1435608" cy="237744"/>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global time τ</a:t>
            </a:r>
          </a:p>
        </p:txBody>
      </p:sp>
      <p:sp>
        <p:nvSpPr>
          <p:cNvPr id="178" name="path_0176"/>
          <p:cNvSpPr/>
          <p:nvPr/>
        </p:nvSpPr>
        <p:spPr>
          <a:xfrm>
            <a:off x="8915400" y="3639312"/>
            <a:ext cx="201168" cy="0"/>
          </a:xfrm>
          <a:custGeom>
            <a:avLst/>
            <a:gdLst/>
            <a:ahLst/>
            <a:cxnLst/>
            <a:rect l="l" t="t" r="r" b="b"/>
            <a:pathLst>
              <a:path w="220" h="0">
                <a:moveTo>
                  <a:pt x="0" y="0"/>
                </a:moveTo>
                <a:lnTo>
                  <a:pt x="220" y="0"/>
                </a:lnTo>
              </a:path>
            </a:pathLst>
          </a:custGeom>
          <a:noFill/>
          <a:ln w="254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text_0177"/>
          <p:cNvSpPr txBox="1"/>
          <p:nvPr/>
        </p:nvSpPr>
        <p:spPr>
          <a:xfrm>
            <a:off x="9144000" y="3511296"/>
            <a:ext cx="877824" cy="237744"/>
          </a:xfrm>
          <a:prstGeom prst="rect">
            <a:avLst/>
          </a:prstGeom>
          <a:noFill/>
        </p:spPr>
        <p:txBody>
          <a:bodyPr wrap="none" lIns="0" rIns="0" tIns="0" bIns="0" anchor="ctr">
            <a:spAutoFit/>
          </a:bodyPr>
          <a:lstStyle/>
          <a:p>
            <a:pPr algn="ctr">
              <a:lnSpc>
                <a:spcPts val="1355"/>
              </a:lnSpc>
              <a:spcBef>
                <a:spcPts val="0"/>
              </a:spcBef>
              <a:spcAft>
                <a:spcPts val="0"/>
              </a:spcAft>
            </a:pPr>
            <a:r>
              <a:rPr sz="1200" b="1">
                <a:solidFill>
                  <a:srgbClr val="367AB5"/>
                </a:solidFill>
                <a:latin typeface="DejaVu Sans"/>
              </a:rPr>
              <a:t>γ₁₆=2.5</a:t>
            </a:r>
          </a:p>
        </p:txBody>
      </p:sp>
      <p:sp>
        <p:nvSpPr>
          <p:cNvPr id="180" name="path_0178"/>
          <p:cNvSpPr/>
          <p:nvPr/>
        </p:nvSpPr>
        <p:spPr>
          <a:xfrm>
            <a:off x="10131552" y="3639312"/>
            <a:ext cx="201168" cy="0"/>
          </a:xfrm>
          <a:custGeom>
            <a:avLst/>
            <a:gdLst/>
            <a:ahLst/>
            <a:cxnLst/>
            <a:rect l="l" t="t" r="r" b="b"/>
            <a:pathLst>
              <a:path w="220" h="0">
                <a:moveTo>
                  <a:pt x="0" y="0"/>
                </a:moveTo>
                <a:lnTo>
                  <a:pt x="220" y="0"/>
                </a:lnTo>
              </a:path>
            </a:pathLst>
          </a:custGeom>
          <a:noFill/>
          <a:ln w="254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_0179"/>
          <p:cNvSpPr txBox="1"/>
          <p:nvPr/>
        </p:nvSpPr>
        <p:spPr>
          <a:xfrm>
            <a:off x="10360151" y="3511296"/>
            <a:ext cx="877824" cy="237744"/>
          </a:xfrm>
          <a:prstGeom prst="rect">
            <a:avLst/>
          </a:prstGeom>
          <a:noFill/>
        </p:spPr>
        <p:txBody>
          <a:bodyPr wrap="none" lIns="0" rIns="0" tIns="0" bIns="0" anchor="ctr">
            <a:spAutoFit/>
          </a:bodyPr>
          <a:lstStyle/>
          <a:p>
            <a:pPr algn="ctr">
              <a:lnSpc>
                <a:spcPts val="1355"/>
              </a:lnSpc>
              <a:spcBef>
                <a:spcPts val="0"/>
              </a:spcBef>
              <a:spcAft>
                <a:spcPts val="0"/>
              </a:spcAft>
            </a:pPr>
            <a:r>
              <a:rPr sz="1200" b="1">
                <a:solidFill>
                  <a:srgbClr val="C88A35"/>
                </a:solidFill>
                <a:latin typeface="DejaVu Sans"/>
              </a:rPr>
              <a:t>γ₂₄=2</a:t>
            </a:r>
          </a:p>
        </p:txBody>
      </p:sp>
      <p:sp>
        <p:nvSpPr>
          <p:cNvPr id="182" name="path_0180"/>
          <p:cNvSpPr/>
          <p:nvPr/>
        </p:nvSpPr>
        <p:spPr>
          <a:xfrm>
            <a:off x="11256264" y="3639312"/>
            <a:ext cx="201168" cy="0"/>
          </a:xfrm>
          <a:custGeom>
            <a:avLst/>
            <a:gdLst/>
            <a:ahLst/>
            <a:cxnLst/>
            <a:rect l="l" t="t" r="r" b="b"/>
            <a:pathLst>
              <a:path w="220" h="0">
                <a:moveTo>
                  <a:pt x="0" y="0"/>
                </a:moveTo>
                <a:lnTo>
                  <a:pt x="220" y="0"/>
                </a:lnTo>
              </a:path>
            </a:pathLst>
          </a:custGeom>
          <a:noFill/>
          <a:ln w="254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 name="text_0181"/>
          <p:cNvSpPr txBox="1"/>
          <p:nvPr/>
        </p:nvSpPr>
        <p:spPr>
          <a:xfrm>
            <a:off x="11484863" y="3511296"/>
            <a:ext cx="877824" cy="237744"/>
          </a:xfrm>
          <a:prstGeom prst="rect">
            <a:avLst/>
          </a:prstGeom>
          <a:noFill/>
        </p:spPr>
        <p:txBody>
          <a:bodyPr wrap="none" lIns="0" rIns="0" tIns="0" bIns="0" anchor="ctr">
            <a:spAutoFit/>
          </a:bodyPr>
          <a:lstStyle/>
          <a:p>
            <a:pPr algn="ctr">
              <a:lnSpc>
                <a:spcPts val="1355"/>
              </a:lnSpc>
              <a:spcBef>
                <a:spcPts val="0"/>
              </a:spcBef>
              <a:spcAft>
                <a:spcPts val="0"/>
              </a:spcAft>
            </a:pPr>
            <a:r>
              <a:rPr sz="1200" b="1">
                <a:solidFill>
                  <a:srgbClr val="2C917F"/>
                </a:solidFill>
                <a:latin typeface="DejaVu Sans"/>
              </a:rPr>
              <a:t>γ₃₂=1.5</a:t>
            </a:r>
          </a:p>
        </p:txBody>
      </p:sp>
      <p:sp>
        <p:nvSpPr>
          <p:cNvPr id="184" name="text_0182"/>
          <p:cNvSpPr txBox="1"/>
          <p:nvPr/>
        </p:nvSpPr>
        <p:spPr>
          <a:xfrm>
            <a:off x="9262872" y="3904487"/>
            <a:ext cx="621792"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τ=0</a:t>
            </a:r>
          </a:p>
        </p:txBody>
      </p:sp>
      <p:sp>
        <p:nvSpPr>
          <p:cNvPr id="218" name="path_0216"/>
          <p:cNvSpPr/>
          <p:nvPr/>
        </p:nvSpPr>
        <p:spPr>
          <a:xfrm>
            <a:off x="9889236" y="4681728"/>
            <a:ext cx="137160" cy="0"/>
          </a:xfrm>
          <a:custGeom>
            <a:avLst/>
            <a:gdLst/>
            <a:ahLst/>
            <a:cxnLst/>
            <a:rect l="l" t="t" r="r" b="b"/>
            <a:pathLst>
              <a:path w="150" h="0">
                <a:moveTo>
                  <a:pt x="0" y="0"/>
                </a:moveTo>
                <a:lnTo>
                  <a:pt x="150" y="0"/>
                </a:lnTo>
              </a:path>
            </a:pathLst>
          </a:custGeom>
          <a:noFill/>
          <a:ln w="1016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 name="text_0217"/>
          <p:cNvSpPr txBox="1"/>
          <p:nvPr/>
        </p:nvSpPr>
        <p:spPr>
          <a:xfrm>
            <a:off x="10021824" y="3904487"/>
            <a:ext cx="621792"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τ=0.4</a:t>
            </a:r>
          </a:p>
        </p:txBody>
      </p:sp>
      <p:sp>
        <p:nvSpPr>
          <p:cNvPr id="253" name="path_0251"/>
          <p:cNvSpPr/>
          <p:nvPr/>
        </p:nvSpPr>
        <p:spPr>
          <a:xfrm>
            <a:off x="10648188" y="4681728"/>
            <a:ext cx="137160" cy="0"/>
          </a:xfrm>
          <a:custGeom>
            <a:avLst/>
            <a:gdLst/>
            <a:ahLst/>
            <a:cxnLst/>
            <a:rect l="l" t="t" r="r" b="b"/>
            <a:pathLst>
              <a:path w="150" h="0">
                <a:moveTo>
                  <a:pt x="0" y="0"/>
                </a:moveTo>
                <a:lnTo>
                  <a:pt x="150" y="0"/>
                </a:lnTo>
              </a:path>
            </a:pathLst>
          </a:custGeom>
          <a:noFill/>
          <a:ln w="1016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_0252"/>
          <p:cNvSpPr txBox="1"/>
          <p:nvPr/>
        </p:nvSpPr>
        <p:spPr>
          <a:xfrm>
            <a:off x="10780776" y="3904487"/>
            <a:ext cx="621792"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τ=0.7</a:t>
            </a:r>
          </a:p>
        </p:txBody>
      </p:sp>
      <p:sp>
        <p:nvSpPr>
          <p:cNvPr id="288" name="path_0286"/>
          <p:cNvSpPr/>
          <p:nvPr/>
        </p:nvSpPr>
        <p:spPr>
          <a:xfrm>
            <a:off x="11407140" y="4681728"/>
            <a:ext cx="137160" cy="0"/>
          </a:xfrm>
          <a:custGeom>
            <a:avLst/>
            <a:gdLst/>
            <a:ahLst/>
            <a:cxnLst/>
            <a:rect l="l" t="t" r="r" b="b"/>
            <a:pathLst>
              <a:path w="150" h="0">
                <a:moveTo>
                  <a:pt x="0" y="0"/>
                </a:moveTo>
                <a:lnTo>
                  <a:pt x="150" y="0"/>
                </a:lnTo>
              </a:path>
            </a:pathLst>
          </a:custGeom>
          <a:noFill/>
          <a:ln w="1016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9" name="text_0287"/>
          <p:cNvSpPr txBox="1"/>
          <p:nvPr/>
        </p:nvSpPr>
        <p:spPr>
          <a:xfrm>
            <a:off x="11539728" y="3904487"/>
            <a:ext cx="621792"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63758A"/>
                </a:solidFill>
                <a:latin typeface="DejaVu Sans"/>
              </a:rPr>
              <a:t>τ=1</a:t>
            </a:r>
          </a:p>
        </p:txBody>
      </p:sp>
      <p:sp>
        <p:nvSpPr>
          <p:cNvPr id="323" name="text_0321"/>
          <p:cNvSpPr txBox="1"/>
          <p:nvPr/>
        </p:nvSpPr>
        <p:spPr>
          <a:xfrm>
            <a:off x="8750807" y="4238244"/>
            <a:ext cx="420624" cy="237744"/>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367AB5"/>
                </a:solidFill>
                <a:latin typeface="DejaVu Sans"/>
              </a:rPr>
              <a:t>16</a:t>
            </a:r>
          </a:p>
        </p:txBody>
      </p:sp>
      <p:sp>
        <p:nvSpPr>
          <p:cNvPr id="324" name="text_0322"/>
          <p:cNvSpPr txBox="1"/>
          <p:nvPr/>
        </p:nvSpPr>
        <p:spPr>
          <a:xfrm>
            <a:off x="8750807" y="4466844"/>
            <a:ext cx="420624" cy="237744"/>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C88A35"/>
                </a:solidFill>
                <a:latin typeface="DejaVu Sans"/>
              </a:rPr>
              <a:t>24</a:t>
            </a:r>
          </a:p>
        </p:txBody>
      </p:sp>
      <p:sp>
        <p:nvSpPr>
          <p:cNvPr id="325" name="text_0323"/>
          <p:cNvSpPr txBox="1"/>
          <p:nvPr/>
        </p:nvSpPr>
        <p:spPr>
          <a:xfrm>
            <a:off x="8750807" y="4809744"/>
            <a:ext cx="420624" cy="237744"/>
          </a:xfrm>
          <a:prstGeom prst="rect">
            <a:avLst/>
          </a:prstGeom>
          <a:noFill/>
        </p:spPr>
        <p:txBody>
          <a:bodyPr wrap="none" lIns="0" rIns="0" tIns="0" bIns="0" anchor="ctr">
            <a:spAutoFit/>
          </a:bodyPr>
          <a:lstStyle/>
          <a:p>
            <a:pPr algn="ctr">
              <a:lnSpc>
                <a:spcPts val="1468"/>
              </a:lnSpc>
              <a:spcBef>
                <a:spcPts val="0"/>
              </a:spcBef>
              <a:spcAft>
                <a:spcPts val="0"/>
              </a:spcAft>
            </a:pPr>
            <a:r>
              <a:rPr sz="1300" b="1">
                <a:solidFill>
                  <a:srgbClr val="2C917F"/>
                </a:solidFill>
                <a:latin typeface="DejaVu Sans"/>
              </a:rPr>
              <a:t>32</a:t>
            </a:r>
          </a:p>
        </p:txBody>
      </p:sp>
      <p:sp>
        <p:nvSpPr>
          <p:cNvPr id="326" name="text_0324"/>
          <p:cNvSpPr txBox="1"/>
          <p:nvPr/>
        </p:nvSpPr>
        <p:spPr>
          <a:xfrm>
            <a:off x="8915400" y="5276088"/>
            <a:ext cx="3438144" cy="256032"/>
          </a:xfrm>
          <a:prstGeom prst="rect">
            <a:avLst/>
          </a:prstGeom>
          <a:noFill/>
        </p:spPr>
        <p:txBody>
          <a:bodyPr wrap="none" lIns="0" rIns="0" tIns="0" bIns="0" anchor="ctr">
            <a:spAutoFit/>
          </a:bodyPr>
          <a:lstStyle/>
          <a:p>
            <a:pPr algn="ctr">
              <a:lnSpc>
                <a:spcPts val="1412"/>
              </a:lnSpc>
              <a:spcBef>
                <a:spcPts val="0"/>
              </a:spcBef>
              <a:spcAft>
                <a:spcPts val="0"/>
              </a:spcAft>
            </a:pPr>
            <a:r>
              <a:rPr sz="1250" b="0">
                <a:solidFill>
                  <a:srgbClr val="63758A"/>
                </a:solidFill>
                <a:latin typeface="DejaVu Sans"/>
              </a:rPr>
              <a:t>Same tokens; different layer noise levels</a:t>
            </a:r>
          </a:p>
        </p:txBody>
      </p:sp>
      <p:sp>
        <p:nvSpPr>
          <p:cNvPr id="329" name="cached_prompt_reused"/>
          <p:cNvSpPr/>
          <p:nvPr/>
        </p:nvSpPr>
        <p:spPr>
          <a:xfrm>
            <a:off x="12262104" y="1216152"/>
            <a:ext cx="228600" cy="4718304"/>
          </a:xfrm>
          <a:custGeom>
            <a:avLst/>
            <a:gdLst/>
            <a:ahLst/>
            <a:cxnLst/>
            <a:rect l="l" t="t" r="r" b="b"/>
            <a:pathLst>
              <a:path w="250" h="5160">
                <a:moveTo>
                  <a:pt x="110" y="0"/>
                </a:moveTo>
                <a:lnTo>
                  <a:pt x="250" y="0"/>
                </a:lnTo>
                <a:lnTo>
                  <a:pt x="250" y="5160"/>
                </a:lnTo>
                <a:lnTo>
                  <a:pt x="0" y="5160"/>
                </a:lnTo>
              </a:path>
            </a:pathLst>
          </a:custGeom>
          <a:noFill/>
          <a:ln w="12700">
            <a:solidFill>
              <a:srgbClr val="7965A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0" name="path_0328"/>
          <p:cNvSpPr/>
          <p:nvPr/>
        </p:nvSpPr>
        <p:spPr>
          <a:xfrm>
            <a:off x="10561320" y="6181344"/>
            <a:ext cx="0" cy="182880"/>
          </a:xfrm>
          <a:custGeom>
            <a:avLst/>
            <a:gdLst/>
            <a:ahLst/>
            <a:cxnLst/>
            <a:rect l="l" t="t" r="r" b="b"/>
            <a:pathLst>
              <a:path w="0" h="200">
                <a:moveTo>
                  <a:pt x="0" y="0"/>
                </a:moveTo>
                <a:lnTo>
                  <a:pt x="0" y="20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3" name="text_0331"/>
          <p:cNvSpPr txBox="1"/>
          <p:nvPr/>
        </p:nvSpPr>
        <p:spPr>
          <a:xfrm>
            <a:off x="8869680" y="6922008"/>
            <a:ext cx="3374136" cy="219456"/>
          </a:xfrm>
          <a:prstGeom prst="rect">
            <a:avLst/>
          </a:prstGeom>
          <a:noFill/>
        </p:spPr>
        <p:txBody>
          <a:bodyPr wrap="none" lIns="0" rIns="0" tIns="0" bIns="0" anchor="ctr">
            <a:spAutoFit/>
          </a:bodyPr>
          <a:lstStyle/>
          <a:p>
            <a:pPr algn="ctr">
              <a:lnSpc>
                <a:spcPts val="1412"/>
              </a:lnSpc>
              <a:spcBef>
                <a:spcPts val="0"/>
              </a:spcBef>
              <a:spcAft>
                <a:spcPts val="0"/>
              </a:spcAft>
            </a:pPr>
            <a:r>
              <a:rPr sz="1250" b="0">
                <a:solidFill>
                  <a:srgbClr val="63758A"/>
                </a:solidFill>
                <a:latin typeface="DejaVu Sans"/>
              </a:rPr>
              <a:t>dzℓ/dτ = f′ℓ(τ) vℓ · decode once</a:t>
            </a:r>
          </a:p>
        </p:txBody>
      </p:sp>
      <p:grpSp>
        <p:nvGrpSpPr>
          <p:cNvPr id="334" name="stage_1_heading"/>
          <p:cNvGrpSpPr/>
          <p:nvPr/>
        </p:nvGrpSpPr>
        <p:grpSpPr>
          <a:xfrm>
            <a:off x="228600" y="210312"/>
            <a:ext cx="3749039" cy="539496"/>
            <a:chOff x="228600" y="210312"/>
            <a:chExt cx="3749039" cy="539496"/>
          </a:xfrm>
        </p:grpSpPr>
        <p:sp>
          <p:nvSpPr>
            <p:cNvPr id="4" name="rect_0002"/>
            <p:cNvSpPr/>
            <p:nvPr/>
          </p:nvSpPr>
          <p:spPr>
            <a:xfrm>
              <a:off x="22860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0003"/>
            <p:cNvSpPr txBox="1"/>
            <p:nvPr/>
          </p:nvSpPr>
          <p:spPr>
            <a:xfrm>
              <a:off x="34747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1</a:t>
              </a:r>
            </a:p>
          </p:txBody>
        </p:sp>
        <p:sp>
          <p:nvSpPr>
            <p:cNvPr id="6" name="text_0004"/>
            <p:cNvSpPr txBox="1"/>
            <p:nvPr/>
          </p:nvSpPr>
          <p:spPr>
            <a:xfrm>
              <a:off x="67665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Representation learning</a:t>
              </a:r>
            </a:p>
          </p:txBody>
        </p:sp>
      </p:grpSp>
      <p:grpSp>
        <p:nvGrpSpPr>
          <p:cNvPr id="335" name="module_teacher_text_input"/>
          <p:cNvGrpSpPr/>
          <p:nvPr/>
        </p:nvGrpSpPr>
        <p:grpSpPr>
          <a:xfrm>
            <a:off x="347472" y="1005840"/>
            <a:ext cx="3547872" cy="411480"/>
            <a:chOff x="347472" y="1005840"/>
            <a:chExt cx="3547872" cy="411480"/>
          </a:xfrm>
        </p:grpSpPr>
        <p:sp>
          <p:nvSpPr>
            <p:cNvPr id="7" name="teacher_text_input"/>
            <p:cNvSpPr/>
            <p:nvPr/>
          </p:nvSpPr>
          <p:spPr>
            <a:xfrm>
              <a:off x="347472" y="1005840"/>
              <a:ext cx="3547872" cy="411480"/>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acher_text_input_label"/>
            <p:cNvSpPr txBox="1"/>
            <p:nvPr/>
          </p:nvSpPr>
          <p:spPr>
            <a:xfrm>
              <a:off x="393192" y="1014984"/>
              <a:ext cx="3456432" cy="393192"/>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Question + gold solution</a:t>
              </a:r>
            </a:p>
          </p:txBody>
        </p:sp>
      </p:grpSp>
      <p:grpSp>
        <p:nvGrpSpPr>
          <p:cNvPr id="336" name="module_qwen_layer_16"/>
          <p:cNvGrpSpPr/>
          <p:nvPr/>
        </p:nvGrpSpPr>
        <p:grpSpPr>
          <a:xfrm>
            <a:off x="429768" y="2029967"/>
            <a:ext cx="960120" cy="365760"/>
            <a:chOff x="429768" y="2029967"/>
            <a:chExt cx="960120" cy="365760"/>
          </a:xfrm>
        </p:grpSpPr>
        <p:sp>
          <p:nvSpPr>
            <p:cNvPr id="14" name="qwen_layer_16"/>
            <p:cNvSpPr/>
            <p:nvPr/>
          </p:nvSpPr>
          <p:spPr>
            <a:xfrm>
              <a:off x="429768" y="2029967"/>
              <a:ext cx="960120" cy="365760"/>
            </a:xfrm>
            <a:prstGeom prst="roundRect">
              <a:avLst>
                <a:gd name="adj" fmla="val 12000"/>
              </a:avLst>
            </a:prstGeom>
            <a:solidFill>
              <a:srgbClr val="E5EEF5"/>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qwen_layer_16_label"/>
            <p:cNvSpPr txBox="1"/>
            <p:nvPr/>
          </p:nvSpPr>
          <p:spPr>
            <a:xfrm>
              <a:off x="475488" y="2039111"/>
              <a:ext cx="868680" cy="3474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16</a:t>
              </a:r>
            </a:p>
          </p:txBody>
        </p:sp>
      </p:grpSp>
      <p:grpSp>
        <p:nvGrpSpPr>
          <p:cNvPr id="337" name="module_qwen_layer_24"/>
          <p:cNvGrpSpPr/>
          <p:nvPr/>
        </p:nvGrpSpPr>
        <p:grpSpPr>
          <a:xfrm>
            <a:off x="429768" y="2688336"/>
            <a:ext cx="960120" cy="365760"/>
            <a:chOff x="429768" y="2688336"/>
            <a:chExt cx="960120" cy="365760"/>
          </a:xfrm>
        </p:grpSpPr>
        <p:sp>
          <p:nvSpPr>
            <p:cNvPr id="21" name="qwen_layer_24"/>
            <p:cNvSpPr/>
            <p:nvPr/>
          </p:nvSpPr>
          <p:spPr>
            <a:xfrm>
              <a:off x="429768" y="2688336"/>
              <a:ext cx="960120" cy="365760"/>
            </a:xfrm>
            <a:prstGeom prst="roundRect">
              <a:avLst>
                <a:gd name="adj" fmla="val 12000"/>
              </a:avLst>
            </a:prstGeom>
            <a:solidFill>
              <a:srgbClr val="F8F0E5"/>
            </a:solidFill>
            <a:ln w="127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qwen_layer_24_label"/>
            <p:cNvSpPr txBox="1"/>
            <p:nvPr/>
          </p:nvSpPr>
          <p:spPr>
            <a:xfrm>
              <a:off x="475488" y="2697479"/>
              <a:ext cx="868680" cy="3474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24</a:t>
              </a:r>
            </a:p>
          </p:txBody>
        </p:sp>
      </p:grpSp>
      <p:grpSp>
        <p:nvGrpSpPr>
          <p:cNvPr id="338" name="module_qwen_layer_32"/>
          <p:cNvGrpSpPr/>
          <p:nvPr/>
        </p:nvGrpSpPr>
        <p:grpSpPr>
          <a:xfrm>
            <a:off x="429768" y="3675887"/>
            <a:ext cx="960120" cy="365760"/>
            <a:chOff x="429768" y="3675887"/>
            <a:chExt cx="960120" cy="365760"/>
          </a:xfrm>
        </p:grpSpPr>
        <p:sp>
          <p:nvSpPr>
            <p:cNvPr id="28" name="qwen_layer_32"/>
            <p:cNvSpPr/>
            <p:nvPr/>
          </p:nvSpPr>
          <p:spPr>
            <a:xfrm>
              <a:off x="429768" y="3675887"/>
              <a:ext cx="960120" cy="365760"/>
            </a:xfrm>
            <a:prstGeom prst="roundRect">
              <a:avLst>
                <a:gd name="adj" fmla="val 12000"/>
              </a:avLst>
            </a:prstGeom>
            <a:solidFill>
              <a:srgbClr val="E4F1EE"/>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qwen_layer_32_label"/>
            <p:cNvSpPr txBox="1"/>
            <p:nvPr/>
          </p:nvSpPr>
          <p:spPr>
            <a:xfrm>
              <a:off x="475488" y="3685031"/>
              <a:ext cx="868680" cy="3474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32</a:t>
              </a:r>
            </a:p>
          </p:txBody>
        </p:sp>
      </p:grpSp>
      <p:grpSp>
        <p:nvGrpSpPr>
          <p:cNvPr id="339" name="concatenated_qwen_latents_editable_tiles"/>
          <p:cNvGrpSpPr/>
          <p:nvPr/>
        </p:nvGrpSpPr>
        <p:grpSpPr>
          <a:xfrm>
            <a:off x="3227832" y="1920240"/>
            <a:ext cx="649224" cy="2596896"/>
            <a:chOff x="3227832" y="1920240"/>
            <a:chExt cx="649224" cy="2596896"/>
          </a:xfrm>
        </p:grpSpPr>
        <p:sp>
          <p:nvSpPr>
            <p:cNvPr id="37" name="concatenated_qwen_latents_layer16"/>
            <p:cNvSpPr/>
            <p:nvPr/>
          </p:nvSpPr>
          <p:spPr>
            <a:xfrm>
              <a:off x="3227832" y="1920240"/>
              <a:ext cx="649224" cy="649224"/>
            </a:xfrm>
            <a:prstGeom prst="rect">
              <a:avLst/>
            </a:prstGeom>
            <a:solidFill>
              <a:srgbClr val="CDDEEC"/>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ath_0036"/>
            <p:cNvSpPr/>
            <p:nvPr/>
          </p:nvSpPr>
          <p:spPr>
            <a:xfrm>
              <a:off x="3389681" y="1920240"/>
              <a:ext cx="0" cy="649224"/>
            </a:xfrm>
            <a:custGeom>
              <a:avLst/>
              <a:gdLst/>
              <a:ahLst/>
              <a:cxnLst/>
              <a:rect l="l" t="t" r="r" b="b"/>
              <a:pathLst>
                <a:path w="0" h="710">
                  <a:moveTo>
                    <a:pt x="0" y="0"/>
                  </a:moveTo>
                  <a:lnTo>
                    <a:pt x="0" y="710"/>
                  </a:lnTo>
                </a:path>
              </a:pathLst>
            </a:custGeom>
            <a:noFill/>
            <a:ln w="5715">
              <a:solidFill>
                <a:srgbClr val="9FB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ath_0037"/>
            <p:cNvSpPr/>
            <p:nvPr/>
          </p:nvSpPr>
          <p:spPr>
            <a:xfrm>
              <a:off x="3552444" y="1920240"/>
              <a:ext cx="0" cy="649224"/>
            </a:xfrm>
            <a:custGeom>
              <a:avLst/>
              <a:gdLst/>
              <a:ahLst/>
              <a:cxnLst/>
              <a:rect l="l" t="t" r="r" b="b"/>
              <a:pathLst>
                <a:path w="0" h="710">
                  <a:moveTo>
                    <a:pt x="0" y="0"/>
                  </a:moveTo>
                  <a:lnTo>
                    <a:pt x="0" y="710"/>
                  </a:lnTo>
                </a:path>
              </a:pathLst>
            </a:custGeom>
            <a:noFill/>
            <a:ln w="5715">
              <a:solidFill>
                <a:srgbClr val="9FB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ath_0038"/>
            <p:cNvSpPr/>
            <p:nvPr/>
          </p:nvSpPr>
          <p:spPr>
            <a:xfrm>
              <a:off x="3714293" y="1920240"/>
              <a:ext cx="0" cy="649224"/>
            </a:xfrm>
            <a:custGeom>
              <a:avLst/>
              <a:gdLst/>
              <a:ahLst/>
              <a:cxnLst/>
              <a:rect l="l" t="t" r="r" b="b"/>
              <a:pathLst>
                <a:path w="0" h="710">
                  <a:moveTo>
                    <a:pt x="0" y="0"/>
                  </a:moveTo>
                  <a:lnTo>
                    <a:pt x="0" y="710"/>
                  </a:lnTo>
                </a:path>
              </a:pathLst>
            </a:custGeom>
            <a:noFill/>
            <a:ln w="5715">
              <a:solidFill>
                <a:srgbClr val="9FB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oncatenated_qwen_latents_layer24"/>
            <p:cNvSpPr/>
            <p:nvPr/>
          </p:nvSpPr>
          <p:spPr>
            <a:xfrm>
              <a:off x="3227832" y="2569464"/>
              <a:ext cx="649224" cy="649224"/>
            </a:xfrm>
            <a:prstGeom prst="rect">
              <a:avLst/>
            </a:prstGeom>
            <a:solidFill>
              <a:srgbClr val="F1E2CC"/>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ath_0040"/>
            <p:cNvSpPr/>
            <p:nvPr/>
          </p:nvSpPr>
          <p:spPr>
            <a:xfrm>
              <a:off x="3389681" y="2569464"/>
              <a:ext cx="0" cy="649224"/>
            </a:xfrm>
            <a:custGeom>
              <a:avLst/>
              <a:gdLst/>
              <a:ahLst/>
              <a:cxnLst/>
              <a:rect l="l" t="t" r="r" b="b"/>
              <a:pathLst>
                <a:path w="0" h="710">
                  <a:moveTo>
                    <a:pt x="0" y="0"/>
                  </a:moveTo>
                  <a:lnTo>
                    <a:pt x="0" y="710"/>
                  </a:lnTo>
                </a:path>
              </a:pathLst>
            </a:custGeom>
            <a:noFill/>
            <a:ln w="5715">
              <a:solidFill>
                <a:srgbClr val="E5C7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ath_0041"/>
            <p:cNvSpPr/>
            <p:nvPr/>
          </p:nvSpPr>
          <p:spPr>
            <a:xfrm>
              <a:off x="3552444" y="2569464"/>
              <a:ext cx="0" cy="649224"/>
            </a:xfrm>
            <a:custGeom>
              <a:avLst/>
              <a:gdLst/>
              <a:ahLst/>
              <a:cxnLst/>
              <a:rect l="l" t="t" r="r" b="b"/>
              <a:pathLst>
                <a:path w="0" h="710">
                  <a:moveTo>
                    <a:pt x="0" y="0"/>
                  </a:moveTo>
                  <a:lnTo>
                    <a:pt x="0" y="710"/>
                  </a:lnTo>
                </a:path>
              </a:pathLst>
            </a:custGeom>
            <a:noFill/>
            <a:ln w="5715">
              <a:solidFill>
                <a:srgbClr val="E5C7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ath_0042"/>
            <p:cNvSpPr/>
            <p:nvPr/>
          </p:nvSpPr>
          <p:spPr>
            <a:xfrm>
              <a:off x="3714293" y="2569464"/>
              <a:ext cx="0" cy="649224"/>
            </a:xfrm>
            <a:custGeom>
              <a:avLst/>
              <a:gdLst/>
              <a:ahLst/>
              <a:cxnLst/>
              <a:rect l="l" t="t" r="r" b="b"/>
              <a:pathLst>
                <a:path w="0" h="710">
                  <a:moveTo>
                    <a:pt x="0" y="0"/>
                  </a:moveTo>
                  <a:lnTo>
                    <a:pt x="0" y="710"/>
                  </a:lnTo>
                </a:path>
              </a:pathLst>
            </a:custGeom>
            <a:noFill/>
            <a:ln w="5715">
              <a:solidFill>
                <a:srgbClr val="E5C7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oncatenated_qwen_latents_layer32"/>
            <p:cNvSpPr/>
            <p:nvPr/>
          </p:nvSpPr>
          <p:spPr>
            <a:xfrm>
              <a:off x="3227832" y="3218688"/>
              <a:ext cx="649224" cy="1298448"/>
            </a:xfrm>
            <a:prstGeom prst="rect">
              <a:avLst/>
            </a:prstGeom>
            <a:solidFill>
              <a:srgbClr val="CAE4DF"/>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ath_0044"/>
            <p:cNvSpPr/>
            <p:nvPr/>
          </p:nvSpPr>
          <p:spPr>
            <a:xfrm>
              <a:off x="3389681" y="3218688"/>
              <a:ext cx="0" cy="1298448"/>
            </a:xfrm>
            <a:custGeom>
              <a:avLst/>
              <a:gdLst/>
              <a:ahLst/>
              <a:cxnLst/>
              <a:rect l="l" t="t" r="r" b="b"/>
              <a:pathLst>
                <a:path w="0" h="1420">
                  <a:moveTo>
                    <a:pt x="0" y="0"/>
                  </a:moveTo>
                  <a:lnTo>
                    <a:pt x="0" y="1420"/>
                  </a:lnTo>
                </a:path>
              </a:pathLst>
            </a:custGeom>
            <a:noFill/>
            <a:ln w="5715">
              <a:solidFill>
                <a:srgbClr val="9AC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ath_0045"/>
            <p:cNvSpPr/>
            <p:nvPr/>
          </p:nvSpPr>
          <p:spPr>
            <a:xfrm>
              <a:off x="3552444" y="3218688"/>
              <a:ext cx="0" cy="1298448"/>
            </a:xfrm>
            <a:custGeom>
              <a:avLst/>
              <a:gdLst/>
              <a:ahLst/>
              <a:cxnLst/>
              <a:rect l="l" t="t" r="r" b="b"/>
              <a:pathLst>
                <a:path w="0" h="1420">
                  <a:moveTo>
                    <a:pt x="0" y="0"/>
                  </a:moveTo>
                  <a:lnTo>
                    <a:pt x="0" y="1420"/>
                  </a:lnTo>
                </a:path>
              </a:pathLst>
            </a:custGeom>
            <a:noFill/>
            <a:ln w="5715">
              <a:solidFill>
                <a:srgbClr val="9AC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ath_0046"/>
            <p:cNvSpPr/>
            <p:nvPr/>
          </p:nvSpPr>
          <p:spPr>
            <a:xfrm>
              <a:off x="3714293" y="3218688"/>
              <a:ext cx="0" cy="1298448"/>
            </a:xfrm>
            <a:custGeom>
              <a:avLst/>
              <a:gdLst/>
              <a:ahLst/>
              <a:cxnLst/>
              <a:rect l="l" t="t" r="r" b="b"/>
              <a:pathLst>
                <a:path w="0" h="1420">
                  <a:moveTo>
                    <a:pt x="0" y="0"/>
                  </a:moveTo>
                  <a:lnTo>
                    <a:pt x="0" y="1420"/>
                  </a:lnTo>
                </a:path>
              </a:pathLst>
            </a:custGeom>
            <a:noFill/>
            <a:ln w="5715">
              <a:solidFill>
                <a:srgbClr val="9AC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oncatenated_qwen_latents_outline"/>
            <p:cNvSpPr/>
            <p:nvPr/>
          </p:nvSpPr>
          <p:spPr>
            <a:xfrm>
              <a:off x="3227832" y="1920240"/>
              <a:ext cx="649224" cy="2596896"/>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40" name="module_rect_0052"/>
          <p:cNvGrpSpPr/>
          <p:nvPr/>
        </p:nvGrpSpPr>
        <p:grpSpPr>
          <a:xfrm>
            <a:off x="393192" y="5989320"/>
            <a:ext cx="594360" cy="402336"/>
            <a:chOff x="393192" y="5989320"/>
            <a:chExt cx="594360" cy="402336"/>
          </a:xfrm>
        </p:grpSpPr>
        <p:sp>
          <p:nvSpPr>
            <p:cNvPr id="54" name="rect_0052"/>
            <p:cNvSpPr/>
            <p:nvPr/>
          </p:nvSpPr>
          <p:spPr>
            <a:xfrm>
              <a:off x="393192" y="5989320"/>
              <a:ext cx="594360" cy="402336"/>
            </a:xfrm>
            <a:prstGeom prst="roundRect">
              <a:avLst>
                <a:gd name="adj" fmla="val 12000"/>
              </a:avLst>
            </a:prstGeom>
            <a:solidFill>
              <a:srgbClr val="E5EEF5"/>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_0053"/>
            <p:cNvSpPr txBox="1"/>
            <p:nvPr/>
          </p:nvSpPr>
          <p:spPr>
            <a:xfrm>
              <a:off x="438912" y="5998464"/>
              <a:ext cx="502920" cy="38404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Eℓ</a:t>
              </a:r>
            </a:p>
          </p:txBody>
        </p:sp>
      </p:grpSp>
      <p:grpSp>
        <p:nvGrpSpPr>
          <p:cNvPr id="341" name="module_rect_0055"/>
          <p:cNvGrpSpPr/>
          <p:nvPr/>
        </p:nvGrpSpPr>
        <p:grpSpPr>
          <a:xfrm>
            <a:off x="1170432" y="5989320"/>
            <a:ext cx="594360" cy="402336"/>
            <a:chOff x="1170432" y="5989320"/>
            <a:chExt cx="594360" cy="402336"/>
          </a:xfrm>
        </p:grpSpPr>
        <p:sp>
          <p:nvSpPr>
            <p:cNvPr id="57" name="rect_0055"/>
            <p:cNvSpPr/>
            <p:nvPr/>
          </p:nvSpPr>
          <p:spPr>
            <a:xfrm>
              <a:off x="1170432" y="5989320"/>
              <a:ext cx="594360" cy="402336"/>
            </a:xfrm>
            <a:prstGeom prst="roundRect">
              <a:avLst>
                <a:gd name="adj" fmla="val 12000"/>
              </a:avLst>
            </a:prstGeom>
            <a:solidFill>
              <a:srgbClr val="E5EEF5"/>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_0056"/>
            <p:cNvSpPr txBox="1"/>
            <p:nvPr/>
          </p:nvSpPr>
          <p:spPr>
            <a:xfrm>
              <a:off x="1216152" y="5998464"/>
              <a:ext cx="502920" cy="38404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Dℓ</a:t>
              </a:r>
            </a:p>
          </p:txBody>
        </p:sp>
      </p:grpSp>
      <p:grpSp>
        <p:nvGrpSpPr>
          <p:cNvPr id="342" name="module_rect_0058"/>
          <p:cNvGrpSpPr/>
          <p:nvPr/>
        </p:nvGrpSpPr>
        <p:grpSpPr>
          <a:xfrm>
            <a:off x="1947672" y="5925312"/>
            <a:ext cx="1097280" cy="530352"/>
            <a:chOff x="1947672" y="5925312"/>
            <a:chExt cx="1097280" cy="530352"/>
          </a:xfrm>
        </p:grpSpPr>
        <p:sp>
          <p:nvSpPr>
            <p:cNvPr id="60" name="rect_0058"/>
            <p:cNvSpPr/>
            <p:nvPr/>
          </p:nvSpPr>
          <p:spPr>
            <a:xfrm>
              <a:off x="1947672" y="5925312"/>
              <a:ext cx="1097280" cy="53035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_0059"/>
            <p:cNvSpPr txBox="1"/>
            <p:nvPr/>
          </p:nvSpPr>
          <p:spPr>
            <a:xfrm>
              <a:off x="1993391" y="5934456"/>
              <a:ext cx="1005839" cy="512063"/>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233344"/>
                  </a:solidFill>
                  <a:latin typeface="DejaVu Sans"/>
                </a:rPr>
                <a:t>Frozen</a:t>
              </a:r>
            </a:p>
            <a:p>
              <a:pPr algn="ctr">
                <a:lnSpc>
                  <a:spcPts val="1468"/>
                </a:lnSpc>
                <a:spcBef>
                  <a:spcPts val="0"/>
                </a:spcBef>
                <a:spcAft>
                  <a:spcPts val="0"/>
                </a:spcAft>
              </a:pPr>
              <a:r>
                <a:rPr sz="1300" b="0">
                  <a:solidFill>
                    <a:srgbClr val="233344"/>
                  </a:solidFill>
                  <a:latin typeface="DejaVu Sans"/>
                </a:rPr>
                <a:t>Qwen suffix</a:t>
              </a:r>
            </a:p>
          </p:txBody>
        </p:sp>
      </p:grpSp>
      <p:grpSp>
        <p:nvGrpSpPr>
          <p:cNvPr id="343" name="stage_2_heading"/>
          <p:cNvGrpSpPr/>
          <p:nvPr/>
        </p:nvGrpSpPr>
        <p:grpSpPr>
          <a:xfrm>
            <a:off x="4434840" y="210312"/>
            <a:ext cx="3749039" cy="539496"/>
            <a:chOff x="4434840" y="210312"/>
            <a:chExt cx="3749039" cy="539496"/>
          </a:xfrm>
        </p:grpSpPr>
        <p:sp>
          <p:nvSpPr>
            <p:cNvPr id="65" name="rect_0063"/>
            <p:cNvSpPr/>
            <p:nvPr/>
          </p:nvSpPr>
          <p:spPr>
            <a:xfrm>
              <a:off x="443484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_0064"/>
            <p:cNvSpPr txBox="1"/>
            <p:nvPr/>
          </p:nvSpPr>
          <p:spPr>
            <a:xfrm>
              <a:off x="455371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2</a:t>
              </a:r>
            </a:p>
          </p:txBody>
        </p:sp>
        <p:sp>
          <p:nvSpPr>
            <p:cNvPr id="67" name="text_0065"/>
            <p:cNvSpPr txBox="1"/>
            <p:nvPr/>
          </p:nvSpPr>
          <p:spPr>
            <a:xfrm>
              <a:off x="488289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Flow training</a:t>
              </a:r>
            </a:p>
          </p:txBody>
        </p:sp>
      </p:grpSp>
      <p:grpSp>
        <p:nvGrpSpPr>
          <p:cNvPr id="344" name="module_rect_0066"/>
          <p:cNvGrpSpPr/>
          <p:nvPr/>
        </p:nvGrpSpPr>
        <p:grpSpPr>
          <a:xfrm>
            <a:off x="4562855" y="1005840"/>
            <a:ext cx="987552" cy="420624"/>
            <a:chOff x="4562855" y="1005840"/>
            <a:chExt cx="987552" cy="420624"/>
          </a:xfrm>
        </p:grpSpPr>
        <p:sp>
          <p:nvSpPr>
            <p:cNvPr id="68" name="rect_0066"/>
            <p:cNvSpPr/>
            <p:nvPr/>
          </p:nvSpPr>
          <p:spPr>
            <a:xfrm>
              <a:off x="4562855" y="1005840"/>
              <a:ext cx="987552" cy="420624"/>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_0067"/>
            <p:cNvSpPr txBox="1"/>
            <p:nvPr/>
          </p:nvSpPr>
          <p:spPr>
            <a:xfrm>
              <a:off x="4608575" y="1014984"/>
              <a:ext cx="896112" cy="402336"/>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Question</a:t>
              </a:r>
            </a:p>
          </p:txBody>
        </p:sp>
      </p:grpSp>
      <p:grpSp>
        <p:nvGrpSpPr>
          <p:cNvPr id="345" name="module_trainable_prompt_encoder"/>
          <p:cNvGrpSpPr/>
          <p:nvPr/>
        </p:nvGrpSpPr>
        <p:grpSpPr>
          <a:xfrm>
            <a:off x="6025896" y="950976"/>
            <a:ext cx="2039112" cy="530352"/>
            <a:chOff x="6025896" y="950976"/>
            <a:chExt cx="2039112" cy="530352"/>
          </a:xfrm>
        </p:grpSpPr>
        <p:sp>
          <p:nvSpPr>
            <p:cNvPr id="71" name="trainable_prompt_encoder"/>
            <p:cNvSpPr/>
            <p:nvPr/>
          </p:nvSpPr>
          <p:spPr>
            <a:xfrm>
              <a:off x="6025896" y="950976"/>
              <a:ext cx="2039112" cy="530352"/>
            </a:xfrm>
            <a:prstGeom prst="roundRect">
              <a:avLst>
                <a:gd name="adj" fmla="val 12000"/>
              </a:avLst>
            </a:prstGeom>
            <a:solidFill>
              <a:srgbClr val="EFEDF5"/>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rainable_prompt_encoder_label"/>
            <p:cNvSpPr txBox="1"/>
            <p:nvPr/>
          </p:nvSpPr>
          <p:spPr>
            <a:xfrm>
              <a:off x="6071616" y="960120"/>
              <a:ext cx="1947672" cy="512063"/>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Prompt encoder</a:t>
              </a:r>
            </a:p>
            <a:p>
              <a:pPr algn="ctr">
                <a:lnSpc>
                  <a:spcPts val="1920"/>
                </a:lnSpc>
                <a:spcBef>
                  <a:spcPts val="0"/>
                </a:spcBef>
                <a:spcAft>
                  <a:spcPts val="0"/>
                </a:spcAft>
              </a:pPr>
              <a:r>
                <a:rPr sz="1700" b="0">
                  <a:solidFill>
                    <a:srgbClr val="233344"/>
                  </a:solidFill>
                  <a:latin typeface="DejaVu Sans"/>
                </a:rPr>
                <a:t>Pφ</a:t>
              </a:r>
            </a:p>
          </p:txBody>
        </p:sp>
      </p:grpSp>
      <p:grpSp>
        <p:nvGrpSpPr>
          <p:cNvPr id="346" name="module_rect_0073"/>
          <p:cNvGrpSpPr/>
          <p:nvPr/>
        </p:nvGrpSpPr>
        <p:grpSpPr>
          <a:xfrm>
            <a:off x="6144768" y="1938528"/>
            <a:ext cx="1920240" cy="438912"/>
            <a:chOff x="6144768" y="1938528"/>
            <a:chExt cx="1920240" cy="438912"/>
          </a:xfrm>
        </p:grpSpPr>
        <p:sp>
          <p:nvSpPr>
            <p:cNvPr id="75" name="rect_0073"/>
            <p:cNvSpPr/>
            <p:nvPr/>
          </p:nvSpPr>
          <p:spPr>
            <a:xfrm>
              <a:off x="6144768" y="1938528"/>
              <a:ext cx="1920240" cy="43891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_0074"/>
            <p:cNvSpPr txBox="1"/>
            <p:nvPr/>
          </p:nvSpPr>
          <p:spPr>
            <a:xfrm>
              <a:off x="6190488" y="1947672"/>
              <a:ext cx="1828800" cy="420623"/>
            </a:xfrm>
            <a:prstGeom prst="rect">
              <a:avLst/>
            </a:prstGeom>
            <a:noFill/>
          </p:spPr>
          <p:txBody>
            <a:bodyPr wrap="none" lIns="0" rIns="0" tIns="0" bIns="0" anchor="ctr">
              <a:spAutoFit/>
            </a:bodyPr>
            <a:lstStyle/>
            <a:p>
              <a:pPr algn="ctr">
                <a:lnSpc>
                  <a:spcPts val="2033"/>
                </a:lnSpc>
                <a:spcBef>
                  <a:spcPts val="0"/>
                </a:spcBef>
                <a:spcAft>
                  <a:spcPts val="0"/>
                </a:spcAft>
              </a:pPr>
              <a:r>
                <a:rPr sz="1800" b="0">
                  <a:solidFill>
                    <a:srgbClr val="233344"/>
                  </a:solidFill>
                  <a:latin typeface="DejaVu Sans"/>
                </a:rPr>
                <a:t>x + noise ε</a:t>
              </a:r>
            </a:p>
          </p:txBody>
        </p:sp>
      </p:grpSp>
      <p:grpSp>
        <p:nvGrpSpPr>
          <p:cNvPr id="347" name="training_noisy_answer_editable_tiles"/>
          <p:cNvGrpSpPr/>
          <p:nvPr/>
        </p:nvGrpSpPr>
        <p:grpSpPr>
          <a:xfrm>
            <a:off x="5522975" y="2551176"/>
            <a:ext cx="2468880" cy="502920"/>
            <a:chOff x="5522975" y="2551176"/>
            <a:chExt cx="2468880" cy="502920"/>
          </a:xfrm>
        </p:grpSpPr>
        <p:sp>
          <p:nvSpPr>
            <p:cNvPr id="80" name="training_noisy_answer_L16_r0_c0"/>
            <p:cNvSpPr/>
            <p:nvPr/>
          </p:nvSpPr>
          <p:spPr>
            <a:xfrm>
              <a:off x="5522975" y="2551176"/>
              <a:ext cx="411480" cy="62865"/>
            </a:xfrm>
            <a:prstGeom prst="rect">
              <a:avLst/>
            </a:prstGeom>
            <a:solidFill>
              <a:srgbClr val="BBC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raining_noisy_answer_L16_r0_c1"/>
            <p:cNvSpPr/>
            <p:nvPr/>
          </p:nvSpPr>
          <p:spPr>
            <a:xfrm>
              <a:off x="5934455" y="2551176"/>
              <a:ext cx="411480" cy="62865"/>
            </a:xfrm>
            <a:prstGeom prst="rect">
              <a:avLst/>
            </a:prstGeom>
            <a:solidFill>
              <a:srgbClr val="82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raining_noisy_answer_L16_r0_c2"/>
            <p:cNvSpPr/>
            <p:nvPr/>
          </p:nvSpPr>
          <p:spPr>
            <a:xfrm>
              <a:off x="6345936" y="2551176"/>
              <a:ext cx="411480" cy="62865"/>
            </a:xfrm>
            <a:prstGeom prst="rect">
              <a:avLst/>
            </a:prstGeom>
            <a:solidFill>
              <a:srgbClr val="8B9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raining_noisy_answer_L16_r0_c3"/>
            <p:cNvSpPr/>
            <p:nvPr/>
          </p:nvSpPr>
          <p:spPr>
            <a:xfrm>
              <a:off x="6757416" y="2551176"/>
              <a:ext cx="411480" cy="62865"/>
            </a:xfrm>
            <a:prstGeom prst="rect">
              <a:avLst/>
            </a:prstGeom>
            <a:solidFill>
              <a:srgbClr val="9BA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raining_noisy_answer_L16_r0_c4"/>
            <p:cNvSpPr/>
            <p:nvPr/>
          </p:nvSpPr>
          <p:spPr>
            <a:xfrm>
              <a:off x="7168895" y="2551176"/>
              <a:ext cx="411480" cy="62865"/>
            </a:xfrm>
            <a:prstGeom prst="rect">
              <a:avLst/>
            </a:prstGeom>
            <a:solidFill>
              <a:srgbClr val="B9C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raining_noisy_answer_L16_r0_c5"/>
            <p:cNvSpPr/>
            <p:nvPr/>
          </p:nvSpPr>
          <p:spPr>
            <a:xfrm>
              <a:off x="7580375" y="2551176"/>
              <a:ext cx="411480" cy="62865"/>
            </a:xfrm>
            <a:prstGeom prst="rect">
              <a:avLst/>
            </a:prstGeom>
            <a:solidFill>
              <a:srgbClr val="ABB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raining_noisy_answer_L16_r1_c0"/>
            <p:cNvSpPr/>
            <p:nvPr/>
          </p:nvSpPr>
          <p:spPr>
            <a:xfrm>
              <a:off x="5522975" y="2614041"/>
              <a:ext cx="411480" cy="62865"/>
            </a:xfrm>
            <a:prstGeom prst="rect">
              <a:avLst/>
            </a:prstGeom>
            <a:solidFill>
              <a:srgbClr val="C5D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raining_noisy_answer_L16_r1_c1"/>
            <p:cNvSpPr/>
            <p:nvPr/>
          </p:nvSpPr>
          <p:spPr>
            <a:xfrm>
              <a:off x="5934455" y="2614041"/>
              <a:ext cx="411480" cy="62865"/>
            </a:xfrm>
            <a:prstGeom prst="rect">
              <a:avLst/>
            </a:prstGeom>
            <a:solidFill>
              <a:srgbClr val="7C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raining_noisy_answer_L16_r1_c2"/>
            <p:cNvSpPr/>
            <p:nvPr/>
          </p:nvSpPr>
          <p:spPr>
            <a:xfrm>
              <a:off x="6345936" y="2614041"/>
              <a:ext cx="411480" cy="62865"/>
            </a:xfrm>
            <a:prstGeom prst="rect">
              <a:avLst/>
            </a:prstGeom>
            <a:solidFill>
              <a:srgbClr val="AA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raining_noisy_answer_L16_r1_c3"/>
            <p:cNvSpPr/>
            <p:nvPr/>
          </p:nvSpPr>
          <p:spPr>
            <a:xfrm>
              <a:off x="6757416" y="2614041"/>
              <a:ext cx="411480" cy="62865"/>
            </a:xfrm>
            <a:prstGeom prst="rect">
              <a:avLst/>
            </a:prstGeom>
            <a:solidFill>
              <a:srgbClr val="82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raining_noisy_answer_L16_r1_c4"/>
            <p:cNvSpPr/>
            <p:nvPr/>
          </p:nvSpPr>
          <p:spPr>
            <a:xfrm>
              <a:off x="7168895" y="2614041"/>
              <a:ext cx="411480" cy="62865"/>
            </a:xfrm>
            <a:prstGeom prst="rect">
              <a:avLst/>
            </a:prstGeom>
            <a:solidFill>
              <a:srgbClr val="8795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raining_noisy_answer_L16_r1_c5"/>
            <p:cNvSpPr/>
            <p:nvPr/>
          </p:nvSpPr>
          <p:spPr>
            <a:xfrm>
              <a:off x="7580375" y="2614041"/>
              <a:ext cx="411480" cy="62865"/>
            </a:xfrm>
            <a:prstGeom prst="rect">
              <a:avLst/>
            </a:prstGeom>
            <a:solidFill>
              <a:srgbClr val="B1B8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raining_noisy_answer_L24_r0_c0"/>
            <p:cNvSpPr/>
            <p:nvPr/>
          </p:nvSpPr>
          <p:spPr>
            <a:xfrm>
              <a:off x="5522975" y="2676906"/>
              <a:ext cx="411480" cy="62865"/>
            </a:xfrm>
            <a:prstGeom prst="rect">
              <a:avLst/>
            </a:prstGeom>
            <a:solidFill>
              <a:srgbClr val="9B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raining_noisy_answer_L24_r0_c1"/>
            <p:cNvSpPr/>
            <p:nvPr/>
          </p:nvSpPr>
          <p:spPr>
            <a:xfrm>
              <a:off x="5934455" y="2676906"/>
              <a:ext cx="411480" cy="62865"/>
            </a:xfrm>
            <a:prstGeom prst="rect">
              <a:avLst/>
            </a:prstGeom>
            <a:solidFill>
              <a:srgbClr val="A6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raining_noisy_answer_L24_r0_c2"/>
            <p:cNvSpPr/>
            <p:nvPr/>
          </p:nvSpPr>
          <p:spPr>
            <a:xfrm>
              <a:off x="6345936" y="2676906"/>
              <a:ext cx="411480" cy="62865"/>
            </a:xfrm>
            <a:prstGeom prst="rect">
              <a:avLst/>
            </a:prstGeom>
            <a:solidFill>
              <a:srgbClr val="C6B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raining_noisy_answer_L24_r0_c3"/>
            <p:cNvSpPr/>
            <p:nvPr/>
          </p:nvSpPr>
          <p:spPr>
            <a:xfrm>
              <a:off x="6757416" y="2676906"/>
              <a:ext cx="411480" cy="62865"/>
            </a:xfrm>
            <a:prstGeom prst="rect">
              <a:avLst/>
            </a:prstGeom>
            <a:solidFill>
              <a:srgbClr val="C4B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raining_noisy_answer_L24_r0_c4"/>
            <p:cNvSpPr/>
            <p:nvPr/>
          </p:nvSpPr>
          <p:spPr>
            <a:xfrm>
              <a:off x="7168895" y="2676906"/>
              <a:ext cx="411480" cy="62865"/>
            </a:xfrm>
            <a:prstGeom prst="rect">
              <a:avLst/>
            </a:prstGeom>
            <a:solidFill>
              <a:srgbClr val="A89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raining_noisy_answer_L24_r0_c5"/>
            <p:cNvSpPr/>
            <p:nvPr/>
          </p:nvSpPr>
          <p:spPr>
            <a:xfrm>
              <a:off x="7580375" y="2676906"/>
              <a:ext cx="411480" cy="62865"/>
            </a:xfrm>
            <a:prstGeom prst="rect">
              <a:avLst/>
            </a:prstGeom>
            <a:solidFill>
              <a:srgbClr val="C2B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raining_noisy_answer_L24_r1_c0"/>
            <p:cNvSpPr/>
            <p:nvPr/>
          </p:nvSpPr>
          <p:spPr>
            <a:xfrm>
              <a:off x="5522975" y="2739771"/>
              <a:ext cx="411480" cy="62865"/>
            </a:xfrm>
            <a:prstGeom prst="rect">
              <a:avLst/>
            </a:prstGeom>
            <a:solidFill>
              <a:srgbClr val="D6C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raining_noisy_answer_L24_r1_c1"/>
            <p:cNvSpPr/>
            <p:nvPr/>
          </p:nvSpPr>
          <p:spPr>
            <a:xfrm>
              <a:off x="5934455" y="2739771"/>
              <a:ext cx="411480" cy="62865"/>
            </a:xfrm>
            <a:prstGeom prst="rect">
              <a:avLst/>
            </a:prstGeom>
            <a:solidFill>
              <a:srgbClr val="9488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raining_noisy_answer_L24_r1_c2"/>
            <p:cNvSpPr/>
            <p:nvPr/>
          </p:nvSpPr>
          <p:spPr>
            <a:xfrm>
              <a:off x="6345936" y="2739771"/>
              <a:ext cx="411480" cy="62865"/>
            </a:xfrm>
            <a:prstGeom prst="rect">
              <a:avLst/>
            </a:prstGeom>
            <a:solidFill>
              <a:srgbClr val="D8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raining_noisy_answer_L24_r1_c3"/>
            <p:cNvSpPr/>
            <p:nvPr/>
          </p:nvSpPr>
          <p:spPr>
            <a:xfrm>
              <a:off x="6757416" y="2739771"/>
              <a:ext cx="411480" cy="62865"/>
            </a:xfrm>
            <a:prstGeom prst="rect">
              <a:avLst/>
            </a:prstGeom>
            <a:solidFill>
              <a:srgbClr val="CDC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raining_noisy_answer_L24_r1_c4"/>
            <p:cNvSpPr/>
            <p:nvPr/>
          </p:nvSpPr>
          <p:spPr>
            <a:xfrm>
              <a:off x="7168895" y="2739771"/>
              <a:ext cx="411480" cy="62865"/>
            </a:xfrm>
            <a:prstGeom prst="rect">
              <a:avLst/>
            </a:prstGeom>
            <a:solidFill>
              <a:srgbClr val="AEA1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raining_noisy_answer_L24_r1_c5"/>
            <p:cNvSpPr/>
            <p:nvPr/>
          </p:nvSpPr>
          <p:spPr>
            <a:xfrm>
              <a:off x="7580375" y="2739771"/>
              <a:ext cx="411480" cy="62865"/>
            </a:xfrm>
            <a:prstGeom prst="rect">
              <a:avLst/>
            </a:prstGeom>
            <a:solidFill>
              <a:srgbClr val="A59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raining_noisy_answer_L32_r0_c0"/>
            <p:cNvSpPr/>
            <p:nvPr/>
          </p:nvSpPr>
          <p:spPr>
            <a:xfrm>
              <a:off x="5522975" y="2802636"/>
              <a:ext cx="411480" cy="62865"/>
            </a:xfrm>
            <a:prstGeom prst="rect">
              <a:avLst/>
            </a:prstGeom>
            <a:solidFill>
              <a:srgbClr val="D3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raining_noisy_answer_L32_r0_c1"/>
            <p:cNvSpPr/>
            <p:nvPr/>
          </p:nvSpPr>
          <p:spPr>
            <a:xfrm>
              <a:off x="5934455" y="2802636"/>
              <a:ext cx="411480" cy="62865"/>
            </a:xfrm>
            <a:prstGeom prst="rect">
              <a:avLst/>
            </a:prstGeom>
            <a:solidFill>
              <a:srgbClr val="99A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raining_noisy_answer_L32_r0_c2"/>
            <p:cNvSpPr/>
            <p:nvPr/>
          </p:nvSpPr>
          <p:spPr>
            <a:xfrm>
              <a:off x="6345936" y="2802636"/>
              <a:ext cx="411480" cy="62865"/>
            </a:xfrm>
            <a:prstGeom prst="rect">
              <a:avLst/>
            </a:prstGeom>
            <a:solidFill>
              <a:srgbClr val="7B9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raining_noisy_answer_L32_r0_c3"/>
            <p:cNvSpPr/>
            <p:nvPr/>
          </p:nvSpPr>
          <p:spPr>
            <a:xfrm>
              <a:off x="6757416" y="2802636"/>
              <a:ext cx="411480" cy="62865"/>
            </a:xfrm>
            <a:prstGeom prst="rect">
              <a:avLst/>
            </a:prstGeom>
            <a:solidFill>
              <a:srgbClr val="909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raining_noisy_answer_L32_r0_c4"/>
            <p:cNvSpPr/>
            <p:nvPr/>
          </p:nvSpPr>
          <p:spPr>
            <a:xfrm>
              <a:off x="7168895" y="2802636"/>
              <a:ext cx="411480" cy="62865"/>
            </a:xfrm>
            <a:prstGeom prst="rect">
              <a:avLst/>
            </a:prstGeom>
            <a:solidFill>
              <a:srgbClr val="C0D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raining_noisy_answer_L32_r0_c5"/>
            <p:cNvSpPr/>
            <p:nvPr/>
          </p:nvSpPr>
          <p:spPr>
            <a:xfrm>
              <a:off x="7580375" y="2802636"/>
              <a:ext cx="411480" cy="62865"/>
            </a:xfrm>
            <a:prstGeom prst="rect">
              <a:avLst/>
            </a:prstGeom>
            <a:solidFill>
              <a:srgbClr val="A3B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raining_noisy_answer_L32_r1_c0"/>
            <p:cNvSpPr/>
            <p:nvPr/>
          </p:nvSpPr>
          <p:spPr>
            <a:xfrm>
              <a:off x="5522975" y="2865501"/>
              <a:ext cx="411480" cy="62865"/>
            </a:xfrm>
            <a:prstGeom prst="rect">
              <a:avLst/>
            </a:prstGeom>
            <a:solidFill>
              <a:srgbClr val="BDCD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raining_noisy_answer_L32_r1_c1"/>
            <p:cNvSpPr/>
            <p:nvPr/>
          </p:nvSpPr>
          <p:spPr>
            <a:xfrm>
              <a:off x="5934455" y="2865501"/>
              <a:ext cx="411480" cy="62865"/>
            </a:xfrm>
            <a:prstGeom prst="rect">
              <a:avLst/>
            </a:prstGeom>
            <a:solidFill>
              <a:srgbClr val="ADC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raining_noisy_answer_L32_r1_c2"/>
            <p:cNvSpPr/>
            <p:nvPr/>
          </p:nvSpPr>
          <p:spPr>
            <a:xfrm>
              <a:off x="6345936" y="2865501"/>
              <a:ext cx="411480" cy="62865"/>
            </a:xfrm>
            <a:prstGeom prst="rect">
              <a:avLst/>
            </a:prstGeom>
            <a:solidFill>
              <a:srgbClr val="B2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raining_noisy_answer_L32_r1_c3"/>
            <p:cNvSpPr/>
            <p:nvPr/>
          </p:nvSpPr>
          <p:spPr>
            <a:xfrm>
              <a:off x="6757416" y="2865501"/>
              <a:ext cx="411480" cy="62865"/>
            </a:xfrm>
            <a:prstGeom prst="rect">
              <a:avLst/>
            </a:prstGeom>
            <a:solidFill>
              <a:srgbClr val="CADA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raining_noisy_answer_L32_r1_c4"/>
            <p:cNvSpPr/>
            <p:nvPr/>
          </p:nvSpPr>
          <p:spPr>
            <a:xfrm>
              <a:off x="7168895" y="2865501"/>
              <a:ext cx="411480" cy="62865"/>
            </a:xfrm>
            <a:prstGeom prst="rect">
              <a:avLst/>
            </a:prstGeom>
            <a:solidFill>
              <a:srgbClr val="91A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raining_noisy_answer_L32_r1_c5"/>
            <p:cNvSpPr/>
            <p:nvPr/>
          </p:nvSpPr>
          <p:spPr>
            <a:xfrm>
              <a:off x="7580375" y="2865501"/>
              <a:ext cx="411480" cy="62865"/>
            </a:xfrm>
            <a:prstGeom prst="rect">
              <a:avLst/>
            </a:prstGeom>
            <a:solidFill>
              <a:srgbClr val="B3BE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raining_noisy_answer_L32_r2_c0"/>
            <p:cNvSpPr/>
            <p:nvPr/>
          </p:nvSpPr>
          <p:spPr>
            <a:xfrm>
              <a:off x="5522975" y="2928366"/>
              <a:ext cx="411480" cy="62865"/>
            </a:xfrm>
            <a:prstGeom prst="rect">
              <a:avLst/>
            </a:prstGeom>
            <a:solidFill>
              <a:srgbClr val="B5C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raining_noisy_answer_L32_r2_c1"/>
            <p:cNvSpPr/>
            <p:nvPr/>
          </p:nvSpPr>
          <p:spPr>
            <a:xfrm>
              <a:off x="5934455" y="2928366"/>
              <a:ext cx="411480" cy="62865"/>
            </a:xfrm>
            <a:prstGeom prst="rect">
              <a:avLst/>
            </a:prstGeom>
            <a:solidFill>
              <a:srgbClr val="B8C3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raining_noisy_answer_L32_r2_c2"/>
            <p:cNvSpPr/>
            <p:nvPr/>
          </p:nvSpPr>
          <p:spPr>
            <a:xfrm>
              <a:off x="6345936" y="2928366"/>
              <a:ext cx="411480" cy="62865"/>
            </a:xfrm>
            <a:prstGeom prst="rect">
              <a:avLst/>
            </a:prstGeom>
            <a:solidFill>
              <a:srgbClr val="C1D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raining_noisy_answer_L32_r2_c3"/>
            <p:cNvSpPr/>
            <p:nvPr/>
          </p:nvSpPr>
          <p:spPr>
            <a:xfrm>
              <a:off x="6757416" y="2928366"/>
              <a:ext cx="411480" cy="62865"/>
            </a:xfrm>
            <a:prstGeom prst="rect">
              <a:avLst/>
            </a:prstGeom>
            <a:solidFill>
              <a:srgbClr val="A1B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raining_noisy_answer_L32_r2_c4"/>
            <p:cNvSpPr/>
            <p:nvPr/>
          </p:nvSpPr>
          <p:spPr>
            <a:xfrm>
              <a:off x="7168895" y="2928366"/>
              <a:ext cx="411480" cy="62865"/>
            </a:xfrm>
            <a:prstGeom prst="rect">
              <a:avLst/>
            </a:prstGeom>
            <a:solidFill>
              <a:srgbClr val="BFC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raining_noisy_answer_L32_r2_c5"/>
            <p:cNvSpPr/>
            <p:nvPr/>
          </p:nvSpPr>
          <p:spPr>
            <a:xfrm>
              <a:off x="7580375" y="2928366"/>
              <a:ext cx="411480" cy="62865"/>
            </a:xfrm>
            <a:prstGeom prst="rect">
              <a:avLst/>
            </a:prstGeom>
            <a:solidFill>
              <a:srgbClr val="8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raining_noisy_answer_L32_r3_c0"/>
            <p:cNvSpPr/>
            <p:nvPr/>
          </p:nvSpPr>
          <p:spPr>
            <a:xfrm>
              <a:off x="5522975" y="2991231"/>
              <a:ext cx="411480" cy="62865"/>
            </a:xfrm>
            <a:prstGeom prst="rect">
              <a:avLst/>
            </a:prstGeom>
            <a:solidFill>
              <a:srgbClr val="9A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raining_noisy_answer_L32_r3_c1"/>
            <p:cNvSpPr/>
            <p:nvPr/>
          </p:nvSpPr>
          <p:spPr>
            <a:xfrm>
              <a:off x="5934455" y="2991231"/>
              <a:ext cx="411480" cy="62865"/>
            </a:xfrm>
            <a:prstGeom prst="rect">
              <a:avLst/>
            </a:prstGeom>
            <a:solidFill>
              <a:srgbClr val="95A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raining_noisy_answer_L32_r3_c2"/>
            <p:cNvSpPr/>
            <p:nvPr/>
          </p:nvSpPr>
          <p:spPr>
            <a:xfrm>
              <a:off x="6345936" y="2991231"/>
              <a:ext cx="411480" cy="62865"/>
            </a:xfrm>
            <a:prstGeom prst="rect">
              <a:avLst/>
            </a:prstGeom>
            <a:solidFill>
              <a:srgbClr val="7A8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raining_noisy_answer_L32_r3_c3"/>
            <p:cNvSpPr/>
            <p:nvPr/>
          </p:nvSpPr>
          <p:spPr>
            <a:xfrm>
              <a:off x="6757416" y="2991231"/>
              <a:ext cx="411480" cy="62865"/>
            </a:xfrm>
            <a:prstGeom prst="rect">
              <a:avLst/>
            </a:prstGeom>
            <a:solidFill>
              <a:srgbClr val="9A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raining_noisy_answer_L32_r3_c4"/>
            <p:cNvSpPr/>
            <p:nvPr/>
          </p:nvSpPr>
          <p:spPr>
            <a:xfrm>
              <a:off x="7168895" y="2991231"/>
              <a:ext cx="411480" cy="62865"/>
            </a:xfrm>
            <a:prstGeom prst="rect">
              <a:avLst/>
            </a:prstGeom>
            <a:solidFill>
              <a:srgbClr val="8696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raining_noisy_answer_L32_r3_c5"/>
            <p:cNvSpPr/>
            <p:nvPr/>
          </p:nvSpPr>
          <p:spPr>
            <a:xfrm>
              <a:off x="7580375" y="2991231"/>
              <a:ext cx="411480" cy="62865"/>
            </a:xfrm>
            <a:prstGeom prst="rect">
              <a:avLst/>
            </a:prstGeom>
            <a:solidFill>
              <a:srgbClr val="899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raining_noisy_answer_outline"/>
            <p:cNvSpPr/>
            <p:nvPr/>
          </p:nvSpPr>
          <p:spPr>
            <a:xfrm>
              <a:off x="5522975" y="2551176"/>
              <a:ext cx="2468880" cy="502920"/>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48" name="module_rect_0129"/>
          <p:cNvGrpSpPr/>
          <p:nvPr/>
        </p:nvGrpSpPr>
        <p:grpSpPr>
          <a:xfrm>
            <a:off x="4599431" y="3255264"/>
            <a:ext cx="1234440" cy="292608"/>
            <a:chOff x="4599431" y="3255264"/>
            <a:chExt cx="1234440" cy="292608"/>
          </a:xfrm>
        </p:grpSpPr>
        <p:sp>
          <p:nvSpPr>
            <p:cNvPr id="131" name="rect_0129"/>
            <p:cNvSpPr/>
            <p:nvPr/>
          </p:nvSpPr>
          <p:spPr>
            <a:xfrm>
              <a:off x="4599431" y="3255264"/>
              <a:ext cx="1234440" cy="292608"/>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_0130"/>
            <p:cNvSpPr txBox="1"/>
            <p:nvPr/>
          </p:nvSpPr>
          <p:spPr>
            <a:xfrm>
              <a:off x="4645151" y="3264408"/>
              <a:ext cx="1143000" cy="27432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33344"/>
                  </a:solidFill>
                  <a:latin typeface="DejaVu Sans"/>
                </a:rPr>
                <a:t>self-condition</a:t>
              </a:r>
            </a:p>
          </p:txBody>
        </p:sp>
      </p:grpSp>
      <p:grpSp>
        <p:nvGrpSpPr>
          <p:cNvPr id="349" name="module_rect_0132"/>
          <p:cNvGrpSpPr/>
          <p:nvPr/>
        </p:nvGrpSpPr>
        <p:grpSpPr>
          <a:xfrm>
            <a:off x="6784848" y="3209544"/>
            <a:ext cx="1362456" cy="393192"/>
            <a:chOff x="6784848" y="3209544"/>
            <a:chExt cx="1362456" cy="393192"/>
          </a:xfrm>
        </p:grpSpPr>
        <p:sp>
          <p:nvSpPr>
            <p:cNvPr id="134" name="rect_0132"/>
            <p:cNvSpPr/>
            <p:nvPr/>
          </p:nvSpPr>
          <p:spPr>
            <a:xfrm>
              <a:off x="6784848" y="3209544"/>
              <a:ext cx="1362456" cy="39319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_0133"/>
            <p:cNvSpPr txBox="1"/>
            <p:nvPr/>
          </p:nvSpPr>
          <p:spPr>
            <a:xfrm>
              <a:off x="6830568" y="3218687"/>
              <a:ext cx="1271016" cy="374904"/>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33344"/>
                  </a:solidFill>
                  <a:latin typeface="DejaVu Sans"/>
                </a:rPr>
                <a:t>t · mode ·</a:t>
              </a:r>
            </a:p>
            <a:p>
              <a:pPr algn="ctr">
                <a:lnSpc>
                  <a:spcPts val="1355"/>
                </a:lnSpc>
                <a:spcBef>
                  <a:spcPts val="0"/>
                </a:spcBef>
                <a:spcAft>
                  <a:spcPts val="0"/>
                </a:spcAft>
              </a:pPr>
              <a:r>
                <a:rPr sz="1200" b="0">
                  <a:solidFill>
                    <a:srgbClr val="233344"/>
                  </a:solidFill>
                  <a:latin typeface="DejaVu Sans"/>
                </a:rPr>
                <a:t>SCCFG</a:t>
              </a:r>
            </a:p>
          </p:txBody>
        </p:sp>
      </p:grpSp>
      <p:grpSp>
        <p:nvGrpSpPr>
          <p:cNvPr id="350" name="module_rect_0140"/>
          <p:cNvGrpSpPr/>
          <p:nvPr/>
        </p:nvGrpSpPr>
        <p:grpSpPr>
          <a:xfrm>
            <a:off x="4581144" y="5129784"/>
            <a:ext cx="1673352" cy="448056"/>
            <a:chOff x="4581144" y="5129784"/>
            <a:chExt cx="1673352" cy="448056"/>
          </a:xfrm>
        </p:grpSpPr>
        <p:sp>
          <p:nvSpPr>
            <p:cNvPr id="142" name="rect_0140"/>
            <p:cNvSpPr/>
            <p:nvPr/>
          </p:nvSpPr>
          <p:spPr>
            <a:xfrm>
              <a:off x="4581144" y="5129784"/>
              <a:ext cx="1673352" cy="448056"/>
            </a:xfrm>
            <a:prstGeom prst="roundRect">
              <a:avLst>
                <a:gd name="adj" fmla="val 12000"/>
              </a:avLst>
            </a:prstGeom>
            <a:solidFill>
              <a:srgbClr val="E7EFF6"/>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_0141"/>
            <p:cNvSpPr txBox="1"/>
            <p:nvPr/>
          </p:nvSpPr>
          <p:spPr>
            <a:xfrm>
              <a:off x="4626864" y="5138928"/>
              <a:ext cx="1581912" cy="429768"/>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Flow head → x̂</a:t>
              </a:r>
            </a:p>
          </p:txBody>
        </p:sp>
      </p:grpSp>
      <p:grpSp>
        <p:nvGrpSpPr>
          <p:cNvPr id="351" name="module_rect_0142"/>
          <p:cNvGrpSpPr/>
          <p:nvPr/>
        </p:nvGrpSpPr>
        <p:grpSpPr>
          <a:xfrm>
            <a:off x="6437375" y="5129784"/>
            <a:ext cx="1673352" cy="448056"/>
            <a:chOff x="6437375" y="5129784"/>
            <a:chExt cx="1673352" cy="448056"/>
          </a:xfrm>
        </p:grpSpPr>
        <p:sp>
          <p:nvSpPr>
            <p:cNvPr id="144" name="rect_0142"/>
            <p:cNvSpPr/>
            <p:nvPr/>
          </p:nvSpPr>
          <p:spPr>
            <a:xfrm>
              <a:off x="6437375" y="5129784"/>
              <a:ext cx="1673352" cy="448056"/>
            </a:xfrm>
            <a:prstGeom prst="roundRect">
              <a:avLst>
                <a:gd name="adj" fmla="val 12000"/>
              </a:avLst>
            </a:prstGeom>
            <a:solidFill>
              <a:srgbClr val="E6F2F0"/>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_0143"/>
            <p:cNvSpPr txBox="1"/>
            <p:nvPr/>
          </p:nvSpPr>
          <p:spPr>
            <a:xfrm>
              <a:off x="6483095" y="5138928"/>
              <a:ext cx="1581912" cy="42976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Token head</a:t>
              </a:r>
            </a:p>
          </p:txBody>
        </p:sp>
      </p:grpSp>
      <p:grpSp>
        <p:nvGrpSpPr>
          <p:cNvPr id="352" name="stage_3_heading"/>
          <p:cNvGrpSpPr/>
          <p:nvPr/>
        </p:nvGrpSpPr>
        <p:grpSpPr>
          <a:xfrm>
            <a:off x="8641080" y="210312"/>
            <a:ext cx="3749039" cy="539496"/>
            <a:chOff x="8641080" y="210312"/>
            <a:chExt cx="3749039" cy="539496"/>
          </a:xfrm>
        </p:grpSpPr>
        <p:sp>
          <p:nvSpPr>
            <p:cNvPr id="153" name="rect_0151"/>
            <p:cNvSpPr/>
            <p:nvPr/>
          </p:nvSpPr>
          <p:spPr>
            <a:xfrm>
              <a:off x="864108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_0152"/>
            <p:cNvSpPr txBox="1"/>
            <p:nvPr/>
          </p:nvSpPr>
          <p:spPr>
            <a:xfrm>
              <a:off x="875995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3</a:t>
              </a:r>
            </a:p>
          </p:txBody>
        </p:sp>
        <p:sp>
          <p:nvSpPr>
            <p:cNvPr id="155" name="text_0153"/>
            <p:cNvSpPr txBox="1"/>
            <p:nvPr/>
          </p:nvSpPr>
          <p:spPr>
            <a:xfrm>
              <a:off x="908913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Async inference</a:t>
              </a:r>
            </a:p>
          </p:txBody>
        </p:sp>
      </p:grpSp>
      <p:grpSp>
        <p:nvGrpSpPr>
          <p:cNvPr id="353" name="module_inference_prompt_once"/>
          <p:cNvGrpSpPr/>
          <p:nvPr/>
        </p:nvGrpSpPr>
        <p:grpSpPr>
          <a:xfrm>
            <a:off x="8787384" y="1005840"/>
            <a:ext cx="3538728" cy="411480"/>
            <a:chOff x="8787384" y="1005840"/>
            <a:chExt cx="3538728" cy="411480"/>
          </a:xfrm>
        </p:grpSpPr>
        <p:sp>
          <p:nvSpPr>
            <p:cNvPr id="156" name="inference_prompt_once"/>
            <p:cNvSpPr/>
            <p:nvPr/>
          </p:nvSpPr>
          <p:spPr>
            <a:xfrm>
              <a:off x="8787384" y="1005840"/>
              <a:ext cx="3538728" cy="411480"/>
            </a:xfrm>
            <a:prstGeom prst="roundRect">
              <a:avLst>
                <a:gd name="adj" fmla="val 12000"/>
              </a:avLst>
            </a:prstGeom>
            <a:solidFill>
              <a:srgbClr val="F3F1F7"/>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inference_prompt_once_label"/>
            <p:cNvSpPr txBox="1"/>
            <p:nvPr/>
          </p:nvSpPr>
          <p:spPr>
            <a:xfrm>
              <a:off x="8833104" y="1014984"/>
              <a:ext cx="3447288" cy="39319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Encode question once → cache c</a:t>
              </a:r>
            </a:p>
          </p:txBody>
        </p:sp>
      </p:grpSp>
      <p:grpSp>
        <p:nvGrpSpPr>
          <p:cNvPr id="354" name="async_latent_tau_0_editable_tiles"/>
          <p:cNvGrpSpPr/>
          <p:nvPr/>
        </p:nvGrpSpPr>
        <p:grpSpPr>
          <a:xfrm>
            <a:off x="9290304" y="4242816"/>
            <a:ext cx="566928" cy="914400"/>
            <a:chOff x="9290304" y="4242816"/>
            <a:chExt cx="566928" cy="914400"/>
          </a:xfrm>
        </p:grpSpPr>
        <p:sp>
          <p:nvSpPr>
            <p:cNvPr id="185" name="async_latent_tau_0_L16_r0_c0"/>
            <p:cNvSpPr/>
            <p:nvPr/>
          </p:nvSpPr>
          <p:spPr>
            <a:xfrm>
              <a:off x="9290304" y="4242816"/>
              <a:ext cx="141732" cy="114300"/>
            </a:xfrm>
            <a:prstGeom prst="rect">
              <a:avLst/>
            </a:prstGeom>
            <a:solidFill>
              <a:srgbClr val="B2B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async_latent_tau_0_L16_r0_c1"/>
            <p:cNvSpPr/>
            <p:nvPr/>
          </p:nvSpPr>
          <p:spPr>
            <a:xfrm>
              <a:off x="9432036" y="4242816"/>
              <a:ext cx="141732" cy="114300"/>
            </a:xfrm>
            <a:prstGeom prst="rect">
              <a:avLst/>
            </a:prstGeom>
            <a:solidFill>
              <a:srgbClr val="626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 name="async_latent_tau_0_L16_r0_c2"/>
            <p:cNvSpPr/>
            <p:nvPr/>
          </p:nvSpPr>
          <p:spPr>
            <a:xfrm>
              <a:off x="9573768" y="4242816"/>
              <a:ext cx="141732" cy="114300"/>
            </a:xfrm>
            <a:prstGeom prst="rect">
              <a:avLst/>
            </a:prstGeom>
            <a:solidFill>
              <a:srgbClr val="83838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 name="async_latent_tau_0_L16_r0_c3"/>
            <p:cNvSpPr/>
            <p:nvPr/>
          </p:nvSpPr>
          <p:spPr>
            <a:xfrm>
              <a:off x="9715500" y="4242816"/>
              <a:ext cx="141732" cy="114300"/>
            </a:xfrm>
            <a:prstGeom prst="rect">
              <a:avLst/>
            </a:prstGeom>
            <a:solidFill>
              <a:srgbClr val="7C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async_latent_tau_0_L16_r1_c0"/>
            <p:cNvSpPr/>
            <p:nvPr/>
          </p:nvSpPr>
          <p:spPr>
            <a:xfrm>
              <a:off x="9290304" y="4357116"/>
              <a:ext cx="141732" cy="114300"/>
            </a:xfrm>
            <a:prstGeom prst="rect">
              <a:avLst/>
            </a:prstGeom>
            <a:solidFill>
              <a:srgbClr val="BFBF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async_latent_tau_0_L16_r1_c1"/>
            <p:cNvSpPr/>
            <p:nvPr/>
          </p:nvSpPr>
          <p:spPr>
            <a:xfrm>
              <a:off x="9432036" y="4357116"/>
              <a:ext cx="141732" cy="114300"/>
            </a:xfrm>
            <a:prstGeom prst="rect">
              <a:avLst/>
            </a:prstGeom>
            <a:solidFill>
              <a:srgbClr val="B7B7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 name="async_latent_tau_0_L16_r1_c2"/>
            <p:cNvSpPr/>
            <p:nvPr/>
          </p:nvSpPr>
          <p:spPr>
            <a:xfrm>
              <a:off x="9573768" y="4357116"/>
              <a:ext cx="141732" cy="114300"/>
            </a:xfrm>
            <a:prstGeom prst="rect">
              <a:avLst/>
            </a:prstGeom>
            <a:solidFill>
              <a:srgbClr val="D3D3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 name="async_latent_tau_0_L16_r1_c3"/>
            <p:cNvSpPr/>
            <p:nvPr/>
          </p:nvSpPr>
          <p:spPr>
            <a:xfrm>
              <a:off x="9715500" y="4357116"/>
              <a:ext cx="141732" cy="114300"/>
            </a:xfrm>
            <a:prstGeom prst="rect">
              <a:avLst/>
            </a:prstGeom>
            <a:solidFill>
              <a:srgbClr val="6A6A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async_latent_tau_0_L24_r0_c0"/>
            <p:cNvSpPr/>
            <p:nvPr/>
          </p:nvSpPr>
          <p:spPr>
            <a:xfrm>
              <a:off x="9290304" y="4471416"/>
              <a:ext cx="141732" cy="114300"/>
            </a:xfrm>
            <a:prstGeom prst="rect">
              <a:avLst/>
            </a:prstGeom>
            <a:solidFill>
              <a:srgbClr val="9696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async_latent_tau_0_L24_r0_c1"/>
            <p:cNvSpPr/>
            <p:nvPr/>
          </p:nvSpPr>
          <p:spPr>
            <a:xfrm>
              <a:off x="9432036" y="4471416"/>
              <a:ext cx="141732" cy="114300"/>
            </a:xfrm>
            <a:prstGeom prst="rect">
              <a:avLst/>
            </a:prstGeom>
            <a:solidFill>
              <a:srgbClr val="6363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 name="async_latent_tau_0_L24_r0_c2"/>
            <p:cNvSpPr/>
            <p:nvPr/>
          </p:nvSpPr>
          <p:spPr>
            <a:xfrm>
              <a:off x="9573768" y="4471416"/>
              <a:ext cx="141732" cy="114300"/>
            </a:xfrm>
            <a:prstGeom prst="rect">
              <a:avLst/>
            </a:prstGeom>
            <a:solidFill>
              <a:srgbClr val="7B7B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 name="async_latent_tau_0_L24_r0_c3"/>
            <p:cNvSpPr/>
            <p:nvPr/>
          </p:nvSpPr>
          <p:spPr>
            <a:xfrm>
              <a:off x="9715500" y="4471416"/>
              <a:ext cx="141732" cy="114300"/>
            </a:xfrm>
            <a:prstGeom prst="rect">
              <a:avLst/>
            </a:prstGeom>
            <a:solidFill>
              <a:srgbClr val="A1A1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async_latent_tau_0_L24_r1_c0"/>
            <p:cNvSpPr/>
            <p:nvPr/>
          </p:nvSpPr>
          <p:spPr>
            <a:xfrm>
              <a:off x="9290304" y="4585716"/>
              <a:ext cx="141732" cy="114300"/>
            </a:xfrm>
            <a:prstGeom prst="rect">
              <a:avLst/>
            </a:prstGeom>
            <a:solidFill>
              <a:srgbClr val="626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async_latent_tau_0_L24_r1_c1"/>
            <p:cNvSpPr/>
            <p:nvPr/>
          </p:nvSpPr>
          <p:spPr>
            <a:xfrm>
              <a:off x="9432036" y="4585716"/>
              <a:ext cx="141732" cy="114300"/>
            </a:xfrm>
            <a:prstGeom prst="rect">
              <a:avLst/>
            </a:prstGeom>
            <a:solidFill>
              <a:srgbClr val="797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 name="async_latent_tau_0_L24_r1_c2"/>
            <p:cNvSpPr/>
            <p:nvPr/>
          </p:nvSpPr>
          <p:spPr>
            <a:xfrm>
              <a:off x="9573768" y="4585716"/>
              <a:ext cx="141732" cy="114300"/>
            </a:xfrm>
            <a:prstGeom prst="rect">
              <a:avLst/>
            </a:prstGeom>
            <a:solidFill>
              <a:srgbClr val="B3B3B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 name="async_latent_tau_0_L24_r1_c3"/>
            <p:cNvSpPr/>
            <p:nvPr/>
          </p:nvSpPr>
          <p:spPr>
            <a:xfrm>
              <a:off x="9715500" y="4585716"/>
              <a:ext cx="141732" cy="114300"/>
            </a:xfrm>
            <a:prstGeom prst="rect">
              <a:avLst/>
            </a:prstGeom>
            <a:solidFill>
              <a:srgbClr val="A6A6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async_latent_tau_0_L32_r0_c0"/>
            <p:cNvSpPr/>
            <p:nvPr/>
          </p:nvSpPr>
          <p:spPr>
            <a:xfrm>
              <a:off x="9290304" y="4700016"/>
              <a:ext cx="141732" cy="114300"/>
            </a:xfrm>
            <a:prstGeom prst="rect">
              <a:avLst/>
            </a:prstGeom>
            <a:solidFill>
              <a:srgbClr val="7C7C7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async_latent_tau_0_L32_r0_c1"/>
            <p:cNvSpPr/>
            <p:nvPr/>
          </p:nvSpPr>
          <p:spPr>
            <a:xfrm>
              <a:off x="9432036" y="4700016"/>
              <a:ext cx="141732" cy="114300"/>
            </a:xfrm>
            <a:prstGeom prst="rect">
              <a:avLst/>
            </a:prstGeom>
            <a:solidFill>
              <a:srgbClr val="ACA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 name="async_latent_tau_0_L32_r0_c2"/>
            <p:cNvSpPr/>
            <p:nvPr/>
          </p:nvSpPr>
          <p:spPr>
            <a:xfrm>
              <a:off x="9573768" y="4700016"/>
              <a:ext cx="141732" cy="1143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 name="async_latent_tau_0_L32_r0_c3"/>
            <p:cNvSpPr/>
            <p:nvPr/>
          </p:nvSpPr>
          <p:spPr>
            <a:xfrm>
              <a:off x="9715500" y="4700016"/>
              <a:ext cx="141732" cy="114300"/>
            </a:xfrm>
            <a:prstGeom prst="rect">
              <a:avLst/>
            </a:prstGeom>
            <a:solidFill>
              <a:srgbClr val="6060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async_latent_tau_0_L32_r1_c0"/>
            <p:cNvSpPr/>
            <p:nvPr/>
          </p:nvSpPr>
          <p:spPr>
            <a:xfrm>
              <a:off x="9290304" y="4814316"/>
              <a:ext cx="141732" cy="1143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async_latent_tau_0_L32_r1_c1"/>
            <p:cNvSpPr/>
            <p:nvPr/>
          </p:nvSpPr>
          <p:spPr>
            <a:xfrm>
              <a:off x="9432036" y="4814316"/>
              <a:ext cx="141732" cy="114300"/>
            </a:xfrm>
            <a:prstGeom prst="rect">
              <a:avLst/>
            </a:prstGeom>
            <a:solidFill>
              <a:srgbClr val="BABA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 name="async_latent_tau_0_L32_r1_c2"/>
            <p:cNvSpPr/>
            <p:nvPr/>
          </p:nvSpPr>
          <p:spPr>
            <a:xfrm>
              <a:off x="9573768" y="4814316"/>
              <a:ext cx="141732" cy="114300"/>
            </a:xfrm>
            <a:prstGeom prst="rect">
              <a:avLst/>
            </a:prstGeom>
            <a:solidFill>
              <a:srgbClr val="8B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 name="async_latent_tau_0_L32_r1_c3"/>
            <p:cNvSpPr/>
            <p:nvPr/>
          </p:nvSpPr>
          <p:spPr>
            <a:xfrm>
              <a:off x="9715500" y="4814316"/>
              <a:ext cx="141732" cy="114300"/>
            </a:xfrm>
            <a:prstGeom prst="rect">
              <a:avLst/>
            </a:prstGeom>
            <a:solidFill>
              <a:srgbClr val="737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 name="async_latent_tau_0_L32_r2_c0"/>
            <p:cNvSpPr/>
            <p:nvPr/>
          </p:nvSpPr>
          <p:spPr>
            <a:xfrm>
              <a:off x="9290304" y="4928616"/>
              <a:ext cx="141732" cy="114300"/>
            </a:xfrm>
            <a:prstGeom prst="rect">
              <a:avLst/>
            </a:prstGeom>
            <a:solidFill>
              <a:srgbClr val="DBDB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 name="async_latent_tau_0_L32_r2_c1"/>
            <p:cNvSpPr/>
            <p:nvPr/>
          </p:nvSpPr>
          <p:spPr>
            <a:xfrm>
              <a:off x="9432036" y="4928616"/>
              <a:ext cx="141732" cy="114300"/>
            </a:xfrm>
            <a:prstGeom prst="rect">
              <a:avLst/>
            </a:prstGeom>
            <a:solidFill>
              <a:srgbClr val="8B8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async_latent_tau_0_L32_r2_c2"/>
            <p:cNvSpPr/>
            <p:nvPr/>
          </p:nvSpPr>
          <p:spPr>
            <a:xfrm>
              <a:off x="9573768" y="4928616"/>
              <a:ext cx="141732" cy="114300"/>
            </a:xfrm>
            <a:prstGeom prst="rect">
              <a:avLst/>
            </a:prstGeom>
            <a:solidFill>
              <a:srgbClr val="6B6B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 name="async_latent_tau_0_L32_r2_c3"/>
            <p:cNvSpPr/>
            <p:nvPr/>
          </p:nvSpPr>
          <p:spPr>
            <a:xfrm>
              <a:off x="9715500" y="4928616"/>
              <a:ext cx="141732" cy="114300"/>
            </a:xfrm>
            <a:prstGeom prst="rect">
              <a:avLst/>
            </a:prstGeom>
            <a:solidFill>
              <a:srgbClr val="6C6C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 name="async_latent_tau_0_L32_r3_c0"/>
            <p:cNvSpPr/>
            <p:nvPr/>
          </p:nvSpPr>
          <p:spPr>
            <a:xfrm>
              <a:off x="9290304" y="5042916"/>
              <a:ext cx="141732" cy="114300"/>
            </a:xfrm>
            <a:prstGeom prst="rect">
              <a:avLst/>
            </a:prstGeom>
            <a:solidFill>
              <a:srgbClr val="CDCD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async_latent_tau_0_L32_r3_c1"/>
            <p:cNvSpPr/>
            <p:nvPr/>
          </p:nvSpPr>
          <p:spPr>
            <a:xfrm>
              <a:off x="9432036" y="5042916"/>
              <a:ext cx="141732" cy="114300"/>
            </a:xfrm>
            <a:prstGeom prst="rect">
              <a:avLst/>
            </a:prstGeom>
            <a:solidFill>
              <a:srgbClr val="ADAD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async_latent_tau_0_L32_r3_c2"/>
            <p:cNvSpPr/>
            <p:nvPr/>
          </p:nvSpPr>
          <p:spPr>
            <a:xfrm>
              <a:off x="9573768" y="5042916"/>
              <a:ext cx="141732" cy="1143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 name="async_latent_tau_0_L32_r3_c3"/>
            <p:cNvSpPr/>
            <p:nvPr/>
          </p:nvSpPr>
          <p:spPr>
            <a:xfrm>
              <a:off x="9715500" y="5042916"/>
              <a:ext cx="141732" cy="114300"/>
            </a:xfrm>
            <a:prstGeom prst="rect">
              <a:avLst/>
            </a:prstGeom>
            <a:solidFill>
              <a:srgbClr val="BEB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async_latent_tau_0_outline"/>
            <p:cNvSpPr/>
            <p:nvPr/>
          </p:nvSpPr>
          <p:spPr>
            <a:xfrm>
              <a:off x="9290304" y="4242816"/>
              <a:ext cx="566928" cy="914400"/>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55" name="async_latent_tau_0.4_editable_tiles"/>
          <p:cNvGrpSpPr/>
          <p:nvPr/>
        </p:nvGrpSpPr>
        <p:grpSpPr>
          <a:xfrm>
            <a:off x="10049256" y="4242816"/>
            <a:ext cx="566928" cy="914400"/>
            <a:chOff x="10049256" y="4242816"/>
            <a:chExt cx="566928" cy="914400"/>
          </a:xfrm>
        </p:grpSpPr>
        <p:sp>
          <p:nvSpPr>
            <p:cNvPr id="220" name="async_latent_tau_0.4_L16_r0_c0"/>
            <p:cNvSpPr/>
            <p:nvPr/>
          </p:nvSpPr>
          <p:spPr>
            <a:xfrm>
              <a:off x="10049256" y="4242816"/>
              <a:ext cx="141732" cy="114300"/>
            </a:xfrm>
            <a:prstGeom prst="rect">
              <a:avLst/>
            </a:prstGeom>
            <a:solidFill>
              <a:srgbClr val="B4B6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async_latent_tau_0.4_L16_r0_c1"/>
            <p:cNvSpPr/>
            <p:nvPr/>
          </p:nvSpPr>
          <p:spPr>
            <a:xfrm>
              <a:off x="10190988" y="4242816"/>
              <a:ext cx="141732" cy="114300"/>
            </a:xfrm>
            <a:prstGeom prst="rect">
              <a:avLst/>
            </a:prstGeom>
            <a:solidFill>
              <a:srgbClr val="6A6D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 name="async_latent_tau_0.4_L16_r0_c2"/>
            <p:cNvSpPr/>
            <p:nvPr/>
          </p:nvSpPr>
          <p:spPr>
            <a:xfrm>
              <a:off x="10332720" y="4242816"/>
              <a:ext cx="141732" cy="114300"/>
            </a:xfrm>
            <a:prstGeom prst="rect">
              <a:avLst/>
            </a:prstGeom>
            <a:solidFill>
              <a:srgbClr val="8589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async_latent_tau_0.4_L16_r0_c3"/>
            <p:cNvSpPr/>
            <p:nvPr/>
          </p:nvSpPr>
          <p:spPr>
            <a:xfrm>
              <a:off x="10474452" y="4242816"/>
              <a:ext cx="141732" cy="114300"/>
            </a:xfrm>
            <a:prstGeom prst="rect">
              <a:avLst/>
            </a:prstGeom>
            <a:solidFill>
              <a:srgbClr val="8486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 name="async_latent_tau_0.4_L16_r1_c0"/>
            <p:cNvSpPr/>
            <p:nvPr/>
          </p:nvSpPr>
          <p:spPr>
            <a:xfrm>
              <a:off x="10049256" y="4357116"/>
              <a:ext cx="141732" cy="114300"/>
            </a:xfrm>
            <a:prstGeom prst="rect">
              <a:avLst/>
            </a:prstGeom>
            <a:solidFill>
              <a:srgbClr val="BEC0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 name="async_latent_tau_0.4_L16_r1_c1"/>
            <p:cNvSpPr/>
            <p:nvPr/>
          </p:nvSpPr>
          <p:spPr>
            <a:xfrm>
              <a:off x="10190988" y="4357116"/>
              <a:ext cx="141732" cy="114300"/>
            </a:xfrm>
            <a:prstGeom prst="rect">
              <a:avLst/>
            </a:prstGeom>
            <a:solidFill>
              <a:srgbClr val="B4B7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async_latent_tau_0.4_L16_r1_c2"/>
            <p:cNvSpPr/>
            <p:nvPr/>
          </p:nvSpPr>
          <p:spPr>
            <a:xfrm>
              <a:off x="10332720" y="4357116"/>
              <a:ext cx="141732" cy="114300"/>
            </a:xfrm>
            <a:prstGeom prst="rect">
              <a:avLst/>
            </a:prstGeom>
            <a:solidFill>
              <a:srgbClr val="D2D4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async_latent_tau_0.4_L16_r1_c3"/>
            <p:cNvSpPr/>
            <p:nvPr/>
          </p:nvSpPr>
          <p:spPr>
            <a:xfrm>
              <a:off x="10474452" y="4357116"/>
              <a:ext cx="141732" cy="114300"/>
            </a:xfrm>
            <a:prstGeom prst="rect">
              <a:avLst/>
            </a:prstGeom>
            <a:solidFill>
              <a:srgbClr val="7174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 name="async_latent_tau_0.4_L24_r0_c0"/>
            <p:cNvSpPr/>
            <p:nvPr/>
          </p:nvSpPr>
          <p:spPr>
            <a:xfrm>
              <a:off x="10049256" y="4471416"/>
              <a:ext cx="141732" cy="114300"/>
            </a:xfrm>
            <a:prstGeom prst="rect">
              <a:avLst/>
            </a:prstGeom>
            <a:solidFill>
              <a:srgbClr val="A4A2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async_latent_tau_0.4_L24_r0_c1"/>
            <p:cNvSpPr/>
            <p:nvPr/>
          </p:nvSpPr>
          <p:spPr>
            <a:xfrm>
              <a:off x="10190988" y="4471416"/>
              <a:ext cx="141732" cy="114300"/>
            </a:xfrm>
            <a:prstGeom prst="rect">
              <a:avLst/>
            </a:prstGeom>
            <a:solidFill>
              <a:srgbClr val="7975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 name="async_latent_tau_0.4_L24_r0_c2"/>
            <p:cNvSpPr/>
            <p:nvPr/>
          </p:nvSpPr>
          <p:spPr>
            <a:xfrm>
              <a:off x="10332720" y="4471416"/>
              <a:ext cx="141732" cy="114300"/>
            </a:xfrm>
            <a:prstGeom prst="rect">
              <a:avLst/>
            </a:prstGeom>
            <a:solidFill>
              <a:srgbClr val="8C87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 name="async_latent_tau_0.4_L24_r0_c3"/>
            <p:cNvSpPr/>
            <p:nvPr/>
          </p:nvSpPr>
          <p:spPr>
            <a:xfrm>
              <a:off x="10474452" y="4471416"/>
              <a:ext cx="141732" cy="114300"/>
            </a:xfrm>
            <a:prstGeom prst="rect">
              <a:avLst/>
            </a:prstGeom>
            <a:solidFill>
              <a:srgbClr val="AEAB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async_latent_tau_0.4_L24_r1_c0"/>
            <p:cNvSpPr/>
            <p:nvPr/>
          </p:nvSpPr>
          <p:spPr>
            <a:xfrm>
              <a:off x="10049256" y="4585716"/>
              <a:ext cx="141732" cy="114300"/>
            </a:xfrm>
            <a:prstGeom prst="rect">
              <a:avLst/>
            </a:prstGeom>
            <a:solidFill>
              <a:srgbClr val="7874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async_latent_tau_0.4_L24_r1_c1"/>
            <p:cNvSpPr/>
            <p:nvPr/>
          </p:nvSpPr>
          <p:spPr>
            <a:xfrm>
              <a:off x="10190988" y="4585716"/>
              <a:ext cx="141732" cy="114300"/>
            </a:xfrm>
            <a:prstGeom prst="rect">
              <a:avLst/>
            </a:prstGeom>
            <a:solidFill>
              <a:srgbClr val="8A85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 name="async_latent_tau_0.4_L24_r1_c2"/>
            <p:cNvSpPr/>
            <p:nvPr/>
          </p:nvSpPr>
          <p:spPr>
            <a:xfrm>
              <a:off x="10332720" y="4585716"/>
              <a:ext cx="141732" cy="114300"/>
            </a:xfrm>
            <a:prstGeom prst="rect">
              <a:avLst/>
            </a:prstGeom>
            <a:solidFill>
              <a:srgbClr val="BDBA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async_latent_tau_0.4_L24_r1_c3"/>
            <p:cNvSpPr/>
            <p:nvPr/>
          </p:nvSpPr>
          <p:spPr>
            <a:xfrm>
              <a:off x="10474452" y="4585716"/>
              <a:ext cx="141732" cy="114300"/>
            </a:xfrm>
            <a:prstGeom prst="rect">
              <a:avLst/>
            </a:prstGeom>
            <a:solidFill>
              <a:srgbClr val="B1AD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 name="async_latent_tau_0.4_L32_r0_c0"/>
            <p:cNvSpPr/>
            <p:nvPr/>
          </p:nvSpPr>
          <p:spPr>
            <a:xfrm>
              <a:off x="10049256" y="4700016"/>
              <a:ext cx="141732" cy="114300"/>
            </a:xfrm>
            <a:prstGeom prst="rect">
              <a:avLst/>
            </a:prstGeom>
            <a:solidFill>
              <a:srgbClr val="8F96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 name="async_latent_tau_0.4_L32_r0_c1"/>
            <p:cNvSpPr/>
            <p:nvPr/>
          </p:nvSpPr>
          <p:spPr>
            <a:xfrm>
              <a:off x="10190988" y="4700016"/>
              <a:ext cx="141732" cy="114300"/>
            </a:xfrm>
            <a:prstGeom prst="rect">
              <a:avLst/>
            </a:prstGeom>
            <a:solidFill>
              <a:srgbClr val="ACB6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 name="async_latent_tau_0.4_L32_r0_c2"/>
            <p:cNvSpPr/>
            <p:nvPr/>
          </p:nvSpPr>
          <p:spPr>
            <a:xfrm>
              <a:off x="10332720" y="4700016"/>
              <a:ext cx="141732" cy="114300"/>
            </a:xfrm>
            <a:prstGeom prst="rect">
              <a:avLst/>
            </a:prstGeom>
            <a:solidFill>
              <a:srgbClr val="BBC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async_latent_tau_0.4_L32_r0_c3"/>
            <p:cNvSpPr/>
            <p:nvPr/>
          </p:nvSpPr>
          <p:spPr>
            <a:xfrm>
              <a:off x="10474452" y="4700016"/>
              <a:ext cx="141732" cy="114300"/>
            </a:xfrm>
            <a:prstGeom prst="rect">
              <a:avLst/>
            </a:prstGeom>
            <a:solidFill>
              <a:srgbClr val="7A817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 name="async_latent_tau_0.4_L32_r1_c0"/>
            <p:cNvSpPr/>
            <p:nvPr/>
          </p:nvSpPr>
          <p:spPr>
            <a:xfrm>
              <a:off x="10049256" y="4814316"/>
              <a:ext cx="141732" cy="114300"/>
            </a:xfrm>
            <a:prstGeom prst="rect">
              <a:avLst/>
            </a:prstGeom>
            <a:solidFill>
              <a:srgbClr val="C1CB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 name="async_latent_tau_0.4_L32_r1_c1"/>
            <p:cNvSpPr/>
            <p:nvPr/>
          </p:nvSpPr>
          <p:spPr>
            <a:xfrm>
              <a:off x="10190988" y="4814316"/>
              <a:ext cx="141732" cy="114300"/>
            </a:xfrm>
            <a:prstGeom prst="rect">
              <a:avLst/>
            </a:prstGeom>
            <a:solidFill>
              <a:srgbClr val="B0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async_latent_tau_0.4_L32_r1_c2"/>
            <p:cNvSpPr/>
            <p:nvPr/>
          </p:nvSpPr>
          <p:spPr>
            <a:xfrm>
              <a:off x="10332720" y="4814316"/>
              <a:ext cx="141732" cy="114300"/>
            </a:xfrm>
            <a:prstGeom prst="rect">
              <a:avLst/>
            </a:prstGeom>
            <a:solidFill>
              <a:srgbClr val="9AA1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async_latent_tau_0.4_L32_r1_c3"/>
            <p:cNvSpPr/>
            <p:nvPr/>
          </p:nvSpPr>
          <p:spPr>
            <a:xfrm>
              <a:off x="10474452" y="4814316"/>
              <a:ext cx="141732" cy="114300"/>
            </a:xfrm>
            <a:prstGeom prst="rect">
              <a:avLst/>
            </a:prstGeom>
            <a:solidFill>
              <a:srgbClr val="828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async_latent_tau_0.4_L32_r2_c0"/>
            <p:cNvSpPr/>
            <p:nvPr/>
          </p:nvSpPr>
          <p:spPr>
            <a:xfrm>
              <a:off x="10049256" y="4928616"/>
              <a:ext cx="141732" cy="114300"/>
            </a:xfrm>
            <a:prstGeom prst="rect">
              <a:avLst/>
            </a:prstGeom>
            <a:solidFill>
              <a:srgbClr val="C9D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 name="async_latent_tau_0.4_L32_r2_c1"/>
            <p:cNvSpPr/>
            <p:nvPr/>
          </p:nvSpPr>
          <p:spPr>
            <a:xfrm>
              <a:off x="10190988" y="4928616"/>
              <a:ext cx="141732" cy="114300"/>
            </a:xfrm>
            <a:prstGeom prst="rect">
              <a:avLst/>
            </a:prstGeom>
            <a:solidFill>
              <a:srgbClr val="9AA1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 name="async_latent_tau_0.4_L32_r2_c2"/>
            <p:cNvSpPr/>
            <p:nvPr/>
          </p:nvSpPr>
          <p:spPr>
            <a:xfrm>
              <a:off x="10332720" y="4928616"/>
              <a:ext cx="141732" cy="114300"/>
            </a:xfrm>
            <a:prstGeom prst="rect">
              <a:avLst/>
            </a:prstGeom>
            <a:solidFill>
              <a:srgbClr val="7C868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async_latent_tau_0.4_L32_r2_c3"/>
            <p:cNvSpPr/>
            <p:nvPr/>
          </p:nvSpPr>
          <p:spPr>
            <a:xfrm>
              <a:off x="10474452" y="4928616"/>
              <a:ext cx="141732" cy="114300"/>
            </a:xfrm>
            <a:prstGeom prst="rect">
              <a:avLst/>
            </a:prstGeom>
            <a:solidFill>
              <a:srgbClr val="7683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async_latent_tau_0.4_L32_r3_c0"/>
            <p:cNvSpPr/>
            <p:nvPr/>
          </p:nvSpPr>
          <p:spPr>
            <a:xfrm>
              <a:off x="10049256" y="5042916"/>
              <a:ext cx="141732" cy="114300"/>
            </a:xfrm>
            <a:prstGeom prst="rect">
              <a:avLst/>
            </a:prstGeom>
            <a:solidFill>
              <a:srgbClr val="CBD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async_latent_tau_0.4_L32_r3_c1"/>
            <p:cNvSpPr/>
            <p:nvPr/>
          </p:nvSpPr>
          <p:spPr>
            <a:xfrm>
              <a:off x="10190988" y="5042916"/>
              <a:ext cx="141732" cy="114300"/>
            </a:xfrm>
            <a:prstGeom prst="rect">
              <a:avLst/>
            </a:prstGeom>
            <a:solidFill>
              <a:srgbClr val="ADB7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 name="async_latent_tau_0.4_L32_r3_c2"/>
            <p:cNvSpPr/>
            <p:nvPr/>
          </p:nvSpPr>
          <p:spPr>
            <a:xfrm>
              <a:off x="10332720" y="5042916"/>
              <a:ext cx="141732" cy="114300"/>
            </a:xfrm>
            <a:prstGeom prst="rect">
              <a:avLst/>
            </a:prstGeom>
            <a:solidFill>
              <a:srgbClr val="BBC8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 name="async_latent_tau_0.4_L32_r3_c3"/>
            <p:cNvSpPr/>
            <p:nvPr/>
          </p:nvSpPr>
          <p:spPr>
            <a:xfrm>
              <a:off x="10474452" y="5042916"/>
              <a:ext cx="141732" cy="114300"/>
            </a:xfrm>
            <a:prstGeom prst="rect">
              <a:avLst/>
            </a:prstGeom>
            <a:solidFill>
              <a:srgbClr val="C0C7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async_latent_tau_0.4_outline"/>
            <p:cNvSpPr/>
            <p:nvPr/>
          </p:nvSpPr>
          <p:spPr>
            <a:xfrm>
              <a:off x="10049256" y="4242816"/>
              <a:ext cx="566928" cy="914400"/>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56" name="async_latent_tau_0.7_editable_tiles"/>
          <p:cNvGrpSpPr/>
          <p:nvPr/>
        </p:nvGrpSpPr>
        <p:grpSpPr>
          <a:xfrm>
            <a:off x="10808208" y="4242816"/>
            <a:ext cx="566928" cy="914400"/>
            <a:chOff x="10808208" y="4242816"/>
            <a:chExt cx="566928" cy="914400"/>
          </a:xfrm>
        </p:grpSpPr>
        <p:sp>
          <p:nvSpPr>
            <p:cNvPr id="255" name="async_latent_tau_0.7_L16_r0_c0"/>
            <p:cNvSpPr/>
            <p:nvPr/>
          </p:nvSpPr>
          <p:spPr>
            <a:xfrm>
              <a:off x="10808208" y="4242816"/>
              <a:ext cx="141732" cy="114300"/>
            </a:xfrm>
            <a:prstGeom prst="rect">
              <a:avLst/>
            </a:prstGeom>
            <a:solidFill>
              <a:srgbClr val="BBC3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6" name="async_latent_tau_0.7_L16_r0_c1"/>
            <p:cNvSpPr/>
            <p:nvPr/>
          </p:nvSpPr>
          <p:spPr>
            <a:xfrm>
              <a:off x="10949940" y="4242816"/>
              <a:ext cx="141732" cy="114300"/>
            </a:xfrm>
            <a:prstGeom prst="rect">
              <a:avLst/>
            </a:prstGeom>
            <a:solidFill>
              <a:srgbClr val="82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async_latent_tau_0.7_L16_r0_c2"/>
            <p:cNvSpPr/>
            <p:nvPr/>
          </p:nvSpPr>
          <p:spPr>
            <a:xfrm>
              <a:off x="11091672" y="4242816"/>
              <a:ext cx="141732" cy="114300"/>
            </a:xfrm>
            <a:prstGeom prst="rect">
              <a:avLst/>
            </a:prstGeom>
            <a:solidFill>
              <a:srgbClr val="8C9A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async_latent_tau_0.7_L16_r0_c3"/>
            <p:cNvSpPr/>
            <p:nvPr/>
          </p:nvSpPr>
          <p:spPr>
            <a:xfrm>
              <a:off x="11233404" y="4242816"/>
              <a:ext cx="141732" cy="114300"/>
            </a:xfrm>
            <a:prstGeom prst="rect">
              <a:avLst/>
            </a:prstGeom>
            <a:solidFill>
              <a:srgbClr val="9CA3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9" name="async_latent_tau_0.7_L16_r1_c0"/>
            <p:cNvSpPr/>
            <p:nvPr/>
          </p:nvSpPr>
          <p:spPr>
            <a:xfrm>
              <a:off x="10808208" y="4357116"/>
              <a:ext cx="141732" cy="114300"/>
            </a:xfrm>
            <a:prstGeom prst="rect">
              <a:avLst/>
            </a:prstGeom>
            <a:solidFill>
              <a:srgbClr val="B9C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0" name="async_latent_tau_0.7_L16_r1_c1"/>
            <p:cNvSpPr/>
            <p:nvPr/>
          </p:nvSpPr>
          <p:spPr>
            <a:xfrm>
              <a:off x="10949940" y="4357116"/>
              <a:ext cx="141732" cy="114300"/>
            </a:xfrm>
            <a:prstGeom prst="rect">
              <a:avLst/>
            </a:prstGeom>
            <a:solidFill>
              <a:srgbClr val="AAB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1" name="async_latent_tau_0.7_L16_r1_c2"/>
            <p:cNvSpPr/>
            <p:nvPr/>
          </p:nvSpPr>
          <p:spPr>
            <a:xfrm>
              <a:off x="11091672" y="4357116"/>
              <a:ext cx="141732" cy="114300"/>
            </a:xfrm>
            <a:prstGeom prst="rect">
              <a:avLst/>
            </a:prstGeom>
            <a:solidFill>
              <a:srgbClr val="CFD6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async_latent_tau_0.7_L16_r1_c3"/>
            <p:cNvSpPr/>
            <p:nvPr/>
          </p:nvSpPr>
          <p:spPr>
            <a:xfrm>
              <a:off x="11233404" y="4357116"/>
              <a:ext cx="141732" cy="114300"/>
            </a:xfrm>
            <a:prstGeom prst="rect">
              <a:avLst/>
            </a:prstGeom>
            <a:solidFill>
              <a:srgbClr val="8792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async_latent_tau_0.7_L24_r0_c0"/>
            <p:cNvSpPr/>
            <p:nvPr/>
          </p:nvSpPr>
          <p:spPr>
            <a:xfrm>
              <a:off x="10808208" y="4471416"/>
              <a:ext cx="141732" cy="114300"/>
            </a:xfrm>
            <a:prstGeom prst="rect">
              <a:avLst/>
            </a:prstGeom>
            <a:solidFill>
              <a:srgbClr val="C2B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async_latent_tau_0.7_L24_r0_c1"/>
            <p:cNvSpPr/>
            <p:nvPr/>
          </p:nvSpPr>
          <p:spPr>
            <a:xfrm>
              <a:off x="10949940" y="4471416"/>
              <a:ext cx="141732" cy="114300"/>
            </a:xfrm>
            <a:prstGeom prst="rect">
              <a:avLst/>
            </a:prstGeom>
            <a:solidFill>
              <a:srgbClr val="A599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async_latent_tau_0.7_L24_r0_c2"/>
            <p:cNvSpPr/>
            <p:nvPr/>
          </p:nvSpPr>
          <p:spPr>
            <a:xfrm>
              <a:off x="11091672" y="4471416"/>
              <a:ext cx="141732" cy="114300"/>
            </a:xfrm>
            <a:prstGeom prst="rect">
              <a:avLst/>
            </a:prstGeom>
            <a:solidFill>
              <a:srgbClr val="AE9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6" name="async_latent_tau_0.7_L24_r0_c3"/>
            <p:cNvSpPr/>
            <p:nvPr/>
          </p:nvSpPr>
          <p:spPr>
            <a:xfrm>
              <a:off x="11233404" y="4471416"/>
              <a:ext cx="141732" cy="114300"/>
            </a:xfrm>
            <a:prstGeom prst="rect">
              <a:avLst/>
            </a:prstGeom>
            <a:solidFill>
              <a:srgbClr val="C8B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7" name="async_latent_tau_0.7_L24_r1_c0"/>
            <p:cNvSpPr/>
            <p:nvPr/>
          </p:nvSpPr>
          <p:spPr>
            <a:xfrm>
              <a:off x="10808208" y="4585716"/>
              <a:ext cx="141732" cy="114300"/>
            </a:xfrm>
            <a:prstGeom prst="rect">
              <a:avLst/>
            </a:prstGeom>
            <a:solidFill>
              <a:srgbClr val="A598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8" name="async_latent_tau_0.7_L24_r1_c1"/>
            <p:cNvSpPr/>
            <p:nvPr/>
          </p:nvSpPr>
          <p:spPr>
            <a:xfrm>
              <a:off x="10949940" y="4585716"/>
              <a:ext cx="141732" cy="114300"/>
            </a:xfrm>
            <a:prstGeom prst="rect">
              <a:avLst/>
            </a:prstGeom>
            <a:solidFill>
              <a:srgbClr val="AD9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9" name="async_latent_tau_0.7_L24_r1_c2"/>
            <p:cNvSpPr/>
            <p:nvPr/>
          </p:nvSpPr>
          <p:spPr>
            <a:xfrm>
              <a:off x="11091672" y="4585716"/>
              <a:ext cx="141732" cy="114300"/>
            </a:xfrm>
            <a:prstGeom prst="rect">
              <a:avLst/>
            </a:prstGeom>
            <a:solidFill>
              <a:srgbClr val="D1C9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async_latent_tau_0.7_L24_r1_c3"/>
            <p:cNvSpPr/>
            <p:nvPr/>
          </p:nvSpPr>
          <p:spPr>
            <a:xfrm>
              <a:off x="11233404" y="4585716"/>
              <a:ext cx="141732" cy="114300"/>
            </a:xfrm>
            <a:prstGeom prst="rect">
              <a:avLst/>
            </a:prstGeom>
            <a:solidFill>
              <a:srgbClr val="C7BB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async_latent_tau_0.7_L32_r0_c0"/>
            <p:cNvSpPr/>
            <p:nvPr/>
          </p:nvSpPr>
          <p:spPr>
            <a:xfrm>
              <a:off x="10808208" y="4700016"/>
              <a:ext cx="141732" cy="114300"/>
            </a:xfrm>
            <a:prstGeom prst="rect">
              <a:avLst/>
            </a:prstGeom>
            <a:solidFill>
              <a:srgbClr val="A7B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2" name="async_latent_tau_0.7_L32_r0_c1"/>
            <p:cNvSpPr/>
            <p:nvPr/>
          </p:nvSpPr>
          <p:spPr>
            <a:xfrm>
              <a:off x="10949940" y="4700016"/>
              <a:ext cx="141732" cy="114300"/>
            </a:xfrm>
            <a:prstGeom prst="rect">
              <a:avLst/>
            </a:prstGeom>
            <a:solidFill>
              <a:srgbClr val="ADC3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3" name="async_latent_tau_0.7_L32_r0_c2"/>
            <p:cNvSpPr/>
            <p:nvPr/>
          </p:nvSpPr>
          <p:spPr>
            <a:xfrm>
              <a:off x="11091672" y="4700016"/>
              <a:ext cx="141732" cy="114300"/>
            </a:xfrm>
            <a:prstGeom prst="rect">
              <a:avLst/>
            </a:prstGeom>
            <a:solidFill>
              <a:srgbClr val="A9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async_latent_tau_0.7_L32_r0_c3"/>
            <p:cNvSpPr/>
            <p:nvPr/>
          </p:nvSpPr>
          <p:spPr>
            <a:xfrm>
              <a:off x="11233404" y="4700016"/>
              <a:ext cx="141732" cy="114300"/>
            </a:xfrm>
            <a:prstGeom prst="rect">
              <a:avLst/>
            </a:prstGeom>
            <a:solidFill>
              <a:srgbClr val="9CAC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async_latent_tau_0.7_L32_r1_c0"/>
            <p:cNvSpPr/>
            <p:nvPr/>
          </p:nvSpPr>
          <p:spPr>
            <a:xfrm>
              <a:off x="10808208" y="4814316"/>
              <a:ext cx="141732" cy="114300"/>
            </a:xfrm>
            <a:prstGeom prst="rect">
              <a:avLst/>
            </a:prstGeom>
            <a:solidFill>
              <a:srgbClr val="B8CFC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6" name="async_latent_tau_0.7_L32_r1_c1"/>
            <p:cNvSpPr/>
            <p:nvPr/>
          </p:nvSpPr>
          <p:spPr>
            <a:xfrm>
              <a:off x="10949940" y="4814316"/>
              <a:ext cx="141732" cy="114300"/>
            </a:xfrm>
            <a:prstGeom prst="rect">
              <a:avLst/>
            </a:prstGeom>
            <a:solidFill>
              <a:srgbClr val="A3C2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async_latent_tau_0.7_L32_r1_c2"/>
            <p:cNvSpPr/>
            <p:nvPr/>
          </p:nvSpPr>
          <p:spPr>
            <a:xfrm>
              <a:off x="11091672" y="4814316"/>
              <a:ext cx="141732" cy="114300"/>
            </a:xfrm>
            <a:prstGeom prst="rect">
              <a:avLst/>
            </a:prstGeom>
            <a:solidFill>
              <a:srgbClr val="AEB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async_latent_tau_0.7_L32_r1_c3"/>
            <p:cNvSpPr/>
            <p:nvPr/>
          </p:nvSpPr>
          <p:spPr>
            <a:xfrm>
              <a:off x="11233404" y="4814316"/>
              <a:ext cx="141732" cy="114300"/>
            </a:xfrm>
            <a:prstGeom prst="rect">
              <a:avLst/>
            </a:prstGeom>
            <a:solidFill>
              <a:srgbClr val="95A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9" name="async_latent_tau_0.7_L32_r2_c0"/>
            <p:cNvSpPr/>
            <p:nvPr/>
          </p:nvSpPr>
          <p:spPr>
            <a:xfrm>
              <a:off x="10808208" y="4928616"/>
              <a:ext cx="141732" cy="114300"/>
            </a:xfrm>
            <a:prstGeom prst="rect">
              <a:avLst/>
            </a:prstGeom>
            <a:solidFill>
              <a:srgbClr val="B1CF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0" name="async_latent_tau_0.7_L32_r2_c1"/>
            <p:cNvSpPr/>
            <p:nvPr/>
          </p:nvSpPr>
          <p:spPr>
            <a:xfrm>
              <a:off x="10949940" y="4928616"/>
              <a:ext cx="141732" cy="114300"/>
            </a:xfrm>
            <a:prstGeom prst="rect">
              <a:avLst/>
            </a:prstGeom>
            <a:solidFill>
              <a:srgbClr val="AEBD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1" name="async_latent_tau_0.7_L32_r2_c2"/>
            <p:cNvSpPr/>
            <p:nvPr/>
          </p:nvSpPr>
          <p:spPr>
            <a:xfrm>
              <a:off x="11091672" y="4928616"/>
              <a:ext cx="141732" cy="114300"/>
            </a:xfrm>
            <a:prstGeom prst="rect">
              <a:avLst/>
            </a:prstGeom>
            <a:solidFill>
              <a:srgbClr val="92A8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2" name="async_latent_tau_0.7_L32_r2_c3"/>
            <p:cNvSpPr/>
            <p:nvPr/>
          </p:nvSpPr>
          <p:spPr>
            <a:xfrm>
              <a:off x="11233404" y="4928616"/>
              <a:ext cx="141732" cy="114300"/>
            </a:xfrm>
            <a:prstGeom prst="rect">
              <a:avLst/>
            </a:prstGeom>
            <a:solidFill>
              <a:srgbClr val="83A1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3" name="async_latent_tau_0.7_L32_r3_c0"/>
            <p:cNvSpPr/>
            <p:nvPr/>
          </p:nvSpPr>
          <p:spPr>
            <a:xfrm>
              <a:off x="10808208" y="5042916"/>
              <a:ext cx="141732" cy="114300"/>
            </a:xfrm>
            <a:prstGeom prst="rect">
              <a:avLst/>
            </a:prstGeom>
            <a:solidFill>
              <a:srgbClr val="C9D9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4" name="async_latent_tau_0.7_L32_r3_c1"/>
            <p:cNvSpPr/>
            <p:nvPr/>
          </p:nvSpPr>
          <p:spPr>
            <a:xfrm>
              <a:off x="10949940" y="5042916"/>
              <a:ext cx="141732" cy="114300"/>
            </a:xfrm>
            <a:prstGeom prst="rect">
              <a:avLst/>
            </a:prstGeom>
            <a:solidFill>
              <a:srgbClr val="ADC4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async_latent_tau_0.7_L32_r3_c2"/>
            <p:cNvSpPr/>
            <p:nvPr/>
          </p:nvSpPr>
          <p:spPr>
            <a:xfrm>
              <a:off x="11091672" y="5042916"/>
              <a:ext cx="141732" cy="114300"/>
            </a:xfrm>
            <a:prstGeom prst="rect">
              <a:avLst/>
            </a:prstGeom>
            <a:solidFill>
              <a:srgbClr val="A9C7C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async_latent_tau_0.7_L32_r3_c3"/>
            <p:cNvSpPr/>
            <p:nvPr/>
          </p:nvSpPr>
          <p:spPr>
            <a:xfrm>
              <a:off x="11233404" y="5042916"/>
              <a:ext cx="141732" cy="114300"/>
            </a:xfrm>
            <a:prstGeom prst="rect">
              <a:avLst/>
            </a:prstGeom>
            <a:solidFill>
              <a:srgbClr val="C3D2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7" name="async_latent_tau_0.7_outline"/>
            <p:cNvSpPr/>
            <p:nvPr/>
          </p:nvSpPr>
          <p:spPr>
            <a:xfrm>
              <a:off x="10808208" y="4242816"/>
              <a:ext cx="566928" cy="914400"/>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57" name="async_latent_tau_1_editable_tiles"/>
          <p:cNvGrpSpPr/>
          <p:nvPr/>
        </p:nvGrpSpPr>
        <p:grpSpPr>
          <a:xfrm>
            <a:off x="11567160" y="4242816"/>
            <a:ext cx="566928" cy="914400"/>
            <a:chOff x="11567160" y="4242816"/>
            <a:chExt cx="566928" cy="914400"/>
          </a:xfrm>
        </p:grpSpPr>
        <p:sp>
          <p:nvSpPr>
            <p:cNvPr id="290" name="async_latent_tau_1_L16_r0_c0"/>
            <p:cNvSpPr/>
            <p:nvPr/>
          </p:nvSpPr>
          <p:spPr>
            <a:xfrm>
              <a:off x="11567160" y="4242816"/>
              <a:ext cx="141732" cy="114300"/>
            </a:xfrm>
            <a:prstGeom prst="rect">
              <a:avLst/>
            </a:prstGeom>
            <a:solidFill>
              <a:srgbClr val="C9D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async_latent_tau_1_L16_r0_c1"/>
            <p:cNvSpPr/>
            <p:nvPr/>
          </p:nvSpPr>
          <p:spPr>
            <a:xfrm>
              <a:off x="11708892" y="4242816"/>
              <a:ext cx="141732" cy="114300"/>
            </a:xfrm>
            <a:prstGeom prst="rect">
              <a:avLst/>
            </a:prstGeom>
            <a:solidFill>
              <a:srgbClr val="B1C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async_latent_tau_1_L16_r0_c2"/>
            <p:cNvSpPr/>
            <p:nvPr/>
          </p:nvSpPr>
          <p:spPr>
            <a:xfrm>
              <a:off x="11850624" y="4242816"/>
              <a:ext cx="141732" cy="114300"/>
            </a:xfrm>
            <a:prstGeom prst="rect">
              <a:avLst/>
            </a:prstGeom>
            <a:solidFill>
              <a:srgbClr val="98BB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3" name="async_latent_tau_1_L16_r0_c3"/>
            <p:cNvSpPr/>
            <p:nvPr/>
          </p:nvSpPr>
          <p:spPr>
            <a:xfrm>
              <a:off x="11992356" y="4242816"/>
              <a:ext cx="141732" cy="114300"/>
            </a:xfrm>
            <a:prstGeom prst="rect">
              <a:avLst/>
            </a:prstGeom>
            <a:solidFill>
              <a:srgbClr val="C9D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4" name="async_latent_tau_1_L16_r1_c0"/>
            <p:cNvSpPr/>
            <p:nvPr/>
          </p:nvSpPr>
          <p:spPr>
            <a:xfrm>
              <a:off x="11567160" y="4357116"/>
              <a:ext cx="141732" cy="114300"/>
            </a:xfrm>
            <a:prstGeom prst="rect">
              <a:avLst/>
            </a:prstGeom>
            <a:solidFill>
              <a:srgbClr val="B1C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5" name="async_latent_tau_1_L16_r1_c1"/>
            <p:cNvSpPr/>
            <p:nvPr/>
          </p:nvSpPr>
          <p:spPr>
            <a:xfrm>
              <a:off x="11708892" y="4357116"/>
              <a:ext cx="141732" cy="114300"/>
            </a:xfrm>
            <a:prstGeom prst="rect">
              <a:avLst/>
            </a:prstGeom>
            <a:solidFill>
              <a:srgbClr val="98BB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6" name="async_latent_tau_1_L16_r1_c2"/>
            <p:cNvSpPr/>
            <p:nvPr/>
          </p:nvSpPr>
          <p:spPr>
            <a:xfrm>
              <a:off x="11850624" y="4357116"/>
              <a:ext cx="141732" cy="114300"/>
            </a:xfrm>
            <a:prstGeom prst="rect">
              <a:avLst/>
            </a:prstGeom>
            <a:solidFill>
              <a:srgbClr val="C9D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async_latent_tau_1_L16_r1_c3"/>
            <p:cNvSpPr/>
            <p:nvPr/>
          </p:nvSpPr>
          <p:spPr>
            <a:xfrm>
              <a:off x="11992356" y="4357116"/>
              <a:ext cx="141732" cy="114300"/>
            </a:xfrm>
            <a:prstGeom prst="rect">
              <a:avLst/>
            </a:prstGeom>
            <a:solidFill>
              <a:srgbClr val="B1C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async_latent_tau_1_L24_r0_c0"/>
            <p:cNvSpPr/>
            <p:nvPr/>
          </p:nvSpPr>
          <p:spPr>
            <a:xfrm>
              <a:off x="11567160" y="4471416"/>
              <a:ext cx="141732" cy="114300"/>
            </a:xfrm>
            <a:prstGeom prst="rect">
              <a:avLst/>
            </a:prstGeom>
            <a:solidFill>
              <a:srgbClr val="F0D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9" name="async_latent_tau_1_L24_r0_c1"/>
            <p:cNvSpPr/>
            <p:nvPr/>
          </p:nvSpPr>
          <p:spPr>
            <a:xfrm>
              <a:off x="11708892" y="4471416"/>
              <a:ext cx="141732" cy="114300"/>
            </a:xfrm>
            <a:prstGeom prst="rect">
              <a:avLst/>
            </a:prstGeom>
            <a:solidFill>
              <a:srgbClr val="EAD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async_latent_tau_1_L24_r0_c2"/>
            <p:cNvSpPr/>
            <p:nvPr/>
          </p:nvSpPr>
          <p:spPr>
            <a:xfrm>
              <a:off x="11850624" y="4471416"/>
              <a:ext cx="141732" cy="114300"/>
            </a:xfrm>
            <a:prstGeom prst="rect">
              <a:avLst/>
            </a:prstGeom>
            <a:solidFill>
              <a:srgbClr val="E3C3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async_latent_tau_1_L24_r0_c3"/>
            <p:cNvSpPr/>
            <p:nvPr/>
          </p:nvSpPr>
          <p:spPr>
            <a:xfrm>
              <a:off x="11992356" y="4471416"/>
              <a:ext cx="141732" cy="114300"/>
            </a:xfrm>
            <a:prstGeom prst="rect">
              <a:avLst/>
            </a:prstGeom>
            <a:solidFill>
              <a:srgbClr val="F0D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2" name="async_latent_tau_1_L24_r1_c0"/>
            <p:cNvSpPr/>
            <p:nvPr/>
          </p:nvSpPr>
          <p:spPr>
            <a:xfrm>
              <a:off x="11567160" y="4585716"/>
              <a:ext cx="141732" cy="114300"/>
            </a:xfrm>
            <a:prstGeom prst="rect">
              <a:avLst/>
            </a:prstGeom>
            <a:solidFill>
              <a:srgbClr val="EAD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async_latent_tau_1_L24_r1_c1"/>
            <p:cNvSpPr/>
            <p:nvPr/>
          </p:nvSpPr>
          <p:spPr>
            <a:xfrm>
              <a:off x="11708892" y="4585716"/>
              <a:ext cx="141732" cy="114300"/>
            </a:xfrm>
            <a:prstGeom prst="rect">
              <a:avLst/>
            </a:prstGeom>
            <a:solidFill>
              <a:srgbClr val="E3C3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4" name="async_latent_tau_1_L24_r1_c2"/>
            <p:cNvSpPr/>
            <p:nvPr/>
          </p:nvSpPr>
          <p:spPr>
            <a:xfrm>
              <a:off x="11850624" y="4585716"/>
              <a:ext cx="141732" cy="114300"/>
            </a:xfrm>
            <a:prstGeom prst="rect">
              <a:avLst/>
            </a:prstGeom>
            <a:solidFill>
              <a:srgbClr val="F0DF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async_latent_tau_1_L24_r1_c3"/>
            <p:cNvSpPr/>
            <p:nvPr/>
          </p:nvSpPr>
          <p:spPr>
            <a:xfrm>
              <a:off x="11992356" y="4585716"/>
              <a:ext cx="141732" cy="114300"/>
            </a:xfrm>
            <a:prstGeom prst="rect">
              <a:avLst/>
            </a:prstGeom>
            <a:solidFill>
              <a:srgbClr val="EAD1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async_latent_tau_1_L32_r0_c0"/>
            <p:cNvSpPr/>
            <p:nvPr/>
          </p:nvSpPr>
          <p:spPr>
            <a:xfrm>
              <a:off x="11567160" y="4700016"/>
              <a:ext cx="141732" cy="114300"/>
            </a:xfrm>
            <a:prstGeom prst="rect">
              <a:avLst/>
            </a:prstGeom>
            <a:solidFill>
              <a:srgbClr val="C6E1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7" name="async_latent_tau_1_L32_r0_c1"/>
            <p:cNvSpPr/>
            <p:nvPr/>
          </p:nvSpPr>
          <p:spPr>
            <a:xfrm>
              <a:off x="11708892" y="4700016"/>
              <a:ext cx="141732" cy="114300"/>
            </a:xfrm>
            <a:prstGeom prst="rect">
              <a:avLst/>
            </a:prstGeom>
            <a:solidFill>
              <a:srgbClr val="ADD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async_latent_tau_1_L32_r0_c2"/>
            <p:cNvSpPr/>
            <p:nvPr/>
          </p:nvSpPr>
          <p:spPr>
            <a:xfrm>
              <a:off x="11850624" y="4700016"/>
              <a:ext cx="141732" cy="114300"/>
            </a:xfrm>
            <a:prstGeom prst="rect">
              <a:avLst/>
            </a:prstGeom>
            <a:solidFill>
              <a:srgbClr val="93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async_latent_tau_1_L32_r0_c3"/>
            <p:cNvSpPr/>
            <p:nvPr/>
          </p:nvSpPr>
          <p:spPr>
            <a:xfrm>
              <a:off x="11992356" y="4700016"/>
              <a:ext cx="141732" cy="114300"/>
            </a:xfrm>
            <a:prstGeom prst="rect">
              <a:avLst/>
            </a:prstGeom>
            <a:solidFill>
              <a:srgbClr val="C6E1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0" name="async_latent_tau_1_L32_r1_c0"/>
            <p:cNvSpPr/>
            <p:nvPr/>
          </p:nvSpPr>
          <p:spPr>
            <a:xfrm>
              <a:off x="11567160" y="4814316"/>
              <a:ext cx="141732" cy="114300"/>
            </a:xfrm>
            <a:prstGeom prst="rect">
              <a:avLst/>
            </a:prstGeom>
            <a:solidFill>
              <a:srgbClr val="ADD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1" name="async_latent_tau_1_L32_r1_c1"/>
            <p:cNvSpPr/>
            <p:nvPr/>
          </p:nvSpPr>
          <p:spPr>
            <a:xfrm>
              <a:off x="11708892" y="4814316"/>
              <a:ext cx="141732" cy="114300"/>
            </a:xfrm>
            <a:prstGeom prst="rect">
              <a:avLst/>
            </a:prstGeom>
            <a:solidFill>
              <a:srgbClr val="93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async_latent_tau_1_L32_r1_c2"/>
            <p:cNvSpPr/>
            <p:nvPr/>
          </p:nvSpPr>
          <p:spPr>
            <a:xfrm>
              <a:off x="11850624" y="4814316"/>
              <a:ext cx="141732" cy="114300"/>
            </a:xfrm>
            <a:prstGeom prst="rect">
              <a:avLst/>
            </a:prstGeom>
            <a:solidFill>
              <a:srgbClr val="C6E1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3" name="async_latent_tau_1_L32_r1_c3"/>
            <p:cNvSpPr/>
            <p:nvPr/>
          </p:nvSpPr>
          <p:spPr>
            <a:xfrm>
              <a:off x="11992356" y="4814316"/>
              <a:ext cx="141732" cy="114300"/>
            </a:xfrm>
            <a:prstGeom prst="rect">
              <a:avLst/>
            </a:prstGeom>
            <a:solidFill>
              <a:srgbClr val="ADD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4" name="async_latent_tau_1_L32_r2_c0"/>
            <p:cNvSpPr/>
            <p:nvPr/>
          </p:nvSpPr>
          <p:spPr>
            <a:xfrm>
              <a:off x="11567160" y="4928616"/>
              <a:ext cx="141732" cy="114300"/>
            </a:xfrm>
            <a:prstGeom prst="rect">
              <a:avLst/>
            </a:prstGeom>
            <a:solidFill>
              <a:srgbClr val="93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async_latent_tau_1_L32_r2_c1"/>
            <p:cNvSpPr/>
            <p:nvPr/>
          </p:nvSpPr>
          <p:spPr>
            <a:xfrm>
              <a:off x="11708892" y="4928616"/>
              <a:ext cx="141732" cy="114300"/>
            </a:xfrm>
            <a:prstGeom prst="rect">
              <a:avLst/>
            </a:prstGeom>
            <a:solidFill>
              <a:srgbClr val="C6E1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6" name="async_latent_tau_1_L32_r2_c2"/>
            <p:cNvSpPr/>
            <p:nvPr/>
          </p:nvSpPr>
          <p:spPr>
            <a:xfrm>
              <a:off x="11850624" y="4928616"/>
              <a:ext cx="141732" cy="114300"/>
            </a:xfrm>
            <a:prstGeom prst="rect">
              <a:avLst/>
            </a:prstGeom>
            <a:solidFill>
              <a:srgbClr val="ADD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7" name="async_latent_tau_1_L32_r2_c3"/>
            <p:cNvSpPr/>
            <p:nvPr/>
          </p:nvSpPr>
          <p:spPr>
            <a:xfrm>
              <a:off x="11992356" y="4928616"/>
              <a:ext cx="141732" cy="114300"/>
            </a:xfrm>
            <a:prstGeom prst="rect">
              <a:avLst/>
            </a:prstGeom>
            <a:solidFill>
              <a:srgbClr val="93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8" name="async_latent_tau_1_L32_r3_c0"/>
            <p:cNvSpPr/>
            <p:nvPr/>
          </p:nvSpPr>
          <p:spPr>
            <a:xfrm>
              <a:off x="11567160" y="5042916"/>
              <a:ext cx="141732" cy="114300"/>
            </a:xfrm>
            <a:prstGeom prst="rect">
              <a:avLst/>
            </a:prstGeom>
            <a:solidFill>
              <a:srgbClr val="C6E1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9" name="async_latent_tau_1_L32_r3_c1"/>
            <p:cNvSpPr/>
            <p:nvPr/>
          </p:nvSpPr>
          <p:spPr>
            <a:xfrm>
              <a:off x="11708892" y="5042916"/>
              <a:ext cx="141732" cy="114300"/>
            </a:xfrm>
            <a:prstGeom prst="rect">
              <a:avLst/>
            </a:prstGeom>
            <a:solidFill>
              <a:srgbClr val="ADD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0" name="async_latent_tau_1_L32_r3_c2"/>
            <p:cNvSpPr/>
            <p:nvPr/>
          </p:nvSpPr>
          <p:spPr>
            <a:xfrm>
              <a:off x="11850624" y="5042916"/>
              <a:ext cx="141732" cy="114300"/>
            </a:xfrm>
            <a:prstGeom prst="rect">
              <a:avLst/>
            </a:prstGeom>
            <a:solidFill>
              <a:srgbClr val="93C7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1" name="async_latent_tau_1_L32_r3_c3"/>
            <p:cNvSpPr/>
            <p:nvPr/>
          </p:nvSpPr>
          <p:spPr>
            <a:xfrm>
              <a:off x="11992356" y="5042916"/>
              <a:ext cx="141732" cy="114300"/>
            </a:xfrm>
            <a:prstGeom prst="rect">
              <a:avLst/>
            </a:prstGeom>
            <a:solidFill>
              <a:srgbClr val="C6E1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2" name="async_latent_tau_1_outline"/>
            <p:cNvSpPr/>
            <p:nvPr/>
          </p:nvSpPr>
          <p:spPr>
            <a:xfrm>
              <a:off x="11567160" y="4242816"/>
              <a:ext cx="566928" cy="914400"/>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358" name="module_rect_0325"/>
          <p:cNvGrpSpPr/>
          <p:nvPr/>
        </p:nvGrpSpPr>
        <p:grpSpPr>
          <a:xfrm>
            <a:off x="8869680" y="5715000"/>
            <a:ext cx="3374136" cy="438912"/>
            <a:chOff x="8869680" y="5715000"/>
            <a:chExt cx="3374136" cy="438912"/>
          </a:xfrm>
        </p:grpSpPr>
        <p:sp>
          <p:nvSpPr>
            <p:cNvPr id="327" name="rect_0325"/>
            <p:cNvSpPr/>
            <p:nvPr/>
          </p:nvSpPr>
          <p:spPr>
            <a:xfrm>
              <a:off x="8869680" y="5715000"/>
              <a:ext cx="3374136" cy="438912"/>
            </a:xfrm>
            <a:prstGeom prst="roundRect">
              <a:avLst>
                <a:gd name="adj" fmla="val 12000"/>
              </a:avLst>
            </a:prstGeom>
            <a:solidFill>
              <a:srgbClr val="EDF3F8"/>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8" name="text_0326"/>
            <p:cNvSpPr txBox="1"/>
            <p:nvPr/>
          </p:nvSpPr>
          <p:spPr>
            <a:xfrm>
              <a:off x="8915400" y="5724144"/>
              <a:ext cx="3282696" cy="420623"/>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Joint ELF calls + Euler updates</a:t>
              </a:r>
            </a:p>
          </p:txBody>
        </p:sp>
      </p:grpSp>
      <p:grpSp>
        <p:nvGrpSpPr>
          <p:cNvPr id="359" name="module_rect_0329"/>
          <p:cNvGrpSpPr/>
          <p:nvPr/>
        </p:nvGrpSpPr>
        <p:grpSpPr>
          <a:xfrm>
            <a:off x="8869680" y="6382512"/>
            <a:ext cx="3374136" cy="438912"/>
            <a:chOff x="8869680" y="6382512"/>
            <a:chExt cx="3374136" cy="438912"/>
          </a:xfrm>
        </p:grpSpPr>
        <p:sp>
          <p:nvSpPr>
            <p:cNvPr id="331" name="rect_0329"/>
            <p:cNvSpPr/>
            <p:nvPr/>
          </p:nvSpPr>
          <p:spPr>
            <a:xfrm>
              <a:off x="8869680" y="6382512"/>
              <a:ext cx="3374136" cy="438912"/>
            </a:xfrm>
            <a:prstGeom prst="roundRect">
              <a:avLst>
                <a:gd name="adj" fmla="val 12000"/>
              </a:avLst>
            </a:prstGeom>
            <a:solidFill>
              <a:srgbClr val="ECF5F3"/>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2" name="text_0330"/>
            <p:cNvSpPr txBox="1"/>
            <p:nvPr/>
          </p:nvSpPr>
          <p:spPr>
            <a:xfrm>
              <a:off x="8915400" y="6391656"/>
              <a:ext cx="3282696" cy="420623"/>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ELF + token head → answer</a:t>
              </a:r>
            </a:p>
          </p:txBody>
        </p:sp>
      </p:gr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nft_overview_v1">
    <p:bg>
      <p:bgPr>
        <a:solidFill>
          <a:srgbClr val="FFFFFF"/>
        </a:solidFill>
        <a:effectLst/>
      </p:bgPr>
    </p:bg>
    <p:spTree>
      <p:nvGrpSpPr>
        <p:cNvPr id="1" name=""/>
        <p:cNvGrpSpPr/>
        <p:nvPr/>
      </p:nvGrpSpPr>
      <p:grpSpPr/>
      <p:sp>
        <p:nvSpPr>
          <p:cNvPr id="2" name="path_0000"/>
          <p:cNvSpPr/>
          <p:nvPr/>
        </p:nvSpPr>
        <p:spPr>
          <a:xfrm>
            <a:off x="420624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th_0001"/>
          <p:cNvSpPr/>
          <p:nvPr/>
        </p:nvSpPr>
        <p:spPr>
          <a:xfrm>
            <a:off x="841248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path_0013"/>
          <p:cNvSpPr/>
          <p:nvPr/>
        </p:nvSpPr>
        <p:spPr>
          <a:xfrm>
            <a:off x="2121408" y="1481328"/>
            <a:ext cx="0" cy="265176"/>
          </a:xfrm>
          <a:custGeom>
            <a:avLst/>
            <a:gdLst/>
            <a:ahLst/>
            <a:cxnLst/>
            <a:rect l="l" t="t" r="r" b="b"/>
            <a:pathLst>
              <a:path w="0" h="290">
                <a:moveTo>
                  <a:pt x="0" y="0"/>
                </a:moveTo>
                <a:lnTo>
                  <a:pt x="0" y="29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_0016"/>
          <p:cNvSpPr txBox="1"/>
          <p:nvPr/>
        </p:nvSpPr>
        <p:spPr>
          <a:xfrm>
            <a:off x="320040" y="2487168"/>
            <a:ext cx="3639312" cy="274320"/>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32 steps · synchronous (1, 1, 1)</a:t>
            </a:r>
          </a:p>
        </p:txBody>
      </p:sp>
      <p:sp>
        <p:nvSpPr>
          <p:cNvPr id="19" name="path_0017"/>
          <p:cNvSpPr/>
          <p:nvPr/>
        </p:nvSpPr>
        <p:spPr>
          <a:xfrm>
            <a:off x="2121408" y="2788920"/>
            <a:ext cx="0" cy="228600"/>
          </a:xfrm>
          <a:custGeom>
            <a:avLst/>
            <a:gdLst/>
            <a:ahLst/>
            <a:cxnLst/>
            <a:rect l="l" t="t" r="r" b="b"/>
            <a:pathLst>
              <a:path w="0" h="250">
                <a:moveTo>
                  <a:pt x="0" y="0"/>
                </a:moveTo>
                <a:lnTo>
                  <a:pt x="0" y="25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_0018"/>
          <p:cNvSpPr txBox="1"/>
          <p:nvPr/>
        </p:nvSpPr>
        <p:spPr>
          <a:xfrm>
            <a:off x="411480" y="3026664"/>
            <a:ext cx="3474720" cy="502920"/>
          </a:xfrm>
          <a:prstGeom prst="rect">
            <a:avLst/>
          </a:prstGeom>
          <a:noFill/>
        </p:spPr>
        <p:txBody>
          <a:bodyPr wrap="none" lIns="0" rIns="0" tIns="0" bIns="0" anchor="ctr">
            <a:spAutoFit/>
          </a:bodyPr>
          <a:lstStyle/>
          <a:p>
            <a:pPr algn="ctr">
              <a:lnSpc>
                <a:spcPts val="1920"/>
              </a:lnSpc>
              <a:spcBef>
                <a:spcPts val="0"/>
              </a:spcBef>
              <a:spcAft>
                <a:spcPts val="0"/>
              </a:spcAft>
            </a:pPr>
            <a:r>
              <a:rPr sz="1700" b="1">
                <a:solidFill>
                  <a:srgbClr val="233344"/>
                </a:solidFill>
                <a:latin typeface="DejaVu Sans"/>
              </a:rPr>
              <a:t>15 sampled latent</a:t>
            </a:r>
          </a:p>
          <a:p>
            <a:pPr algn="ctr">
              <a:lnSpc>
                <a:spcPts val="1920"/>
              </a:lnSpc>
              <a:spcBef>
                <a:spcPts val="0"/>
              </a:spcBef>
              <a:spcAft>
                <a:spcPts val="0"/>
              </a:spcAft>
            </a:pPr>
            <a:r>
              <a:rPr sz="1700" b="1">
                <a:solidFill>
                  <a:srgbClr val="233344"/>
                </a:solidFill>
                <a:latin typeface="DejaVu Sans"/>
              </a:rPr>
              <a:t>endpoints</a:t>
            </a:r>
          </a:p>
        </p:txBody>
      </p:sp>
      <p:sp>
        <p:nvSpPr>
          <p:cNvPr id="51" name="text_0049"/>
          <p:cNvSpPr txBox="1"/>
          <p:nvPr/>
        </p:nvSpPr>
        <p:spPr>
          <a:xfrm>
            <a:off x="320040" y="4736592"/>
            <a:ext cx="3639312" cy="292608"/>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Decode text for correctness scoring</a:t>
            </a:r>
          </a:p>
        </p:txBody>
      </p:sp>
      <p:sp>
        <p:nvSpPr>
          <p:cNvPr id="54" name="text_0052"/>
          <p:cNvSpPr txBox="1"/>
          <p:nvPr/>
        </p:nvSpPr>
        <p:spPr>
          <a:xfrm>
            <a:off x="338328" y="6281928"/>
            <a:ext cx="3648456" cy="457200"/>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63758A"/>
                </a:solidFill>
                <a:latin typeface="DejaVu Sans"/>
              </a:rPr>
              <a:t>Retain generated terminal latents</a:t>
            </a:r>
          </a:p>
          <a:p>
            <a:pPr algn="ctr">
              <a:lnSpc>
                <a:spcPts val="1695"/>
              </a:lnSpc>
              <a:spcBef>
                <a:spcPts val="0"/>
              </a:spcBef>
              <a:spcAft>
                <a:spcPts val="0"/>
              </a:spcAft>
            </a:pPr>
            <a:r>
              <a:rPr sz="1500" b="0">
                <a:solidFill>
                  <a:srgbClr val="63758A"/>
                </a:solidFill>
                <a:latin typeface="DejaVu Sans"/>
              </a:rPr>
              <a:t>for the NFT update.</a:t>
            </a:r>
          </a:p>
        </p:txBody>
      </p:sp>
      <p:sp>
        <p:nvSpPr>
          <p:cNvPr id="55" name="rect_0053"/>
          <p:cNvSpPr/>
          <p:nvPr/>
        </p:nvSpPr>
        <p:spPr>
          <a:xfrm>
            <a:off x="4581144" y="1097280"/>
            <a:ext cx="3547872" cy="548640"/>
          </a:xfrm>
          <a:prstGeom prst="roundRect">
            <a:avLst>
              <a:gd name="adj" fmla="val 8333"/>
            </a:avLst>
          </a:prstGeom>
          <a:solidFill>
            <a:srgbClr val="ECF5F3"/>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_0054"/>
          <p:cNvSpPr txBox="1"/>
          <p:nvPr/>
        </p:nvSpPr>
        <p:spPr>
          <a:xfrm>
            <a:off x="4709159" y="1161288"/>
            <a:ext cx="2395728" cy="402336"/>
          </a:xfrm>
          <a:prstGeom prst="rect">
            <a:avLst/>
          </a:prstGeom>
          <a:noFill/>
        </p:spPr>
        <p:txBody>
          <a:bodyPr wrap="none" lIns="0" rIns="0" tIns="0" bIns="0" anchor="ctr">
            <a:spAutoFit/>
          </a:bodyPr>
          <a:lstStyle/>
          <a:p>
            <a:pPr algn="l">
              <a:lnSpc>
                <a:spcPts val="1920"/>
              </a:lnSpc>
              <a:spcBef>
                <a:spcPts val="0"/>
              </a:spcBef>
              <a:spcAft>
                <a:spcPts val="0"/>
              </a:spcAft>
            </a:pPr>
            <a:r>
              <a:rPr sz="1700" b="0">
                <a:solidFill>
                  <a:srgbClr val="233344"/>
                </a:solidFill>
                <a:latin typeface="DejaVu Sans"/>
              </a:rPr>
              <a:t>Correct generation</a:t>
            </a:r>
          </a:p>
        </p:txBody>
      </p:sp>
      <p:sp>
        <p:nvSpPr>
          <p:cNvPr id="57" name="text_0055"/>
          <p:cNvSpPr txBox="1"/>
          <p:nvPr/>
        </p:nvSpPr>
        <p:spPr>
          <a:xfrm>
            <a:off x="7187183" y="1143000"/>
            <a:ext cx="777240" cy="420624"/>
          </a:xfrm>
          <a:prstGeom prst="rect">
            <a:avLst/>
          </a:prstGeom>
          <a:noFill/>
        </p:spPr>
        <p:txBody>
          <a:bodyPr wrap="none" lIns="0" rIns="0" tIns="0" bIns="0" anchor="ctr">
            <a:spAutoFit/>
          </a:bodyPr>
          <a:lstStyle/>
          <a:p>
            <a:pPr algn="ctr">
              <a:lnSpc>
                <a:spcPts val="2599"/>
              </a:lnSpc>
              <a:spcBef>
                <a:spcPts val="0"/>
              </a:spcBef>
              <a:spcAft>
                <a:spcPts val="0"/>
              </a:spcAft>
            </a:pPr>
            <a:r>
              <a:rPr sz="2300" b="1">
                <a:solidFill>
                  <a:srgbClr val="2C917F"/>
                </a:solidFill>
                <a:latin typeface="DejaVu Sans"/>
              </a:rPr>
              <a:t>0.75</a:t>
            </a:r>
          </a:p>
        </p:txBody>
      </p:sp>
      <p:sp>
        <p:nvSpPr>
          <p:cNvPr id="58" name="rect_0056"/>
          <p:cNvSpPr/>
          <p:nvPr/>
        </p:nvSpPr>
        <p:spPr>
          <a:xfrm>
            <a:off x="4581144" y="1837943"/>
            <a:ext cx="3547872" cy="548640"/>
          </a:xfrm>
          <a:prstGeom prst="roundRect">
            <a:avLst>
              <a:gd name="adj" fmla="val 8333"/>
            </a:avLst>
          </a:prstGeom>
          <a:solidFill>
            <a:srgbClr val="F9F1F1"/>
          </a:solidFill>
          <a:ln w="12700">
            <a:solidFill>
              <a:srgbClr val="B8656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_0057"/>
          <p:cNvSpPr txBox="1"/>
          <p:nvPr/>
        </p:nvSpPr>
        <p:spPr>
          <a:xfrm>
            <a:off x="4709159" y="1901951"/>
            <a:ext cx="2395728" cy="402336"/>
          </a:xfrm>
          <a:prstGeom prst="rect">
            <a:avLst/>
          </a:prstGeom>
          <a:noFill/>
        </p:spPr>
        <p:txBody>
          <a:bodyPr wrap="none" lIns="0" rIns="0" tIns="0" bIns="0" anchor="ctr">
            <a:spAutoFit/>
          </a:bodyPr>
          <a:lstStyle/>
          <a:p>
            <a:pPr algn="l">
              <a:lnSpc>
                <a:spcPts val="1920"/>
              </a:lnSpc>
              <a:spcBef>
                <a:spcPts val="0"/>
              </a:spcBef>
              <a:spcAft>
                <a:spcPts val="0"/>
              </a:spcAft>
            </a:pPr>
            <a:r>
              <a:rPr sz="1700" b="0">
                <a:solidFill>
                  <a:srgbClr val="233344"/>
                </a:solidFill>
                <a:latin typeface="DejaVu Sans"/>
              </a:rPr>
              <a:t>Incorrect generation</a:t>
            </a:r>
          </a:p>
        </p:txBody>
      </p:sp>
      <p:sp>
        <p:nvSpPr>
          <p:cNvPr id="60" name="text_0058"/>
          <p:cNvSpPr txBox="1"/>
          <p:nvPr/>
        </p:nvSpPr>
        <p:spPr>
          <a:xfrm>
            <a:off x="7187183" y="1883663"/>
            <a:ext cx="777240" cy="420624"/>
          </a:xfrm>
          <a:prstGeom prst="rect">
            <a:avLst/>
          </a:prstGeom>
          <a:noFill/>
        </p:spPr>
        <p:txBody>
          <a:bodyPr wrap="none" lIns="0" rIns="0" tIns="0" bIns="0" anchor="ctr">
            <a:spAutoFit/>
          </a:bodyPr>
          <a:lstStyle/>
          <a:p>
            <a:pPr algn="ctr">
              <a:lnSpc>
                <a:spcPts val="2599"/>
              </a:lnSpc>
              <a:spcBef>
                <a:spcPts val="0"/>
              </a:spcBef>
              <a:spcAft>
                <a:spcPts val="0"/>
              </a:spcAft>
            </a:pPr>
            <a:r>
              <a:rPr sz="2300" b="1">
                <a:solidFill>
                  <a:srgbClr val="B86565"/>
                </a:solidFill>
                <a:latin typeface="DejaVu Sans"/>
              </a:rPr>
              <a:t>0</a:t>
            </a:r>
          </a:p>
        </p:txBody>
      </p:sp>
      <p:sp>
        <p:nvSpPr>
          <p:cNvPr id="61" name="rect_0059"/>
          <p:cNvSpPr/>
          <p:nvPr/>
        </p:nvSpPr>
        <p:spPr>
          <a:xfrm>
            <a:off x="4581144" y="2578608"/>
            <a:ext cx="3547872" cy="548640"/>
          </a:xfrm>
          <a:prstGeom prst="roundRect">
            <a:avLst>
              <a:gd name="adj" fmla="val 8333"/>
            </a:avLst>
          </a:prstGeom>
          <a:solidFill>
            <a:srgbClr val="F3F1F7"/>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_0060"/>
          <p:cNvSpPr txBox="1"/>
          <p:nvPr/>
        </p:nvSpPr>
        <p:spPr>
          <a:xfrm>
            <a:off x="4709159" y="2642615"/>
            <a:ext cx="2395728" cy="402336"/>
          </a:xfrm>
          <a:prstGeom prst="rect">
            <a:avLst/>
          </a:prstGeom>
          <a:noFill/>
        </p:spPr>
        <p:txBody>
          <a:bodyPr wrap="none" lIns="0" rIns="0" tIns="0" bIns="0" anchor="ctr">
            <a:spAutoFit/>
          </a:bodyPr>
          <a:lstStyle/>
          <a:p>
            <a:pPr algn="l">
              <a:lnSpc>
                <a:spcPts val="1920"/>
              </a:lnSpc>
              <a:spcBef>
                <a:spcPts val="0"/>
              </a:spcBef>
              <a:spcAft>
                <a:spcPts val="0"/>
              </a:spcAft>
            </a:pPr>
            <a:r>
              <a:rPr sz="1700" b="0">
                <a:solidFill>
                  <a:srgbClr val="233344"/>
                </a:solidFill>
                <a:latin typeface="DejaVu Sans"/>
              </a:rPr>
              <a:t>Gold reference</a:t>
            </a:r>
          </a:p>
        </p:txBody>
      </p:sp>
      <p:sp>
        <p:nvSpPr>
          <p:cNvPr id="63" name="text_0061"/>
          <p:cNvSpPr txBox="1"/>
          <p:nvPr/>
        </p:nvSpPr>
        <p:spPr>
          <a:xfrm>
            <a:off x="7187183" y="2624327"/>
            <a:ext cx="777240" cy="420624"/>
          </a:xfrm>
          <a:prstGeom prst="rect">
            <a:avLst/>
          </a:prstGeom>
          <a:noFill/>
        </p:spPr>
        <p:txBody>
          <a:bodyPr wrap="none" lIns="0" rIns="0" tIns="0" bIns="0" anchor="ctr">
            <a:spAutoFit/>
          </a:bodyPr>
          <a:lstStyle/>
          <a:p>
            <a:pPr algn="ctr">
              <a:lnSpc>
                <a:spcPts val="2599"/>
              </a:lnSpc>
              <a:spcBef>
                <a:spcPts val="0"/>
              </a:spcBef>
              <a:spcAft>
                <a:spcPts val="0"/>
              </a:spcAft>
            </a:pPr>
            <a:r>
              <a:rPr sz="2300" b="1">
                <a:solidFill>
                  <a:srgbClr val="7965AA"/>
                </a:solidFill>
                <a:latin typeface="DejaVu Sans"/>
              </a:rPr>
              <a:t>1</a:t>
            </a:r>
          </a:p>
        </p:txBody>
      </p:sp>
      <p:sp>
        <p:nvSpPr>
          <p:cNvPr id="64" name="path_0062"/>
          <p:cNvSpPr/>
          <p:nvPr/>
        </p:nvSpPr>
        <p:spPr>
          <a:xfrm>
            <a:off x="6355080" y="3163824"/>
            <a:ext cx="0" cy="292608"/>
          </a:xfrm>
          <a:custGeom>
            <a:avLst/>
            <a:gdLst/>
            <a:ahLst/>
            <a:cxnLst/>
            <a:rect l="l" t="t" r="r" b="b"/>
            <a:pathLst>
              <a:path w="0" h="320">
                <a:moveTo>
                  <a:pt x="0" y="0"/>
                </a:moveTo>
                <a:lnTo>
                  <a:pt x="0" y="32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path_0065"/>
          <p:cNvSpPr/>
          <p:nvPr/>
        </p:nvSpPr>
        <p:spPr>
          <a:xfrm>
            <a:off x="6355080" y="4160520"/>
            <a:ext cx="0" cy="265176"/>
          </a:xfrm>
          <a:custGeom>
            <a:avLst/>
            <a:gdLst/>
            <a:ahLst/>
            <a:cxnLst/>
            <a:rect l="l" t="t" r="r" b="b"/>
            <a:pathLst>
              <a:path w="0" h="290">
                <a:moveTo>
                  <a:pt x="0" y="0"/>
                </a:moveTo>
                <a:lnTo>
                  <a:pt x="0" y="29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path_0068"/>
          <p:cNvSpPr/>
          <p:nvPr/>
        </p:nvSpPr>
        <p:spPr>
          <a:xfrm>
            <a:off x="6355080" y="5212080"/>
            <a:ext cx="0" cy="246888"/>
          </a:xfrm>
          <a:custGeom>
            <a:avLst/>
            <a:gdLst/>
            <a:ahLst/>
            <a:cxnLst/>
            <a:rect l="l" t="t" r="r" b="b"/>
            <a:pathLst>
              <a:path w="0" h="270">
                <a:moveTo>
                  <a:pt x="0" y="0"/>
                </a:moveTo>
                <a:lnTo>
                  <a:pt x="0" y="27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_0071"/>
          <p:cNvSpPr txBox="1"/>
          <p:nvPr/>
        </p:nvSpPr>
        <p:spPr>
          <a:xfrm>
            <a:off x="4553712" y="6373368"/>
            <a:ext cx="3621024" cy="274320"/>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Weights are detached.</a:t>
            </a:r>
          </a:p>
        </p:txBody>
      </p:sp>
      <p:sp>
        <p:nvSpPr>
          <p:cNvPr id="78" name="path_0076"/>
          <p:cNvSpPr/>
          <p:nvPr/>
        </p:nvSpPr>
        <p:spPr>
          <a:xfrm>
            <a:off x="8842248" y="1563624"/>
            <a:ext cx="100584" cy="530352"/>
          </a:xfrm>
          <a:custGeom>
            <a:avLst/>
            <a:gdLst/>
            <a:ahLst/>
            <a:cxnLst/>
            <a:rect l="l" t="t" r="r" b="b"/>
            <a:pathLst>
              <a:path w="110" h="580">
                <a:moveTo>
                  <a:pt x="0" y="0"/>
                </a:moveTo>
                <a:lnTo>
                  <a:pt x="0" y="580"/>
                </a:lnTo>
                <a:lnTo>
                  <a:pt x="110" y="580"/>
                </a:lnTo>
              </a:path>
            </a:pathLst>
          </a:custGeom>
          <a:noFill/>
          <a:ln w="1270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path_0077"/>
          <p:cNvSpPr/>
          <p:nvPr/>
        </p:nvSpPr>
        <p:spPr>
          <a:xfrm>
            <a:off x="12161520" y="2093976"/>
            <a:ext cx="219456" cy="2112264"/>
          </a:xfrm>
          <a:custGeom>
            <a:avLst/>
            <a:gdLst/>
            <a:ahLst/>
            <a:cxnLst/>
            <a:rect l="l" t="t" r="r" b="b"/>
            <a:pathLst>
              <a:path w="240" h="2310">
                <a:moveTo>
                  <a:pt x="0" y="0"/>
                </a:moveTo>
                <a:lnTo>
                  <a:pt x="240" y="0"/>
                </a:lnTo>
                <a:lnTo>
                  <a:pt x="240" y="2310"/>
                </a:lnTo>
                <a:lnTo>
                  <a:pt x="40" y="2310"/>
                </a:lnTo>
              </a:path>
            </a:pathLst>
          </a:custGeom>
          <a:noFill/>
          <a:ln w="1270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path_0080"/>
          <p:cNvSpPr/>
          <p:nvPr/>
        </p:nvSpPr>
        <p:spPr>
          <a:xfrm>
            <a:off x="8842248" y="1563624"/>
            <a:ext cx="100584" cy="1271016"/>
          </a:xfrm>
          <a:custGeom>
            <a:avLst/>
            <a:gdLst/>
            <a:ahLst/>
            <a:cxnLst/>
            <a:rect l="l" t="t" r="r" b="b"/>
            <a:pathLst>
              <a:path w="110" h="1390">
                <a:moveTo>
                  <a:pt x="0" y="0"/>
                </a:moveTo>
                <a:lnTo>
                  <a:pt x="0" y="1390"/>
                </a:lnTo>
                <a:lnTo>
                  <a:pt x="110" y="139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path_0081"/>
          <p:cNvSpPr/>
          <p:nvPr/>
        </p:nvSpPr>
        <p:spPr>
          <a:xfrm>
            <a:off x="12161520" y="2834640"/>
            <a:ext cx="219456" cy="1371600"/>
          </a:xfrm>
          <a:custGeom>
            <a:avLst/>
            <a:gdLst/>
            <a:ahLst/>
            <a:cxnLst/>
            <a:rect l="l" t="t" r="r" b="b"/>
            <a:pathLst>
              <a:path w="240" h="1500">
                <a:moveTo>
                  <a:pt x="0" y="0"/>
                </a:moveTo>
                <a:lnTo>
                  <a:pt x="240" y="0"/>
                </a:lnTo>
                <a:lnTo>
                  <a:pt x="240" y="1500"/>
                </a:lnTo>
                <a:lnTo>
                  <a:pt x="40" y="150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path_0084"/>
          <p:cNvSpPr/>
          <p:nvPr/>
        </p:nvSpPr>
        <p:spPr>
          <a:xfrm>
            <a:off x="8842248" y="1563624"/>
            <a:ext cx="100584" cy="2011680"/>
          </a:xfrm>
          <a:custGeom>
            <a:avLst/>
            <a:gdLst/>
            <a:ahLst/>
            <a:cxnLst/>
            <a:rect l="l" t="t" r="r" b="b"/>
            <a:pathLst>
              <a:path w="110" h="2200">
                <a:moveTo>
                  <a:pt x="0" y="0"/>
                </a:moveTo>
                <a:lnTo>
                  <a:pt x="0" y="2200"/>
                </a:lnTo>
                <a:lnTo>
                  <a:pt x="110" y="220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path_0085"/>
          <p:cNvSpPr/>
          <p:nvPr/>
        </p:nvSpPr>
        <p:spPr>
          <a:xfrm>
            <a:off x="12161520" y="3575304"/>
            <a:ext cx="219456" cy="630936"/>
          </a:xfrm>
          <a:custGeom>
            <a:avLst/>
            <a:gdLst/>
            <a:ahLst/>
            <a:cxnLst/>
            <a:rect l="l" t="t" r="r" b="b"/>
            <a:pathLst>
              <a:path w="240" h="690">
                <a:moveTo>
                  <a:pt x="0" y="0"/>
                </a:moveTo>
                <a:lnTo>
                  <a:pt x="240" y="0"/>
                </a:lnTo>
                <a:lnTo>
                  <a:pt x="240" y="690"/>
                </a:lnTo>
                <a:lnTo>
                  <a:pt x="40" y="69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path_0088"/>
          <p:cNvSpPr/>
          <p:nvPr/>
        </p:nvSpPr>
        <p:spPr>
          <a:xfrm>
            <a:off x="10561320" y="4654296"/>
            <a:ext cx="0" cy="265176"/>
          </a:xfrm>
          <a:custGeom>
            <a:avLst/>
            <a:gdLst/>
            <a:ahLst/>
            <a:cxnLst/>
            <a:rect l="l" t="t" r="r" b="b"/>
            <a:pathLst>
              <a:path w="0" h="290">
                <a:moveTo>
                  <a:pt x="0" y="0"/>
                </a:moveTo>
                <a:lnTo>
                  <a:pt x="0" y="29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path_0091"/>
          <p:cNvSpPr/>
          <p:nvPr/>
        </p:nvSpPr>
        <p:spPr>
          <a:xfrm>
            <a:off x="8147304" y="5276088"/>
            <a:ext cx="640080" cy="557784"/>
          </a:xfrm>
          <a:custGeom>
            <a:avLst/>
            <a:gdLst/>
            <a:ahLst/>
            <a:cxnLst/>
            <a:rect l="l" t="t" r="r" b="b"/>
            <a:pathLst>
              <a:path w="700" h="610">
                <a:moveTo>
                  <a:pt x="0" y="610"/>
                </a:moveTo>
                <a:lnTo>
                  <a:pt x="570" y="610"/>
                </a:lnTo>
                <a:lnTo>
                  <a:pt x="570" y="0"/>
                </a:lnTo>
                <a:lnTo>
                  <a:pt x="700" y="0"/>
                </a:lnTo>
              </a:path>
            </a:pathLst>
          </a:custGeom>
          <a:noFill/>
          <a:ln w="1524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_0092"/>
          <p:cNvSpPr txBox="1"/>
          <p:nvPr/>
        </p:nvSpPr>
        <p:spPr>
          <a:xfrm>
            <a:off x="8796528" y="5742432"/>
            <a:ext cx="3557016" cy="256032"/>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e+ = ec e− = 2eo − ec (β = 1)</a:t>
            </a:r>
          </a:p>
        </p:txBody>
      </p:sp>
      <p:sp>
        <p:nvSpPr>
          <p:cNvPr id="95" name="path_0093"/>
          <p:cNvSpPr/>
          <p:nvPr/>
        </p:nvSpPr>
        <p:spPr>
          <a:xfrm>
            <a:off x="10561320" y="6035040"/>
            <a:ext cx="0" cy="210312"/>
          </a:xfrm>
          <a:custGeom>
            <a:avLst/>
            <a:gdLst/>
            <a:ahLst/>
            <a:cxnLst/>
            <a:rect l="l" t="t" r="r" b="b"/>
            <a:pathLst>
              <a:path w="0" h="230">
                <a:moveTo>
                  <a:pt x="0" y="0"/>
                </a:moveTo>
                <a:lnTo>
                  <a:pt x="0" y="23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path_0096"/>
          <p:cNvSpPr/>
          <p:nvPr/>
        </p:nvSpPr>
        <p:spPr>
          <a:xfrm>
            <a:off x="3794760" y="2084832"/>
            <a:ext cx="6766560" cy="5047488"/>
          </a:xfrm>
          <a:custGeom>
            <a:avLst/>
            <a:gdLst/>
            <a:ahLst/>
            <a:cxnLst/>
            <a:rect l="l" t="t" r="r" b="b"/>
            <a:pathLst>
              <a:path w="7400" h="5520">
                <a:moveTo>
                  <a:pt x="7400" y="5230"/>
                </a:moveTo>
                <a:lnTo>
                  <a:pt x="7400" y="5520"/>
                </a:lnTo>
                <a:lnTo>
                  <a:pt x="400" y="5520"/>
                </a:lnTo>
                <a:lnTo>
                  <a:pt x="400" y="0"/>
                </a:lnTo>
                <a:lnTo>
                  <a:pt x="0" y="0"/>
                </a:lnTo>
              </a:path>
            </a:pathLst>
          </a:custGeom>
          <a:noFill/>
          <a:ln w="12700">
            <a:solidFill>
              <a:srgbClr val="63758A"/>
            </a:solidFill>
            <a:prstDash val="dash"/>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_0097"/>
          <p:cNvSpPr/>
          <p:nvPr/>
        </p:nvSpPr>
        <p:spPr>
          <a:xfrm>
            <a:off x="4800600" y="6949440"/>
            <a:ext cx="4736592" cy="2377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_0098"/>
          <p:cNvSpPr txBox="1"/>
          <p:nvPr/>
        </p:nvSpPr>
        <p:spPr>
          <a:xfrm>
            <a:off x="4818888" y="6949440"/>
            <a:ext cx="4700016" cy="237744"/>
          </a:xfrm>
          <a:prstGeom prst="rect">
            <a:avLst/>
          </a:prstGeom>
          <a:noFill/>
        </p:spPr>
        <p:txBody>
          <a:bodyPr wrap="none" lIns="0" rIns="0" tIns="0" bIns="0" anchor="ctr">
            <a:spAutoFit/>
          </a:bodyPr>
          <a:lstStyle/>
          <a:p>
            <a:pPr algn="ctr">
              <a:lnSpc>
                <a:spcPts val="1412"/>
              </a:lnSpc>
              <a:spcBef>
                <a:spcPts val="0"/>
              </a:spcBef>
              <a:spcAft>
                <a:spcPts val="0"/>
              </a:spcAft>
            </a:pPr>
            <a:r>
              <a:rPr sz="1250" b="0">
                <a:solidFill>
                  <a:srgbClr val="63758A"/>
                </a:solidFill>
                <a:latin typeface="DejaVu Sans"/>
              </a:rPr>
              <a:t>Refresh the rollout policy from the current policy</a:t>
            </a:r>
          </a:p>
        </p:txBody>
      </p:sp>
      <p:grpSp>
        <p:nvGrpSpPr>
          <p:cNvPr id="101" name="stage_1_heading"/>
          <p:cNvGrpSpPr/>
          <p:nvPr/>
        </p:nvGrpSpPr>
        <p:grpSpPr>
          <a:xfrm>
            <a:off x="228600" y="210312"/>
            <a:ext cx="3749039" cy="539496"/>
            <a:chOff x="228600" y="210312"/>
            <a:chExt cx="3749039" cy="539496"/>
          </a:xfrm>
        </p:grpSpPr>
        <p:sp>
          <p:nvSpPr>
            <p:cNvPr id="4" name="rect_0002"/>
            <p:cNvSpPr/>
            <p:nvPr/>
          </p:nvSpPr>
          <p:spPr>
            <a:xfrm>
              <a:off x="22860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0003"/>
            <p:cNvSpPr txBox="1"/>
            <p:nvPr/>
          </p:nvSpPr>
          <p:spPr>
            <a:xfrm>
              <a:off x="34747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1</a:t>
              </a:r>
            </a:p>
          </p:txBody>
        </p:sp>
        <p:sp>
          <p:nvSpPr>
            <p:cNvPr id="6" name="text_0004"/>
            <p:cNvSpPr txBox="1"/>
            <p:nvPr/>
          </p:nvSpPr>
          <p:spPr>
            <a:xfrm>
              <a:off x="67665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Collect endpoints</a:t>
              </a:r>
            </a:p>
          </p:txBody>
        </p:sp>
      </p:grpSp>
      <p:grpSp>
        <p:nvGrpSpPr>
          <p:cNvPr id="102" name="stage_2_heading"/>
          <p:cNvGrpSpPr/>
          <p:nvPr/>
        </p:nvGrpSpPr>
        <p:grpSpPr>
          <a:xfrm>
            <a:off x="4434840" y="210312"/>
            <a:ext cx="3749039" cy="539496"/>
            <a:chOff x="4434840" y="210312"/>
            <a:chExt cx="3749039" cy="539496"/>
          </a:xfrm>
        </p:grpSpPr>
        <p:sp>
          <p:nvSpPr>
            <p:cNvPr id="7" name="rect_0005"/>
            <p:cNvSpPr/>
            <p:nvPr/>
          </p:nvSpPr>
          <p:spPr>
            <a:xfrm>
              <a:off x="443484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_0006"/>
            <p:cNvSpPr txBox="1"/>
            <p:nvPr/>
          </p:nvSpPr>
          <p:spPr>
            <a:xfrm>
              <a:off x="455371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2</a:t>
              </a:r>
            </a:p>
          </p:txBody>
        </p:sp>
        <p:sp>
          <p:nvSpPr>
            <p:cNvPr id="9" name="text_0007"/>
            <p:cNvSpPr txBox="1"/>
            <p:nvPr/>
          </p:nvSpPr>
          <p:spPr>
            <a:xfrm>
              <a:off x="488289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Reward + selection</a:t>
              </a:r>
            </a:p>
          </p:txBody>
        </p:sp>
      </p:grpSp>
      <p:grpSp>
        <p:nvGrpSpPr>
          <p:cNvPr id="103" name="stage_3_heading"/>
          <p:cNvGrpSpPr/>
          <p:nvPr/>
        </p:nvGrpSpPr>
        <p:grpSpPr>
          <a:xfrm>
            <a:off x="8641080" y="210312"/>
            <a:ext cx="3749039" cy="539496"/>
            <a:chOff x="8641080" y="210312"/>
            <a:chExt cx="3749039" cy="539496"/>
          </a:xfrm>
        </p:grpSpPr>
        <p:sp>
          <p:nvSpPr>
            <p:cNvPr id="10" name="rect_0008"/>
            <p:cNvSpPr/>
            <p:nvPr/>
          </p:nvSpPr>
          <p:spPr>
            <a:xfrm>
              <a:off x="864108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_0009"/>
            <p:cNvSpPr txBox="1"/>
            <p:nvPr/>
          </p:nvSpPr>
          <p:spPr>
            <a:xfrm>
              <a:off x="875995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3</a:t>
              </a:r>
            </a:p>
          </p:txBody>
        </p:sp>
        <p:sp>
          <p:nvSpPr>
            <p:cNvPr id="12" name="text_0010"/>
            <p:cNvSpPr txBox="1"/>
            <p:nvPr/>
          </p:nvSpPr>
          <p:spPr>
            <a:xfrm>
              <a:off x="908913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NFT update</a:t>
              </a:r>
            </a:p>
          </p:txBody>
        </p:sp>
      </p:grpSp>
      <p:grpSp>
        <p:nvGrpSpPr>
          <p:cNvPr id="104" name="module_rect_0011"/>
          <p:cNvGrpSpPr/>
          <p:nvPr/>
        </p:nvGrpSpPr>
        <p:grpSpPr>
          <a:xfrm>
            <a:off x="356616" y="1005840"/>
            <a:ext cx="3547872" cy="438912"/>
            <a:chOff x="356616" y="1005840"/>
            <a:chExt cx="3547872" cy="438912"/>
          </a:xfrm>
        </p:grpSpPr>
        <p:sp>
          <p:nvSpPr>
            <p:cNvPr id="13" name="rect_0011"/>
            <p:cNvSpPr/>
            <p:nvPr/>
          </p:nvSpPr>
          <p:spPr>
            <a:xfrm>
              <a:off x="356616" y="1005840"/>
              <a:ext cx="3547872" cy="43891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_0012"/>
            <p:cNvSpPr txBox="1"/>
            <p:nvPr/>
          </p:nvSpPr>
          <p:spPr>
            <a:xfrm>
              <a:off x="402336" y="1014984"/>
              <a:ext cx="3456432" cy="420623"/>
            </a:xfrm>
            <a:prstGeom prst="rect">
              <a:avLst/>
            </a:prstGeom>
            <a:noFill/>
          </p:spPr>
          <p:txBody>
            <a:bodyPr wrap="none" lIns="0" rIns="0" tIns="0" bIns="0" anchor="ctr">
              <a:spAutoFit/>
            </a:bodyPr>
            <a:lstStyle/>
            <a:p>
              <a:pPr algn="ctr">
                <a:lnSpc>
                  <a:spcPts val="2147"/>
                </a:lnSpc>
                <a:spcBef>
                  <a:spcPts val="0"/>
                </a:spcBef>
                <a:spcAft>
                  <a:spcPts val="0"/>
                </a:spcAft>
              </a:pPr>
              <a:r>
                <a:rPr sz="1900" b="0">
                  <a:solidFill>
                    <a:srgbClr val="233344"/>
                  </a:solidFill>
                  <a:latin typeface="DejaVu Sans"/>
                </a:rPr>
                <a:t>Question q</a:t>
              </a:r>
            </a:p>
          </p:txBody>
        </p:sp>
      </p:grpSp>
      <p:grpSp>
        <p:nvGrpSpPr>
          <p:cNvPr id="105" name="module_old_rollout_policy"/>
          <p:cNvGrpSpPr/>
          <p:nvPr/>
        </p:nvGrpSpPr>
        <p:grpSpPr>
          <a:xfrm>
            <a:off x="484632" y="1783080"/>
            <a:ext cx="3291840" cy="576072"/>
            <a:chOff x="484632" y="1783080"/>
            <a:chExt cx="3291840" cy="576072"/>
          </a:xfrm>
        </p:grpSpPr>
        <p:sp>
          <p:nvSpPr>
            <p:cNvPr id="16" name="old_rollout_policy"/>
            <p:cNvSpPr/>
            <p:nvPr/>
          </p:nvSpPr>
          <p:spPr>
            <a:xfrm>
              <a:off x="484632" y="1783080"/>
              <a:ext cx="3291840" cy="576072"/>
            </a:xfrm>
            <a:prstGeom prst="roundRect">
              <a:avLst>
                <a:gd name="adj" fmla="val 11111"/>
              </a:avLst>
            </a:prstGeom>
            <a:solidFill>
              <a:srgbClr val="F1F6FA"/>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ld_rollout_policy_label"/>
            <p:cNvSpPr txBox="1"/>
            <p:nvPr/>
          </p:nvSpPr>
          <p:spPr>
            <a:xfrm>
              <a:off x="530352" y="1792224"/>
              <a:ext cx="3200400" cy="557784"/>
            </a:xfrm>
            <a:prstGeom prst="rect">
              <a:avLst/>
            </a:prstGeom>
            <a:noFill/>
          </p:spPr>
          <p:txBody>
            <a:bodyPr wrap="none" lIns="0" rIns="0" tIns="0" bIns="0" anchor="ctr">
              <a:spAutoFit/>
            </a:bodyPr>
            <a:lstStyle/>
            <a:p>
              <a:pPr algn="ctr">
                <a:lnSpc>
                  <a:spcPts val="2033"/>
                </a:lnSpc>
                <a:spcBef>
                  <a:spcPts val="0"/>
                </a:spcBef>
                <a:spcAft>
                  <a:spcPts val="0"/>
                </a:spcAft>
              </a:pPr>
              <a:r>
                <a:rPr sz="1800" b="0">
                  <a:solidFill>
                    <a:srgbClr val="233344"/>
                  </a:solidFill>
                  <a:latin typeface="DejaVu Sans"/>
                </a:rPr>
                <a:t>Old rollout policy</a:t>
              </a:r>
            </a:p>
            <a:p>
              <a:pPr algn="ctr">
                <a:lnSpc>
                  <a:spcPts val="2033"/>
                </a:lnSpc>
                <a:spcBef>
                  <a:spcPts val="0"/>
                </a:spcBef>
                <a:spcAft>
                  <a:spcPts val="0"/>
                </a:spcAft>
              </a:pPr>
              <a:r>
                <a:rPr sz="1800" b="0">
                  <a:solidFill>
                    <a:srgbClr val="233344"/>
                  </a:solidFill>
                  <a:latin typeface="DejaVu Sans"/>
                </a:rPr>
                <a:t>ELF + prompt encoder</a:t>
              </a:r>
            </a:p>
          </p:txBody>
        </p:sp>
      </p:grpSp>
      <p:grpSp>
        <p:nvGrpSpPr>
          <p:cNvPr id="106" name="module_rect_0019"/>
          <p:cNvGrpSpPr/>
          <p:nvPr/>
        </p:nvGrpSpPr>
        <p:grpSpPr>
          <a:xfrm>
            <a:off x="493776" y="3557016"/>
            <a:ext cx="548640" cy="237744"/>
            <a:chOff x="493776" y="3557016"/>
            <a:chExt cx="548640" cy="237744"/>
          </a:xfrm>
        </p:grpSpPr>
        <p:sp>
          <p:nvSpPr>
            <p:cNvPr id="21" name="rect_0019"/>
            <p:cNvSpPr/>
            <p:nvPr/>
          </p:nvSpPr>
          <p:spPr>
            <a:xfrm>
              <a:off x="493776" y="3557016"/>
              <a:ext cx="548640" cy="237744"/>
            </a:xfrm>
            <a:prstGeom prst="roundRect">
              <a:avLst>
                <a:gd name="adj" fmla="val 12000"/>
              </a:avLst>
            </a:prstGeom>
            <a:solidFill>
              <a:srgbClr val="D9EBE8"/>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_0020"/>
            <p:cNvSpPr txBox="1"/>
            <p:nvPr/>
          </p:nvSpPr>
          <p:spPr>
            <a:xfrm>
              <a:off x="539496"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a:t>
              </a:r>
            </a:p>
          </p:txBody>
        </p:sp>
      </p:grpSp>
      <p:grpSp>
        <p:nvGrpSpPr>
          <p:cNvPr id="107" name="module_rect_0021"/>
          <p:cNvGrpSpPr/>
          <p:nvPr/>
        </p:nvGrpSpPr>
        <p:grpSpPr>
          <a:xfrm>
            <a:off x="1152144" y="3557016"/>
            <a:ext cx="548640" cy="237744"/>
            <a:chOff x="1152144" y="3557016"/>
            <a:chExt cx="548640" cy="237744"/>
          </a:xfrm>
        </p:grpSpPr>
        <p:sp>
          <p:nvSpPr>
            <p:cNvPr id="23" name="rect_0021"/>
            <p:cNvSpPr/>
            <p:nvPr/>
          </p:nvSpPr>
          <p:spPr>
            <a:xfrm>
              <a:off x="1152144" y="3557016"/>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_0022"/>
            <p:cNvSpPr txBox="1"/>
            <p:nvPr/>
          </p:nvSpPr>
          <p:spPr>
            <a:xfrm>
              <a:off x="1197864"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x2</a:t>
              </a:r>
            </a:p>
          </p:txBody>
        </p:sp>
      </p:grpSp>
      <p:grpSp>
        <p:nvGrpSpPr>
          <p:cNvPr id="108" name="module_rect_0023"/>
          <p:cNvGrpSpPr/>
          <p:nvPr/>
        </p:nvGrpSpPr>
        <p:grpSpPr>
          <a:xfrm>
            <a:off x="1810512" y="3557016"/>
            <a:ext cx="548640" cy="237744"/>
            <a:chOff x="1810512" y="3557016"/>
            <a:chExt cx="548640" cy="237744"/>
          </a:xfrm>
        </p:grpSpPr>
        <p:sp>
          <p:nvSpPr>
            <p:cNvPr id="25" name="rect_0023"/>
            <p:cNvSpPr/>
            <p:nvPr/>
          </p:nvSpPr>
          <p:spPr>
            <a:xfrm>
              <a:off x="1810512" y="3557016"/>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_0024"/>
            <p:cNvSpPr txBox="1"/>
            <p:nvPr/>
          </p:nvSpPr>
          <p:spPr>
            <a:xfrm>
              <a:off x="1856231"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x3</a:t>
              </a:r>
            </a:p>
          </p:txBody>
        </p:sp>
      </p:grpSp>
      <p:grpSp>
        <p:nvGrpSpPr>
          <p:cNvPr id="109" name="module_rect_0025"/>
          <p:cNvGrpSpPr/>
          <p:nvPr/>
        </p:nvGrpSpPr>
        <p:grpSpPr>
          <a:xfrm>
            <a:off x="2468880" y="3557016"/>
            <a:ext cx="548640" cy="237744"/>
            <a:chOff x="2468880" y="3557016"/>
            <a:chExt cx="548640" cy="237744"/>
          </a:xfrm>
        </p:grpSpPr>
        <p:sp>
          <p:nvSpPr>
            <p:cNvPr id="27" name="rect_0025"/>
            <p:cNvSpPr/>
            <p:nvPr/>
          </p:nvSpPr>
          <p:spPr>
            <a:xfrm>
              <a:off x="2468880" y="3557016"/>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_0026"/>
            <p:cNvSpPr txBox="1"/>
            <p:nvPr/>
          </p:nvSpPr>
          <p:spPr>
            <a:xfrm>
              <a:off x="2514600"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x4</a:t>
              </a:r>
            </a:p>
          </p:txBody>
        </p:sp>
      </p:grpSp>
      <p:grpSp>
        <p:nvGrpSpPr>
          <p:cNvPr id="110" name="module_rect_0027"/>
          <p:cNvGrpSpPr/>
          <p:nvPr/>
        </p:nvGrpSpPr>
        <p:grpSpPr>
          <a:xfrm>
            <a:off x="3127248" y="3557016"/>
            <a:ext cx="548640" cy="237744"/>
            <a:chOff x="3127248" y="3557016"/>
            <a:chExt cx="548640" cy="237744"/>
          </a:xfrm>
        </p:grpSpPr>
        <p:sp>
          <p:nvSpPr>
            <p:cNvPr id="29" name="rect_0027"/>
            <p:cNvSpPr/>
            <p:nvPr/>
          </p:nvSpPr>
          <p:spPr>
            <a:xfrm>
              <a:off x="3127248" y="3557016"/>
              <a:ext cx="548640" cy="237744"/>
            </a:xfrm>
            <a:prstGeom prst="roundRect">
              <a:avLst>
                <a:gd name="adj" fmla="val 12000"/>
              </a:avLst>
            </a:prstGeom>
            <a:solidFill>
              <a:srgbClr val="D9EBE8"/>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_0028"/>
            <p:cNvSpPr txBox="1"/>
            <p:nvPr/>
          </p:nvSpPr>
          <p:spPr>
            <a:xfrm>
              <a:off x="3172968" y="3566160"/>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x5</a:t>
              </a:r>
            </a:p>
          </p:txBody>
        </p:sp>
      </p:grpSp>
      <p:grpSp>
        <p:nvGrpSpPr>
          <p:cNvPr id="111" name="module_rect_0029"/>
          <p:cNvGrpSpPr/>
          <p:nvPr/>
        </p:nvGrpSpPr>
        <p:grpSpPr>
          <a:xfrm>
            <a:off x="493776" y="3895344"/>
            <a:ext cx="548640" cy="237744"/>
            <a:chOff x="493776" y="3895344"/>
            <a:chExt cx="548640" cy="237744"/>
          </a:xfrm>
        </p:grpSpPr>
        <p:sp>
          <p:nvSpPr>
            <p:cNvPr id="31" name="rect_0029"/>
            <p:cNvSpPr/>
            <p:nvPr/>
          </p:nvSpPr>
          <p:spPr>
            <a:xfrm>
              <a:off x="493776" y="3895344"/>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_0030"/>
            <p:cNvSpPr txBox="1"/>
            <p:nvPr/>
          </p:nvSpPr>
          <p:spPr>
            <a:xfrm>
              <a:off x="539496"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x6</a:t>
              </a:r>
            </a:p>
          </p:txBody>
        </p:sp>
      </p:grpSp>
      <p:grpSp>
        <p:nvGrpSpPr>
          <p:cNvPr id="112" name="module_rect_0031"/>
          <p:cNvGrpSpPr/>
          <p:nvPr/>
        </p:nvGrpSpPr>
        <p:grpSpPr>
          <a:xfrm>
            <a:off x="1152144" y="3895344"/>
            <a:ext cx="548640" cy="237744"/>
            <a:chOff x="1152144" y="3895344"/>
            <a:chExt cx="548640" cy="237744"/>
          </a:xfrm>
        </p:grpSpPr>
        <p:sp>
          <p:nvSpPr>
            <p:cNvPr id="33" name="rect_0031"/>
            <p:cNvSpPr/>
            <p:nvPr/>
          </p:nvSpPr>
          <p:spPr>
            <a:xfrm>
              <a:off x="1152144" y="3895344"/>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_0032"/>
            <p:cNvSpPr txBox="1"/>
            <p:nvPr/>
          </p:nvSpPr>
          <p:spPr>
            <a:xfrm>
              <a:off x="1197864"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x7</a:t>
              </a:r>
            </a:p>
          </p:txBody>
        </p:sp>
      </p:grpSp>
      <p:grpSp>
        <p:nvGrpSpPr>
          <p:cNvPr id="113" name="module_rect_0033"/>
          <p:cNvGrpSpPr/>
          <p:nvPr/>
        </p:nvGrpSpPr>
        <p:grpSpPr>
          <a:xfrm>
            <a:off x="1810512" y="3895344"/>
            <a:ext cx="548640" cy="237744"/>
            <a:chOff x="1810512" y="3895344"/>
            <a:chExt cx="548640" cy="237744"/>
          </a:xfrm>
        </p:grpSpPr>
        <p:sp>
          <p:nvSpPr>
            <p:cNvPr id="35" name="rect_0033"/>
            <p:cNvSpPr/>
            <p:nvPr/>
          </p:nvSpPr>
          <p:spPr>
            <a:xfrm>
              <a:off x="1810512" y="3895344"/>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_0034"/>
            <p:cNvSpPr txBox="1"/>
            <p:nvPr/>
          </p:nvSpPr>
          <p:spPr>
            <a:xfrm>
              <a:off x="1856231"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x8</a:t>
              </a:r>
            </a:p>
          </p:txBody>
        </p:sp>
      </p:grpSp>
      <p:grpSp>
        <p:nvGrpSpPr>
          <p:cNvPr id="114" name="module_rect_0035"/>
          <p:cNvGrpSpPr/>
          <p:nvPr/>
        </p:nvGrpSpPr>
        <p:grpSpPr>
          <a:xfrm>
            <a:off x="2468880" y="3895344"/>
            <a:ext cx="548640" cy="237744"/>
            <a:chOff x="2468880" y="3895344"/>
            <a:chExt cx="548640" cy="237744"/>
          </a:xfrm>
        </p:grpSpPr>
        <p:sp>
          <p:nvSpPr>
            <p:cNvPr id="37" name="rect_0035"/>
            <p:cNvSpPr/>
            <p:nvPr/>
          </p:nvSpPr>
          <p:spPr>
            <a:xfrm>
              <a:off x="2468880" y="3895344"/>
              <a:ext cx="548640" cy="237744"/>
            </a:xfrm>
            <a:prstGeom prst="roundRect">
              <a:avLst>
                <a:gd name="adj" fmla="val 12000"/>
              </a:avLst>
            </a:prstGeom>
            <a:solidFill>
              <a:srgbClr val="D9EBE8"/>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_0036"/>
            <p:cNvSpPr txBox="1"/>
            <p:nvPr/>
          </p:nvSpPr>
          <p:spPr>
            <a:xfrm>
              <a:off x="2514600"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x9</a:t>
              </a:r>
            </a:p>
          </p:txBody>
        </p:sp>
      </p:grpSp>
      <p:grpSp>
        <p:nvGrpSpPr>
          <p:cNvPr id="115" name="module_rect_0037"/>
          <p:cNvGrpSpPr/>
          <p:nvPr/>
        </p:nvGrpSpPr>
        <p:grpSpPr>
          <a:xfrm>
            <a:off x="3127248" y="3895344"/>
            <a:ext cx="548640" cy="237744"/>
            <a:chOff x="3127248" y="3895344"/>
            <a:chExt cx="548640" cy="237744"/>
          </a:xfrm>
        </p:grpSpPr>
        <p:sp>
          <p:nvSpPr>
            <p:cNvPr id="39" name="rect_0037"/>
            <p:cNvSpPr/>
            <p:nvPr/>
          </p:nvSpPr>
          <p:spPr>
            <a:xfrm>
              <a:off x="3127248" y="3895344"/>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_0038"/>
            <p:cNvSpPr txBox="1"/>
            <p:nvPr/>
          </p:nvSpPr>
          <p:spPr>
            <a:xfrm>
              <a:off x="3172968" y="3904487"/>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x10</a:t>
              </a:r>
            </a:p>
          </p:txBody>
        </p:sp>
      </p:grpSp>
      <p:grpSp>
        <p:nvGrpSpPr>
          <p:cNvPr id="116" name="module_rect_0039"/>
          <p:cNvGrpSpPr/>
          <p:nvPr/>
        </p:nvGrpSpPr>
        <p:grpSpPr>
          <a:xfrm>
            <a:off x="493776" y="4233672"/>
            <a:ext cx="548640" cy="237744"/>
            <a:chOff x="493776" y="4233672"/>
            <a:chExt cx="548640" cy="237744"/>
          </a:xfrm>
        </p:grpSpPr>
        <p:sp>
          <p:nvSpPr>
            <p:cNvPr id="41" name="rect_0039"/>
            <p:cNvSpPr/>
            <p:nvPr/>
          </p:nvSpPr>
          <p:spPr>
            <a:xfrm>
              <a:off x="493776" y="4233672"/>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_0040"/>
            <p:cNvSpPr txBox="1"/>
            <p:nvPr/>
          </p:nvSpPr>
          <p:spPr>
            <a:xfrm>
              <a:off x="539496"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x11</a:t>
              </a:r>
            </a:p>
          </p:txBody>
        </p:sp>
      </p:grpSp>
      <p:grpSp>
        <p:nvGrpSpPr>
          <p:cNvPr id="117" name="module_rect_0041"/>
          <p:cNvGrpSpPr/>
          <p:nvPr/>
        </p:nvGrpSpPr>
        <p:grpSpPr>
          <a:xfrm>
            <a:off x="1152144" y="4233672"/>
            <a:ext cx="548640" cy="237744"/>
            <a:chOff x="1152144" y="4233672"/>
            <a:chExt cx="548640" cy="237744"/>
          </a:xfrm>
        </p:grpSpPr>
        <p:sp>
          <p:nvSpPr>
            <p:cNvPr id="43" name="rect_0041"/>
            <p:cNvSpPr/>
            <p:nvPr/>
          </p:nvSpPr>
          <p:spPr>
            <a:xfrm>
              <a:off x="1152144" y="4233672"/>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_0042"/>
            <p:cNvSpPr txBox="1"/>
            <p:nvPr/>
          </p:nvSpPr>
          <p:spPr>
            <a:xfrm>
              <a:off x="1197864"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x12</a:t>
              </a:r>
            </a:p>
          </p:txBody>
        </p:sp>
      </p:grpSp>
      <p:grpSp>
        <p:nvGrpSpPr>
          <p:cNvPr id="118" name="module_rect_0043"/>
          <p:cNvGrpSpPr/>
          <p:nvPr/>
        </p:nvGrpSpPr>
        <p:grpSpPr>
          <a:xfrm>
            <a:off x="1810512" y="4233672"/>
            <a:ext cx="548640" cy="237744"/>
            <a:chOff x="1810512" y="4233672"/>
            <a:chExt cx="548640" cy="237744"/>
          </a:xfrm>
        </p:grpSpPr>
        <p:sp>
          <p:nvSpPr>
            <p:cNvPr id="45" name="rect_0043"/>
            <p:cNvSpPr/>
            <p:nvPr/>
          </p:nvSpPr>
          <p:spPr>
            <a:xfrm>
              <a:off x="1810512" y="4233672"/>
              <a:ext cx="548640" cy="237744"/>
            </a:xfrm>
            <a:prstGeom prst="roundRect">
              <a:avLst>
                <a:gd name="adj" fmla="val 12000"/>
              </a:avLst>
            </a:prstGeom>
            <a:solidFill>
              <a:srgbClr val="D9EBE8"/>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_0044"/>
            <p:cNvSpPr txBox="1"/>
            <p:nvPr/>
          </p:nvSpPr>
          <p:spPr>
            <a:xfrm>
              <a:off x="1856231"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x13</a:t>
              </a:r>
            </a:p>
          </p:txBody>
        </p:sp>
      </p:grpSp>
      <p:grpSp>
        <p:nvGrpSpPr>
          <p:cNvPr id="119" name="module_rect_0045"/>
          <p:cNvGrpSpPr/>
          <p:nvPr/>
        </p:nvGrpSpPr>
        <p:grpSpPr>
          <a:xfrm>
            <a:off x="2468880" y="4233672"/>
            <a:ext cx="548640" cy="237744"/>
            <a:chOff x="2468880" y="4233672"/>
            <a:chExt cx="548640" cy="237744"/>
          </a:xfrm>
        </p:grpSpPr>
        <p:sp>
          <p:nvSpPr>
            <p:cNvPr id="47" name="rect_0045"/>
            <p:cNvSpPr/>
            <p:nvPr/>
          </p:nvSpPr>
          <p:spPr>
            <a:xfrm>
              <a:off x="2468880" y="4233672"/>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_0046"/>
            <p:cNvSpPr txBox="1"/>
            <p:nvPr/>
          </p:nvSpPr>
          <p:spPr>
            <a:xfrm>
              <a:off x="2514600"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x14</a:t>
              </a:r>
            </a:p>
          </p:txBody>
        </p:sp>
      </p:grpSp>
      <p:grpSp>
        <p:nvGrpSpPr>
          <p:cNvPr id="120" name="module_rect_0047"/>
          <p:cNvGrpSpPr/>
          <p:nvPr/>
        </p:nvGrpSpPr>
        <p:grpSpPr>
          <a:xfrm>
            <a:off x="3127248" y="4233672"/>
            <a:ext cx="548640" cy="237744"/>
            <a:chOff x="3127248" y="4233672"/>
            <a:chExt cx="548640" cy="237744"/>
          </a:xfrm>
        </p:grpSpPr>
        <p:sp>
          <p:nvSpPr>
            <p:cNvPr id="49" name="rect_0047"/>
            <p:cNvSpPr/>
            <p:nvPr/>
          </p:nvSpPr>
          <p:spPr>
            <a:xfrm>
              <a:off x="3127248" y="4233672"/>
              <a:ext cx="548640" cy="237744"/>
            </a:xfrm>
            <a:prstGeom prst="roundRect">
              <a:avLst>
                <a:gd name="adj" fmla="val 12000"/>
              </a:avLst>
            </a:prstGeom>
            <a:solidFill>
              <a:srgbClr val="F2F4F6"/>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_0048"/>
            <p:cNvSpPr txBox="1"/>
            <p:nvPr/>
          </p:nvSpPr>
          <p:spPr>
            <a:xfrm>
              <a:off x="3172968" y="4242816"/>
              <a:ext cx="457200" cy="219456"/>
            </a:xfrm>
            <a:prstGeom prst="rect">
              <a:avLst/>
            </a:prstGeom>
            <a:noFill/>
          </p:spPr>
          <p:txBody>
            <a:bodyPr wrap="none" lIns="0" rIns="0" tIns="0" bIns="0" anchor="ctr">
              <a:spAutoFit/>
            </a:bodyPr>
            <a:lstStyle/>
            <a:p>
              <a:pPr algn="ctr">
                <a:lnSpc>
                  <a:spcPts val="1243"/>
                </a:lnSpc>
                <a:spcBef>
                  <a:spcPts val="0"/>
                </a:spcBef>
                <a:spcAft>
                  <a:spcPts val="0"/>
                </a:spcAft>
              </a:pPr>
              <a:r>
                <a:rPr sz="1100" b="0">
                  <a:solidFill>
                    <a:srgbClr val="233344"/>
                  </a:solidFill>
                  <a:latin typeface="DejaVu Sans"/>
                </a:rPr>
                <a:t>x15</a:t>
              </a:r>
            </a:p>
          </p:txBody>
        </p:sp>
      </p:grpSp>
      <p:grpSp>
        <p:nvGrpSpPr>
          <p:cNvPr id="121" name="module_gold_endpoint_anchor"/>
          <p:cNvGrpSpPr/>
          <p:nvPr/>
        </p:nvGrpSpPr>
        <p:grpSpPr>
          <a:xfrm>
            <a:off x="384048" y="5340096"/>
            <a:ext cx="3511296" cy="704088"/>
            <a:chOff x="384048" y="5340096"/>
            <a:chExt cx="3511296" cy="704088"/>
          </a:xfrm>
        </p:grpSpPr>
        <p:sp>
          <p:nvSpPr>
            <p:cNvPr id="52" name="gold_endpoint_anchor"/>
            <p:cNvSpPr/>
            <p:nvPr/>
          </p:nvSpPr>
          <p:spPr>
            <a:xfrm>
              <a:off x="384048" y="5340096"/>
              <a:ext cx="3511296" cy="704088"/>
            </a:xfrm>
            <a:prstGeom prst="roundRect">
              <a:avLst>
                <a:gd name="adj" fmla="val 9090"/>
              </a:avLst>
            </a:prstGeom>
            <a:solidFill>
              <a:srgbClr val="F2F0F6"/>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old_endpoint_anchor_label"/>
            <p:cNvSpPr txBox="1"/>
            <p:nvPr/>
          </p:nvSpPr>
          <p:spPr>
            <a:xfrm>
              <a:off x="429768" y="5349240"/>
              <a:ext cx="3419856" cy="685800"/>
            </a:xfrm>
            <a:prstGeom prst="rect">
              <a:avLst/>
            </a:prstGeom>
            <a:noFill/>
          </p:spPr>
          <p:txBody>
            <a:bodyPr wrap="none" lIns="0" rIns="0" tIns="0" bIns="0" anchor="ctr">
              <a:spAutoFit/>
            </a:bodyPr>
            <a:lstStyle/>
            <a:p>
              <a:pPr algn="ctr">
                <a:lnSpc>
                  <a:spcPts val="2033"/>
                </a:lnSpc>
                <a:spcBef>
                  <a:spcPts val="0"/>
                </a:spcBef>
                <a:spcAft>
                  <a:spcPts val="0"/>
                </a:spcAft>
              </a:pPr>
              <a:r>
                <a:rPr sz="1800" b="0">
                  <a:solidFill>
                    <a:srgbClr val="233344"/>
                  </a:solidFill>
                  <a:latin typeface="DejaVu Sans"/>
                </a:rPr>
                <a:t>+ 1 reference solution</a:t>
              </a:r>
            </a:p>
            <a:p>
              <a:pPr algn="ctr">
                <a:lnSpc>
                  <a:spcPts val="2033"/>
                </a:lnSpc>
                <a:spcBef>
                  <a:spcPts val="0"/>
                </a:spcBef>
                <a:spcAft>
                  <a:spcPts val="0"/>
                </a:spcAft>
              </a:pPr>
              <a:r>
                <a:rPr sz="1800" b="0">
                  <a:solidFill>
                    <a:srgbClr val="233344"/>
                  </a:solidFill>
                  <a:latin typeface="DejaVu Sans"/>
                </a:rPr>
                <a:t>Cached gold Qwen latent</a:t>
              </a:r>
            </a:p>
          </p:txBody>
        </p:sp>
      </p:grpSp>
      <p:grpSp>
        <p:nvGrpSpPr>
          <p:cNvPr id="122" name="module_rect_0063"/>
          <p:cNvGrpSpPr/>
          <p:nvPr/>
        </p:nvGrpSpPr>
        <p:grpSpPr>
          <a:xfrm>
            <a:off x="4572000" y="3493008"/>
            <a:ext cx="3566160" cy="630936"/>
            <a:chOff x="4572000" y="3493008"/>
            <a:chExt cx="3566160" cy="630936"/>
          </a:xfrm>
        </p:grpSpPr>
        <p:sp>
          <p:nvSpPr>
            <p:cNvPr id="65" name="rect_0063"/>
            <p:cNvSpPr/>
            <p:nvPr/>
          </p:nvSpPr>
          <p:spPr>
            <a:xfrm>
              <a:off x="4572000" y="3493008"/>
              <a:ext cx="3566160" cy="630936"/>
            </a:xfrm>
            <a:prstGeom prst="roundRect">
              <a:avLst>
                <a:gd name="adj" fmla="val 10144"/>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_0064"/>
            <p:cNvSpPr txBox="1"/>
            <p:nvPr/>
          </p:nvSpPr>
          <p:spPr>
            <a:xfrm>
              <a:off x="4617720" y="3502151"/>
              <a:ext cx="3474720" cy="612647"/>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Discard groups with</a:t>
              </a:r>
            </a:p>
            <a:p>
              <a:pPr algn="ctr">
                <a:lnSpc>
                  <a:spcPts val="1920"/>
                </a:lnSpc>
                <a:spcBef>
                  <a:spcPts val="0"/>
                </a:spcBef>
                <a:spcAft>
                  <a:spcPts val="0"/>
                </a:spcAft>
              </a:pPr>
              <a:r>
                <a:rPr sz="1700" b="0">
                  <a:solidFill>
                    <a:srgbClr val="233344"/>
                  </a:solidFill>
                  <a:latin typeface="DejaVu Sans"/>
                </a:rPr>
                <a:t>all 15 generations correct</a:t>
              </a:r>
            </a:p>
          </p:txBody>
        </p:sp>
      </p:grpSp>
      <p:grpSp>
        <p:nvGrpSpPr>
          <p:cNvPr id="123" name="module_rect_0066"/>
          <p:cNvGrpSpPr/>
          <p:nvPr/>
        </p:nvGrpSpPr>
        <p:grpSpPr>
          <a:xfrm>
            <a:off x="4572000" y="4462272"/>
            <a:ext cx="3566160" cy="713232"/>
            <a:chOff x="4572000" y="4462272"/>
            <a:chExt cx="3566160" cy="713232"/>
          </a:xfrm>
        </p:grpSpPr>
        <p:sp>
          <p:nvSpPr>
            <p:cNvPr id="68" name="rect_0066"/>
            <p:cNvSpPr/>
            <p:nvPr/>
          </p:nvSpPr>
          <p:spPr>
            <a:xfrm>
              <a:off x="4572000" y="4462272"/>
              <a:ext cx="3566160" cy="713232"/>
            </a:xfrm>
            <a:prstGeom prst="roundRect">
              <a:avLst>
                <a:gd name="adj" fmla="val 8974"/>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_0067"/>
            <p:cNvSpPr txBox="1"/>
            <p:nvPr/>
          </p:nvSpPr>
          <p:spPr>
            <a:xfrm>
              <a:off x="4617720" y="4471416"/>
              <a:ext cx="3474720" cy="694944"/>
            </a:xfrm>
            <a:prstGeom prst="rect">
              <a:avLst/>
            </a:prstGeom>
            <a:noFill/>
          </p:spPr>
          <p:txBody>
            <a:bodyPr wrap="none" lIns="0" rIns="0" tIns="0" bIns="0" anchor="ctr">
              <a:spAutoFit/>
            </a:bodyPr>
            <a:lstStyle/>
            <a:p>
              <a:pPr algn="ctr">
                <a:lnSpc>
                  <a:spcPts val="1751"/>
                </a:lnSpc>
                <a:spcBef>
                  <a:spcPts val="0"/>
                </a:spcBef>
                <a:spcAft>
                  <a:spcPts val="0"/>
                </a:spcAft>
              </a:pPr>
              <a:r>
                <a:rPr sz="1550" b="0">
                  <a:solidFill>
                    <a:srgbClr val="233344"/>
                  </a:solidFill>
                  <a:latin typeface="DejaVu Sans"/>
                </a:rPr>
                <a:t>Center rewards within each group;</a:t>
              </a:r>
            </a:p>
            <a:p>
              <a:pPr algn="ctr">
                <a:lnSpc>
                  <a:spcPts val="1751"/>
                </a:lnSpc>
                <a:spcBef>
                  <a:spcPts val="0"/>
                </a:spcBef>
                <a:spcAft>
                  <a:spcPts val="0"/>
                </a:spcAft>
              </a:pPr>
              <a:r>
                <a:rPr sz="1550" b="0">
                  <a:solidFill>
                    <a:srgbClr val="233344"/>
                  </a:solidFill>
                  <a:latin typeface="DejaVu Sans"/>
                </a:rPr>
                <a:t>scale by retained raw-reward SD</a:t>
              </a:r>
            </a:p>
          </p:txBody>
        </p:sp>
      </p:grpSp>
      <p:grpSp>
        <p:nvGrpSpPr>
          <p:cNvPr id="124" name="module_rect_0069"/>
          <p:cNvGrpSpPr/>
          <p:nvPr/>
        </p:nvGrpSpPr>
        <p:grpSpPr>
          <a:xfrm>
            <a:off x="4572000" y="5495544"/>
            <a:ext cx="3566160" cy="676656"/>
            <a:chOff x="4572000" y="5495544"/>
            <a:chExt cx="3566160" cy="676656"/>
          </a:xfrm>
        </p:grpSpPr>
        <p:sp>
          <p:nvSpPr>
            <p:cNvPr id="71" name="rect_0069"/>
            <p:cNvSpPr/>
            <p:nvPr/>
          </p:nvSpPr>
          <p:spPr>
            <a:xfrm>
              <a:off x="4572000" y="5495544"/>
              <a:ext cx="3566160" cy="676656"/>
            </a:xfrm>
            <a:prstGeom prst="roundRect">
              <a:avLst>
                <a:gd name="adj" fmla="val 9459"/>
              </a:avLst>
            </a:prstGeom>
            <a:solidFill>
              <a:srgbClr val="EEF6F5"/>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_0070"/>
            <p:cNvSpPr txBox="1"/>
            <p:nvPr/>
          </p:nvSpPr>
          <p:spPr>
            <a:xfrm>
              <a:off x="4617720" y="5504688"/>
              <a:ext cx="3474720" cy="65836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Advantage A → weight ρ</a:t>
              </a:r>
            </a:p>
            <a:p>
              <a:pPr algn="ctr">
                <a:lnSpc>
                  <a:spcPts val="1920"/>
                </a:lnSpc>
                <a:spcBef>
                  <a:spcPts val="0"/>
                </a:spcBef>
                <a:spcAft>
                  <a:spcPts val="0"/>
                </a:spcAft>
              </a:pPr>
              <a:r>
                <a:rPr sz="1700" b="0">
                  <a:solidFill>
                    <a:srgbClr val="233344"/>
                  </a:solidFill>
                  <a:latin typeface="DejaVu Sans"/>
                </a:rPr>
                <a:t>ρ = clip(½ + A/10, 0, 1)</a:t>
              </a:r>
            </a:p>
          </p:txBody>
        </p:sp>
      </p:grpSp>
      <p:grpSp>
        <p:nvGrpSpPr>
          <p:cNvPr id="125" name="module_rect_0072"/>
          <p:cNvGrpSpPr/>
          <p:nvPr/>
        </p:nvGrpSpPr>
        <p:grpSpPr>
          <a:xfrm>
            <a:off x="8769096" y="1005840"/>
            <a:ext cx="3557016" cy="512064"/>
            <a:chOff x="8769096" y="1005840"/>
            <a:chExt cx="3557016" cy="512064"/>
          </a:xfrm>
        </p:grpSpPr>
        <p:sp>
          <p:nvSpPr>
            <p:cNvPr id="74" name="rect_0072"/>
            <p:cNvSpPr/>
            <p:nvPr/>
          </p:nvSpPr>
          <p:spPr>
            <a:xfrm>
              <a:off x="8769096" y="1005840"/>
              <a:ext cx="3557016" cy="512064"/>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_0073"/>
            <p:cNvSpPr txBox="1"/>
            <p:nvPr/>
          </p:nvSpPr>
          <p:spPr>
            <a:xfrm>
              <a:off x="8814816" y="1014984"/>
              <a:ext cx="3465576" cy="493776"/>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Latent endpoint x + fresh (t, ε)</a:t>
              </a:r>
            </a:p>
          </p:txBody>
        </p:sp>
      </p:grpSp>
      <p:grpSp>
        <p:nvGrpSpPr>
          <p:cNvPr id="126" name="module_policy_current"/>
          <p:cNvGrpSpPr/>
          <p:nvPr/>
        </p:nvGrpSpPr>
        <p:grpSpPr>
          <a:xfrm>
            <a:off x="8961119" y="1865376"/>
            <a:ext cx="3191256" cy="457200"/>
            <a:chOff x="8961119" y="1865376"/>
            <a:chExt cx="3191256" cy="457200"/>
          </a:xfrm>
        </p:grpSpPr>
        <p:sp>
          <p:nvSpPr>
            <p:cNvPr id="76" name="policy_current"/>
            <p:cNvSpPr/>
            <p:nvPr/>
          </p:nvSpPr>
          <p:spPr>
            <a:xfrm>
              <a:off x="8961119" y="1865376"/>
              <a:ext cx="3191256" cy="457200"/>
            </a:xfrm>
            <a:prstGeom prst="roundRect">
              <a:avLst>
                <a:gd name="adj" fmla="val 12000"/>
              </a:avLst>
            </a:prstGeom>
            <a:solidFill>
              <a:srgbClr val="EDF3F8"/>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policy_current_label"/>
            <p:cNvSpPr txBox="1"/>
            <p:nvPr/>
          </p:nvSpPr>
          <p:spPr>
            <a:xfrm>
              <a:off x="9006840" y="1874519"/>
              <a:ext cx="3099816" cy="43891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Current policy θ, φ</a:t>
              </a:r>
            </a:p>
          </p:txBody>
        </p:sp>
      </p:grpSp>
      <p:grpSp>
        <p:nvGrpSpPr>
          <p:cNvPr id="127" name="module_policy_old"/>
          <p:cNvGrpSpPr/>
          <p:nvPr/>
        </p:nvGrpSpPr>
        <p:grpSpPr>
          <a:xfrm>
            <a:off x="8961119" y="2606040"/>
            <a:ext cx="3191256" cy="457200"/>
            <a:chOff x="8961119" y="2606040"/>
            <a:chExt cx="3191256" cy="457200"/>
          </a:xfrm>
        </p:grpSpPr>
        <p:sp>
          <p:nvSpPr>
            <p:cNvPr id="80" name="policy_old"/>
            <p:cNvSpPr/>
            <p:nvPr/>
          </p:nvSpPr>
          <p:spPr>
            <a:xfrm>
              <a:off x="8961119" y="2606040"/>
              <a:ext cx="3191256" cy="457200"/>
            </a:xfrm>
            <a:prstGeom prst="roundRect">
              <a:avLst>
                <a:gd name="adj" fmla="val 12000"/>
              </a:avLst>
            </a:prstGeom>
            <a:solidFill>
              <a:srgbClr val="F1F3F4"/>
            </a:solidFill>
            <a:ln w="12700">
              <a:solidFill>
                <a:srgbClr val="637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policy_old_label"/>
            <p:cNvSpPr txBox="1"/>
            <p:nvPr/>
          </p:nvSpPr>
          <p:spPr>
            <a:xfrm>
              <a:off x="9006840" y="2615184"/>
              <a:ext cx="3099816" cy="43891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Old policy · stop-grad</a:t>
              </a:r>
            </a:p>
          </p:txBody>
        </p:sp>
      </p:grpSp>
      <p:grpSp>
        <p:nvGrpSpPr>
          <p:cNvPr id="128" name="module_policy_fixed"/>
          <p:cNvGrpSpPr/>
          <p:nvPr/>
        </p:nvGrpSpPr>
        <p:grpSpPr>
          <a:xfrm>
            <a:off x="8961119" y="3346704"/>
            <a:ext cx="3191256" cy="457200"/>
            <a:chOff x="8961119" y="3346704"/>
            <a:chExt cx="3191256" cy="457200"/>
          </a:xfrm>
        </p:grpSpPr>
        <p:sp>
          <p:nvSpPr>
            <p:cNvPr id="84" name="policy_fixed"/>
            <p:cNvSpPr/>
            <p:nvPr/>
          </p:nvSpPr>
          <p:spPr>
            <a:xfrm>
              <a:off x="8961119" y="3346704"/>
              <a:ext cx="3191256" cy="457200"/>
            </a:xfrm>
            <a:prstGeom prst="roundRect">
              <a:avLst>
                <a:gd name="adj" fmla="val 12000"/>
              </a:avLst>
            </a:prstGeom>
            <a:solidFill>
              <a:srgbClr val="F1F3F4"/>
            </a:solidFill>
            <a:ln w="12700">
              <a:solidFill>
                <a:srgbClr val="6375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policy_fixed_label"/>
            <p:cNvSpPr txBox="1"/>
            <p:nvPr/>
          </p:nvSpPr>
          <p:spPr>
            <a:xfrm>
              <a:off x="9006840" y="3355848"/>
              <a:ext cx="3099816" cy="43891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Fixed reference · stop-grad</a:t>
              </a:r>
            </a:p>
          </p:txBody>
        </p:sp>
      </p:grpSp>
      <p:grpSp>
        <p:nvGrpSpPr>
          <p:cNvPr id="129" name="module_rect_0086"/>
          <p:cNvGrpSpPr/>
          <p:nvPr/>
        </p:nvGrpSpPr>
        <p:grpSpPr>
          <a:xfrm>
            <a:off x="8906255" y="3986784"/>
            <a:ext cx="3273552" cy="640080"/>
            <a:chOff x="8906255" y="3986784"/>
            <a:chExt cx="3273552" cy="640080"/>
          </a:xfrm>
        </p:grpSpPr>
        <p:sp>
          <p:nvSpPr>
            <p:cNvPr id="88" name="rect_0086"/>
            <p:cNvSpPr/>
            <p:nvPr/>
          </p:nvSpPr>
          <p:spPr>
            <a:xfrm>
              <a:off x="8906255" y="3986784"/>
              <a:ext cx="3273552" cy="640080"/>
            </a:xfrm>
            <a:prstGeom prst="roundRect">
              <a:avLst>
                <a:gd name="adj" fmla="val 10000"/>
              </a:avLst>
            </a:prstGeom>
            <a:solidFill>
              <a:srgbClr val="F4F3F8"/>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_0087"/>
            <p:cNvSpPr txBox="1"/>
            <p:nvPr/>
          </p:nvSpPr>
          <p:spPr>
            <a:xfrm>
              <a:off x="8951976" y="3995928"/>
              <a:ext cx="3182112" cy="62179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SCCFG velocity for each role</a:t>
              </a:r>
            </a:p>
            <a:p>
              <a:pPr algn="ctr">
                <a:lnSpc>
                  <a:spcPts val="1695"/>
                </a:lnSpc>
                <a:spcBef>
                  <a:spcPts val="0"/>
                </a:spcBef>
                <a:spcAft>
                  <a:spcPts val="0"/>
                </a:spcAft>
              </a:pPr>
              <a:r>
                <a:rPr sz="1500" b="0">
                  <a:solidFill>
                    <a:srgbClr val="233344"/>
                  </a:solidFill>
                  <a:latin typeface="DejaVu Sans"/>
                </a:rPr>
                <a:t>Detached guidance correction</a:t>
              </a:r>
            </a:p>
          </p:txBody>
        </p:sp>
      </p:grpSp>
      <p:grpSp>
        <p:nvGrpSpPr>
          <p:cNvPr id="130" name="module_rect_0089"/>
          <p:cNvGrpSpPr/>
          <p:nvPr/>
        </p:nvGrpSpPr>
        <p:grpSpPr>
          <a:xfrm>
            <a:off x="8805672" y="4956048"/>
            <a:ext cx="3547872" cy="640080"/>
            <a:chOff x="8805672" y="4956048"/>
            <a:chExt cx="3547872" cy="640080"/>
          </a:xfrm>
        </p:grpSpPr>
        <p:sp>
          <p:nvSpPr>
            <p:cNvPr id="91" name="rect_0089"/>
            <p:cNvSpPr/>
            <p:nvPr/>
          </p:nvSpPr>
          <p:spPr>
            <a:xfrm>
              <a:off x="8805672" y="4956048"/>
              <a:ext cx="3547872" cy="640080"/>
            </a:xfrm>
            <a:prstGeom prst="roundRect">
              <a:avLst>
                <a:gd name="adj" fmla="val 10000"/>
              </a:avLst>
            </a:prstGeom>
            <a:solidFill>
              <a:srgbClr val="EFF4F9"/>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_0090"/>
            <p:cNvSpPr txBox="1"/>
            <p:nvPr/>
          </p:nvSpPr>
          <p:spPr>
            <a:xfrm>
              <a:off x="8851392" y="4965192"/>
              <a:ext cx="3456432" cy="621792"/>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Reward-weighted NFT loss</a:t>
              </a:r>
            </a:p>
            <a:p>
              <a:pPr algn="ctr">
                <a:lnSpc>
                  <a:spcPts val="1920"/>
                </a:lnSpc>
                <a:spcBef>
                  <a:spcPts val="0"/>
                </a:spcBef>
                <a:spcAft>
                  <a:spcPts val="0"/>
                </a:spcAft>
              </a:pPr>
              <a:r>
                <a:rPr sz="1700" b="0">
                  <a:solidFill>
                    <a:srgbClr val="233344"/>
                  </a:solidFill>
                  <a:latin typeface="DejaVu Sans"/>
                </a:rPr>
                <a:t>+ fixed-reference penalty</a:t>
              </a:r>
            </a:p>
          </p:txBody>
        </p:sp>
      </p:grpSp>
      <p:grpSp>
        <p:nvGrpSpPr>
          <p:cNvPr id="131" name="module_rect_0094"/>
          <p:cNvGrpSpPr/>
          <p:nvPr/>
        </p:nvGrpSpPr>
        <p:grpSpPr>
          <a:xfrm>
            <a:off x="8796528" y="6281928"/>
            <a:ext cx="3557016" cy="557784"/>
            <a:chOff x="8796528" y="6281928"/>
            <a:chExt cx="3557016" cy="557784"/>
          </a:xfrm>
        </p:grpSpPr>
        <p:sp>
          <p:nvSpPr>
            <p:cNvPr id="96" name="rect_0094"/>
            <p:cNvSpPr/>
            <p:nvPr/>
          </p:nvSpPr>
          <p:spPr>
            <a:xfrm>
              <a:off x="8796528" y="6281928"/>
              <a:ext cx="3557016" cy="557784"/>
            </a:xfrm>
            <a:prstGeom prst="roundRect">
              <a:avLst>
                <a:gd name="adj" fmla="val 11475"/>
              </a:avLst>
            </a:prstGeom>
            <a:solidFill>
              <a:srgbClr val="F1F6FA"/>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_0095"/>
            <p:cNvSpPr txBox="1"/>
            <p:nvPr/>
          </p:nvSpPr>
          <p:spPr>
            <a:xfrm>
              <a:off x="8842248" y="6291072"/>
              <a:ext cx="3465576" cy="539496"/>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Update ELF + prompt encoder</a:t>
              </a:r>
            </a:p>
            <a:p>
              <a:pPr algn="ctr">
                <a:lnSpc>
                  <a:spcPts val="1807"/>
                </a:lnSpc>
                <a:spcBef>
                  <a:spcPts val="0"/>
                </a:spcBef>
                <a:spcAft>
                  <a:spcPts val="0"/>
                </a:spcAft>
              </a:pPr>
              <a:r>
                <a:rPr sz="1600" b="0">
                  <a:solidFill>
                    <a:srgbClr val="233344"/>
                  </a:solidFill>
                  <a:latin typeface="DejaVu Sans"/>
                </a:rPr>
                <a:t>Decoder-only weights frozen</a:t>
              </a:r>
            </a:p>
          </p:txBody>
        </p:sp>
      </p:gr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pipeline_nft_alternative_v1">
    <p:bg>
      <p:bgPr>
        <a:solidFill>
          <a:srgbClr val="FFFFFF"/>
        </a:solidFill>
        <a:effectLst/>
      </p:bgPr>
    </p:bg>
    <p:spTree>
      <p:nvGrpSpPr>
        <p:cNvPr id="1" name=""/>
        <p:cNvGrpSpPr/>
        <p:nvPr/>
      </p:nvGrpSpPr>
      <p:grpSpPr/>
      <p:sp>
        <p:nvSpPr>
          <p:cNvPr id="2" name="path_0000"/>
          <p:cNvSpPr/>
          <p:nvPr/>
        </p:nvSpPr>
        <p:spPr>
          <a:xfrm>
            <a:off x="420624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path_0001"/>
          <p:cNvSpPr/>
          <p:nvPr/>
        </p:nvSpPr>
        <p:spPr>
          <a:xfrm>
            <a:off x="8412480" y="219456"/>
            <a:ext cx="0" cy="6702552"/>
          </a:xfrm>
          <a:custGeom>
            <a:avLst/>
            <a:gdLst/>
            <a:ahLst/>
            <a:cxnLst/>
            <a:rect l="l" t="t" r="r" b="b"/>
            <a:pathLst>
              <a:path w="0" h="7330">
                <a:moveTo>
                  <a:pt x="0" y="0"/>
                </a:moveTo>
                <a:lnTo>
                  <a:pt x="0" y="7330"/>
                </a:lnTo>
              </a:path>
            </a:pathLst>
          </a:custGeom>
          <a:noFill/>
          <a:ln w="6985">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_0007"/>
          <p:cNvSpPr txBox="1"/>
          <p:nvPr/>
        </p:nvSpPr>
        <p:spPr>
          <a:xfrm>
            <a:off x="338328" y="1472184"/>
            <a:ext cx="1143000" cy="475488"/>
          </a:xfrm>
          <a:prstGeom prst="rect">
            <a:avLst/>
          </a:prstGeom>
          <a:noFill/>
        </p:spPr>
        <p:txBody>
          <a:bodyPr wrap="none" lIns="0" rIns="0" tIns="0" bIns="0" anchor="ctr">
            <a:spAutoFit/>
          </a:bodyPr>
          <a:lstStyle/>
          <a:p>
            <a:pPr algn="ctr">
              <a:lnSpc>
                <a:spcPts val="1807"/>
              </a:lnSpc>
              <a:spcBef>
                <a:spcPts val="0"/>
              </a:spcBef>
              <a:spcAft>
                <a:spcPts val="0"/>
              </a:spcAft>
            </a:pPr>
            <a:r>
              <a:rPr sz="1600" b="1">
                <a:solidFill>
                  <a:srgbClr val="233344"/>
                </a:solidFill>
                <a:latin typeface="DejaVu Sans"/>
              </a:rPr>
              <a:t>Frozen</a:t>
            </a:r>
          </a:p>
          <a:p>
            <a:pPr algn="ctr">
              <a:lnSpc>
                <a:spcPts val="1807"/>
              </a:lnSpc>
              <a:spcBef>
                <a:spcPts val="0"/>
              </a:spcBef>
              <a:spcAft>
                <a:spcPts val="0"/>
              </a:spcAft>
            </a:pPr>
            <a:r>
              <a:rPr sz="1600" b="1">
                <a:solidFill>
                  <a:srgbClr val="233344"/>
                </a:solidFill>
                <a:latin typeface="DejaVu Sans"/>
              </a:rPr>
              <a:t>Qwen3-4B</a:t>
            </a:r>
          </a:p>
        </p:txBody>
      </p:sp>
      <p:sp>
        <p:nvSpPr>
          <p:cNvPr id="10" name="text_0008"/>
          <p:cNvSpPr txBox="1"/>
          <p:nvPr/>
        </p:nvSpPr>
        <p:spPr>
          <a:xfrm>
            <a:off x="1773936" y="1490472"/>
            <a:ext cx="1014984" cy="438912"/>
          </a:xfrm>
          <a:prstGeom prst="rect">
            <a:avLst/>
          </a:prstGeom>
          <a:noFill/>
        </p:spPr>
        <p:txBody>
          <a:bodyPr wrap="none" lIns="0" rIns="0" tIns="0" bIns="0" anchor="ctr">
            <a:spAutoFit/>
          </a:bodyPr>
          <a:lstStyle/>
          <a:p>
            <a:pPr algn="ctr">
              <a:lnSpc>
                <a:spcPts val="1695"/>
              </a:lnSpc>
              <a:spcBef>
                <a:spcPts val="0"/>
              </a:spcBef>
              <a:spcAft>
                <a:spcPts val="0"/>
              </a:spcAft>
            </a:pPr>
            <a:r>
              <a:rPr sz="1500" b="1">
                <a:solidFill>
                  <a:srgbClr val="233344"/>
                </a:solidFill>
                <a:latin typeface="DejaVu Sans"/>
              </a:rPr>
              <a:t>Learned</a:t>
            </a:r>
          </a:p>
          <a:p>
            <a:pPr algn="ctr">
              <a:lnSpc>
                <a:spcPts val="1695"/>
              </a:lnSpc>
              <a:spcBef>
                <a:spcPts val="0"/>
              </a:spcBef>
              <a:spcAft>
                <a:spcPts val="0"/>
              </a:spcAft>
            </a:pPr>
            <a:r>
              <a:rPr sz="1500" b="1">
                <a:solidFill>
                  <a:srgbClr val="233344"/>
                </a:solidFill>
                <a:latin typeface="DejaVu Sans"/>
              </a:rPr>
              <a:t>projectors</a:t>
            </a:r>
          </a:p>
        </p:txBody>
      </p:sp>
      <p:sp>
        <p:nvSpPr>
          <p:cNvPr id="11" name="text_0009"/>
          <p:cNvSpPr txBox="1"/>
          <p:nvPr/>
        </p:nvSpPr>
        <p:spPr>
          <a:xfrm>
            <a:off x="3044952" y="1481328"/>
            <a:ext cx="941832" cy="429768"/>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233344"/>
                </a:solidFill>
                <a:latin typeface="DejaVu Sans"/>
              </a:rPr>
              <a:t>Concatenate</a:t>
            </a:r>
          </a:p>
          <a:p>
            <a:pPr algn="ctr">
              <a:lnSpc>
                <a:spcPts val="1581"/>
              </a:lnSpc>
              <a:spcBef>
                <a:spcPts val="0"/>
              </a:spcBef>
              <a:spcAft>
                <a:spcPts val="0"/>
              </a:spcAft>
            </a:pPr>
            <a:r>
              <a:rPr sz="1400" b="1">
                <a:solidFill>
                  <a:srgbClr val="233344"/>
                </a:solidFill>
                <a:latin typeface="DejaVu Sans"/>
              </a:rPr>
              <a:t>features</a:t>
            </a:r>
          </a:p>
        </p:txBody>
      </p:sp>
      <p:sp>
        <p:nvSpPr>
          <p:cNvPr id="12" name="frozen_qwen_stack"/>
          <p:cNvSpPr/>
          <p:nvPr/>
        </p:nvSpPr>
        <p:spPr>
          <a:xfrm>
            <a:off x="338328" y="1920240"/>
            <a:ext cx="1143000" cy="2395728"/>
          </a:xfrm>
          <a:prstGeom prst="roundRect">
            <a:avLst>
              <a:gd name="adj" fmla="val 64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ath_0011"/>
          <p:cNvSpPr/>
          <p:nvPr/>
        </p:nvSpPr>
        <p:spPr>
          <a:xfrm>
            <a:off x="905256" y="1426464"/>
            <a:ext cx="0" cy="82296"/>
          </a:xfrm>
          <a:custGeom>
            <a:avLst/>
            <a:gdLst/>
            <a:ahLst/>
            <a:cxnLst/>
            <a:rect l="l" t="t" r="r" b="b"/>
            <a:pathLst>
              <a:path w="0" h="90">
                <a:moveTo>
                  <a:pt x="0" y="0"/>
                </a:moveTo>
                <a:lnTo>
                  <a:pt x="0" y="9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path_0014"/>
          <p:cNvSpPr/>
          <p:nvPr/>
        </p:nvSpPr>
        <p:spPr>
          <a:xfrm>
            <a:off x="1490472" y="2212848"/>
            <a:ext cx="292608" cy="0"/>
          </a:xfrm>
          <a:custGeom>
            <a:avLst/>
            <a:gdLst/>
            <a:ahLst/>
            <a:cxnLst/>
            <a:rect l="l" t="t" r="r" b="b"/>
            <a:pathLst>
              <a:path w="320" h="0">
                <a:moveTo>
                  <a:pt x="0" y="0"/>
                </a:moveTo>
                <a:lnTo>
                  <a:pt x="32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projector_E_16"/>
          <p:cNvSpPr/>
          <p:nvPr/>
        </p:nvSpPr>
        <p:spPr>
          <a:xfrm>
            <a:off x="1837944" y="1965960"/>
            <a:ext cx="905256" cy="493776"/>
          </a:xfrm>
          <a:custGeom>
            <a:avLst/>
            <a:gdLst/>
            <a:ahLst/>
            <a:cxnLst/>
            <a:rect l="l" t="t" r="r" b="b"/>
            <a:pathLst>
              <a:path w="990" h="540">
                <a:moveTo>
                  <a:pt x="0" y="0"/>
                </a:moveTo>
                <a:lnTo>
                  <a:pt x="990" y="90"/>
                </a:lnTo>
                <a:lnTo>
                  <a:pt x="990" y="450"/>
                </a:lnTo>
                <a:lnTo>
                  <a:pt x="0" y="540"/>
                </a:lnTo>
                <a:close/>
              </a:path>
            </a:pathLst>
          </a:custGeom>
          <a:solidFill>
            <a:srgbClr val="DFEAF3"/>
          </a:solidFill>
          <a:ln w="1524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_0016"/>
          <p:cNvSpPr txBox="1"/>
          <p:nvPr/>
        </p:nvSpPr>
        <p:spPr>
          <a:xfrm>
            <a:off x="1874519" y="2039112"/>
            <a:ext cx="777240" cy="347472"/>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367AB5"/>
                </a:solidFill>
                <a:latin typeface="DejaVu Sans"/>
              </a:rPr>
              <a:t>E₁₆</a:t>
            </a:r>
          </a:p>
        </p:txBody>
      </p:sp>
      <p:sp>
        <p:nvSpPr>
          <p:cNvPr id="19" name="path_0017"/>
          <p:cNvSpPr/>
          <p:nvPr/>
        </p:nvSpPr>
        <p:spPr>
          <a:xfrm>
            <a:off x="2752344" y="2212848"/>
            <a:ext cx="457200" cy="0"/>
          </a:xfrm>
          <a:custGeom>
            <a:avLst/>
            <a:gdLst/>
            <a:ahLst/>
            <a:cxnLst/>
            <a:rect l="l" t="t" r="r" b="b"/>
            <a:pathLst>
              <a:path w="500" h="0">
                <a:moveTo>
                  <a:pt x="0" y="0"/>
                </a:moveTo>
                <a:lnTo>
                  <a:pt x="500" y="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_0018"/>
          <p:cNvSpPr txBox="1"/>
          <p:nvPr/>
        </p:nvSpPr>
        <p:spPr>
          <a:xfrm>
            <a:off x="2752344" y="1956815"/>
            <a:ext cx="457200"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367AB5"/>
                </a:solidFill>
                <a:latin typeface="DejaVu Sans"/>
              </a:rPr>
              <a:t>256</a:t>
            </a:r>
          </a:p>
        </p:txBody>
      </p:sp>
      <p:sp>
        <p:nvSpPr>
          <p:cNvPr id="23" name="path_0021"/>
          <p:cNvSpPr/>
          <p:nvPr/>
        </p:nvSpPr>
        <p:spPr>
          <a:xfrm>
            <a:off x="1490472" y="2871216"/>
            <a:ext cx="292608" cy="0"/>
          </a:xfrm>
          <a:custGeom>
            <a:avLst/>
            <a:gdLst/>
            <a:ahLst/>
            <a:cxnLst/>
            <a:rect l="l" t="t" r="r" b="b"/>
            <a:pathLst>
              <a:path w="320" h="0">
                <a:moveTo>
                  <a:pt x="0" y="0"/>
                </a:moveTo>
                <a:lnTo>
                  <a:pt x="320" y="0"/>
                </a:lnTo>
              </a:path>
            </a:pathLst>
          </a:custGeom>
          <a:noFill/>
          <a:ln w="1651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projector_E_24"/>
          <p:cNvSpPr/>
          <p:nvPr/>
        </p:nvSpPr>
        <p:spPr>
          <a:xfrm>
            <a:off x="1837944" y="2624328"/>
            <a:ext cx="905256" cy="493776"/>
          </a:xfrm>
          <a:custGeom>
            <a:avLst/>
            <a:gdLst/>
            <a:ahLst/>
            <a:cxnLst/>
            <a:rect l="l" t="t" r="r" b="b"/>
            <a:pathLst>
              <a:path w="990" h="540">
                <a:moveTo>
                  <a:pt x="0" y="0"/>
                </a:moveTo>
                <a:lnTo>
                  <a:pt x="990" y="90"/>
                </a:lnTo>
                <a:lnTo>
                  <a:pt x="990" y="450"/>
                </a:lnTo>
                <a:lnTo>
                  <a:pt x="0" y="540"/>
                </a:lnTo>
                <a:close/>
              </a:path>
            </a:pathLst>
          </a:custGeom>
          <a:solidFill>
            <a:srgbClr val="F6ECDF"/>
          </a:solidFill>
          <a:ln w="1524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_0023"/>
          <p:cNvSpPr txBox="1"/>
          <p:nvPr/>
        </p:nvSpPr>
        <p:spPr>
          <a:xfrm>
            <a:off x="1874519" y="2697480"/>
            <a:ext cx="777240" cy="347472"/>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C88A35"/>
                </a:solidFill>
                <a:latin typeface="DejaVu Sans"/>
              </a:rPr>
              <a:t>E₂₄</a:t>
            </a:r>
          </a:p>
        </p:txBody>
      </p:sp>
      <p:sp>
        <p:nvSpPr>
          <p:cNvPr id="26" name="path_0024"/>
          <p:cNvSpPr/>
          <p:nvPr/>
        </p:nvSpPr>
        <p:spPr>
          <a:xfrm>
            <a:off x="2752344" y="2871216"/>
            <a:ext cx="457200" cy="0"/>
          </a:xfrm>
          <a:custGeom>
            <a:avLst/>
            <a:gdLst/>
            <a:ahLst/>
            <a:cxnLst/>
            <a:rect l="l" t="t" r="r" b="b"/>
            <a:pathLst>
              <a:path w="500" h="0">
                <a:moveTo>
                  <a:pt x="0" y="0"/>
                </a:moveTo>
                <a:lnTo>
                  <a:pt x="500" y="0"/>
                </a:lnTo>
              </a:path>
            </a:pathLst>
          </a:custGeom>
          <a:noFill/>
          <a:ln w="16510">
            <a:solidFill>
              <a:srgbClr val="C88A3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_0025"/>
          <p:cNvSpPr txBox="1"/>
          <p:nvPr/>
        </p:nvSpPr>
        <p:spPr>
          <a:xfrm>
            <a:off x="2752344" y="2615184"/>
            <a:ext cx="457200"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C88A35"/>
                </a:solidFill>
                <a:latin typeface="DejaVu Sans"/>
              </a:rPr>
              <a:t>256</a:t>
            </a:r>
          </a:p>
        </p:txBody>
      </p:sp>
      <p:sp>
        <p:nvSpPr>
          <p:cNvPr id="30" name="path_0028"/>
          <p:cNvSpPr/>
          <p:nvPr/>
        </p:nvSpPr>
        <p:spPr>
          <a:xfrm>
            <a:off x="1490472" y="3858768"/>
            <a:ext cx="292608" cy="0"/>
          </a:xfrm>
          <a:custGeom>
            <a:avLst/>
            <a:gdLst/>
            <a:ahLst/>
            <a:cxnLst/>
            <a:rect l="l" t="t" r="r" b="b"/>
            <a:pathLst>
              <a:path w="320" h="0">
                <a:moveTo>
                  <a:pt x="0" y="0"/>
                </a:moveTo>
                <a:lnTo>
                  <a:pt x="320" y="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projector_E_32"/>
          <p:cNvSpPr/>
          <p:nvPr/>
        </p:nvSpPr>
        <p:spPr>
          <a:xfrm>
            <a:off x="1837944" y="3611880"/>
            <a:ext cx="905256" cy="493776"/>
          </a:xfrm>
          <a:custGeom>
            <a:avLst/>
            <a:gdLst/>
            <a:ahLst/>
            <a:cxnLst/>
            <a:rect l="l" t="t" r="r" b="b"/>
            <a:pathLst>
              <a:path w="990" h="540">
                <a:moveTo>
                  <a:pt x="0" y="0"/>
                </a:moveTo>
                <a:lnTo>
                  <a:pt x="990" y="90"/>
                </a:lnTo>
                <a:lnTo>
                  <a:pt x="990" y="450"/>
                </a:lnTo>
                <a:lnTo>
                  <a:pt x="0" y="540"/>
                </a:lnTo>
                <a:close/>
              </a:path>
            </a:pathLst>
          </a:custGeom>
          <a:solidFill>
            <a:srgbClr val="DDEDEB"/>
          </a:solidFill>
          <a:ln w="1524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_0030"/>
          <p:cNvSpPr txBox="1"/>
          <p:nvPr/>
        </p:nvSpPr>
        <p:spPr>
          <a:xfrm>
            <a:off x="1874519" y="3685031"/>
            <a:ext cx="777240" cy="347472"/>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2C917F"/>
                </a:solidFill>
                <a:latin typeface="DejaVu Sans"/>
              </a:rPr>
              <a:t>E₃₂</a:t>
            </a:r>
          </a:p>
        </p:txBody>
      </p:sp>
      <p:sp>
        <p:nvSpPr>
          <p:cNvPr id="33" name="path_0031"/>
          <p:cNvSpPr/>
          <p:nvPr/>
        </p:nvSpPr>
        <p:spPr>
          <a:xfrm>
            <a:off x="2752344" y="3858768"/>
            <a:ext cx="457200" cy="0"/>
          </a:xfrm>
          <a:custGeom>
            <a:avLst/>
            <a:gdLst/>
            <a:ahLst/>
            <a:cxnLst/>
            <a:rect l="l" t="t" r="r" b="b"/>
            <a:pathLst>
              <a:path w="500" h="0">
                <a:moveTo>
                  <a:pt x="0" y="0"/>
                </a:moveTo>
                <a:lnTo>
                  <a:pt x="500" y="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_0032"/>
          <p:cNvSpPr txBox="1"/>
          <p:nvPr/>
        </p:nvSpPr>
        <p:spPr>
          <a:xfrm>
            <a:off x="2752344" y="3602735"/>
            <a:ext cx="457200" cy="219456"/>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C917F"/>
                </a:solidFill>
                <a:latin typeface="DejaVu Sans"/>
              </a:rPr>
              <a:t>512</a:t>
            </a:r>
          </a:p>
        </p:txBody>
      </p:sp>
      <p:sp>
        <p:nvSpPr>
          <p:cNvPr id="35" name="text_0033"/>
          <p:cNvSpPr txBox="1"/>
          <p:nvPr/>
        </p:nvSpPr>
        <p:spPr>
          <a:xfrm>
            <a:off x="585216" y="2459736"/>
            <a:ext cx="640080" cy="283464"/>
          </a:xfrm>
          <a:prstGeom prst="rect">
            <a:avLst/>
          </a:prstGeom>
          <a:noFill/>
        </p:spPr>
        <p:txBody>
          <a:bodyPr wrap="none" lIns="0" rIns="0" tIns="0" bIns="0" anchor="ctr">
            <a:spAutoFit/>
          </a:bodyPr>
          <a:lstStyle/>
          <a:p>
            <a:pPr algn="ctr">
              <a:lnSpc>
                <a:spcPts val="2147"/>
              </a:lnSpc>
              <a:spcBef>
                <a:spcPts val="0"/>
              </a:spcBef>
              <a:spcAft>
                <a:spcPts val="0"/>
              </a:spcAft>
            </a:pPr>
            <a:r>
              <a:rPr sz="1900" b="0">
                <a:solidFill>
                  <a:srgbClr val="63758A"/>
                </a:solidFill>
                <a:latin typeface="DejaVu Sans"/>
              </a:rPr>
              <a:t>⋮</a:t>
            </a:r>
          </a:p>
        </p:txBody>
      </p:sp>
      <p:sp>
        <p:nvSpPr>
          <p:cNvPr id="36" name="text_0034"/>
          <p:cNvSpPr txBox="1"/>
          <p:nvPr/>
        </p:nvSpPr>
        <p:spPr>
          <a:xfrm>
            <a:off x="585216" y="3209544"/>
            <a:ext cx="640080" cy="301752"/>
          </a:xfrm>
          <a:prstGeom prst="rect">
            <a:avLst/>
          </a:prstGeom>
          <a:noFill/>
        </p:spPr>
        <p:txBody>
          <a:bodyPr wrap="none" lIns="0" rIns="0" tIns="0" bIns="0" anchor="ctr">
            <a:spAutoFit/>
          </a:bodyPr>
          <a:lstStyle/>
          <a:p>
            <a:pPr algn="ctr">
              <a:lnSpc>
                <a:spcPts val="2260"/>
              </a:lnSpc>
              <a:spcBef>
                <a:spcPts val="0"/>
              </a:spcBef>
              <a:spcAft>
                <a:spcPts val="0"/>
              </a:spcAft>
            </a:pPr>
            <a:r>
              <a:rPr sz="2000" b="0">
                <a:solidFill>
                  <a:srgbClr val="63758A"/>
                </a:solidFill>
                <a:latin typeface="DejaVu Sans"/>
              </a:rPr>
              <a:t>⋮</a:t>
            </a:r>
          </a:p>
        </p:txBody>
      </p:sp>
      <p:sp>
        <p:nvSpPr>
          <p:cNvPr id="50" name="text_0048"/>
          <p:cNvSpPr txBox="1"/>
          <p:nvPr/>
        </p:nvSpPr>
        <p:spPr>
          <a:xfrm>
            <a:off x="457200" y="4590288"/>
            <a:ext cx="3355848" cy="292608"/>
          </a:xfrm>
          <a:prstGeom prst="rect">
            <a:avLst/>
          </a:prstGeom>
          <a:noFill/>
        </p:spPr>
        <p:txBody>
          <a:bodyPr wrap="none" lIns="0" rIns="0" tIns="0" bIns="0" anchor="ctr">
            <a:spAutoFit/>
          </a:bodyPr>
          <a:lstStyle/>
          <a:p>
            <a:pPr algn="ctr">
              <a:lnSpc>
                <a:spcPts val="1695"/>
              </a:lnSpc>
              <a:spcBef>
                <a:spcPts val="0"/>
              </a:spcBef>
              <a:spcAft>
                <a:spcPts val="0"/>
              </a:spcAft>
            </a:pPr>
            <a:r>
              <a:rPr sz="1500" b="1">
                <a:solidFill>
                  <a:srgbClr val="233344"/>
                </a:solidFill>
                <a:latin typeface="DejaVu Sans"/>
              </a:rPr>
              <a:t>1024-D = 256 + 256 + 512</a:t>
            </a:r>
          </a:p>
        </p:txBody>
      </p:sp>
      <p:sp>
        <p:nvSpPr>
          <p:cNvPr id="51" name="text_0049"/>
          <p:cNvSpPr txBox="1"/>
          <p:nvPr/>
        </p:nvSpPr>
        <p:spPr>
          <a:xfrm>
            <a:off x="411480" y="4965192"/>
            <a:ext cx="3456432" cy="329184"/>
          </a:xfrm>
          <a:prstGeom prst="rect">
            <a:avLst/>
          </a:prstGeom>
          <a:noFill/>
        </p:spPr>
        <p:txBody>
          <a:bodyPr wrap="none" lIns="0" rIns="0" tIns="0" bIns="0" anchor="ctr">
            <a:spAutoFit/>
          </a:bodyPr>
          <a:lstStyle/>
          <a:p>
            <a:pPr algn="ctr">
              <a:lnSpc>
                <a:spcPts val="2260"/>
              </a:lnSpc>
              <a:spcBef>
                <a:spcPts val="0"/>
              </a:spcBef>
              <a:spcAft>
                <a:spcPts val="0"/>
              </a:spcAft>
            </a:pPr>
            <a:r>
              <a:rPr sz="2000" b="0">
                <a:solidFill>
                  <a:srgbClr val="233344"/>
                </a:solidFill>
                <a:latin typeface="DejaVu Sans"/>
              </a:rPr>
              <a:t>xℓ = (hℓ − μℓ) Eℓ</a:t>
            </a:r>
          </a:p>
        </p:txBody>
      </p:sp>
      <p:sp>
        <p:nvSpPr>
          <p:cNvPr id="52" name="path_0050"/>
          <p:cNvSpPr/>
          <p:nvPr/>
        </p:nvSpPr>
        <p:spPr>
          <a:xfrm>
            <a:off x="457200" y="5431536"/>
            <a:ext cx="3328416" cy="0"/>
          </a:xfrm>
          <a:custGeom>
            <a:avLst/>
            <a:gdLst/>
            <a:ahLst/>
            <a:cxnLst/>
            <a:rect l="l" t="t" r="r" b="b"/>
            <a:pathLst>
              <a:path w="3640" h="0">
                <a:moveTo>
                  <a:pt x="0" y="0"/>
                </a:moveTo>
                <a:lnTo>
                  <a:pt x="3640" y="0"/>
                </a:lnTo>
              </a:path>
            </a:pathLst>
          </a:custGeom>
          <a:noFill/>
          <a:ln w="1016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_0051"/>
          <p:cNvSpPr txBox="1"/>
          <p:nvPr/>
        </p:nvSpPr>
        <p:spPr>
          <a:xfrm>
            <a:off x="411480" y="5541264"/>
            <a:ext cx="3456432" cy="310896"/>
          </a:xfrm>
          <a:prstGeom prst="rect">
            <a:avLst/>
          </a:prstGeom>
          <a:noFill/>
        </p:spPr>
        <p:txBody>
          <a:bodyPr wrap="none" lIns="0" rIns="0" tIns="0" bIns="0" anchor="ctr">
            <a:spAutoFit/>
          </a:bodyPr>
          <a:lstStyle/>
          <a:p>
            <a:pPr algn="ctr">
              <a:lnSpc>
                <a:spcPts val="1920"/>
              </a:lnSpc>
              <a:spcBef>
                <a:spcPts val="0"/>
              </a:spcBef>
              <a:spcAft>
                <a:spcPts val="0"/>
              </a:spcAft>
            </a:pPr>
            <a:r>
              <a:rPr sz="1700" b="1">
                <a:solidFill>
                  <a:srgbClr val="233344"/>
                </a:solidFill>
                <a:latin typeface="DejaVu Sans"/>
              </a:rPr>
              <a:t>Teacher-CE supervision</a:t>
            </a:r>
          </a:p>
        </p:txBody>
      </p:sp>
      <p:sp>
        <p:nvSpPr>
          <p:cNvPr id="56" name="path_0054"/>
          <p:cNvSpPr/>
          <p:nvPr/>
        </p:nvSpPr>
        <p:spPr>
          <a:xfrm>
            <a:off x="996696" y="6190488"/>
            <a:ext cx="155448" cy="0"/>
          </a:xfrm>
          <a:custGeom>
            <a:avLst/>
            <a:gdLst/>
            <a:ahLst/>
            <a:cxnLst/>
            <a:rect l="l" t="t" r="r" b="b"/>
            <a:pathLst>
              <a:path w="170" h="0">
                <a:moveTo>
                  <a:pt x="0" y="0"/>
                </a:moveTo>
                <a:lnTo>
                  <a:pt x="170" y="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path_0057"/>
          <p:cNvSpPr/>
          <p:nvPr/>
        </p:nvSpPr>
        <p:spPr>
          <a:xfrm>
            <a:off x="1773936" y="6190488"/>
            <a:ext cx="155448" cy="0"/>
          </a:xfrm>
          <a:custGeom>
            <a:avLst/>
            <a:gdLst/>
            <a:ahLst/>
            <a:cxnLst/>
            <a:rect l="l" t="t" r="r" b="b"/>
            <a:pathLst>
              <a:path w="170" h="0">
                <a:moveTo>
                  <a:pt x="0" y="0"/>
                </a:moveTo>
                <a:lnTo>
                  <a:pt x="170" y="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path_0060"/>
          <p:cNvSpPr/>
          <p:nvPr/>
        </p:nvSpPr>
        <p:spPr>
          <a:xfrm>
            <a:off x="3054096" y="6190488"/>
            <a:ext cx="182880" cy="0"/>
          </a:xfrm>
          <a:custGeom>
            <a:avLst/>
            <a:gdLst/>
            <a:ahLst/>
            <a:cxnLst/>
            <a:rect l="l" t="t" r="r" b="b"/>
            <a:pathLst>
              <a:path w="200" h="0">
                <a:moveTo>
                  <a:pt x="0" y="0"/>
                </a:moveTo>
                <a:lnTo>
                  <a:pt x="200" y="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_0061"/>
          <p:cNvSpPr txBox="1"/>
          <p:nvPr/>
        </p:nvSpPr>
        <p:spPr>
          <a:xfrm>
            <a:off x="3246120" y="5989320"/>
            <a:ext cx="612648" cy="402336"/>
          </a:xfrm>
          <a:prstGeom prst="rect">
            <a:avLst/>
          </a:prstGeom>
          <a:noFill/>
        </p:spPr>
        <p:txBody>
          <a:bodyPr wrap="none" lIns="0" rIns="0" tIns="0" bIns="0" anchor="ctr">
            <a:spAutoFit/>
          </a:bodyPr>
          <a:lstStyle/>
          <a:p>
            <a:pPr algn="ctr">
              <a:lnSpc>
                <a:spcPts val="1581"/>
              </a:lnSpc>
              <a:spcBef>
                <a:spcPts val="0"/>
              </a:spcBef>
              <a:spcAft>
                <a:spcPts val="0"/>
              </a:spcAft>
            </a:pPr>
            <a:r>
              <a:rPr sz="1400" b="1">
                <a:solidFill>
                  <a:srgbClr val="B86565"/>
                </a:solidFill>
                <a:latin typeface="DejaVu Sans"/>
              </a:rPr>
              <a:t>soft</a:t>
            </a:r>
          </a:p>
          <a:p>
            <a:pPr algn="ctr">
              <a:lnSpc>
                <a:spcPts val="1581"/>
              </a:lnSpc>
              <a:spcBef>
                <a:spcPts val="0"/>
              </a:spcBef>
              <a:spcAft>
                <a:spcPts val="0"/>
              </a:spcAft>
            </a:pPr>
            <a:r>
              <a:rPr sz="1400" b="1">
                <a:solidFill>
                  <a:srgbClr val="B86565"/>
                </a:solidFill>
                <a:latin typeface="DejaVu Sans"/>
              </a:rPr>
              <a:t>CE</a:t>
            </a:r>
          </a:p>
        </p:txBody>
      </p:sp>
      <p:sp>
        <p:nvSpPr>
          <p:cNvPr id="64" name="text_0062"/>
          <p:cNvSpPr txBox="1"/>
          <p:nvPr/>
        </p:nvSpPr>
        <p:spPr>
          <a:xfrm>
            <a:off x="356616" y="6583680"/>
            <a:ext cx="3529584" cy="411480"/>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Covariance whitening; then freeze</a:t>
            </a:r>
          </a:p>
          <a:p>
            <a:pPr algn="ctr">
              <a:lnSpc>
                <a:spcPts val="1468"/>
              </a:lnSpc>
              <a:spcBef>
                <a:spcPts val="0"/>
              </a:spcBef>
              <a:spcAft>
                <a:spcPts val="0"/>
              </a:spcAft>
            </a:pPr>
            <a:r>
              <a:rPr sz="1300" b="0">
                <a:solidFill>
                  <a:srgbClr val="63758A"/>
                </a:solidFill>
                <a:latin typeface="DejaVu Sans"/>
              </a:rPr>
              <a:t>the representation for flow training.</a:t>
            </a:r>
          </a:p>
        </p:txBody>
      </p:sp>
      <p:sp>
        <p:nvSpPr>
          <p:cNvPr id="70" name="path_0068"/>
          <p:cNvSpPr/>
          <p:nvPr/>
        </p:nvSpPr>
        <p:spPr>
          <a:xfrm>
            <a:off x="5568696" y="1216152"/>
            <a:ext cx="420624" cy="0"/>
          </a:xfrm>
          <a:custGeom>
            <a:avLst/>
            <a:gdLst/>
            <a:ahLst/>
            <a:cxnLst/>
            <a:rect l="l" t="t" r="r" b="b"/>
            <a:pathLst>
              <a:path w="460" h="0">
                <a:moveTo>
                  <a:pt x="0" y="0"/>
                </a:moveTo>
                <a:lnTo>
                  <a:pt x="460" y="0"/>
                </a:lnTo>
              </a:path>
            </a:pathLst>
          </a:custGeom>
          <a:noFill/>
          <a:ln w="1651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clean_prompt_condition_path"/>
          <p:cNvSpPr/>
          <p:nvPr/>
        </p:nvSpPr>
        <p:spPr>
          <a:xfrm>
            <a:off x="5065776" y="1499616"/>
            <a:ext cx="1975104" cy="914400"/>
          </a:xfrm>
          <a:custGeom>
            <a:avLst/>
            <a:gdLst/>
            <a:ahLst/>
            <a:cxnLst/>
            <a:rect l="l" t="t" r="r" b="b"/>
            <a:pathLst>
              <a:path w="2160" h="1000">
                <a:moveTo>
                  <a:pt x="2160" y="0"/>
                </a:moveTo>
                <a:lnTo>
                  <a:pt x="2160" y="340"/>
                </a:lnTo>
                <a:lnTo>
                  <a:pt x="0" y="340"/>
                </a:lnTo>
                <a:lnTo>
                  <a:pt x="0" y="1000"/>
                </a:lnTo>
              </a:path>
            </a:pathLst>
          </a:custGeom>
          <a:noFill/>
          <a:ln w="15240">
            <a:solidFill>
              <a:srgbClr val="7965A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_0072"/>
          <p:cNvSpPr txBox="1"/>
          <p:nvPr/>
        </p:nvSpPr>
        <p:spPr>
          <a:xfrm>
            <a:off x="4453127" y="2048256"/>
            <a:ext cx="1417320" cy="292608"/>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7965AA"/>
                </a:solidFill>
                <a:latin typeface="DejaVu Sans"/>
              </a:rPr>
              <a:t>clean prompt c</a:t>
            </a:r>
          </a:p>
        </p:txBody>
      </p:sp>
      <p:sp>
        <p:nvSpPr>
          <p:cNvPr id="77" name="path_0075"/>
          <p:cNvSpPr/>
          <p:nvPr/>
        </p:nvSpPr>
        <p:spPr>
          <a:xfrm>
            <a:off x="7086600" y="2395728"/>
            <a:ext cx="0" cy="128016"/>
          </a:xfrm>
          <a:custGeom>
            <a:avLst/>
            <a:gdLst/>
            <a:ahLst/>
            <a:cxnLst/>
            <a:rect l="l" t="t" r="r" b="b"/>
            <a:pathLst>
              <a:path w="0" h="140">
                <a:moveTo>
                  <a:pt x="0" y="0"/>
                </a:moveTo>
                <a:lnTo>
                  <a:pt x="0" y="14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lean_prompt_tokens"/>
          <p:cNvSpPr/>
          <p:nvPr/>
        </p:nvSpPr>
        <p:spPr>
          <a:xfrm>
            <a:off x="4636007" y="2551176"/>
            <a:ext cx="877824" cy="502920"/>
          </a:xfrm>
          <a:prstGeom prst="rect">
            <a:avLst/>
          </a:prstGeom>
          <a:solidFill>
            <a:srgbClr val="E2DDEC"/>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_0077"/>
          <p:cNvSpPr txBox="1"/>
          <p:nvPr/>
        </p:nvSpPr>
        <p:spPr>
          <a:xfrm>
            <a:off x="4672583" y="2615184"/>
            <a:ext cx="804672" cy="320040"/>
          </a:xfrm>
          <a:prstGeom prst="rect">
            <a:avLst/>
          </a:prstGeom>
          <a:noFill/>
        </p:spPr>
        <p:txBody>
          <a:bodyPr wrap="none" lIns="0" rIns="0" tIns="0" bIns="0" anchor="ctr">
            <a:spAutoFit/>
          </a:bodyPr>
          <a:lstStyle/>
          <a:p>
            <a:pPr algn="ctr">
              <a:lnSpc>
                <a:spcPts val="2372"/>
              </a:lnSpc>
              <a:spcBef>
                <a:spcPts val="0"/>
              </a:spcBef>
              <a:spcAft>
                <a:spcPts val="0"/>
              </a:spcAft>
            </a:pPr>
            <a:r>
              <a:rPr sz="2100" b="0">
                <a:solidFill>
                  <a:srgbClr val="7965AA"/>
                </a:solidFill>
                <a:latin typeface="DejaVu Sans"/>
              </a:rPr>
              <a:t>c</a:t>
            </a:r>
          </a:p>
        </p:txBody>
      </p:sp>
      <p:sp>
        <p:nvSpPr>
          <p:cNvPr id="129" name="text_0127"/>
          <p:cNvSpPr txBox="1"/>
          <p:nvPr/>
        </p:nvSpPr>
        <p:spPr>
          <a:xfrm>
            <a:off x="5696712" y="2368296"/>
            <a:ext cx="1143000" cy="210312"/>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noisy zt</a:t>
            </a:r>
          </a:p>
        </p:txBody>
      </p:sp>
      <p:sp>
        <p:nvSpPr>
          <p:cNvPr id="130" name="path_0128"/>
          <p:cNvSpPr/>
          <p:nvPr/>
        </p:nvSpPr>
        <p:spPr>
          <a:xfrm>
            <a:off x="6355080" y="3081528"/>
            <a:ext cx="0" cy="603504"/>
          </a:xfrm>
          <a:custGeom>
            <a:avLst/>
            <a:gdLst/>
            <a:ahLst/>
            <a:cxnLst/>
            <a:rect l="l" t="t" r="r" b="b"/>
            <a:pathLst>
              <a:path w="0" h="660">
                <a:moveTo>
                  <a:pt x="0" y="0"/>
                </a:moveTo>
                <a:lnTo>
                  <a:pt x="0" y="66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path_0131"/>
          <p:cNvSpPr/>
          <p:nvPr/>
        </p:nvSpPr>
        <p:spPr>
          <a:xfrm>
            <a:off x="5852160" y="3401568"/>
            <a:ext cx="475488" cy="0"/>
          </a:xfrm>
          <a:custGeom>
            <a:avLst/>
            <a:gdLst/>
            <a:ahLst/>
            <a:cxnLst/>
            <a:rect l="l" t="t" r="r" b="b"/>
            <a:pathLst>
              <a:path w="520" h="0">
                <a:moveTo>
                  <a:pt x="0" y="0"/>
                </a:moveTo>
                <a:lnTo>
                  <a:pt x="52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path_0134"/>
          <p:cNvSpPr/>
          <p:nvPr/>
        </p:nvSpPr>
        <p:spPr>
          <a:xfrm>
            <a:off x="6391656" y="3401568"/>
            <a:ext cx="374904" cy="0"/>
          </a:xfrm>
          <a:custGeom>
            <a:avLst/>
            <a:gdLst/>
            <a:ahLst/>
            <a:cxnLst/>
            <a:rect l="l" t="t" r="r" b="b"/>
            <a:pathLst>
              <a:path w="410" h="0">
                <a:moveTo>
                  <a:pt x="410" y="0"/>
                </a:moveTo>
                <a:lnTo>
                  <a:pt x="0" y="0"/>
                </a:lnTo>
              </a:path>
            </a:pathLst>
          </a:custGeom>
          <a:noFill/>
          <a:ln w="16510">
            <a:solidFill>
              <a:srgbClr val="63758A"/>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shared_elf_transformer"/>
          <p:cNvSpPr/>
          <p:nvPr/>
        </p:nvSpPr>
        <p:spPr>
          <a:xfrm>
            <a:off x="4773168" y="3749039"/>
            <a:ext cx="3200400" cy="914400"/>
          </a:xfrm>
          <a:prstGeom prst="roundRect">
            <a:avLst>
              <a:gd name="adj" fmla="val 7000"/>
            </a:avLst>
          </a:prstGeom>
          <a:solidFill>
            <a:srgbClr val="F1F6FA"/>
          </a:solidFill>
          <a:ln w="1905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_0136"/>
          <p:cNvSpPr txBox="1"/>
          <p:nvPr/>
        </p:nvSpPr>
        <p:spPr>
          <a:xfrm>
            <a:off x="4910327" y="3877056"/>
            <a:ext cx="2926080" cy="347472"/>
          </a:xfrm>
          <a:prstGeom prst="rect">
            <a:avLst/>
          </a:prstGeom>
          <a:noFill/>
        </p:spPr>
        <p:txBody>
          <a:bodyPr wrap="none" lIns="0" rIns="0" tIns="0" bIns="0" anchor="ctr">
            <a:spAutoFit/>
          </a:bodyPr>
          <a:lstStyle/>
          <a:p>
            <a:pPr algn="ctr">
              <a:lnSpc>
                <a:spcPts val="2486"/>
              </a:lnSpc>
              <a:spcBef>
                <a:spcPts val="0"/>
              </a:spcBef>
              <a:spcAft>
                <a:spcPts val="0"/>
              </a:spcAft>
            </a:pPr>
            <a:r>
              <a:rPr sz="2200" b="1">
                <a:solidFill>
                  <a:srgbClr val="233344"/>
                </a:solidFill>
                <a:latin typeface="DejaVu Sans"/>
              </a:rPr>
              <a:t>Shared ELF</a:t>
            </a:r>
          </a:p>
        </p:txBody>
      </p:sp>
      <p:sp>
        <p:nvSpPr>
          <p:cNvPr id="139" name="text_0137"/>
          <p:cNvSpPr txBox="1"/>
          <p:nvPr/>
        </p:nvSpPr>
        <p:spPr>
          <a:xfrm>
            <a:off x="4910327" y="4297680"/>
            <a:ext cx="2926080" cy="228600"/>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63758A"/>
                </a:solidFill>
                <a:latin typeface="DejaVu Sans"/>
              </a:rPr>
              <a:t>Bidirectional Transformer</a:t>
            </a:r>
          </a:p>
        </p:txBody>
      </p:sp>
      <p:sp>
        <p:nvSpPr>
          <p:cNvPr id="140" name="path_0138"/>
          <p:cNvSpPr/>
          <p:nvPr/>
        </p:nvSpPr>
        <p:spPr>
          <a:xfrm>
            <a:off x="5404104" y="4681728"/>
            <a:ext cx="969264" cy="429768"/>
          </a:xfrm>
          <a:custGeom>
            <a:avLst/>
            <a:gdLst/>
            <a:ahLst/>
            <a:cxnLst/>
            <a:rect l="l" t="t" r="r" b="b"/>
            <a:pathLst>
              <a:path w="1060" h="470">
                <a:moveTo>
                  <a:pt x="1060" y="0"/>
                </a:moveTo>
                <a:lnTo>
                  <a:pt x="1060" y="250"/>
                </a:lnTo>
                <a:lnTo>
                  <a:pt x="0" y="250"/>
                </a:lnTo>
                <a:lnTo>
                  <a:pt x="0" y="47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path_0139"/>
          <p:cNvSpPr/>
          <p:nvPr/>
        </p:nvSpPr>
        <p:spPr>
          <a:xfrm>
            <a:off x="6373368" y="4681728"/>
            <a:ext cx="905256" cy="429768"/>
          </a:xfrm>
          <a:custGeom>
            <a:avLst/>
            <a:gdLst/>
            <a:ahLst/>
            <a:cxnLst/>
            <a:rect l="l" t="t" r="r" b="b"/>
            <a:pathLst>
              <a:path w="990" h="470">
                <a:moveTo>
                  <a:pt x="0" y="0"/>
                </a:moveTo>
                <a:lnTo>
                  <a:pt x="0" y="250"/>
                </a:lnTo>
                <a:lnTo>
                  <a:pt x="990" y="250"/>
                </a:lnTo>
                <a:lnTo>
                  <a:pt x="990" y="470"/>
                </a:lnTo>
              </a:path>
            </a:pathLst>
          </a:custGeom>
          <a:noFill/>
          <a:ln w="1524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path_0144"/>
          <p:cNvSpPr/>
          <p:nvPr/>
        </p:nvSpPr>
        <p:spPr>
          <a:xfrm>
            <a:off x="5413248" y="5605272"/>
            <a:ext cx="0" cy="210312"/>
          </a:xfrm>
          <a:custGeom>
            <a:avLst/>
            <a:gdLst/>
            <a:ahLst/>
            <a:cxnLst/>
            <a:rect l="l" t="t" r="r" b="b"/>
            <a:pathLst>
              <a:path w="0" h="230">
                <a:moveTo>
                  <a:pt x="0" y="0"/>
                </a:moveTo>
                <a:lnTo>
                  <a:pt x="0" y="230"/>
                </a:lnTo>
              </a:path>
            </a:pathLst>
          </a:custGeom>
          <a:noFill/>
          <a:ln w="16510">
            <a:solidFill>
              <a:srgbClr val="367AB5"/>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path_0145"/>
          <p:cNvSpPr/>
          <p:nvPr/>
        </p:nvSpPr>
        <p:spPr>
          <a:xfrm>
            <a:off x="7269480" y="5605272"/>
            <a:ext cx="0" cy="210312"/>
          </a:xfrm>
          <a:custGeom>
            <a:avLst/>
            <a:gdLst/>
            <a:ahLst/>
            <a:cxnLst/>
            <a:rect l="l" t="t" r="r" b="b"/>
            <a:pathLst>
              <a:path w="0" h="230">
                <a:moveTo>
                  <a:pt x="0" y="0"/>
                </a:moveTo>
                <a:lnTo>
                  <a:pt x="0" y="230"/>
                </a:lnTo>
              </a:path>
            </a:pathLst>
          </a:custGeom>
          <a:noFill/>
          <a:ln w="16510">
            <a:solidFill>
              <a:srgbClr val="2C917F"/>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text_0146"/>
          <p:cNvSpPr txBox="1"/>
          <p:nvPr/>
        </p:nvSpPr>
        <p:spPr>
          <a:xfrm>
            <a:off x="4581144" y="5852160"/>
            <a:ext cx="1673352" cy="329184"/>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367AB5"/>
                </a:solidFill>
                <a:latin typeface="DejaVu Sans"/>
              </a:rPr>
              <a:t>Flow MSE</a:t>
            </a:r>
          </a:p>
        </p:txBody>
      </p:sp>
      <p:sp>
        <p:nvSpPr>
          <p:cNvPr id="149" name="text_0147"/>
          <p:cNvSpPr txBox="1"/>
          <p:nvPr/>
        </p:nvSpPr>
        <p:spPr>
          <a:xfrm>
            <a:off x="6437375" y="5852160"/>
            <a:ext cx="1673352" cy="329184"/>
          </a:xfrm>
          <a:prstGeom prst="rect">
            <a:avLst/>
          </a:prstGeom>
          <a:noFill/>
        </p:spPr>
        <p:txBody>
          <a:bodyPr wrap="none" lIns="0" rIns="0" tIns="0" bIns="0" anchor="ctr">
            <a:spAutoFit/>
          </a:bodyPr>
          <a:lstStyle/>
          <a:p>
            <a:pPr algn="ctr">
              <a:lnSpc>
                <a:spcPts val="2260"/>
              </a:lnSpc>
              <a:spcBef>
                <a:spcPts val="0"/>
              </a:spcBef>
              <a:spcAft>
                <a:spcPts val="0"/>
              </a:spcAft>
            </a:pPr>
            <a:r>
              <a:rPr sz="2000" b="1">
                <a:solidFill>
                  <a:srgbClr val="2C917F"/>
                </a:solidFill>
                <a:latin typeface="DejaVu Sans"/>
              </a:rPr>
              <a:t>Token CE</a:t>
            </a:r>
          </a:p>
        </p:txBody>
      </p:sp>
      <p:sp>
        <p:nvSpPr>
          <p:cNvPr id="150" name="text_0148"/>
          <p:cNvSpPr txBox="1"/>
          <p:nvPr/>
        </p:nvSpPr>
        <p:spPr>
          <a:xfrm>
            <a:off x="4507992" y="6336792"/>
            <a:ext cx="3602736" cy="292608"/>
          </a:xfrm>
          <a:prstGeom prst="rect">
            <a:avLst/>
          </a:prstGeom>
          <a:noFill/>
        </p:spPr>
        <p:txBody>
          <a:bodyPr wrap="none" lIns="0" rIns="0" tIns="0" bIns="0" anchor="ctr">
            <a:spAutoFit/>
          </a:bodyPr>
          <a:lstStyle/>
          <a:p>
            <a:pPr algn="ctr">
              <a:lnSpc>
                <a:spcPts val="1581"/>
              </a:lnSpc>
              <a:spcBef>
                <a:spcPts val="0"/>
              </a:spcBef>
              <a:spcAft>
                <a:spcPts val="0"/>
              </a:spcAft>
            </a:pPr>
            <a:r>
              <a:rPr sz="1400" b="0">
                <a:solidFill>
                  <a:srgbClr val="63758A"/>
                </a:solidFill>
                <a:latin typeface="DejaVu Sans"/>
              </a:rPr>
              <a:t>80% flow rows · 20% decoder rows</a:t>
            </a:r>
          </a:p>
        </p:txBody>
      </p:sp>
      <p:sp>
        <p:nvSpPr>
          <p:cNvPr id="151" name="rect_0149"/>
          <p:cNvSpPr/>
          <p:nvPr/>
        </p:nvSpPr>
        <p:spPr>
          <a:xfrm>
            <a:off x="4480559" y="6766560"/>
            <a:ext cx="3657600" cy="365760"/>
          </a:xfrm>
          <a:prstGeom prst="roundRect">
            <a:avLst>
              <a:gd name="adj" fmla="val 12000"/>
            </a:avLst>
          </a:prstGeom>
          <a:solidFill>
            <a:srgbClr val="F6F4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_0150"/>
          <p:cNvSpPr txBox="1"/>
          <p:nvPr/>
        </p:nvSpPr>
        <p:spPr>
          <a:xfrm>
            <a:off x="4526279" y="6793992"/>
            <a:ext cx="3566160" cy="274320"/>
          </a:xfrm>
          <a:prstGeom prst="rect">
            <a:avLst/>
          </a:prstGeom>
          <a:noFill/>
        </p:spPr>
        <p:txBody>
          <a:bodyPr wrap="none" lIns="0" rIns="0" tIns="0" bIns="0" anchor="ctr">
            <a:spAutoFit/>
          </a:bodyPr>
          <a:lstStyle/>
          <a:p>
            <a:pPr algn="ctr">
              <a:lnSpc>
                <a:spcPts val="1412"/>
              </a:lnSpc>
              <a:spcBef>
                <a:spcPts val="0"/>
              </a:spcBef>
              <a:spcAft>
                <a:spcPts val="0"/>
              </a:spcAft>
            </a:pPr>
            <a:r>
              <a:rPr sz="1250" b="0">
                <a:solidFill>
                  <a:srgbClr val="7965AA"/>
                </a:solidFill>
                <a:latin typeface="DejaVu Sans"/>
              </a:rPr>
              <a:t>Teacher prompt → MSE warm start → joint</a:t>
            </a:r>
          </a:p>
        </p:txBody>
      </p:sp>
      <p:sp>
        <p:nvSpPr>
          <p:cNvPr id="158" name="path_0156"/>
          <p:cNvSpPr/>
          <p:nvPr/>
        </p:nvSpPr>
        <p:spPr>
          <a:xfrm>
            <a:off x="10561320" y="1463040"/>
            <a:ext cx="0" cy="292608"/>
          </a:xfrm>
          <a:custGeom>
            <a:avLst/>
            <a:gdLst/>
            <a:ahLst/>
            <a:cxnLst/>
            <a:rect l="l" t="t" r="r" b="b"/>
            <a:pathLst>
              <a:path w="0" h="320">
                <a:moveTo>
                  <a:pt x="0" y="0"/>
                </a:moveTo>
                <a:lnTo>
                  <a:pt x="0" y="32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_0159"/>
          <p:cNvSpPr txBox="1"/>
          <p:nvPr/>
        </p:nvSpPr>
        <p:spPr>
          <a:xfrm>
            <a:off x="8769096" y="2514600"/>
            <a:ext cx="3538728" cy="246888"/>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63758A"/>
                </a:solidFill>
                <a:latin typeface="DejaVu Sans"/>
              </a:rPr>
              <a:t>Rollouts: 32 steps, synchronous clocks</a:t>
            </a:r>
          </a:p>
        </p:txBody>
      </p:sp>
      <p:sp>
        <p:nvSpPr>
          <p:cNvPr id="162" name="path_0160"/>
          <p:cNvSpPr/>
          <p:nvPr/>
        </p:nvSpPr>
        <p:spPr>
          <a:xfrm>
            <a:off x="10561320" y="2834640"/>
            <a:ext cx="0" cy="192024"/>
          </a:xfrm>
          <a:custGeom>
            <a:avLst/>
            <a:gdLst/>
            <a:ahLst/>
            <a:cxnLst/>
            <a:rect l="l" t="t" r="r" b="b"/>
            <a:pathLst>
              <a:path w="0" h="210">
                <a:moveTo>
                  <a:pt x="0" y="0"/>
                </a:moveTo>
                <a:lnTo>
                  <a:pt x="0" y="21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path_0163"/>
          <p:cNvSpPr/>
          <p:nvPr/>
        </p:nvSpPr>
        <p:spPr>
          <a:xfrm>
            <a:off x="10561320" y="3730752"/>
            <a:ext cx="0" cy="192024"/>
          </a:xfrm>
          <a:custGeom>
            <a:avLst/>
            <a:gdLst/>
            <a:ahLst/>
            <a:cxnLst/>
            <a:rect l="l" t="t" r="r" b="b"/>
            <a:pathLst>
              <a:path w="0" h="210">
                <a:moveTo>
                  <a:pt x="0" y="0"/>
                </a:moveTo>
                <a:lnTo>
                  <a:pt x="0" y="21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 name="path_0166"/>
          <p:cNvSpPr/>
          <p:nvPr/>
        </p:nvSpPr>
        <p:spPr>
          <a:xfrm>
            <a:off x="10561320" y="4572000"/>
            <a:ext cx="0" cy="201168"/>
          </a:xfrm>
          <a:custGeom>
            <a:avLst/>
            <a:gdLst/>
            <a:ahLst/>
            <a:cxnLst/>
            <a:rect l="l" t="t" r="r" b="b"/>
            <a:pathLst>
              <a:path w="0" h="220">
                <a:moveTo>
                  <a:pt x="0" y="0"/>
                </a:moveTo>
                <a:lnTo>
                  <a:pt x="0" y="22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path_0169"/>
          <p:cNvSpPr/>
          <p:nvPr/>
        </p:nvSpPr>
        <p:spPr>
          <a:xfrm>
            <a:off x="10561320" y="5422392"/>
            <a:ext cx="0" cy="182880"/>
          </a:xfrm>
          <a:custGeom>
            <a:avLst/>
            <a:gdLst/>
            <a:ahLst/>
            <a:cxnLst/>
            <a:rect l="l" t="t" r="r" b="b"/>
            <a:pathLst>
              <a:path w="0" h="200">
                <a:moveTo>
                  <a:pt x="0" y="0"/>
                </a:moveTo>
                <a:lnTo>
                  <a:pt x="0" y="200"/>
                </a:lnTo>
              </a:path>
            </a:pathLst>
          </a:custGeom>
          <a:noFill/>
          <a:ln w="16510">
            <a:solidFill>
              <a:srgbClr val="233344"/>
            </a:solidFill>
            <a:tailEnd type="triangle" w="sm" len="sm"/>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 name="text_0172"/>
          <p:cNvSpPr txBox="1"/>
          <p:nvPr/>
        </p:nvSpPr>
        <p:spPr>
          <a:xfrm>
            <a:off x="8851392" y="6483096"/>
            <a:ext cx="3438144" cy="457200"/>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63758A"/>
                </a:solidFill>
                <a:latin typeface="DejaVu Sans"/>
              </a:rPr>
              <a:t>Forward-process training;</a:t>
            </a:r>
          </a:p>
          <a:p>
            <a:pPr algn="ctr">
              <a:lnSpc>
                <a:spcPts val="1695"/>
              </a:lnSpc>
              <a:spcBef>
                <a:spcPts val="0"/>
              </a:spcBef>
              <a:spcAft>
                <a:spcPts val="0"/>
              </a:spcAft>
            </a:pPr>
            <a:r>
              <a:rPr sz="1500" b="0">
                <a:solidFill>
                  <a:srgbClr val="63758A"/>
                </a:solidFill>
                <a:latin typeface="DejaVu Sans"/>
              </a:rPr>
              <a:t>fixed reference-policy penalty</a:t>
            </a:r>
          </a:p>
        </p:txBody>
      </p:sp>
      <p:grpSp>
        <p:nvGrpSpPr>
          <p:cNvPr id="175" name="stage_1_heading"/>
          <p:cNvGrpSpPr/>
          <p:nvPr/>
        </p:nvGrpSpPr>
        <p:grpSpPr>
          <a:xfrm>
            <a:off x="228600" y="210312"/>
            <a:ext cx="3749039" cy="539496"/>
            <a:chOff x="228600" y="210312"/>
            <a:chExt cx="3749039" cy="539496"/>
          </a:xfrm>
        </p:grpSpPr>
        <p:sp>
          <p:nvSpPr>
            <p:cNvPr id="4" name="rect_0002"/>
            <p:cNvSpPr/>
            <p:nvPr/>
          </p:nvSpPr>
          <p:spPr>
            <a:xfrm>
              <a:off x="22860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_0003"/>
            <p:cNvSpPr txBox="1"/>
            <p:nvPr/>
          </p:nvSpPr>
          <p:spPr>
            <a:xfrm>
              <a:off x="34747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1</a:t>
              </a:r>
            </a:p>
          </p:txBody>
        </p:sp>
        <p:sp>
          <p:nvSpPr>
            <p:cNvPr id="6" name="text_0004"/>
            <p:cNvSpPr txBox="1"/>
            <p:nvPr/>
          </p:nvSpPr>
          <p:spPr>
            <a:xfrm>
              <a:off x="67665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Representation learning</a:t>
              </a:r>
            </a:p>
          </p:txBody>
        </p:sp>
      </p:grpSp>
      <p:grpSp>
        <p:nvGrpSpPr>
          <p:cNvPr id="176" name="module_teacher_text_input"/>
          <p:cNvGrpSpPr/>
          <p:nvPr/>
        </p:nvGrpSpPr>
        <p:grpSpPr>
          <a:xfrm>
            <a:off x="347472" y="1005840"/>
            <a:ext cx="3547872" cy="411480"/>
            <a:chOff x="347472" y="1005840"/>
            <a:chExt cx="3547872" cy="411480"/>
          </a:xfrm>
        </p:grpSpPr>
        <p:sp>
          <p:nvSpPr>
            <p:cNvPr id="7" name="teacher_text_input"/>
            <p:cNvSpPr/>
            <p:nvPr/>
          </p:nvSpPr>
          <p:spPr>
            <a:xfrm>
              <a:off x="347472" y="1005840"/>
              <a:ext cx="3547872" cy="411480"/>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acher_text_input_label"/>
            <p:cNvSpPr txBox="1"/>
            <p:nvPr/>
          </p:nvSpPr>
          <p:spPr>
            <a:xfrm>
              <a:off x="393192" y="1014984"/>
              <a:ext cx="3456432" cy="393192"/>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Question + gold solution</a:t>
              </a:r>
            </a:p>
          </p:txBody>
        </p:sp>
      </p:grpSp>
      <p:grpSp>
        <p:nvGrpSpPr>
          <p:cNvPr id="177" name="module_qwen_layer_16"/>
          <p:cNvGrpSpPr/>
          <p:nvPr/>
        </p:nvGrpSpPr>
        <p:grpSpPr>
          <a:xfrm>
            <a:off x="429768" y="2029967"/>
            <a:ext cx="960120" cy="365760"/>
            <a:chOff x="429768" y="2029967"/>
            <a:chExt cx="960120" cy="365760"/>
          </a:xfrm>
        </p:grpSpPr>
        <p:sp>
          <p:nvSpPr>
            <p:cNvPr id="14" name="qwen_layer_16"/>
            <p:cNvSpPr/>
            <p:nvPr/>
          </p:nvSpPr>
          <p:spPr>
            <a:xfrm>
              <a:off x="429768" y="2029967"/>
              <a:ext cx="960120" cy="365760"/>
            </a:xfrm>
            <a:prstGeom prst="roundRect">
              <a:avLst>
                <a:gd name="adj" fmla="val 12000"/>
              </a:avLst>
            </a:prstGeom>
            <a:solidFill>
              <a:srgbClr val="E5EEF5"/>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qwen_layer_16_label"/>
            <p:cNvSpPr txBox="1"/>
            <p:nvPr/>
          </p:nvSpPr>
          <p:spPr>
            <a:xfrm>
              <a:off x="475488" y="2039111"/>
              <a:ext cx="868680" cy="3474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16</a:t>
              </a:r>
            </a:p>
          </p:txBody>
        </p:sp>
      </p:grpSp>
      <p:grpSp>
        <p:nvGrpSpPr>
          <p:cNvPr id="178" name="module_qwen_layer_24"/>
          <p:cNvGrpSpPr/>
          <p:nvPr/>
        </p:nvGrpSpPr>
        <p:grpSpPr>
          <a:xfrm>
            <a:off x="429768" y="2688336"/>
            <a:ext cx="960120" cy="365760"/>
            <a:chOff x="429768" y="2688336"/>
            <a:chExt cx="960120" cy="365760"/>
          </a:xfrm>
        </p:grpSpPr>
        <p:sp>
          <p:nvSpPr>
            <p:cNvPr id="21" name="qwen_layer_24"/>
            <p:cNvSpPr/>
            <p:nvPr/>
          </p:nvSpPr>
          <p:spPr>
            <a:xfrm>
              <a:off x="429768" y="2688336"/>
              <a:ext cx="960120" cy="365760"/>
            </a:xfrm>
            <a:prstGeom prst="roundRect">
              <a:avLst>
                <a:gd name="adj" fmla="val 12000"/>
              </a:avLst>
            </a:prstGeom>
            <a:solidFill>
              <a:srgbClr val="F8F0E5"/>
            </a:solidFill>
            <a:ln w="12700">
              <a:solidFill>
                <a:srgbClr val="C88A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qwen_layer_24_label"/>
            <p:cNvSpPr txBox="1"/>
            <p:nvPr/>
          </p:nvSpPr>
          <p:spPr>
            <a:xfrm>
              <a:off x="475488" y="2697479"/>
              <a:ext cx="868680" cy="3474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24</a:t>
              </a:r>
            </a:p>
          </p:txBody>
        </p:sp>
      </p:grpSp>
      <p:grpSp>
        <p:nvGrpSpPr>
          <p:cNvPr id="179" name="module_qwen_layer_32"/>
          <p:cNvGrpSpPr/>
          <p:nvPr/>
        </p:nvGrpSpPr>
        <p:grpSpPr>
          <a:xfrm>
            <a:off x="429768" y="3675887"/>
            <a:ext cx="960120" cy="365760"/>
            <a:chOff x="429768" y="3675887"/>
            <a:chExt cx="960120" cy="365760"/>
          </a:xfrm>
        </p:grpSpPr>
        <p:sp>
          <p:nvSpPr>
            <p:cNvPr id="28" name="qwen_layer_32"/>
            <p:cNvSpPr/>
            <p:nvPr/>
          </p:nvSpPr>
          <p:spPr>
            <a:xfrm>
              <a:off x="429768" y="3675887"/>
              <a:ext cx="960120" cy="365760"/>
            </a:xfrm>
            <a:prstGeom prst="roundRect">
              <a:avLst>
                <a:gd name="adj" fmla="val 12000"/>
              </a:avLst>
            </a:prstGeom>
            <a:solidFill>
              <a:srgbClr val="E4F1EE"/>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qwen_layer_32_label"/>
            <p:cNvSpPr txBox="1"/>
            <p:nvPr/>
          </p:nvSpPr>
          <p:spPr>
            <a:xfrm>
              <a:off x="475488" y="3685031"/>
              <a:ext cx="868680" cy="3474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Layer 32</a:t>
              </a:r>
            </a:p>
          </p:txBody>
        </p:sp>
      </p:grpSp>
      <p:grpSp>
        <p:nvGrpSpPr>
          <p:cNvPr id="180" name="concatenated_qwen_latents_editable_tiles"/>
          <p:cNvGrpSpPr/>
          <p:nvPr/>
        </p:nvGrpSpPr>
        <p:grpSpPr>
          <a:xfrm>
            <a:off x="3227832" y="1920240"/>
            <a:ext cx="649224" cy="2596896"/>
            <a:chOff x="3227832" y="1920240"/>
            <a:chExt cx="649224" cy="2596896"/>
          </a:xfrm>
        </p:grpSpPr>
        <p:sp>
          <p:nvSpPr>
            <p:cNvPr id="37" name="concatenated_qwen_latents_layer16"/>
            <p:cNvSpPr/>
            <p:nvPr/>
          </p:nvSpPr>
          <p:spPr>
            <a:xfrm>
              <a:off x="3227832" y="1920240"/>
              <a:ext cx="649224" cy="649224"/>
            </a:xfrm>
            <a:prstGeom prst="rect">
              <a:avLst/>
            </a:prstGeom>
            <a:solidFill>
              <a:srgbClr val="CDDEEC"/>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path_0036"/>
            <p:cNvSpPr/>
            <p:nvPr/>
          </p:nvSpPr>
          <p:spPr>
            <a:xfrm>
              <a:off x="3389681" y="1920240"/>
              <a:ext cx="0" cy="649224"/>
            </a:xfrm>
            <a:custGeom>
              <a:avLst/>
              <a:gdLst/>
              <a:ahLst/>
              <a:cxnLst/>
              <a:rect l="l" t="t" r="r" b="b"/>
              <a:pathLst>
                <a:path w="0" h="710">
                  <a:moveTo>
                    <a:pt x="0" y="0"/>
                  </a:moveTo>
                  <a:lnTo>
                    <a:pt x="0" y="710"/>
                  </a:lnTo>
                </a:path>
              </a:pathLst>
            </a:custGeom>
            <a:noFill/>
            <a:ln w="5715">
              <a:solidFill>
                <a:srgbClr val="9FB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path_0037"/>
            <p:cNvSpPr/>
            <p:nvPr/>
          </p:nvSpPr>
          <p:spPr>
            <a:xfrm>
              <a:off x="3552444" y="1920240"/>
              <a:ext cx="0" cy="649224"/>
            </a:xfrm>
            <a:custGeom>
              <a:avLst/>
              <a:gdLst/>
              <a:ahLst/>
              <a:cxnLst/>
              <a:rect l="l" t="t" r="r" b="b"/>
              <a:pathLst>
                <a:path w="0" h="710">
                  <a:moveTo>
                    <a:pt x="0" y="0"/>
                  </a:moveTo>
                  <a:lnTo>
                    <a:pt x="0" y="710"/>
                  </a:lnTo>
                </a:path>
              </a:pathLst>
            </a:custGeom>
            <a:noFill/>
            <a:ln w="5715">
              <a:solidFill>
                <a:srgbClr val="9FB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ath_0038"/>
            <p:cNvSpPr/>
            <p:nvPr/>
          </p:nvSpPr>
          <p:spPr>
            <a:xfrm>
              <a:off x="3714293" y="1920240"/>
              <a:ext cx="0" cy="649224"/>
            </a:xfrm>
            <a:custGeom>
              <a:avLst/>
              <a:gdLst/>
              <a:ahLst/>
              <a:cxnLst/>
              <a:rect l="l" t="t" r="r" b="b"/>
              <a:pathLst>
                <a:path w="0" h="710">
                  <a:moveTo>
                    <a:pt x="0" y="0"/>
                  </a:moveTo>
                  <a:lnTo>
                    <a:pt x="0" y="710"/>
                  </a:lnTo>
                </a:path>
              </a:pathLst>
            </a:custGeom>
            <a:noFill/>
            <a:ln w="5715">
              <a:solidFill>
                <a:srgbClr val="9FBF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concatenated_qwen_latents_layer24"/>
            <p:cNvSpPr/>
            <p:nvPr/>
          </p:nvSpPr>
          <p:spPr>
            <a:xfrm>
              <a:off x="3227832" y="2569464"/>
              <a:ext cx="649224" cy="649224"/>
            </a:xfrm>
            <a:prstGeom prst="rect">
              <a:avLst/>
            </a:prstGeom>
            <a:solidFill>
              <a:srgbClr val="F1E2CC"/>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path_0040"/>
            <p:cNvSpPr/>
            <p:nvPr/>
          </p:nvSpPr>
          <p:spPr>
            <a:xfrm>
              <a:off x="3389681" y="2569464"/>
              <a:ext cx="0" cy="649224"/>
            </a:xfrm>
            <a:custGeom>
              <a:avLst/>
              <a:gdLst/>
              <a:ahLst/>
              <a:cxnLst/>
              <a:rect l="l" t="t" r="r" b="b"/>
              <a:pathLst>
                <a:path w="0" h="710">
                  <a:moveTo>
                    <a:pt x="0" y="0"/>
                  </a:moveTo>
                  <a:lnTo>
                    <a:pt x="0" y="710"/>
                  </a:lnTo>
                </a:path>
              </a:pathLst>
            </a:custGeom>
            <a:noFill/>
            <a:ln w="5715">
              <a:solidFill>
                <a:srgbClr val="E5C7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path_0041"/>
            <p:cNvSpPr/>
            <p:nvPr/>
          </p:nvSpPr>
          <p:spPr>
            <a:xfrm>
              <a:off x="3552444" y="2569464"/>
              <a:ext cx="0" cy="649224"/>
            </a:xfrm>
            <a:custGeom>
              <a:avLst/>
              <a:gdLst/>
              <a:ahLst/>
              <a:cxnLst/>
              <a:rect l="l" t="t" r="r" b="b"/>
              <a:pathLst>
                <a:path w="0" h="710">
                  <a:moveTo>
                    <a:pt x="0" y="0"/>
                  </a:moveTo>
                  <a:lnTo>
                    <a:pt x="0" y="710"/>
                  </a:lnTo>
                </a:path>
              </a:pathLst>
            </a:custGeom>
            <a:noFill/>
            <a:ln w="5715">
              <a:solidFill>
                <a:srgbClr val="E5C7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path_0042"/>
            <p:cNvSpPr/>
            <p:nvPr/>
          </p:nvSpPr>
          <p:spPr>
            <a:xfrm>
              <a:off x="3714293" y="2569464"/>
              <a:ext cx="0" cy="649224"/>
            </a:xfrm>
            <a:custGeom>
              <a:avLst/>
              <a:gdLst/>
              <a:ahLst/>
              <a:cxnLst/>
              <a:rect l="l" t="t" r="r" b="b"/>
              <a:pathLst>
                <a:path w="0" h="710">
                  <a:moveTo>
                    <a:pt x="0" y="0"/>
                  </a:moveTo>
                  <a:lnTo>
                    <a:pt x="0" y="710"/>
                  </a:lnTo>
                </a:path>
              </a:pathLst>
            </a:custGeom>
            <a:noFill/>
            <a:ln w="5715">
              <a:solidFill>
                <a:srgbClr val="E5C7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concatenated_qwen_latents_layer32"/>
            <p:cNvSpPr/>
            <p:nvPr/>
          </p:nvSpPr>
          <p:spPr>
            <a:xfrm>
              <a:off x="3227832" y="3218688"/>
              <a:ext cx="649224" cy="1298448"/>
            </a:xfrm>
            <a:prstGeom prst="rect">
              <a:avLst/>
            </a:prstGeom>
            <a:solidFill>
              <a:srgbClr val="CAE4DF"/>
            </a:solidFill>
            <a:ln w="381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path_0044"/>
            <p:cNvSpPr/>
            <p:nvPr/>
          </p:nvSpPr>
          <p:spPr>
            <a:xfrm>
              <a:off x="3389681" y="3218688"/>
              <a:ext cx="0" cy="1298448"/>
            </a:xfrm>
            <a:custGeom>
              <a:avLst/>
              <a:gdLst/>
              <a:ahLst/>
              <a:cxnLst/>
              <a:rect l="l" t="t" r="r" b="b"/>
              <a:pathLst>
                <a:path w="0" h="1420">
                  <a:moveTo>
                    <a:pt x="0" y="0"/>
                  </a:moveTo>
                  <a:lnTo>
                    <a:pt x="0" y="1420"/>
                  </a:lnTo>
                </a:path>
              </a:pathLst>
            </a:custGeom>
            <a:noFill/>
            <a:ln w="5715">
              <a:solidFill>
                <a:srgbClr val="9AC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path_0045"/>
            <p:cNvSpPr/>
            <p:nvPr/>
          </p:nvSpPr>
          <p:spPr>
            <a:xfrm>
              <a:off x="3552444" y="3218688"/>
              <a:ext cx="0" cy="1298448"/>
            </a:xfrm>
            <a:custGeom>
              <a:avLst/>
              <a:gdLst/>
              <a:ahLst/>
              <a:cxnLst/>
              <a:rect l="l" t="t" r="r" b="b"/>
              <a:pathLst>
                <a:path w="0" h="1420">
                  <a:moveTo>
                    <a:pt x="0" y="0"/>
                  </a:moveTo>
                  <a:lnTo>
                    <a:pt x="0" y="1420"/>
                  </a:lnTo>
                </a:path>
              </a:pathLst>
            </a:custGeom>
            <a:noFill/>
            <a:ln w="5715">
              <a:solidFill>
                <a:srgbClr val="9AC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path_0046"/>
            <p:cNvSpPr/>
            <p:nvPr/>
          </p:nvSpPr>
          <p:spPr>
            <a:xfrm>
              <a:off x="3714293" y="3218688"/>
              <a:ext cx="0" cy="1298448"/>
            </a:xfrm>
            <a:custGeom>
              <a:avLst/>
              <a:gdLst/>
              <a:ahLst/>
              <a:cxnLst/>
              <a:rect l="l" t="t" r="r" b="b"/>
              <a:pathLst>
                <a:path w="0" h="1420">
                  <a:moveTo>
                    <a:pt x="0" y="0"/>
                  </a:moveTo>
                  <a:lnTo>
                    <a:pt x="0" y="1420"/>
                  </a:lnTo>
                </a:path>
              </a:pathLst>
            </a:custGeom>
            <a:noFill/>
            <a:ln w="5715">
              <a:solidFill>
                <a:srgbClr val="9AC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concatenated_qwen_latents_outline"/>
            <p:cNvSpPr/>
            <p:nvPr/>
          </p:nvSpPr>
          <p:spPr>
            <a:xfrm>
              <a:off x="3227832" y="1920240"/>
              <a:ext cx="649224" cy="2596896"/>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81" name="module_rect_0052"/>
          <p:cNvGrpSpPr/>
          <p:nvPr/>
        </p:nvGrpSpPr>
        <p:grpSpPr>
          <a:xfrm>
            <a:off x="393192" y="5989320"/>
            <a:ext cx="594360" cy="402336"/>
            <a:chOff x="393192" y="5989320"/>
            <a:chExt cx="594360" cy="402336"/>
          </a:xfrm>
        </p:grpSpPr>
        <p:sp>
          <p:nvSpPr>
            <p:cNvPr id="54" name="rect_0052"/>
            <p:cNvSpPr/>
            <p:nvPr/>
          </p:nvSpPr>
          <p:spPr>
            <a:xfrm>
              <a:off x="393192" y="5989320"/>
              <a:ext cx="594360" cy="402336"/>
            </a:xfrm>
            <a:prstGeom prst="roundRect">
              <a:avLst>
                <a:gd name="adj" fmla="val 12000"/>
              </a:avLst>
            </a:prstGeom>
            <a:solidFill>
              <a:srgbClr val="E5EEF5"/>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_0053"/>
            <p:cNvSpPr txBox="1"/>
            <p:nvPr/>
          </p:nvSpPr>
          <p:spPr>
            <a:xfrm>
              <a:off x="438912" y="5998464"/>
              <a:ext cx="502920" cy="38404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Eℓ</a:t>
              </a:r>
            </a:p>
          </p:txBody>
        </p:sp>
      </p:grpSp>
      <p:grpSp>
        <p:nvGrpSpPr>
          <p:cNvPr id="182" name="module_rect_0055"/>
          <p:cNvGrpSpPr/>
          <p:nvPr/>
        </p:nvGrpSpPr>
        <p:grpSpPr>
          <a:xfrm>
            <a:off x="1170432" y="5989320"/>
            <a:ext cx="594360" cy="402336"/>
            <a:chOff x="1170432" y="5989320"/>
            <a:chExt cx="594360" cy="402336"/>
          </a:xfrm>
        </p:grpSpPr>
        <p:sp>
          <p:nvSpPr>
            <p:cNvPr id="57" name="rect_0055"/>
            <p:cNvSpPr/>
            <p:nvPr/>
          </p:nvSpPr>
          <p:spPr>
            <a:xfrm>
              <a:off x="1170432" y="5989320"/>
              <a:ext cx="594360" cy="402336"/>
            </a:xfrm>
            <a:prstGeom prst="roundRect">
              <a:avLst>
                <a:gd name="adj" fmla="val 12000"/>
              </a:avLst>
            </a:prstGeom>
            <a:solidFill>
              <a:srgbClr val="E5EEF5"/>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_0056"/>
            <p:cNvSpPr txBox="1"/>
            <p:nvPr/>
          </p:nvSpPr>
          <p:spPr>
            <a:xfrm>
              <a:off x="1216152" y="5998464"/>
              <a:ext cx="502920" cy="38404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Dℓ</a:t>
              </a:r>
            </a:p>
          </p:txBody>
        </p:sp>
      </p:grpSp>
      <p:grpSp>
        <p:nvGrpSpPr>
          <p:cNvPr id="183" name="module_rect_0058"/>
          <p:cNvGrpSpPr/>
          <p:nvPr/>
        </p:nvGrpSpPr>
        <p:grpSpPr>
          <a:xfrm>
            <a:off x="1947672" y="5925312"/>
            <a:ext cx="1097280" cy="530352"/>
            <a:chOff x="1947672" y="5925312"/>
            <a:chExt cx="1097280" cy="530352"/>
          </a:xfrm>
        </p:grpSpPr>
        <p:sp>
          <p:nvSpPr>
            <p:cNvPr id="60" name="rect_0058"/>
            <p:cNvSpPr/>
            <p:nvPr/>
          </p:nvSpPr>
          <p:spPr>
            <a:xfrm>
              <a:off x="1947672" y="5925312"/>
              <a:ext cx="1097280" cy="53035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_0059"/>
            <p:cNvSpPr txBox="1"/>
            <p:nvPr/>
          </p:nvSpPr>
          <p:spPr>
            <a:xfrm>
              <a:off x="1993391" y="5934456"/>
              <a:ext cx="1005839" cy="512063"/>
            </a:xfrm>
            <a:prstGeom prst="rect">
              <a:avLst/>
            </a:prstGeom>
            <a:noFill/>
          </p:spPr>
          <p:txBody>
            <a:bodyPr wrap="none" lIns="0" rIns="0" tIns="0" bIns="0" anchor="ctr">
              <a:spAutoFit/>
            </a:bodyPr>
            <a:lstStyle/>
            <a:p>
              <a:pPr algn="ctr">
                <a:lnSpc>
                  <a:spcPts val="1468"/>
                </a:lnSpc>
                <a:spcBef>
                  <a:spcPts val="0"/>
                </a:spcBef>
                <a:spcAft>
                  <a:spcPts val="0"/>
                </a:spcAft>
              </a:pPr>
              <a:r>
                <a:rPr sz="1300" b="0">
                  <a:solidFill>
                    <a:srgbClr val="233344"/>
                  </a:solidFill>
                  <a:latin typeface="DejaVu Sans"/>
                </a:rPr>
                <a:t>Frozen</a:t>
              </a:r>
            </a:p>
            <a:p>
              <a:pPr algn="ctr">
                <a:lnSpc>
                  <a:spcPts val="1468"/>
                </a:lnSpc>
                <a:spcBef>
                  <a:spcPts val="0"/>
                </a:spcBef>
                <a:spcAft>
                  <a:spcPts val="0"/>
                </a:spcAft>
              </a:pPr>
              <a:r>
                <a:rPr sz="1300" b="0">
                  <a:solidFill>
                    <a:srgbClr val="233344"/>
                  </a:solidFill>
                  <a:latin typeface="DejaVu Sans"/>
                </a:rPr>
                <a:t>Qwen suffix</a:t>
              </a:r>
            </a:p>
          </p:txBody>
        </p:sp>
      </p:grpSp>
      <p:grpSp>
        <p:nvGrpSpPr>
          <p:cNvPr id="184" name="stage_2_heading"/>
          <p:cNvGrpSpPr/>
          <p:nvPr/>
        </p:nvGrpSpPr>
        <p:grpSpPr>
          <a:xfrm>
            <a:off x="4434840" y="210312"/>
            <a:ext cx="3749039" cy="539496"/>
            <a:chOff x="4434840" y="210312"/>
            <a:chExt cx="3749039" cy="539496"/>
          </a:xfrm>
        </p:grpSpPr>
        <p:sp>
          <p:nvSpPr>
            <p:cNvPr id="65" name="rect_0063"/>
            <p:cNvSpPr/>
            <p:nvPr/>
          </p:nvSpPr>
          <p:spPr>
            <a:xfrm>
              <a:off x="443484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_0064"/>
            <p:cNvSpPr txBox="1"/>
            <p:nvPr/>
          </p:nvSpPr>
          <p:spPr>
            <a:xfrm>
              <a:off x="455371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2</a:t>
              </a:r>
            </a:p>
          </p:txBody>
        </p:sp>
        <p:sp>
          <p:nvSpPr>
            <p:cNvPr id="67" name="text_0065"/>
            <p:cNvSpPr txBox="1"/>
            <p:nvPr/>
          </p:nvSpPr>
          <p:spPr>
            <a:xfrm>
              <a:off x="488289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Flow training</a:t>
              </a:r>
            </a:p>
          </p:txBody>
        </p:sp>
      </p:grpSp>
      <p:grpSp>
        <p:nvGrpSpPr>
          <p:cNvPr id="185" name="module_rect_0066"/>
          <p:cNvGrpSpPr/>
          <p:nvPr/>
        </p:nvGrpSpPr>
        <p:grpSpPr>
          <a:xfrm>
            <a:off x="4562855" y="1005840"/>
            <a:ext cx="987552" cy="420624"/>
            <a:chOff x="4562855" y="1005840"/>
            <a:chExt cx="987552" cy="420624"/>
          </a:xfrm>
        </p:grpSpPr>
        <p:sp>
          <p:nvSpPr>
            <p:cNvPr id="68" name="rect_0066"/>
            <p:cNvSpPr/>
            <p:nvPr/>
          </p:nvSpPr>
          <p:spPr>
            <a:xfrm>
              <a:off x="4562855" y="1005840"/>
              <a:ext cx="987552" cy="420624"/>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_0067"/>
            <p:cNvSpPr txBox="1"/>
            <p:nvPr/>
          </p:nvSpPr>
          <p:spPr>
            <a:xfrm>
              <a:off x="4608575" y="1014984"/>
              <a:ext cx="896112" cy="402336"/>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Question</a:t>
              </a:r>
            </a:p>
          </p:txBody>
        </p:sp>
      </p:grpSp>
      <p:grpSp>
        <p:nvGrpSpPr>
          <p:cNvPr id="186" name="module_trainable_prompt_encoder"/>
          <p:cNvGrpSpPr/>
          <p:nvPr/>
        </p:nvGrpSpPr>
        <p:grpSpPr>
          <a:xfrm>
            <a:off x="6025896" y="950976"/>
            <a:ext cx="2039112" cy="530352"/>
            <a:chOff x="6025896" y="950976"/>
            <a:chExt cx="2039112" cy="530352"/>
          </a:xfrm>
        </p:grpSpPr>
        <p:sp>
          <p:nvSpPr>
            <p:cNvPr id="71" name="trainable_prompt_encoder"/>
            <p:cNvSpPr/>
            <p:nvPr/>
          </p:nvSpPr>
          <p:spPr>
            <a:xfrm>
              <a:off x="6025896" y="950976"/>
              <a:ext cx="2039112" cy="530352"/>
            </a:xfrm>
            <a:prstGeom prst="roundRect">
              <a:avLst>
                <a:gd name="adj" fmla="val 12000"/>
              </a:avLst>
            </a:prstGeom>
            <a:solidFill>
              <a:srgbClr val="EFEDF5"/>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rainable_prompt_encoder_label"/>
            <p:cNvSpPr txBox="1"/>
            <p:nvPr/>
          </p:nvSpPr>
          <p:spPr>
            <a:xfrm>
              <a:off x="6071616" y="960120"/>
              <a:ext cx="1947672" cy="512063"/>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Prompt encoder</a:t>
              </a:r>
            </a:p>
            <a:p>
              <a:pPr algn="ctr">
                <a:lnSpc>
                  <a:spcPts val="1920"/>
                </a:lnSpc>
                <a:spcBef>
                  <a:spcPts val="0"/>
                </a:spcBef>
                <a:spcAft>
                  <a:spcPts val="0"/>
                </a:spcAft>
              </a:pPr>
              <a:r>
                <a:rPr sz="1700" b="0">
                  <a:solidFill>
                    <a:srgbClr val="233344"/>
                  </a:solidFill>
                  <a:latin typeface="DejaVu Sans"/>
                </a:rPr>
                <a:t>Pφ</a:t>
              </a:r>
            </a:p>
          </p:txBody>
        </p:sp>
      </p:grpSp>
      <p:grpSp>
        <p:nvGrpSpPr>
          <p:cNvPr id="187" name="module_rect_0073"/>
          <p:cNvGrpSpPr/>
          <p:nvPr/>
        </p:nvGrpSpPr>
        <p:grpSpPr>
          <a:xfrm>
            <a:off x="6144768" y="1938528"/>
            <a:ext cx="1920240" cy="438912"/>
            <a:chOff x="6144768" y="1938528"/>
            <a:chExt cx="1920240" cy="438912"/>
          </a:xfrm>
        </p:grpSpPr>
        <p:sp>
          <p:nvSpPr>
            <p:cNvPr id="75" name="rect_0073"/>
            <p:cNvSpPr/>
            <p:nvPr/>
          </p:nvSpPr>
          <p:spPr>
            <a:xfrm>
              <a:off x="6144768" y="1938528"/>
              <a:ext cx="1920240" cy="43891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_0074"/>
            <p:cNvSpPr txBox="1"/>
            <p:nvPr/>
          </p:nvSpPr>
          <p:spPr>
            <a:xfrm>
              <a:off x="6190488" y="1947672"/>
              <a:ext cx="1828800" cy="420623"/>
            </a:xfrm>
            <a:prstGeom prst="rect">
              <a:avLst/>
            </a:prstGeom>
            <a:noFill/>
          </p:spPr>
          <p:txBody>
            <a:bodyPr wrap="none" lIns="0" rIns="0" tIns="0" bIns="0" anchor="ctr">
              <a:spAutoFit/>
            </a:bodyPr>
            <a:lstStyle/>
            <a:p>
              <a:pPr algn="ctr">
                <a:lnSpc>
                  <a:spcPts val="2033"/>
                </a:lnSpc>
                <a:spcBef>
                  <a:spcPts val="0"/>
                </a:spcBef>
                <a:spcAft>
                  <a:spcPts val="0"/>
                </a:spcAft>
              </a:pPr>
              <a:r>
                <a:rPr sz="1800" b="0">
                  <a:solidFill>
                    <a:srgbClr val="233344"/>
                  </a:solidFill>
                  <a:latin typeface="DejaVu Sans"/>
                </a:rPr>
                <a:t>x + noise ε</a:t>
              </a:r>
            </a:p>
          </p:txBody>
        </p:sp>
      </p:grpSp>
      <p:grpSp>
        <p:nvGrpSpPr>
          <p:cNvPr id="188" name="training_noisy_answer_editable_tiles"/>
          <p:cNvGrpSpPr/>
          <p:nvPr/>
        </p:nvGrpSpPr>
        <p:grpSpPr>
          <a:xfrm>
            <a:off x="5522975" y="2551176"/>
            <a:ext cx="2468880" cy="502920"/>
            <a:chOff x="5522975" y="2551176"/>
            <a:chExt cx="2468880" cy="502920"/>
          </a:xfrm>
        </p:grpSpPr>
        <p:sp>
          <p:nvSpPr>
            <p:cNvPr id="80" name="training_noisy_answer_L16_r0_c0"/>
            <p:cNvSpPr/>
            <p:nvPr/>
          </p:nvSpPr>
          <p:spPr>
            <a:xfrm>
              <a:off x="5522975" y="2551176"/>
              <a:ext cx="411480" cy="62865"/>
            </a:xfrm>
            <a:prstGeom prst="rect">
              <a:avLst/>
            </a:prstGeom>
            <a:solidFill>
              <a:srgbClr val="BBC2C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raining_noisy_answer_L16_r0_c1"/>
            <p:cNvSpPr/>
            <p:nvPr/>
          </p:nvSpPr>
          <p:spPr>
            <a:xfrm>
              <a:off x="5934455" y="2551176"/>
              <a:ext cx="411480" cy="62865"/>
            </a:xfrm>
            <a:prstGeom prst="rect">
              <a:avLst/>
            </a:prstGeom>
            <a:solidFill>
              <a:srgbClr val="82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raining_noisy_answer_L16_r0_c2"/>
            <p:cNvSpPr/>
            <p:nvPr/>
          </p:nvSpPr>
          <p:spPr>
            <a:xfrm>
              <a:off x="6345936" y="2551176"/>
              <a:ext cx="411480" cy="62865"/>
            </a:xfrm>
            <a:prstGeom prst="rect">
              <a:avLst/>
            </a:prstGeom>
            <a:solidFill>
              <a:srgbClr val="8B99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raining_noisy_answer_L16_r0_c3"/>
            <p:cNvSpPr/>
            <p:nvPr/>
          </p:nvSpPr>
          <p:spPr>
            <a:xfrm>
              <a:off x="6757416" y="2551176"/>
              <a:ext cx="411480" cy="62865"/>
            </a:xfrm>
            <a:prstGeom prst="rect">
              <a:avLst/>
            </a:prstGeom>
            <a:solidFill>
              <a:srgbClr val="9BA2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raining_noisy_answer_L16_r0_c4"/>
            <p:cNvSpPr/>
            <p:nvPr/>
          </p:nvSpPr>
          <p:spPr>
            <a:xfrm>
              <a:off x="7168895" y="2551176"/>
              <a:ext cx="411480" cy="62865"/>
            </a:xfrm>
            <a:prstGeom prst="rect">
              <a:avLst/>
            </a:prstGeom>
            <a:solidFill>
              <a:srgbClr val="B9C4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raining_noisy_answer_L16_r0_c5"/>
            <p:cNvSpPr/>
            <p:nvPr/>
          </p:nvSpPr>
          <p:spPr>
            <a:xfrm>
              <a:off x="7580375" y="2551176"/>
              <a:ext cx="411480" cy="62865"/>
            </a:xfrm>
            <a:prstGeom prst="rect">
              <a:avLst/>
            </a:prstGeom>
            <a:solidFill>
              <a:srgbClr val="ABB9C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raining_noisy_answer_L16_r1_c0"/>
            <p:cNvSpPr/>
            <p:nvPr/>
          </p:nvSpPr>
          <p:spPr>
            <a:xfrm>
              <a:off x="5522975" y="2614041"/>
              <a:ext cx="411480" cy="62865"/>
            </a:xfrm>
            <a:prstGeom prst="rect">
              <a:avLst/>
            </a:prstGeom>
            <a:solidFill>
              <a:srgbClr val="C5D0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raining_noisy_answer_L16_r1_c1"/>
            <p:cNvSpPr/>
            <p:nvPr/>
          </p:nvSpPr>
          <p:spPr>
            <a:xfrm>
              <a:off x="5934455" y="2614041"/>
              <a:ext cx="411480" cy="62865"/>
            </a:xfrm>
            <a:prstGeom prst="rect">
              <a:avLst/>
            </a:prstGeom>
            <a:solidFill>
              <a:srgbClr val="7C8A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raining_noisy_answer_L16_r1_c2"/>
            <p:cNvSpPr/>
            <p:nvPr/>
          </p:nvSpPr>
          <p:spPr>
            <a:xfrm>
              <a:off x="6345936" y="2614041"/>
              <a:ext cx="411480" cy="62865"/>
            </a:xfrm>
            <a:prstGeom prst="rect">
              <a:avLst/>
            </a:prstGeom>
            <a:solidFill>
              <a:srgbClr val="AAB2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raining_noisy_answer_L16_r1_c3"/>
            <p:cNvSpPr/>
            <p:nvPr/>
          </p:nvSpPr>
          <p:spPr>
            <a:xfrm>
              <a:off x="6757416" y="2614041"/>
              <a:ext cx="411480" cy="62865"/>
            </a:xfrm>
            <a:prstGeom prst="rect">
              <a:avLst/>
            </a:prstGeom>
            <a:solidFill>
              <a:srgbClr val="828D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raining_noisy_answer_L16_r1_c4"/>
            <p:cNvSpPr/>
            <p:nvPr/>
          </p:nvSpPr>
          <p:spPr>
            <a:xfrm>
              <a:off x="7168895" y="2614041"/>
              <a:ext cx="411480" cy="62865"/>
            </a:xfrm>
            <a:prstGeom prst="rect">
              <a:avLst/>
            </a:prstGeom>
            <a:solidFill>
              <a:srgbClr val="8795A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raining_noisy_answer_L16_r1_c5"/>
            <p:cNvSpPr/>
            <p:nvPr/>
          </p:nvSpPr>
          <p:spPr>
            <a:xfrm>
              <a:off x="7580375" y="2614041"/>
              <a:ext cx="411480" cy="62865"/>
            </a:xfrm>
            <a:prstGeom prst="rect">
              <a:avLst/>
            </a:prstGeom>
            <a:solidFill>
              <a:srgbClr val="B1B8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raining_noisy_answer_L24_r0_c0"/>
            <p:cNvSpPr/>
            <p:nvPr/>
          </p:nvSpPr>
          <p:spPr>
            <a:xfrm>
              <a:off x="5522975" y="2676906"/>
              <a:ext cx="411480" cy="62865"/>
            </a:xfrm>
            <a:prstGeom prst="rect">
              <a:avLst/>
            </a:prstGeom>
            <a:solidFill>
              <a:srgbClr val="9B9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raining_noisy_answer_L24_r0_c1"/>
            <p:cNvSpPr/>
            <p:nvPr/>
          </p:nvSpPr>
          <p:spPr>
            <a:xfrm>
              <a:off x="5934455" y="2676906"/>
              <a:ext cx="411480" cy="62865"/>
            </a:xfrm>
            <a:prstGeom prst="rect">
              <a:avLst/>
            </a:prstGeom>
            <a:solidFill>
              <a:srgbClr val="A69C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raining_noisy_answer_L24_r0_c2"/>
            <p:cNvSpPr/>
            <p:nvPr/>
          </p:nvSpPr>
          <p:spPr>
            <a:xfrm>
              <a:off x="6345936" y="2676906"/>
              <a:ext cx="411480" cy="62865"/>
            </a:xfrm>
            <a:prstGeom prst="rect">
              <a:avLst/>
            </a:prstGeom>
            <a:solidFill>
              <a:srgbClr val="C6B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raining_noisy_answer_L24_r0_c3"/>
            <p:cNvSpPr/>
            <p:nvPr/>
          </p:nvSpPr>
          <p:spPr>
            <a:xfrm>
              <a:off x="6757416" y="2676906"/>
              <a:ext cx="411480" cy="62865"/>
            </a:xfrm>
            <a:prstGeom prst="rect">
              <a:avLst/>
            </a:prstGeom>
            <a:solidFill>
              <a:srgbClr val="C4BD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raining_noisy_answer_L24_r0_c4"/>
            <p:cNvSpPr/>
            <p:nvPr/>
          </p:nvSpPr>
          <p:spPr>
            <a:xfrm>
              <a:off x="7168895" y="2676906"/>
              <a:ext cx="411480" cy="62865"/>
            </a:xfrm>
            <a:prstGeom prst="rect">
              <a:avLst/>
            </a:prstGeom>
            <a:solidFill>
              <a:srgbClr val="A89E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raining_noisy_answer_L24_r0_c5"/>
            <p:cNvSpPr/>
            <p:nvPr/>
          </p:nvSpPr>
          <p:spPr>
            <a:xfrm>
              <a:off x="7580375" y="2676906"/>
              <a:ext cx="411480" cy="62865"/>
            </a:xfrm>
            <a:prstGeom prst="rect">
              <a:avLst/>
            </a:prstGeom>
            <a:solidFill>
              <a:srgbClr val="C2B5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raining_noisy_answer_L24_r1_c0"/>
            <p:cNvSpPr/>
            <p:nvPr/>
          </p:nvSpPr>
          <p:spPr>
            <a:xfrm>
              <a:off x="5522975" y="2739771"/>
              <a:ext cx="411480" cy="62865"/>
            </a:xfrm>
            <a:prstGeom prst="rect">
              <a:avLst/>
            </a:prstGeom>
            <a:solidFill>
              <a:srgbClr val="D6CC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raining_noisy_answer_L24_r1_c1"/>
            <p:cNvSpPr/>
            <p:nvPr/>
          </p:nvSpPr>
          <p:spPr>
            <a:xfrm>
              <a:off x="5934455" y="2739771"/>
              <a:ext cx="411480" cy="62865"/>
            </a:xfrm>
            <a:prstGeom prst="rect">
              <a:avLst/>
            </a:prstGeom>
            <a:solidFill>
              <a:srgbClr val="9488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raining_noisy_answer_L24_r1_c2"/>
            <p:cNvSpPr/>
            <p:nvPr/>
          </p:nvSpPr>
          <p:spPr>
            <a:xfrm>
              <a:off x="6345936" y="2739771"/>
              <a:ext cx="411480" cy="62865"/>
            </a:xfrm>
            <a:prstGeom prst="rect">
              <a:avLst/>
            </a:prstGeom>
            <a:solidFill>
              <a:srgbClr val="D8D1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raining_noisy_answer_L24_r1_c3"/>
            <p:cNvSpPr/>
            <p:nvPr/>
          </p:nvSpPr>
          <p:spPr>
            <a:xfrm>
              <a:off x="6757416" y="2739771"/>
              <a:ext cx="411480" cy="62865"/>
            </a:xfrm>
            <a:prstGeom prst="rect">
              <a:avLst/>
            </a:prstGeom>
            <a:solidFill>
              <a:srgbClr val="CDC3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training_noisy_answer_L24_r1_c4"/>
            <p:cNvSpPr/>
            <p:nvPr/>
          </p:nvSpPr>
          <p:spPr>
            <a:xfrm>
              <a:off x="7168895" y="2739771"/>
              <a:ext cx="411480" cy="62865"/>
            </a:xfrm>
            <a:prstGeom prst="rect">
              <a:avLst/>
            </a:prstGeom>
            <a:solidFill>
              <a:srgbClr val="AEA19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raining_noisy_answer_L24_r1_c5"/>
            <p:cNvSpPr/>
            <p:nvPr/>
          </p:nvSpPr>
          <p:spPr>
            <a:xfrm>
              <a:off x="7580375" y="2739771"/>
              <a:ext cx="411480" cy="62865"/>
            </a:xfrm>
            <a:prstGeom prst="rect">
              <a:avLst/>
            </a:prstGeom>
            <a:solidFill>
              <a:srgbClr val="A59E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raining_noisy_answer_L32_r0_c0"/>
            <p:cNvSpPr/>
            <p:nvPr/>
          </p:nvSpPr>
          <p:spPr>
            <a:xfrm>
              <a:off x="5522975" y="2802636"/>
              <a:ext cx="411480" cy="62865"/>
            </a:xfrm>
            <a:prstGeom prst="rect">
              <a:avLst/>
            </a:prstGeom>
            <a:solidFill>
              <a:srgbClr val="D3DD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raining_noisy_answer_L32_r0_c1"/>
            <p:cNvSpPr/>
            <p:nvPr/>
          </p:nvSpPr>
          <p:spPr>
            <a:xfrm>
              <a:off x="5934455" y="2802636"/>
              <a:ext cx="411480" cy="62865"/>
            </a:xfrm>
            <a:prstGeom prst="rect">
              <a:avLst/>
            </a:prstGeom>
            <a:solidFill>
              <a:srgbClr val="99A8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training_noisy_answer_L32_r0_c2"/>
            <p:cNvSpPr/>
            <p:nvPr/>
          </p:nvSpPr>
          <p:spPr>
            <a:xfrm>
              <a:off x="6345936" y="2802636"/>
              <a:ext cx="411480" cy="62865"/>
            </a:xfrm>
            <a:prstGeom prst="rect">
              <a:avLst/>
            </a:prstGeom>
            <a:solidFill>
              <a:srgbClr val="7B9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raining_noisy_answer_L32_r0_c3"/>
            <p:cNvSpPr/>
            <p:nvPr/>
          </p:nvSpPr>
          <p:spPr>
            <a:xfrm>
              <a:off x="6757416" y="2802636"/>
              <a:ext cx="411480" cy="62865"/>
            </a:xfrm>
            <a:prstGeom prst="rect">
              <a:avLst/>
            </a:prstGeom>
            <a:solidFill>
              <a:srgbClr val="909B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raining_noisy_answer_L32_r0_c4"/>
            <p:cNvSpPr/>
            <p:nvPr/>
          </p:nvSpPr>
          <p:spPr>
            <a:xfrm>
              <a:off x="7168895" y="2802636"/>
              <a:ext cx="411480" cy="62865"/>
            </a:xfrm>
            <a:prstGeom prst="rect">
              <a:avLst/>
            </a:prstGeom>
            <a:solidFill>
              <a:srgbClr val="C0D0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raining_noisy_answer_L32_r0_c5"/>
            <p:cNvSpPr/>
            <p:nvPr/>
          </p:nvSpPr>
          <p:spPr>
            <a:xfrm>
              <a:off x="7580375" y="2802636"/>
              <a:ext cx="411480" cy="62865"/>
            </a:xfrm>
            <a:prstGeom prst="rect">
              <a:avLst/>
            </a:prstGeom>
            <a:solidFill>
              <a:srgbClr val="A3B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raining_noisy_answer_L32_r1_c0"/>
            <p:cNvSpPr/>
            <p:nvPr/>
          </p:nvSpPr>
          <p:spPr>
            <a:xfrm>
              <a:off x="5522975" y="2865501"/>
              <a:ext cx="411480" cy="62865"/>
            </a:xfrm>
            <a:prstGeom prst="rect">
              <a:avLst/>
            </a:prstGeom>
            <a:solidFill>
              <a:srgbClr val="BDCD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raining_noisy_answer_L32_r1_c1"/>
            <p:cNvSpPr/>
            <p:nvPr/>
          </p:nvSpPr>
          <p:spPr>
            <a:xfrm>
              <a:off x="5934455" y="2865501"/>
              <a:ext cx="411480" cy="62865"/>
            </a:xfrm>
            <a:prstGeom prst="rect">
              <a:avLst/>
            </a:prstGeom>
            <a:solidFill>
              <a:srgbClr val="ADC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raining_noisy_answer_L32_r1_c2"/>
            <p:cNvSpPr/>
            <p:nvPr/>
          </p:nvSpPr>
          <p:spPr>
            <a:xfrm>
              <a:off x="6345936" y="2865501"/>
              <a:ext cx="411480" cy="62865"/>
            </a:xfrm>
            <a:prstGeom prst="rect">
              <a:avLst/>
            </a:prstGeom>
            <a:solidFill>
              <a:srgbClr val="B2BD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raining_noisy_answer_L32_r1_c3"/>
            <p:cNvSpPr/>
            <p:nvPr/>
          </p:nvSpPr>
          <p:spPr>
            <a:xfrm>
              <a:off x="6757416" y="2865501"/>
              <a:ext cx="411480" cy="62865"/>
            </a:xfrm>
            <a:prstGeom prst="rect">
              <a:avLst/>
            </a:prstGeom>
            <a:solidFill>
              <a:srgbClr val="CADAD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training_noisy_answer_L32_r1_c4"/>
            <p:cNvSpPr/>
            <p:nvPr/>
          </p:nvSpPr>
          <p:spPr>
            <a:xfrm>
              <a:off x="7168895" y="2865501"/>
              <a:ext cx="411480" cy="62865"/>
            </a:xfrm>
            <a:prstGeom prst="rect">
              <a:avLst/>
            </a:prstGeom>
            <a:solidFill>
              <a:srgbClr val="91A6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raining_noisy_answer_L32_r1_c5"/>
            <p:cNvSpPr/>
            <p:nvPr/>
          </p:nvSpPr>
          <p:spPr>
            <a:xfrm>
              <a:off x="7580375" y="2865501"/>
              <a:ext cx="411480" cy="62865"/>
            </a:xfrm>
            <a:prstGeom prst="rect">
              <a:avLst/>
            </a:prstGeom>
            <a:solidFill>
              <a:srgbClr val="B3BE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training_noisy_answer_L32_r2_c0"/>
            <p:cNvSpPr/>
            <p:nvPr/>
          </p:nvSpPr>
          <p:spPr>
            <a:xfrm>
              <a:off x="5522975" y="2928366"/>
              <a:ext cx="411480" cy="62865"/>
            </a:xfrm>
            <a:prstGeom prst="rect">
              <a:avLst/>
            </a:prstGeom>
            <a:solidFill>
              <a:srgbClr val="B5C9C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raining_noisy_answer_L32_r2_c1"/>
            <p:cNvSpPr/>
            <p:nvPr/>
          </p:nvSpPr>
          <p:spPr>
            <a:xfrm>
              <a:off x="5934455" y="2928366"/>
              <a:ext cx="411480" cy="62865"/>
            </a:xfrm>
            <a:prstGeom prst="rect">
              <a:avLst/>
            </a:prstGeom>
            <a:solidFill>
              <a:srgbClr val="B8C3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raining_noisy_answer_L32_r2_c2"/>
            <p:cNvSpPr/>
            <p:nvPr/>
          </p:nvSpPr>
          <p:spPr>
            <a:xfrm>
              <a:off x="6345936" y="2928366"/>
              <a:ext cx="411480" cy="62865"/>
            </a:xfrm>
            <a:prstGeom prst="rect">
              <a:avLst/>
            </a:prstGeom>
            <a:solidFill>
              <a:srgbClr val="C1D1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raining_noisy_answer_L32_r2_c3"/>
            <p:cNvSpPr/>
            <p:nvPr/>
          </p:nvSpPr>
          <p:spPr>
            <a:xfrm>
              <a:off x="6757416" y="2928366"/>
              <a:ext cx="411480" cy="62865"/>
            </a:xfrm>
            <a:prstGeom prst="rect">
              <a:avLst/>
            </a:prstGeom>
            <a:solidFill>
              <a:srgbClr val="A1B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training_noisy_answer_L32_r2_c4"/>
            <p:cNvSpPr/>
            <p:nvPr/>
          </p:nvSpPr>
          <p:spPr>
            <a:xfrm>
              <a:off x="7168895" y="2928366"/>
              <a:ext cx="411480" cy="62865"/>
            </a:xfrm>
            <a:prstGeom prst="rect">
              <a:avLst/>
            </a:prstGeom>
            <a:solidFill>
              <a:srgbClr val="BFC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raining_noisy_answer_L32_r2_c5"/>
            <p:cNvSpPr/>
            <p:nvPr/>
          </p:nvSpPr>
          <p:spPr>
            <a:xfrm>
              <a:off x="7580375" y="2928366"/>
              <a:ext cx="411480" cy="62865"/>
            </a:xfrm>
            <a:prstGeom prst="rect">
              <a:avLst/>
            </a:prstGeom>
            <a:solidFill>
              <a:srgbClr val="8291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training_noisy_answer_L32_r3_c0"/>
            <p:cNvSpPr/>
            <p:nvPr/>
          </p:nvSpPr>
          <p:spPr>
            <a:xfrm>
              <a:off x="5522975" y="2991231"/>
              <a:ext cx="411480" cy="62865"/>
            </a:xfrm>
            <a:prstGeom prst="rect">
              <a:avLst/>
            </a:prstGeom>
            <a:solidFill>
              <a:srgbClr val="9A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raining_noisy_answer_L32_r3_c1"/>
            <p:cNvSpPr/>
            <p:nvPr/>
          </p:nvSpPr>
          <p:spPr>
            <a:xfrm>
              <a:off x="5934455" y="2991231"/>
              <a:ext cx="411480" cy="62865"/>
            </a:xfrm>
            <a:prstGeom prst="rect">
              <a:avLst/>
            </a:prstGeom>
            <a:solidFill>
              <a:srgbClr val="95A5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raining_noisy_answer_L32_r3_c2"/>
            <p:cNvSpPr/>
            <p:nvPr/>
          </p:nvSpPr>
          <p:spPr>
            <a:xfrm>
              <a:off x="6345936" y="2991231"/>
              <a:ext cx="411480" cy="62865"/>
            </a:xfrm>
            <a:prstGeom prst="rect">
              <a:avLst/>
            </a:prstGeom>
            <a:solidFill>
              <a:srgbClr val="7A8F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raining_noisy_answer_L32_r3_c3"/>
            <p:cNvSpPr/>
            <p:nvPr/>
          </p:nvSpPr>
          <p:spPr>
            <a:xfrm>
              <a:off x="6757416" y="2991231"/>
              <a:ext cx="411480" cy="62865"/>
            </a:xfrm>
            <a:prstGeom prst="rect">
              <a:avLst/>
            </a:prstGeom>
            <a:solidFill>
              <a:srgbClr val="9AA5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training_noisy_answer_L32_r3_c4"/>
            <p:cNvSpPr/>
            <p:nvPr/>
          </p:nvSpPr>
          <p:spPr>
            <a:xfrm>
              <a:off x="7168895" y="2991231"/>
              <a:ext cx="411480" cy="62865"/>
            </a:xfrm>
            <a:prstGeom prst="rect">
              <a:avLst/>
            </a:prstGeom>
            <a:solidFill>
              <a:srgbClr val="8696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raining_noisy_answer_L32_r3_c5"/>
            <p:cNvSpPr/>
            <p:nvPr/>
          </p:nvSpPr>
          <p:spPr>
            <a:xfrm>
              <a:off x="7580375" y="2991231"/>
              <a:ext cx="411480" cy="62865"/>
            </a:xfrm>
            <a:prstGeom prst="rect">
              <a:avLst/>
            </a:prstGeom>
            <a:solidFill>
              <a:srgbClr val="899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training_noisy_answer_outline"/>
            <p:cNvSpPr/>
            <p:nvPr/>
          </p:nvSpPr>
          <p:spPr>
            <a:xfrm>
              <a:off x="5522975" y="2551176"/>
              <a:ext cx="2468880" cy="502920"/>
            </a:xfrm>
            <a:prstGeom prst="rect">
              <a:avLst/>
            </a:prstGeom>
            <a:noFill/>
            <a:ln w="762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pSp>
      <p:grpSp>
        <p:nvGrpSpPr>
          <p:cNvPr id="189" name="module_rect_0129"/>
          <p:cNvGrpSpPr/>
          <p:nvPr/>
        </p:nvGrpSpPr>
        <p:grpSpPr>
          <a:xfrm>
            <a:off x="4599431" y="3255264"/>
            <a:ext cx="1234440" cy="292608"/>
            <a:chOff x="4599431" y="3255264"/>
            <a:chExt cx="1234440" cy="292608"/>
          </a:xfrm>
        </p:grpSpPr>
        <p:sp>
          <p:nvSpPr>
            <p:cNvPr id="131" name="rect_0129"/>
            <p:cNvSpPr/>
            <p:nvPr/>
          </p:nvSpPr>
          <p:spPr>
            <a:xfrm>
              <a:off x="4599431" y="3255264"/>
              <a:ext cx="1234440" cy="292608"/>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_0130"/>
            <p:cNvSpPr txBox="1"/>
            <p:nvPr/>
          </p:nvSpPr>
          <p:spPr>
            <a:xfrm>
              <a:off x="4645151" y="3264408"/>
              <a:ext cx="1143000" cy="274320"/>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33344"/>
                  </a:solidFill>
                  <a:latin typeface="DejaVu Sans"/>
                </a:rPr>
                <a:t>self-condition</a:t>
              </a:r>
            </a:p>
          </p:txBody>
        </p:sp>
      </p:grpSp>
      <p:grpSp>
        <p:nvGrpSpPr>
          <p:cNvPr id="190" name="module_rect_0132"/>
          <p:cNvGrpSpPr/>
          <p:nvPr/>
        </p:nvGrpSpPr>
        <p:grpSpPr>
          <a:xfrm>
            <a:off x="6784848" y="3209544"/>
            <a:ext cx="1362456" cy="393192"/>
            <a:chOff x="6784848" y="3209544"/>
            <a:chExt cx="1362456" cy="393192"/>
          </a:xfrm>
        </p:grpSpPr>
        <p:sp>
          <p:nvSpPr>
            <p:cNvPr id="134" name="rect_0132"/>
            <p:cNvSpPr/>
            <p:nvPr/>
          </p:nvSpPr>
          <p:spPr>
            <a:xfrm>
              <a:off x="6784848" y="3209544"/>
              <a:ext cx="1362456" cy="393192"/>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_0133"/>
            <p:cNvSpPr txBox="1"/>
            <p:nvPr/>
          </p:nvSpPr>
          <p:spPr>
            <a:xfrm>
              <a:off x="6830568" y="3218687"/>
              <a:ext cx="1271016" cy="374904"/>
            </a:xfrm>
            <a:prstGeom prst="rect">
              <a:avLst/>
            </a:prstGeom>
            <a:noFill/>
          </p:spPr>
          <p:txBody>
            <a:bodyPr wrap="none" lIns="0" rIns="0" tIns="0" bIns="0" anchor="ctr">
              <a:spAutoFit/>
            </a:bodyPr>
            <a:lstStyle/>
            <a:p>
              <a:pPr algn="ctr">
                <a:lnSpc>
                  <a:spcPts val="1355"/>
                </a:lnSpc>
                <a:spcBef>
                  <a:spcPts val="0"/>
                </a:spcBef>
                <a:spcAft>
                  <a:spcPts val="0"/>
                </a:spcAft>
              </a:pPr>
              <a:r>
                <a:rPr sz="1200" b="0">
                  <a:solidFill>
                    <a:srgbClr val="233344"/>
                  </a:solidFill>
                  <a:latin typeface="DejaVu Sans"/>
                </a:rPr>
                <a:t>t · mode ·</a:t>
              </a:r>
            </a:p>
            <a:p>
              <a:pPr algn="ctr">
                <a:lnSpc>
                  <a:spcPts val="1355"/>
                </a:lnSpc>
                <a:spcBef>
                  <a:spcPts val="0"/>
                </a:spcBef>
                <a:spcAft>
                  <a:spcPts val="0"/>
                </a:spcAft>
              </a:pPr>
              <a:r>
                <a:rPr sz="1200" b="0">
                  <a:solidFill>
                    <a:srgbClr val="233344"/>
                  </a:solidFill>
                  <a:latin typeface="DejaVu Sans"/>
                </a:rPr>
                <a:t>SCCFG</a:t>
              </a:r>
            </a:p>
          </p:txBody>
        </p:sp>
      </p:grpSp>
      <p:grpSp>
        <p:nvGrpSpPr>
          <p:cNvPr id="191" name="module_rect_0140"/>
          <p:cNvGrpSpPr/>
          <p:nvPr/>
        </p:nvGrpSpPr>
        <p:grpSpPr>
          <a:xfrm>
            <a:off x="4581144" y="5129784"/>
            <a:ext cx="1673352" cy="448056"/>
            <a:chOff x="4581144" y="5129784"/>
            <a:chExt cx="1673352" cy="448056"/>
          </a:xfrm>
        </p:grpSpPr>
        <p:sp>
          <p:nvSpPr>
            <p:cNvPr id="142" name="rect_0140"/>
            <p:cNvSpPr/>
            <p:nvPr/>
          </p:nvSpPr>
          <p:spPr>
            <a:xfrm>
              <a:off x="4581144" y="5129784"/>
              <a:ext cx="1673352" cy="448056"/>
            </a:xfrm>
            <a:prstGeom prst="roundRect">
              <a:avLst>
                <a:gd name="adj" fmla="val 12000"/>
              </a:avLst>
            </a:prstGeom>
            <a:solidFill>
              <a:srgbClr val="E7EFF6"/>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_0141"/>
            <p:cNvSpPr txBox="1"/>
            <p:nvPr/>
          </p:nvSpPr>
          <p:spPr>
            <a:xfrm>
              <a:off x="4626864" y="5138928"/>
              <a:ext cx="1581912" cy="429768"/>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Flow head → x̂</a:t>
              </a:r>
            </a:p>
          </p:txBody>
        </p:sp>
      </p:grpSp>
      <p:grpSp>
        <p:nvGrpSpPr>
          <p:cNvPr id="192" name="module_rect_0142"/>
          <p:cNvGrpSpPr/>
          <p:nvPr/>
        </p:nvGrpSpPr>
        <p:grpSpPr>
          <a:xfrm>
            <a:off x="6437375" y="5129784"/>
            <a:ext cx="1673352" cy="448056"/>
            <a:chOff x="6437375" y="5129784"/>
            <a:chExt cx="1673352" cy="448056"/>
          </a:xfrm>
        </p:grpSpPr>
        <p:sp>
          <p:nvSpPr>
            <p:cNvPr id="144" name="rect_0142"/>
            <p:cNvSpPr/>
            <p:nvPr/>
          </p:nvSpPr>
          <p:spPr>
            <a:xfrm>
              <a:off x="6437375" y="5129784"/>
              <a:ext cx="1673352" cy="448056"/>
            </a:xfrm>
            <a:prstGeom prst="roundRect">
              <a:avLst>
                <a:gd name="adj" fmla="val 12000"/>
              </a:avLst>
            </a:prstGeom>
            <a:solidFill>
              <a:srgbClr val="E6F2F0"/>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text_0143"/>
            <p:cNvSpPr txBox="1"/>
            <p:nvPr/>
          </p:nvSpPr>
          <p:spPr>
            <a:xfrm>
              <a:off x="6483095" y="5138928"/>
              <a:ext cx="1581912" cy="429768"/>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Token head</a:t>
              </a:r>
            </a:p>
          </p:txBody>
        </p:sp>
      </p:grpSp>
      <p:grpSp>
        <p:nvGrpSpPr>
          <p:cNvPr id="193" name="stage_3_heading"/>
          <p:cNvGrpSpPr/>
          <p:nvPr/>
        </p:nvGrpSpPr>
        <p:grpSpPr>
          <a:xfrm>
            <a:off x="8641080" y="210312"/>
            <a:ext cx="3749039" cy="539496"/>
            <a:chOff x="8641080" y="210312"/>
            <a:chExt cx="3749039" cy="539496"/>
          </a:xfrm>
        </p:grpSpPr>
        <p:sp>
          <p:nvSpPr>
            <p:cNvPr id="153" name="rect_0151"/>
            <p:cNvSpPr/>
            <p:nvPr/>
          </p:nvSpPr>
          <p:spPr>
            <a:xfrm>
              <a:off x="8641080" y="210312"/>
              <a:ext cx="3749039" cy="539496"/>
            </a:xfrm>
            <a:prstGeom prst="roundRect">
              <a:avLst>
                <a:gd name="adj" fmla="val 12000"/>
              </a:avLst>
            </a:prstGeom>
            <a:solidFill>
              <a:srgbClr val="F3F6F9"/>
            </a:solidFill>
            <a:ln w="12700">
              <a:solidFill>
                <a:srgbClr val="F3F6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text_0152"/>
            <p:cNvSpPr txBox="1"/>
            <p:nvPr/>
          </p:nvSpPr>
          <p:spPr>
            <a:xfrm>
              <a:off x="8759952" y="237744"/>
              <a:ext cx="274320" cy="457200"/>
            </a:xfrm>
            <a:prstGeom prst="rect">
              <a:avLst/>
            </a:prstGeom>
            <a:noFill/>
          </p:spPr>
          <p:txBody>
            <a:bodyPr wrap="none" lIns="0" rIns="0" tIns="0" bIns="0" anchor="ctr">
              <a:spAutoFit/>
            </a:bodyPr>
            <a:lstStyle/>
            <a:p>
              <a:pPr algn="ctr">
                <a:lnSpc>
                  <a:spcPts val="2372"/>
                </a:lnSpc>
                <a:spcBef>
                  <a:spcPts val="0"/>
                </a:spcBef>
                <a:spcAft>
                  <a:spcPts val="0"/>
                </a:spcAft>
              </a:pPr>
              <a:r>
                <a:rPr sz="2100" b="1">
                  <a:solidFill>
                    <a:srgbClr val="63758A"/>
                  </a:solidFill>
                  <a:latin typeface="DejaVu Sans"/>
                </a:rPr>
                <a:t>3</a:t>
              </a:r>
            </a:p>
          </p:txBody>
        </p:sp>
        <p:sp>
          <p:nvSpPr>
            <p:cNvPr id="155" name="text_0153"/>
            <p:cNvSpPr txBox="1"/>
            <p:nvPr/>
          </p:nvSpPr>
          <p:spPr>
            <a:xfrm>
              <a:off x="9089136" y="237744"/>
              <a:ext cx="3200400" cy="457200"/>
            </a:xfrm>
            <a:prstGeom prst="rect">
              <a:avLst/>
            </a:prstGeom>
            <a:noFill/>
          </p:spPr>
          <p:txBody>
            <a:bodyPr wrap="none" lIns="0" rIns="0" tIns="0" bIns="0" anchor="ctr">
              <a:spAutoFit/>
            </a:bodyPr>
            <a:lstStyle/>
            <a:p>
              <a:pPr algn="l">
                <a:lnSpc>
                  <a:spcPts val="2033"/>
                </a:lnSpc>
                <a:spcBef>
                  <a:spcPts val="0"/>
                </a:spcBef>
                <a:spcAft>
                  <a:spcPts val="0"/>
                </a:spcAft>
              </a:pPr>
              <a:r>
                <a:rPr sz="1800" b="1">
                  <a:solidFill>
                    <a:srgbClr val="233344"/>
                  </a:solidFill>
                  <a:latin typeface="DejaVu Sans"/>
                </a:rPr>
                <a:t>NFT post-training</a:t>
              </a:r>
            </a:p>
          </p:txBody>
        </p:sp>
      </p:grpSp>
      <p:grpSp>
        <p:nvGrpSpPr>
          <p:cNvPr id="194" name="module_rect_0154"/>
          <p:cNvGrpSpPr/>
          <p:nvPr/>
        </p:nvGrpSpPr>
        <p:grpSpPr>
          <a:xfrm>
            <a:off x="8787384" y="1005840"/>
            <a:ext cx="3538728" cy="429768"/>
            <a:chOff x="8787384" y="1005840"/>
            <a:chExt cx="3538728" cy="429768"/>
          </a:xfrm>
        </p:grpSpPr>
        <p:sp>
          <p:nvSpPr>
            <p:cNvPr id="156" name="rect_0154"/>
            <p:cNvSpPr/>
            <p:nvPr/>
          </p:nvSpPr>
          <p:spPr>
            <a:xfrm>
              <a:off x="8787384" y="1005840"/>
              <a:ext cx="3538728" cy="429768"/>
            </a:xfrm>
            <a:prstGeom prst="roundRect">
              <a:avLst>
                <a:gd name="adj" fmla="val 12000"/>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text_0155"/>
            <p:cNvSpPr txBox="1"/>
            <p:nvPr/>
          </p:nvSpPr>
          <p:spPr>
            <a:xfrm>
              <a:off x="8833104" y="1014984"/>
              <a:ext cx="3447288" cy="411479"/>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Supervised ELF + prompt</a:t>
              </a:r>
            </a:p>
          </p:txBody>
        </p:sp>
      </p:grpSp>
      <p:grpSp>
        <p:nvGrpSpPr>
          <p:cNvPr id="195" name="module_rect_0157"/>
          <p:cNvGrpSpPr/>
          <p:nvPr/>
        </p:nvGrpSpPr>
        <p:grpSpPr>
          <a:xfrm>
            <a:off x="8897111" y="1792224"/>
            <a:ext cx="3319272" cy="530352"/>
            <a:chOff x="8897111" y="1792224"/>
            <a:chExt cx="3319272" cy="530352"/>
          </a:xfrm>
        </p:grpSpPr>
        <p:sp>
          <p:nvSpPr>
            <p:cNvPr id="159" name="rect_0157"/>
            <p:cNvSpPr/>
            <p:nvPr/>
          </p:nvSpPr>
          <p:spPr>
            <a:xfrm>
              <a:off x="8897111" y="1792224"/>
              <a:ext cx="3319272" cy="530352"/>
            </a:xfrm>
            <a:prstGeom prst="roundRect">
              <a:avLst>
                <a:gd name="adj" fmla="val 12000"/>
              </a:avLst>
            </a:prstGeom>
            <a:solidFill>
              <a:srgbClr val="F1F6FA"/>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_0158"/>
            <p:cNvSpPr txBox="1"/>
            <p:nvPr/>
          </p:nvSpPr>
          <p:spPr>
            <a:xfrm>
              <a:off x="8942832" y="1801368"/>
              <a:ext cx="3227832" cy="512063"/>
            </a:xfrm>
            <a:prstGeom prst="rect">
              <a:avLst/>
            </a:prstGeom>
            <a:noFill/>
          </p:spPr>
          <p:txBody>
            <a:bodyPr wrap="none" lIns="0" rIns="0" tIns="0" bIns="0" anchor="ctr">
              <a:spAutoFit/>
            </a:bodyPr>
            <a:lstStyle/>
            <a:p>
              <a:pPr algn="ctr">
                <a:lnSpc>
                  <a:spcPts val="1920"/>
                </a:lnSpc>
                <a:spcBef>
                  <a:spcPts val="0"/>
                </a:spcBef>
                <a:spcAft>
                  <a:spcPts val="0"/>
                </a:spcAft>
              </a:pPr>
              <a:r>
                <a:rPr sz="1700" b="0">
                  <a:solidFill>
                    <a:srgbClr val="233344"/>
                  </a:solidFill>
                  <a:latin typeface="DejaVu Sans"/>
                </a:rPr>
                <a:t>15 old-policy samples</a:t>
              </a:r>
            </a:p>
            <a:p>
              <a:pPr algn="ctr">
                <a:lnSpc>
                  <a:spcPts val="1920"/>
                </a:lnSpc>
                <a:spcBef>
                  <a:spcPts val="0"/>
                </a:spcBef>
                <a:spcAft>
                  <a:spcPts val="0"/>
                </a:spcAft>
              </a:pPr>
              <a:r>
                <a:rPr sz="1700" b="0">
                  <a:solidFill>
                    <a:srgbClr val="233344"/>
                  </a:solidFill>
                  <a:latin typeface="DejaVu Sans"/>
                </a:rPr>
                <a:t>+ 1 cached gold endpoint</a:t>
              </a:r>
            </a:p>
          </p:txBody>
        </p:sp>
      </p:grpSp>
      <p:grpSp>
        <p:nvGrpSpPr>
          <p:cNvPr id="196" name="module_rect_0161"/>
          <p:cNvGrpSpPr/>
          <p:nvPr/>
        </p:nvGrpSpPr>
        <p:grpSpPr>
          <a:xfrm>
            <a:off x="8823959" y="3063240"/>
            <a:ext cx="3502152" cy="640080"/>
            <a:chOff x="8823959" y="3063240"/>
            <a:chExt cx="3502152" cy="640080"/>
          </a:xfrm>
        </p:grpSpPr>
        <p:sp>
          <p:nvSpPr>
            <p:cNvPr id="163" name="rect_0161"/>
            <p:cNvSpPr/>
            <p:nvPr/>
          </p:nvSpPr>
          <p:spPr>
            <a:xfrm>
              <a:off x="8823959" y="3063240"/>
              <a:ext cx="3502152" cy="640080"/>
            </a:xfrm>
            <a:prstGeom prst="roundRect">
              <a:avLst>
                <a:gd name="adj" fmla="val 10000"/>
              </a:avLst>
            </a:prstGeom>
            <a:solidFill>
              <a:srgbClr val="EEF6F5"/>
            </a:solidFill>
            <a:ln w="12700">
              <a:solidFill>
                <a:srgbClr val="2C91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_0162"/>
            <p:cNvSpPr txBox="1"/>
            <p:nvPr/>
          </p:nvSpPr>
          <p:spPr>
            <a:xfrm>
              <a:off x="8869680" y="3072384"/>
              <a:ext cx="3410712" cy="62179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Verifiable rewards</a:t>
              </a:r>
            </a:p>
            <a:p>
              <a:pPr algn="ctr">
                <a:lnSpc>
                  <a:spcPts val="1695"/>
                </a:lnSpc>
                <a:spcBef>
                  <a:spcPts val="0"/>
                </a:spcBef>
                <a:spcAft>
                  <a:spcPts val="0"/>
                </a:spcAft>
              </a:pPr>
              <a:r>
                <a:rPr sz="1500" b="0">
                  <a:solidFill>
                    <a:srgbClr val="233344"/>
                  </a:solidFill>
                  <a:latin typeface="DejaVu Sans"/>
                </a:rPr>
                <a:t>correct: 0.75 · wrong: 0 · gold: 1</a:t>
              </a:r>
            </a:p>
          </p:txBody>
        </p:sp>
      </p:grpSp>
      <p:grpSp>
        <p:nvGrpSpPr>
          <p:cNvPr id="197" name="module_rect_0164"/>
          <p:cNvGrpSpPr/>
          <p:nvPr/>
        </p:nvGrpSpPr>
        <p:grpSpPr>
          <a:xfrm>
            <a:off x="8823959" y="3950208"/>
            <a:ext cx="3502152" cy="594360"/>
            <a:chOff x="8823959" y="3950208"/>
            <a:chExt cx="3502152" cy="594360"/>
          </a:xfrm>
        </p:grpSpPr>
        <p:sp>
          <p:nvSpPr>
            <p:cNvPr id="166" name="rect_0164"/>
            <p:cNvSpPr/>
            <p:nvPr/>
          </p:nvSpPr>
          <p:spPr>
            <a:xfrm>
              <a:off x="8823959" y="3950208"/>
              <a:ext cx="3502152" cy="594360"/>
            </a:xfrm>
            <a:prstGeom prst="roundRect">
              <a:avLst>
                <a:gd name="adj" fmla="val 10769"/>
              </a:avLst>
            </a:prstGeom>
            <a:solidFill>
              <a:srgbClr val="F3F6F9"/>
            </a:solidFill>
            <a:ln w="12700">
              <a:solidFill>
                <a:srgbClr val="B7C3C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_0165"/>
            <p:cNvSpPr txBox="1"/>
            <p:nvPr/>
          </p:nvSpPr>
          <p:spPr>
            <a:xfrm>
              <a:off x="8869680" y="3959352"/>
              <a:ext cx="3410712" cy="57607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Filter all-correct groups;</a:t>
              </a:r>
            </a:p>
            <a:p>
              <a:pPr algn="ctr">
                <a:lnSpc>
                  <a:spcPts val="1807"/>
                </a:lnSpc>
                <a:spcBef>
                  <a:spcPts val="0"/>
                </a:spcBef>
                <a:spcAft>
                  <a:spcPts val="0"/>
                </a:spcAft>
              </a:pPr>
              <a:r>
                <a:rPr sz="1600" b="0">
                  <a:solidFill>
                    <a:srgbClr val="233344"/>
                  </a:solidFill>
                  <a:latin typeface="DejaVu Sans"/>
                </a:rPr>
                <a:t>normalize retained rewards</a:t>
              </a:r>
            </a:p>
          </p:txBody>
        </p:sp>
      </p:grpSp>
      <p:grpSp>
        <p:nvGrpSpPr>
          <p:cNvPr id="198" name="module_rect_0167"/>
          <p:cNvGrpSpPr/>
          <p:nvPr/>
        </p:nvGrpSpPr>
        <p:grpSpPr>
          <a:xfrm>
            <a:off x="8823959" y="4800600"/>
            <a:ext cx="3502152" cy="594360"/>
            <a:chOff x="8823959" y="4800600"/>
            <a:chExt cx="3502152" cy="594360"/>
          </a:xfrm>
        </p:grpSpPr>
        <p:sp>
          <p:nvSpPr>
            <p:cNvPr id="169" name="rect_0167"/>
            <p:cNvSpPr/>
            <p:nvPr/>
          </p:nvSpPr>
          <p:spPr>
            <a:xfrm>
              <a:off x="8823959" y="4800600"/>
              <a:ext cx="3502152" cy="594360"/>
            </a:xfrm>
            <a:prstGeom prst="roundRect">
              <a:avLst>
                <a:gd name="adj" fmla="val 10769"/>
              </a:avLst>
            </a:prstGeom>
            <a:solidFill>
              <a:srgbClr val="F4F3F8"/>
            </a:solidFill>
            <a:ln w="12700">
              <a:solidFill>
                <a:srgbClr val="7965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_0168"/>
            <p:cNvSpPr txBox="1"/>
            <p:nvPr/>
          </p:nvSpPr>
          <p:spPr>
            <a:xfrm>
              <a:off x="8869680" y="4809744"/>
              <a:ext cx="3410712" cy="576072"/>
            </a:xfrm>
            <a:prstGeom prst="rect">
              <a:avLst/>
            </a:prstGeom>
            <a:noFill/>
          </p:spPr>
          <p:txBody>
            <a:bodyPr wrap="none" lIns="0" rIns="0" tIns="0" bIns="0" anchor="ctr">
              <a:spAutoFit/>
            </a:bodyPr>
            <a:lstStyle/>
            <a:p>
              <a:pPr algn="ctr">
                <a:lnSpc>
                  <a:spcPts val="1807"/>
                </a:lnSpc>
                <a:spcBef>
                  <a:spcPts val="0"/>
                </a:spcBef>
                <a:spcAft>
                  <a:spcPts val="0"/>
                </a:spcAft>
              </a:pPr>
              <a:r>
                <a:rPr sz="1600" b="0">
                  <a:solidFill>
                    <a:srgbClr val="233344"/>
                  </a:solidFill>
                  <a:latin typeface="DejaVu Sans"/>
                </a:rPr>
                <a:t>Re-noise saved latent endpoints</a:t>
              </a:r>
            </a:p>
            <a:p>
              <a:pPr algn="ctr">
                <a:lnSpc>
                  <a:spcPts val="1807"/>
                </a:lnSpc>
                <a:spcBef>
                  <a:spcPts val="0"/>
                </a:spcBef>
                <a:spcAft>
                  <a:spcPts val="0"/>
                </a:spcAft>
              </a:pPr>
              <a:r>
                <a:rPr sz="1600" b="0">
                  <a:solidFill>
                    <a:srgbClr val="233344"/>
                  </a:solidFill>
                  <a:latin typeface="DejaVu Sans"/>
                </a:rPr>
                <a:t>SCCFG-compatible NFT loss</a:t>
              </a:r>
            </a:p>
          </p:txBody>
        </p:sp>
      </p:grpSp>
      <p:grpSp>
        <p:nvGrpSpPr>
          <p:cNvPr id="199" name="module_rect_0170"/>
          <p:cNvGrpSpPr/>
          <p:nvPr/>
        </p:nvGrpSpPr>
        <p:grpSpPr>
          <a:xfrm>
            <a:off x="8823959" y="5641848"/>
            <a:ext cx="3502152" cy="594360"/>
            <a:chOff x="8823959" y="5641848"/>
            <a:chExt cx="3502152" cy="594360"/>
          </a:xfrm>
        </p:grpSpPr>
        <p:sp>
          <p:nvSpPr>
            <p:cNvPr id="172" name="rect_0170"/>
            <p:cNvSpPr/>
            <p:nvPr/>
          </p:nvSpPr>
          <p:spPr>
            <a:xfrm>
              <a:off x="8823959" y="5641848"/>
              <a:ext cx="3502152" cy="594360"/>
            </a:xfrm>
            <a:prstGeom prst="roundRect">
              <a:avLst>
                <a:gd name="adj" fmla="val 10769"/>
              </a:avLst>
            </a:prstGeom>
            <a:solidFill>
              <a:srgbClr val="EFF4F9"/>
            </a:solidFill>
            <a:ln w="12700">
              <a:solidFill>
                <a:srgbClr val="367A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text_0171"/>
            <p:cNvSpPr txBox="1"/>
            <p:nvPr/>
          </p:nvSpPr>
          <p:spPr>
            <a:xfrm>
              <a:off x="8869680" y="5650992"/>
              <a:ext cx="3410712" cy="576072"/>
            </a:xfrm>
            <a:prstGeom prst="rect">
              <a:avLst/>
            </a:prstGeom>
            <a:noFill/>
          </p:spPr>
          <p:txBody>
            <a:bodyPr wrap="none" lIns="0" rIns="0" tIns="0" bIns="0" anchor="ctr">
              <a:spAutoFit/>
            </a:bodyPr>
            <a:lstStyle/>
            <a:p>
              <a:pPr algn="ctr">
                <a:lnSpc>
                  <a:spcPts val="1695"/>
                </a:lnSpc>
                <a:spcBef>
                  <a:spcPts val="0"/>
                </a:spcBef>
                <a:spcAft>
                  <a:spcPts val="0"/>
                </a:spcAft>
              </a:pPr>
              <a:r>
                <a:rPr sz="1500" b="0">
                  <a:solidFill>
                    <a:srgbClr val="233344"/>
                  </a:solidFill>
                  <a:latin typeface="DejaVu Sans"/>
                </a:rPr>
                <a:t>Update ELF + prompt</a:t>
              </a:r>
            </a:p>
            <a:p>
              <a:pPr algn="ctr">
                <a:lnSpc>
                  <a:spcPts val="1695"/>
                </a:lnSpc>
                <a:spcBef>
                  <a:spcPts val="0"/>
                </a:spcBef>
                <a:spcAft>
                  <a:spcPts val="0"/>
                </a:spcAft>
              </a:pPr>
              <a:r>
                <a:rPr sz="1500" b="0">
                  <a:solidFill>
                    <a:srgbClr val="233344"/>
                  </a:solidFill>
                  <a:latin typeface="DejaVu Sans"/>
                </a:rPr>
                <a:t>Freeze decoder-only weights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Continuous diffusion reasoning: editable pipeline and NFT diagrams</dc:title>
  <dc:subject>Three native-vector diagram options for paper iteration</dc:subject>
  <dc:creator>Diffusion language paper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