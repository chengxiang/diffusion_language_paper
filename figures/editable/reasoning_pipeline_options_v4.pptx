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9" r:id="rId3"/>
  </p:sldIdLst>
  <p:sldSz cx="12619038" cy="7315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90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73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a:r>
              <a:t>Revision 2: bottom-up Qwen, narrow projectors with 2560-D inputs, explicit fixed covariance-whitening step and integrated per-layer reconstruction/teacher CE. Purple question and red gold-solution outlines. Snowflake=frozen; flame=trained in the depicted training stage. Fixed whitening followed by learned orthonormal projection factors the effective encoder E_l. Displayed layer order is 32/24/16 from top to bottom, consistently in representation and inference panels. Static strips show three token positions; every bold vertical outline is a token, and feature-band heights reflect 512/256/256 dimensions. Illustrative Early/Late visibilities intentionally exaggerate the schedule separation and do NOT map to quantitative tau values. The clock plot itself remains exact. Self-conditioning and row-mode details are omitted for clarity; they remain in the method. Slides 2 and 3 are unchanged from v1.</a:t>
            </a:r>
          </a:p>
          <a:p/>
          <a:p>
            <a:r>
              <a:t>Column 1 revised from the user-provided v3 slide-2 sketch. A common frozen Qwen prefix supplies the clean post-block-16 activation. The unchanged teacher branch and encoder/reconstruction branch pass through identical frozen Qwen blocks 17-36, final normalization and vocabulary head. Teacher CE compares the clean teacher distribution p with the reconstructed distribution p-hat, not gold one-hot labels. Gradients propagate through the frozen suffix of the reconstructed branch into E16/D16; the teacher target is detached. Interventions and CE scoring are on assistant content, with prompt/control states kept clean. Layers 24 and 32 are learned through analogous independent interventions; each uses its own appropriate remaining Qwen suffix. Covariance whitening is part of the effective encoder parameterization, omitted from the diagram. The lower row uses only the learned encoders, freezes them and concatenates 256/256/512 dimensions per token. No reconstruction decoder or Qwen suffix is used to form these final latents. The inference tiles in column 3 remain an exaggerated schematic; clock curves remain exact.</a:t>
            </a:r>
          </a:p>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879F-D952-2EF5-34F1-CDFBB4332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AA27B-9D76-3F69-96F8-387562278B2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B032A02-E325-7658-471D-A4E583CA607E}"/>
              </a:ext>
            </a:extLst>
          </p:cNvPr>
          <p:cNvSpPr>
            <a:spLocks noGrp="1"/>
          </p:cNvSpPr>
          <p:nvPr>
            <p:ph type="body" sz="quarter" idx="3"/>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a:r>
              <a:t>Revision 2: bottom-up Qwen, narrow projectors with 2560-D inputs, explicit fixed covariance-whitening step and integrated per-layer reconstruction/teacher CE. Purple question and red gold-solution outlines. Snowflake=frozen; flame=trained in the depicted training stage. Fixed whitening followed by learned orthonormal projection factors the effective encoder E_l. Displayed layer order is 32/24/16 from top to bottom, consistently in representation and inference panels. Static strips show three token positions; every bold vertical outline is a token, and feature-band heights reflect 512/256/256 dimensions. Illustrative Early/Late visibilities intentionally exaggerate the schedule separation and do NOT map to quantitative tau values. The clock plot itself remains exact. Self-conditioning and row-mode details are omitted for clarity; they remain in the method. Slides 2 and 3 are unchanged from v1.</a:t>
            </a:r>
          </a:p>
          <a:p>
            <a:endParaRPr/>
          </a:p>
        </p:txBody>
      </p:sp>
      <p:sp>
        <p:nvSpPr>
          <p:cNvPr id="4" name="Slide Number Placeholder 3">
            <a:extLst>
              <a:ext uri="{FF2B5EF4-FFF2-40B4-BE49-F238E27FC236}">
                <a16:creationId xmlns:a16="http://schemas.microsoft.com/office/drawing/2014/main" id="{E71DEB45-2ED1-7366-51B9-9DFC0E680A75}"/>
              </a:ext>
            </a:extLst>
          </p:cNvPr>
          <p:cNvSpPr>
            <a:spLocks noGrp="1"/>
          </p:cNvSpPr>
          <p:nvPr>
            <p:ph type="sldNum" sz="quarter" idx="5"/>
          </p:nvPr>
        </p:nvSpPr>
        <p:spPr/>
      </p:sp>
    </p:spTree>
    <p:extLst>
      <p:ext uri="{BB962C8B-B14F-4D97-AF65-F5344CB8AC3E}">
        <p14:creationId xmlns:p14="http://schemas.microsoft.com/office/powerpoint/2010/main" val="127976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pipeline_overview_v4">
    <p:bg>
      <p:bgPr>
        <a:solidFill>
          <a:srgbClr val="FFFFFF"/>
        </a:solidFill>
        <a:effectLst/>
      </p:bgPr>
    </p:bg>
    <p:spTree>
      <p:nvGrpSpPr>
        <p:cNvPr id="1" name=""/>
        <p:cNvGrpSpPr/>
        <p:nvPr/>
      </p:nvGrpSpPr>
      <p:grpSpPr>
        <a:xfrm>
          <a:off x="0" y="0"/>
          <a:ext cx="0" cy="0"/>
          <a:chOff x="0" y="0"/>
          <a:chExt cx="0" cy="0"/>
        </a:xfrm>
      </p:grpSpPr>
      <p:sp>
        <p:nvSpPr>
          <p:cNvPr id="2" name="path_0000"/>
          <p:cNvSpPr/>
          <p:nvPr/>
        </p:nvSpPr>
        <p:spPr>
          <a:xfrm>
            <a:off x="5084064" y="219456"/>
            <a:ext cx="0" cy="6903720"/>
          </a:xfrm>
          <a:custGeom>
            <a:avLst/>
            <a:gdLst/>
            <a:ahLst/>
            <a:cxnLst/>
            <a:rect l="l" t="t" r="r" b="b"/>
            <a:pathLst>
              <a:path h="7550">
                <a:moveTo>
                  <a:pt x="0" y="0"/>
                </a:moveTo>
                <a:lnTo>
                  <a:pt x="0" y="755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th_0001"/>
          <p:cNvSpPr/>
          <p:nvPr/>
        </p:nvSpPr>
        <p:spPr>
          <a:xfrm>
            <a:off x="8238744" y="219456"/>
            <a:ext cx="0" cy="6903720"/>
          </a:xfrm>
          <a:custGeom>
            <a:avLst/>
            <a:gdLst/>
            <a:ahLst/>
            <a:cxnLst/>
            <a:rect l="l" t="t" r="r" b="b"/>
            <a:pathLst>
              <a:path h="7550">
                <a:moveTo>
                  <a:pt x="0" y="0"/>
                </a:moveTo>
                <a:lnTo>
                  <a:pt x="0" y="755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path_0154"/>
          <p:cNvSpPr/>
          <p:nvPr/>
        </p:nvSpPr>
        <p:spPr>
          <a:xfrm>
            <a:off x="5934456" y="1453896"/>
            <a:ext cx="0" cy="438912"/>
          </a:xfrm>
          <a:custGeom>
            <a:avLst/>
            <a:gdLst/>
            <a:ahLst/>
            <a:cxnLst/>
            <a:rect l="l" t="t" r="r" b="b"/>
            <a:pathLst>
              <a:path h="480">
                <a:moveTo>
                  <a:pt x="0" y="0"/>
                </a:moveTo>
                <a:lnTo>
                  <a:pt x="0" y="48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path_0159"/>
          <p:cNvSpPr/>
          <p:nvPr/>
        </p:nvSpPr>
        <p:spPr>
          <a:xfrm>
            <a:off x="7388352" y="1453896"/>
            <a:ext cx="0" cy="438912"/>
          </a:xfrm>
          <a:custGeom>
            <a:avLst/>
            <a:gdLst/>
            <a:ahLst/>
            <a:cxnLst/>
            <a:rect l="l" t="t" r="r" b="b"/>
            <a:pathLst>
              <a:path h="480">
                <a:moveTo>
                  <a:pt x="0" y="0"/>
                </a:moveTo>
                <a:lnTo>
                  <a:pt x="0" y="480"/>
                </a:lnTo>
              </a:path>
            </a:pathLst>
          </a:custGeom>
          <a:noFill/>
          <a:ln w="16510">
            <a:solidFill>
              <a:srgbClr val="B8656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ath_0162"/>
          <p:cNvSpPr/>
          <p:nvPr/>
        </p:nvSpPr>
        <p:spPr>
          <a:xfrm>
            <a:off x="5961888" y="2578608"/>
            <a:ext cx="0" cy="521208"/>
          </a:xfrm>
          <a:custGeom>
            <a:avLst/>
            <a:gdLst/>
            <a:ahLst/>
            <a:cxnLst/>
            <a:rect l="l" t="t" r="r" b="b"/>
            <a:pathLst>
              <a:path h="570">
                <a:moveTo>
                  <a:pt x="0" y="0"/>
                </a:moveTo>
                <a:lnTo>
                  <a:pt x="0" y="57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ath_0163"/>
          <p:cNvSpPr/>
          <p:nvPr/>
        </p:nvSpPr>
        <p:spPr>
          <a:xfrm>
            <a:off x="7388352" y="2578608"/>
            <a:ext cx="0" cy="521208"/>
          </a:xfrm>
          <a:custGeom>
            <a:avLst/>
            <a:gdLst/>
            <a:ahLst/>
            <a:cxnLst/>
            <a:rect l="l" t="t" r="r" b="b"/>
            <a:pathLst>
              <a:path h="570">
                <a:moveTo>
                  <a:pt x="0" y="0"/>
                </a:moveTo>
                <a:lnTo>
                  <a:pt x="0" y="57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path_0168"/>
          <p:cNvSpPr/>
          <p:nvPr/>
        </p:nvSpPr>
        <p:spPr>
          <a:xfrm>
            <a:off x="5961888" y="3566160"/>
            <a:ext cx="699516" cy="310896"/>
          </a:xfrm>
          <a:custGeom>
            <a:avLst/>
            <a:gdLst/>
            <a:ahLst/>
            <a:cxnLst/>
            <a:rect l="l" t="t" r="r" b="b"/>
            <a:pathLst>
              <a:path w="765" h="340">
                <a:moveTo>
                  <a:pt x="0" y="0"/>
                </a:moveTo>
                <a:lnTo>
                  <a:pt x="0" y="140"/>
                </a:lnTo>
                <a:lnTo>
                  <a:pt x="765" y="140"/>
                </a:lnTo>
                <a:lnTo>
                  <a:pt x="765" y="34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path_0169"/>
          <p:cNvSpPr/>
          <p:nvPr/>
        </p:nvSpPr>
        <p:spPr>
          <a:xfrm>
            <a:off x="6661404" y="3566160"/>
            <a:ext cx="726948" cy="128016"/>
          </a:xfrm>
          <a:custGeom>
            <a:avLst/>
            <a:gdLst/>
            <a:ahLst/>
            <a:cxnLst/>
            <a:rect l="l" t="t" r="r" b="b"/>
            <a:pathLst>
              <a:path w="795" h="140">
                <a:moveTo>
                  <a:pt x="795" y="0"/>
                </a:moveTo>
                <a:lnTo>
                  <a:pt x="795" y="140"/>
                </a:lnTo>
                <a:lnTo>
                  <a:pt x="0" y="140"/>
                </a:lnTo>
              </a:path>
            </a:pathLst>
          </a:custGeom>
          <a:noFill/>
          <a:ln w="1524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shared_ELF_v2"/>
          <p:cNvSpPr/>
          <p:nvPr/>
        </p:nvSpPr>
        <p:spPr>
          <a:xfrm>
            <a:off x="5413248" y="3913632"/>
            <a:ext cx="2496312" cy="850392"/>
          </a:xfrm>
          <a:prstGeom prst="roundRect">
            <a:avLst>
              <a:gd name="adj" fmla="val 7526"/>
            </a:avLst>
          </a:prstGeom>
          <a:solidFill>
            <a:srgbClr val="F1F6FA"/>
          </a:solidFill>
          <a:ln w="1905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_0171"/>
          <p:cNvSpPr txBox="1"/>
          <p:nvPr/>
        </p:nvSpPr>
        <p:spPr>
          <a:xfrm>
            <a:off x="5504688" y="4023360"/>
            <a:ext cx="2313432" cy="320040"/>
          </a:xfrm>
          <a:prstGeom prst="rect">
            <a:avLst/>
          </a:prstGeom>
          <a:noFill/>
        </p:spPr>
        <p:txBody>
          <a:bodyPr wrap="none" lIns="0" tIns="0" rIns="0" bIns="0" anchor="ctr">
            <a:spAutoFit/>
          </a:bodyPr>
          <a:lstStyle/>
          <a:p>
            <a:pPr algn="ctr">
              <a:lnSpc>
                <a:spcPts val="2486"/>
              </a:lnSpc>
              <a:spcBef>
                <a:spcPts val="0"/>
              </a:spcBef>
              <a:spcAft>
                <a:spcPts val="0"/>
              </a:spcAft>
            </a:pPr>
            <a:r>
              <a:rPr sz="2200" b="1">
                <a:solidFill>
                  <a:srgbClr val="233344"/>
                </a:solidFill>
                <a:latin typeface="DejaVu Sans"/>
              </a:rPr>
              <a:t>Shared ELF</a:t>
            </a:r>
          </a:p>
        </p:txBody>
      </p:sp>
      <p:sp>
        <p:nvSpPr>
          <p:cNvPr id="174" name="text_0172"/>
          <p:cNvSpPr txBox="1"/>
          <p:nvPr/>
        </p:nvSpPr>
        <p:spPr>
          <a:xfrm>
            <a:off x="5504688" y="4416552"/>
            <a:ext cx="2313432"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Bidirectional Transformer</a:t>
            </a:r>
          </a:p>
        </p:txBody>
      </p:sp>
      <p:sp>
        <p:nvSpPr>
          <p:cNvPr id="177" name="path_0175"/>
          <p:cNvSpPr/>
          <p:nvPr/>
        </p:nvSpPr>
        <p:spPr>
          <a:xfrm>
            <a:off x="5925312" y="4791456"/>
            <a:ext cx="736092" cy="365760"/>
          </a:xfrm>
          <a:custGeom>
            <a:avLst/>
            <a:gdLst/>
            <a:ahLst/>
            <a:cxnLst/>
            <a:rect l="l" t="t" r="r" b="b"/>
            <a:pathLst>
              <a:path w="805" h="400">
                <a:moveTo>
                  <a:pt x="805" y="0"/>
                </a:moveTo>
                <a:lnTo>
                  <a:pt x="805" y="210"/>
                </a:lnTo>
                <a:lnTo>
                  <a:pt x="0" y="210"/>
                </a:lnTo>
                <a:lnTo>
                  <a:pt x="0" y="40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path_0176"/>
          <p:cNvSpPr/>
          <p:nvPr/>
        </p:nvSpPr>
        <p:spPr>
          <a:xfrm>
            <a:off x="6661404" y="4791456"/>
            <a:ext cx="754380" cy="365760"/>
          </a:xfrm>
          <a:custGeom>
            <a:avLst/>
            <a:gdLst/>
            <a:ahLst/>
            <a:cxnLst/>
            <a:rect l="l" t="t" r="r" b="b"/>
            <a:pathLst>
              <a:path w="825" h="400">
                <a:moveTo>
                  <a:pt x="0" y="0"/>
                </a:moveTo>
                <a:lnTo>
                  <a:pt x="0" y="210"/>
                </a:lnTo>
                <a:lnTo>
                  <a:pt x="825" y="210"/>
                </a:lnTo>
                <a:lnTo>
                  <a:pt x="825" y="40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path_0185"/>
          <p:cNvSpPr/>
          <p:nvPr/>
        </p:nvSpPr>
        <p:spPr>
          <a:xfrm>
            <a:off x="5934456" y="5650992"/>
            <a:ext cx="0" cy="201168"/>
          </a:xfrm>
          <a:custGeom>
            <a:avLst/>
            <a:gdLst/>
            <a:ahLst/>
            <a:cxnLst/>
            <a:rect l="l" t="t" r="r" b="b"/>
            <a:pathLst>
              <a:path h="220">
                <a:moveTo>
                  <a:pt x="0" y="0"/>
                </a:moveTo>
                <a:lnTo>
                  <a:pt x="0" y="22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path_0186"/>
          <p:cNvSpPr/>
          <p:nvPr/>
        </p:nvSpPr>
        <p:spPr>
          <a:xfrm>
            <a:off x="7406640" y="5650992"/>
            <a:ext cx="0" cy="201168"/>
          </a:xfrm>
          <a:custGeom>
            <a:avLst/>
            <a:gdLst/>
            <a:ahLst/>
            <a:cxnLst/>
            <a:rect l="l" t="t" r="r" b="b"/>
            <a:pathLst>
              <a:path h="220">
                <a:moveTo>
                  <a:pt x="0" y="0"/>
                </a:moveTo>
                <a:lnTo>
                  <a:pt x="0" y="22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_0187"/>
          <p:cNvSpPr txBox="1"/>
          <p:nvPr/>
        </p:nvSpPr>
        <p:spPr>
          <a:xfrm>
            <a:off x="5294376" y="5897880"/>
            <a:ext cx="1271016" cy="301752"/>
          </a:xfrm>
          <a:prstGeom prst="rect">
            <a:avLst/>
          </a:prstGeom>
          <a:noFill/>
        </p:spPr>
        <p:txBody>
          <a:bodyPr wrap="none" lIns="0" tIns="0" rIns="0" bIns="0" anchor="ctr">
            <a:spAutoFit/>
          </a:bodyPr>
          <a:lstStyle/>
          <a:p>
            <a:pPr algn="ctr">
              <a:lnSpc>
                <a:spcPts val="1920"/>
              </a:lnSpc>
              <a:spcBef>
                <a:spcPts val="0"/>
              </a:spcBef>
              <a:spcAft>
                <a:spcPts val="0"/>
              </a:spcAft>
            </a:pPr>
            <a:r>
              <a:rPr sz="1700" b="1">
                <a:solidFill>
                  <a:srgbClr val="367AB5"/>
                </a:solidFill>
                <a:latin typeface="DejaVu Sans"/>
              </a:rPr>
              <a:t>Flow MSE</a:t>
            </a:r>
          </a:p>
        </p:txBody>
      </p:sp>
      <p:sp>
        <p:nvSpPr>
          <p:cNvPr id="190" name="text_0188"/>
          <p:cNvSpPr txBox="1"/>
          <p:nvPr/>
        </p:nvSpPr>
        <p:spPr>
          <a:xfrm>
            <a:off x="6766560" y="5897880"/>
            <a:ext cx="1280160" cy="301752"/>
          </a:xfrm>
          <a:prstGeom prst="rect">
            <a:avLst/>
          </a:prstGeom>
          <a:noFill/>
        </p:spPr>
        <p:txBody>
          <a:bodyPr wrap="none" lIns="0" tIns="0" rIns="0" bIns="0" anchor="ctr">
            <a:spAutoFit/>
          </a:bodyPr>
          <a:lstStyle/>
          <a:p>
            <a:pPr algn="ctr">
              <a:lnSpc>
                <a:spcPts val="1920"/>
              </a:lnSpc>
              <a:spcBef>
                <a:spcPts val="0"/>
              </a:spcBef>
              <a:spcAft>
                <a:spcPts val="0"/>
              </a:spcAft>
            </a:pPr>
            <a:r>
              <a:rPr sz="1700" b="1">
                <a:solidFill>
                  <a:srgbClr val="2C917F"/>
                </a:solidFill>
                <a:latin typeface="DejaVu Sans"/>
              </a:rPr>
              <a:t>Token CE</a:t>
            </a:r>
          </a:p>
        </p:txBody>
      </p:sp>
      <p:sp>
        <p:nvSpPr>
          <p:cNvPr id="191" name="rect_0189"/>
          <p:cNvSpPr/>
          <p:nvPr/>
        </p:nvSpPr>
        <p:spPr>
          <a:xfrm>
            <a:off x="5294376" y="6492240"/>
            <a:ext cx="2743200" cy="612648"/>
          </a:xfrm>
          <a:prstGeom prst="roundRect">
            <a:avLst>
              <a:gd name="adj" fmla="val 10447"/>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_0190"/>
          <p:cNvSpPr txBox="1"/>
          <p:nvPr/>
        </p:nvSpPr>
        <p:spPr>
          <a:xfrm>
            <a:off x="5330952" y="6519672"/>
            <a:ext cx="2670048" cy="548640"/>
          </a:xfrm>
          <a:prstGeom prst="rect">
            <a:avLst/>
          </a:prstGeom>
          <a:noFill/>
        </p:spPr>
        <p:txBody>
          <a:bodyPr wrap="none" lIns="0" tIns="0" rIns="0" bIns="0" anchor="ctr">
            <a:spAutoFit/>
          </a:bodyPr>
          <a:lstStyle/>
          <a:p>
            <a:pPr algn="ctr">
              <a:lnSpc>
                <a:spcPts val="1412"/>
              </a:lnSpc>
              <a:spcBef>
                <a:spcPts val="0"/>
              </a:spcBef>
              <a:spcAft>
                <a:spcPts val="0"/>
              </a:spcAft>
            </a:pPr>
            <a:r>
              <a:rPr sz="1250" b="0">
                <a:solidFill>
                  <a:srgbClr val="7965AA"/>
                </a:solidFill>
                <a:latin typeface="DejaVu Sans"/>
              </a:rPr>
              <a:t>Teacher prompts → MSE</a:t>
            </a:r>
          </a:p>
          <a:p>
            <a:pPr algn="ctr">
              <a:lnSpc>
                <a:spcPts val="1412"/>
              </a:lnSpc>
              <a:spcBef>
                <a:spcPts val="0"/>
              </a:spcBef>
              <a:spcAft>
                <a:spcPts val="0"/>
              </a:spcAft>
            </a:pPr>
            <a:r>
              <a:rPr sz="1250" b="0">
                <a:solidFill>
                  <a:srgbClr val="7965AA"/>
                </a:solidFill>
                <a:latin typeface="DejaVu Sans"/>
              </a:rPr>
              <a:t>warm start → joint training</a:t>
            </a:r>
          </a:p>
        </p:txBody>
      </p:sp>
      <p:sp>
        <p:nvSpPr>
          <p:cNvPr id="198" name="text_0196"/>
          <p:cNvSpPr txBox="1"/>
          <p:nvPr/>
        </p:nvSpPr>
        <p:spPr>
          <a:xfrm>
            <a:off x="8823960" y="1517904"/>
            <a:ext cx="3072384" cy="292608"/>
          </a:xfrm>
          <a:prstGeom prst="rect">
            <a:avLst/>
          </a:prstGeom>
          <a:noFill/>
        </p:spPr>
        <p:txBody>
          <a:bodyPr wrap="none" lIns="0" tIns="0" rIns="0" bIns="0" anchor="ctr">
            <a:spAutoFit/>
          </a:bodyPr>
          <a:lstStyle/>
          <a:p>
            <a:pPr algn="ctr">
              <a:lnSpc>
                <a:spcPts val="1807"/>
              </a:lnSpc>
              <a:spcBef>
                <a:spcPts val="0"/>
              </a:spcBef>
              <a:spcAft>
                <a:spcPts val="0"/>
              </a:spcAft>
            </a:pPr>
            <a:r>
              <a:rPr sz="1600" b="1">
                <a:solidFill>
                  <a:srgbClr val="233344"/>
                </a:solidFill>
                <a:latin typeface="DejaVu Sans"/>
              </a:rPr>
              <a:t>Local clocks: tℓ = fℓ(τ)</a:t>
            </a:r>
          </a:p>
        </p:txBody>
      </p:sp>
      <p:sp>
        <p:nvSpPr>
          <p:cNvPr id="199" name="path_0197"/>
          <p:cNvSpPr/>
          <p:nvPr/>
        </p:nvSpPr>
        <p:spPr>
          <a:xfrm>
            <a:off x="9813341" y="1856232"/>
            <a:ext cx="0" cy="1243584"/>
          </a:xfrm>
          <a:custGeom>
            <a:avLst/>
            <a:gdLst/>
            <a:ahLst/>
            <a:cxnLst/>
            <a:rect l="l" t="t" r="r" b="b"/>
            <a:pathLst>
              <a:path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path_0198"/>
          <p:cNvSpPr/>
          <p:nvPr/>
        </p:nvSpPr>
        <p:spPr>
          <a:xfrm>
            <a:off x="9134856" y="2788920"/>
            <a:ext cx="2715768" cy="0"/>
          </a:xfrm>
          <a:custGeom>
            <a:avLst/>
            <a:gdLst/>
            <a:ahLst/>
            <a:cxnLst/>
            <a:rect l="l" t="t" r="r" b="b"/>
            <a:pathLst>
              <a:path w="297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path_0199"/>
          <p:cNvSpPr/>
          <p:nvPr/>
        </p:nvSpPr>
        <p:spPr>
          <a:xfrm>
            <a:off x="10492740" y="1856232"/>
            <a:ext cx="0" cy="1243584"/>
          </a:xfrm>
          <a:custGeom>
            <a:avLst/>
            <a:gdLst/>
            <a:ahLst/>
            <a:cxnLst/>
            <a:rect l="l" t="t" r="r" b="b"/>
            <a:pathLst>
              <a:path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path_0200"/>
          <p:cNvSpPr/>
          <p:nvPr/>
        </p:nvSpPr>
        <p:spPr>
          <a:xfrm>
            <a:off x="9134856" y="2478024"/>
            <a:ext cx="2715768" cy="0"/>
          </a:xfrm>
          <a:custGeom>
            <a:avLst/>
            <a:gdLst/>
            <a:ahLst/>
            <a:cxnLst/>
            <a:rect l="l" t="t" r="r" b="b"/>
            <a:pathLst>
              <a:path w="297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path_0201"/>
          <p:cNvSpPr/>
          <p:nvPr/>
        </p:nvSpPr>
        <p:spPr>
          <a:xfrm>
            <a:off x="11172139" y="1856232"/>
            <a:ext cx="0" cy="1243584"/>
          </a:xfrm>
          <a:custGeom>
            <a:avLst/>
            <a:gdLst/>
            <a:ahLst/>
            <a:cxnLst/>
            <a:rect l="l" t="t" r="r" b="b"/>
            <a:pathLst>
              <a:path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path_0202"/>
          <p:cNvSpPr/>
          <p:nvPr/>
        </p:nvSpPr>
        <p:spPr>
          <a:xfrm>
            <a:off x="9134856" y="2167128"/>
            <a:ext cx="2715768" cy="0"/>
          </a:xfrm>
          <a:custGeom>
            <a:avLst/>
            <a:gdLst/>
            <a:ahLst/>
            <a:cxnLst/>
            <a:rect l="l" t="t" r="r" b="b"/>
            <a:pathLst>
              <a:path w="297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path_0203"/>
          <p:cNvSpPr/>
          <p:nvPr/>
        </p:nvSpPr>
        <p:spPr>
          <a:xfrm>
            <a:off x="11850624" y="1856232"/>
            <a:ext cx="0" cy="1243584"/>
          </a:xfrm>
          <a:custGeom>
            <a:avLst/>
            <a:gdLst/>
            <a:ahLst/>
            <a:cxnLst/>
            <a:rect l="l" t="t" r="r" b="b"/>
            <a:pathLst>
              <a:path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path_0204"/>
          <p:cNvSpPr/>
          <p:nvPr/>
        </p:nvSpPr>
        <p:spPr>
          <a:xfrm>
            <a:off x="9134856" y="1856232"/>
            <a:ext cx="2715768" cy="0"/>
          </a:xfrm>
          <a:custGeom>
            <a:avLst/>
            <a:gdLst/>
            <a:ahLst/>
            <a:cxnLst/>
            <a:rect l="l" t="t" r="r" b="b"/>
            <a:pathLst>
              <a:path w="297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path_0205"/>
          <p:cNvSpPr/>
          <p:nvPr/>
        </p:nvSpPr>
        <p:spPr>
          <a:xfrm>
            <a:off x="9134856" y="3099816"/>
            <a:ext cx="2715768" cy="0"/>
          </a:xfrm>
          <a:custGeom>
            <a:avLst/>
            <a:gdLst/>
            <a:ahLst/>
            <a:cxnLst/>
            <a:rect l="l" t="t" r="r" b="b"/>
            <a:pathLst>
              <a:path w="2970">
                <a:moveTo>
                  <a:pt x="0" y="0"/>
                </a:moveTo>
                <a:lnTo>
                  <a:pt x="297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path_0206"/>
          <p:cNvSpPr/>
          <p:nvPr/>
        </p:nvSpPr>
        <p:spPr>
          <a:xfrm>
            <a:off x="9134856" y="1856232"/>
            <a:ext cx="0" cy="1243584"/>
          </a:xfrm>
          <a:custGeom>
            <a:avLst/>
            <a:gdLst/>
            <a:ahLst/>
            <a:cxnLst/>
            <a:rect l="l" t="t" r="r" b="b"/>
            <a:pathLst>
              <a:path h="1360">
                <a:moveTo>
                  <a:pt x="0" y="1360"/>
                </a:moveTo>
                <a:lnTo>
                  <a:pt x="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path_0207"/>
          <p:cNvSpPr/>
          <p:nvPr/>
        </p:nvSpPr>
        <p:spPr>
          <a:xfrm>
            <a:off x="9134856" y="1856232"/>
            <a:ext cx="2715768" cy="1243584"/>
          </a:xfrm>
          <a:custGeom>
            <a:avLst/>
            <a:gdLst/>
            <a:ahLst/>
            <a:cxnLst/>
            <a:rect l="l" t="t" r="r" b="b"/>
            <a:pathLst>
              <a:path w="2970" h="1360">
                <a:moveTo>
                  <a:pt x="0" y="1360"/>
                </a:moveTo>
                <a:lnTo>
                  <a:pt x="2970" y="0"/>
                </a:lnTo>
              </a:path>
            </a:pathLst>
          </a:custGeom>
          <a:noFill/>
          <a:ln w="11430">
            <a:solidFill>
              <a:srgbClr val="B7C3C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actual_clock_L16_gamma2.5"/>
          <p:cNvSpPr/>
          <p:nvPr/>
        </p:nvSpPr>
        <p:spPr>
          <a:xfrm>
            <a:off x="9134856" y="1856232"/>
            <a:ext cx="2715768" cy="1243584"/>
          </a:xfrm>
          <a:custGeom>
            <a:avLst/>
            <a:gdLst/>
            <a:ahLst/>
            <a:cxnLst/>
            <a:rect l="l" t="t" r="r" b="b"/>
            <a:pathLst>
              <a:path w="2970" h="1360">
                <a:moveTo>
                  <a:pt x="0" y="1360"/>
                </a:moveTo>
                <a:lnTo>
                  <a:pt x="74" y="1360"/>
                </a:lnTo>
                <a:lnTo>
                  <a:pt x="148" y="1359"/>
                </a:lnTo>
                <a:lnTo>
                  <a:pt x="223" y="1358"/>
                </a:lnTo>
                <a:lnTo>
                  <a:pt x="297" y="1356"/>
                </a:lnTo>
                <a:lnTo>
                  <a:pt x="371" y="1352"/>
                </a:lnTo>
                <a:lnTo>
                  <a:pt x="446" y="1348"/>
                </a:lnTo>
                <a:lnTo>
                  <a:pt x="520" y="1343"/>
                </a:lnTo>
                <a:lnTo>
                  <a:pt x="594" y="1336"/>
                </a:lnTo>
                <a:lnTo>
                  <a:pt x="668" y="1327"/>
                </a:lnTo>
                <a:lnTo>
                  <a:pt x="742" y="1318"/>
                </a:lnTo>
                <a:lnTo>
                  <a:pt x="817" y="1306"/>
                </a:lnTo>
                <a:lnTo>
                  <a:pt x="891" y="1293"/>
                </a:lnTo>
                <a:lnTo>
                  <a:pt x="965" y="1278"/>
                </a:lnTo>
                <a:lnTo>
                  <a:pt x="1040" y="1261"/>
                </a:lnTo>
                <a:lnTo>
                  <a:pt x="1114" y="1243"/>
                </a:lnTo>
                <a:lnTo>
                  <a:pt x="1188" y="1222"/>
                </a:lnTo>
                <a:lnTo>
                  <a:pt x="1262" y="1200"/>
                </a:lnTo>
                <a:lnTo>
                  <a:pt x="1336" y="1175"/>
                </a:lnTo>
                <a:lnTo>
                  <a:pt x="1411" y="1149"/>
                </a:lnTo>
                <a:lnTo>
                  <a:pt x="1485" y="1120"/>
                </a:lnTo>
                <a:lnTo>
                  <a:pt x="1559" y="1088"/>
                </a:lnTo>
                <a:lnTo>
                  <a:pt x="1634" y="1055"/>
                </a:lnTo>
                <a:lnTo>
                  <a:pt x="1708" y="1019"/>
                </a:lnTo>
                <a:lnTo>
                  <a:pt x="1782" y="981"/>
                </a:lnTo>
                <a:lnTo>
                  <a:pt x="1856" y="940"/>
                </a:lnTo>
                <a:lnTo>
                  <a:pt x="1930" y="897"/>
                </a:lnTo>
                <a:lnTo>
                  <a:pt x="2005" y="851"/>
                </a:lnTo>
                <a:lnTo>
                  <a:pt x="2079" y="802"/>
                </a:lnTo>
                <a:lnTo>
                  <a:pt x="2153" y="751"/>
                </a:lnTo>
                <a:lnTo>
                  <a:pt x="2228" y="697"/>
                </a:lnTo>
                <a:lnTo>
                  <a:pt x="2302" y="641"/>
                </a:lnTo>
                <a:lnTo>
                  <a:pt x="2376" y="581"/>
                </a:lnTo>
                <a:lnTo>
                  <a:pt x="2450" y="519"/>
                </a:lnTo>
                <a:lnTo>
                  <a:pt x="2524" y="454"/>
                </a:lnTo>
                <a:lnTo>
                  <a:pt x="2599" y="386"/>
                </a:lnTo>
                <a:lnTo>
                  <a:pt x="2673" y="315"/>
                </a:lnTo>
                <a:lnTo>
                  <a:pt x="2747" y="241"/>
                </a:lnTo>
                <a:lnTo>
                  <a:pt x="2822" y="164"/>
                </a:lnTo>
                <a:lnTo>
                  <a:pt x="2896" y="83"/>
                </a:lnTo>
                <a:lnTo>
                  <a:pt x="297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actual_clock_L24_gamma2"/>
          <p:cNvSpPr/>
          <p:nvPr/>
        </p:nvSpPr>
        <p:spPr>
          <a:xfrm>
            <a:off x="9134856" y="1856232"/>
            <a:ext cx="2715768" cy="1243584"/>
          </a:xfrm>
          <a:custGeom>
            <a:avLst/>
            <a:gdLst/>
            <a:ahLst/>
            <a:cxnLst/>
            <a:rect l="l" t="t" r="r" b="b"/>
            <a:pathLst>
              <a:path w="2970" h="1360">
                <a:moveTo>
                  <a:pt x="0" y="1360"/>
                </a:moveTo>
                <a:lnTo>
                  <a:pt x="74" y="1359"/>
                </a:lnTo>
                <a:lnTo>
                  <a:pt x="148" y="1357"/>
                </a:lnTo>
                <a:lnTo>
                  <a:pt x="223" y="1352"/>
                </a:lnTo>
                <a:lnTo>
                  <a:pt x="297" y="1346"/>
                </a:lnTo>
                <a:lnTo>
                  <a:pt x="371" y="1339"/>
                </a:lnTo>
                <a:lnTo>
                  <a:pt x="446" y="1329"/>
                </a:lnTo>
                <a:lnTo>
                  <a:pt x="520" y="1318"/>
                </a:lnTo>
                <a:lnTo>
                  <a:pt x="594" y="1306"/>
                </a:lnTo>
                <a:lnTo>
                  <a:pt x="668" y="1291"/>
                </a:lnTo>
                <a:lnTo>
                  <a:pt x="742" y="1275"/>
                </a:lnTo>
                <a:lnTo>
                  <a:pt x="817" y="1257"/>
                </a:lnTo>
                <a:lnTo>
                  <a:pt x="891" y="1238"/>
                </a:lnTo>
                <a:lnTo>
                  <a:pt x="965" y="1216"/>
                </a:lnTo>
                <a:lnTo>
                  <a:pt x="1040" y="1193"/>
                </a:lnTo>
                <a:lnTo>
                  <a:pt x="1114" y="1169"/>
                </a:lnTo>
                <a:lnTo>
                  <a:pt x="1188" y="1142"/>
                </a:lnTo>
                <a:lnTo>
                  <a:pt x="1262" y="1114"/>
                </a:lnTo>
                <a:lnTo>
                  <a:pt x="1336" y="1085"/>
                </a:lnTo>
                <a:lnTo>
                  <a:pt x="1411" y="1053"/>
                </a:lnTo>
                <a:lnTo>
                  <a:pt x="1485" y="1020"/>
                </a:lnTo>
                <a:lnTo>
                  <a:pt x="1559" y="985"/>
                </a:lnTo>
                <a:lnTo>
                  <a:pt x="1634" y="949"/>
                </a:lnTo>
                <a:lnTo>
                  <a:pt x="1708" y="910"/>
                </a:lnTo>
                <a:lnTo>
                  <a:pt x="1782" y="870"/>
                </a:lnTo>
                <a:lnTo>
                  <a:pt x="1856" y="829"/>
                </a:lnTo>
                <a:lnTo>
                  <a:pt x="1930" y="785"/>
                </a:lnTo>
                <a:lnTo>
                  <a:pt x="2005" y="740"/>
                </a:lnTo>
                <a:lnTo>
                  <a:pt x="2079" y="694"/>
                </a:lnTo>
                <a:lnTo>
                  <a:pt x="2153" y="645"/>
                </a:lnTo>
                <a:lnTo>
                  <a:pt x="2228" y="595"/>
                </a:lnTo>
                <a:lnTo>
                  <a:pt x="2302" y="543"/>
                </a:lnTo>
                <a:lnTo>
                  <a:pt x="2376" y="490"/>
                </a:lnTo>
                <a:lnTo>
                  <a:pt x="2450" y="434"/>
                </a:lnTo>
                <a:lnTo>
                  <a:pt x="2524" y="377"/>
                </a:lnTo>
                <a:lnTo>
                  <a:pt x="2599" y="319"/>
                </a:lnTo>
                <a:lnTo>
                  <a:pt x="2673" y="258"/>
                </a:lnTo>
                <a:lnTo>
                  <a:pt x="2747" y="196"/>
                </a:lnTo>
                <a:lnTo>
                  <a:pt x="2822" y="133"/>
                </a:lnTo>
                <a:lnTo>
                  <a:pt x="2896" y="67"/>
                </a:lnTo>
                <a:lnTo>
                  <a:pt x="297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actual_clock_L32_gamma1.5"/>
          <p:cNvSpPr/>
          <p:nvPr/>
        </p:nvSpPr>
        <p:spPr>
          <a:xfrm>
            <a:off x="9134856" y="1856232"/>
            <a:ext cx="2715768" cy="1243584"/>
          </a:xfrm>
          <a:custGeom>
            <a:avLst/>
            <a:gdLst/>
            <a:ahLst/>
            <a:cxnLst/>
            <a:rect l="l" t="t" r="r" b="b"/>
            <a:pathLst>
              <a:path w="2970" h="1360">
                <a:moveTo>
                  <a:pt x="0" y="1360"/>
                </a:moveTo>
                <a:lnTo>
                  <a:pt x="74" y="1355"/>
                </a:lnTo>
                <a:lnTo>
                  <a:pt x="148" y="1345"/>
                </a:lnTo>
                <a:lnTo>
                  <a:pt x="223" y="1332"/>
                </a:lnTo>
                <a:lnTo>
                  <a:pt x="297" y="1317"/>
                </a:lnTo>
                <a:lnTo>
                  <a:pt x="371" y="1300"/>
                </a:lnTo>
                <a:lnTo>
                  <a:pt x="446" y="1281"/>
                </a:lnTo>
                <a:lnTo>
                  <a:pt x="520" y="1260"/>
                </a:lnTo>
                <a:lnTo>
                  <a:pt x="594" y="1238"/>
                </a:lnTo>
                <a:lnTo>
                  <a:pt x="668" y="1215"/>
                </a:lnTo>
                <a:lnTo>
                  <a:pt x="742" y="1190"/>
                </a:lnTo>
                <a:lnTo>
                  <a:pt x="817" y="1164"/>
                </a:lnTo>
                <a:lnTo>
                  <a:pt x="891" y="1137"/>
                </a:lnTo>
                <a:lnTo>
                  <a:pt x="965" y="1108"/>
                </a:lnTo>
                <a:lnTo>
                  <a:pt x="1040" y="1078"/>
                </a:lnTo>
                <a:lnTo>
                  <a:pt x="1114" y="1048"/>
                </a:lnTo>
                <a:lnTo>
                  <a:pt x="1188" y="1016"/>
                </a:lnTo>
                <a:lnTo>
                  <a:pt x="1262" y="983"/>
                </a:lnTo>
                <a:lnTo>
                  <a:pt x="1336" y="949"/>
                </a:lnTo>
                <a:lnTo>
                  <a:pt x="1411" y="915"/>
                </a:lnTo>
                <a:lnTo>
                  <a:pt x="1485" y="879"/>
                </a:lnTo>
                <a:lnTo>
                  <a:pt x="1559" y="843"/>
                </a:lnTo>
                <a:lnTo>
                  <a:pt x="1634" y="805"/>
                </a:lnTo>
                <a:lnTo>
                  <a:pt x="1708" y="767"/>
                </a:lnTo>
                <a:lnTo>
                  <a:pt x="1782" y="728"/>
                </a:lnTo>
                <a:lnTo>
                  <a:pt x="1856" y="688"/>
                </a:lnTo>
                <a:lnTo>
                  <a:pt x="1930" y="647"/>
                </a:lnTo>
                <a:lnTo>
                  <a:pt x="2005" y="606"/>
                </a:lnTo>
                <a:lnTo>
                  <a:pt x="2079" y="563"/>
                </a:lnTo>
                <a:lnTo>
                  <a:pt x="2153" y="520"/>
                </a:lnTo>
                <a:lnTo>
                  <a:pt x="2228" y="477"/>
                </a:lnTo>
                <a:lnTo>
                  <a:pt x="2302" y="432"/>
                </a:lnTo>
                <a:lnTo>
                  <a:pt x="2376" y="387"/>
                </a:lnTo>
                <a:lnTo>
                  <a:pt x="2450" y="341"/>
                </a:lnTo>
                <a:lnTo>
                  <a:pt x="2524" y="294"/>
                </a:lnTo>
                <a:lnTo>
                  <a:pt x="2599" y="247"/>
                </a:lnTo>
                <a:lnTo>
                  <a:pt x="2673" y="199"/>
                </a:lnTo>
                <a:lnTo>
                  <a:pt x="2747" y="150"/>
                </a:lnTo>
                <a:lnTo>
                  <a:pt x="2822" y="101"/>
                </a:lnTo>
                <a:lnTo>
                  <a:pt x="2896" y="51"/>
                </a:lnTo>
                <a:lnTo>
                  <a:pt x="297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_0211"/>
          <p:cNvSpPr txBox="1"/>
          <p:nvPr/>
        </p:nvSpPr>
        <p:spPr>
          <a:xfrm>
            <a:off x="8869680" y="2990087"/>
            <a:ext cx="210312" cy="219456"/>
          </a:xfrm>
          <a:prstGeom prst="rect">
            <a:avLst/>
          </a:prstGeom>
          <a:noFill/>
        </p:spPr>
        <p:txBody>
          <a:bodyPr wrap="none" lIns="0" tIns="0" rIns="0" bIns="0" anchor="ctr">
            <a:spAutoFit/>
          </a:bodyPr>
          <a:lstStyle/>
          <a:p>
            <a:pPr algn="ctr">
              <a:lnSpc>
                <a:spcPts val="1243"/>
              </a:lnSpc>
              <a:spcBef>
                <a:spcPts val="0"/>
              </a:spcBef>
              <a:spcAft>
                <a:spcPts val="0"/>
              </a:spcAft>
            </a:pPr>
            <a:r>
              <a:rPr sz="1100" b="0">
                <a:solidFill>
                  <a:srgbClr val="63758A"/>
                </a:solidFill>
                <a:latin typeface="DejaVu Sans"/>
              </a:rPr>
              <a:t>0</a:t>
            </a:r>
          </a:p>
        </p:txBody>
      </p:sp>
      <p:sp>
        <p:nvSpPr>
          <p:cNvPr id="214" name="text_0212"/>
          <p:cNvSpPr txBox="1"/>
          <p:nvPr/>
        </p:nvSpPr>
        <p:spPr>
          <a:xfrm>
            <a:off x="8869680" y="1746503"/>
            <a:ext cx="210312" cy="219456"/>
          </a:xfrm>
          <a:prstGeom prst="rect">
            <a:avLst/>
          </a:prstGeom>
          <a:noFill/>
        </p:spPr>
        <p:txBody>
          <a:bodyPr wrap="none" lIns="0" tIns="0" r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215" name="text_0213"/>
          <p:cNvSpPr txBox="1"/>
          <p:nvPr/>
        </p:nvSpPr>
        <p:spPr>
          <a:xfrm>
            <a:off x="11759184" y="3136391"/>
            <a:ext cx="201168" cy="219456"/>
          </a:xfrm>
          <a:prstGeom prst="rect">
            <a:avLst/>
          </a:prstGeom>
          <a:noFill/>
        </p:spPr>
        <p:txBody>
          <a:bodyPr wrap="none" lIns="0" tIns="0" r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216" name="text_0214"/>
          <p:cNvSpPr txBox="1"/>
          <p:nvPr/>
        </p:nvSpPr>
        <p:spPr>
          <a:xfrm>
            <a:off x="8458200" y="2176272"/>
            <a:ext cx="484632" cy="530352"/>
          </a:xfrm>
          <a:prstGeom prst="rect">
            <a:avLst/>
          </a:prstGeom>
          <a:noFill/>
        </p:spPr>
        <p:txBody>
          <a:bodyPr wrap="none" lIns="0" tIns="0" rIns="0" bIns="0" anchor="ctr">
            <a:spAutoFit/>
          </a:bodyPr>
          <a:lstStyle/>
          <a:p>
            <a:pPr algn="ctr">
              <a:lnSpc>
                <a:spcPts val="1355"/>
              </a:lnSpc>
              <a:spcBef>
                <a:spcPts val="0"/>
              </a:spcBef>
              <a:spcAft>
                <a:spcPts val="0"/>
              </a:spcAft>
            </a:pPr>
            <a:r>
              <a:rPr sz="1200" b="0">
                <a:solidFill>
                  <a:srgbClr val="63758A"/>
                </a:solidFill>
                <a:latin typeface="DejaVu Sans"/>
              </a:rPr>
              <a:t>local</a:t>
            </a:r>
          </a:p>
          <a:p>
            <a:pPr algn="ctr">
              <a:lnSpc>
                <a:spcPts val="1355"/>
              </a:lnSpc>
              <a:spcBef>
                <a:spcPts val="0"/>
              </a:spcBef>
              <a:spcAft>
                <a:spcPts val="0"/>
              </a:spcAft>
            </a:pPr>
            <a:r>
              <a:rPr sz="1200" b="0">
                <a:solidFill>
                  <a:srgbClr val="63758A"/>
                </a:solidFill>
                <a:latin typeface="DejaVu Sans"/>
              </a:rPr>
              <a:t>time</a:t>
            </a:r>
          </a:p>
          <a:p>
            <a:pPr algn="ctr">
              <a:lnSpc>
                <a:spcPts val="1355"/>
              </a:lnSpc>
              <a:spcBef>
                <a:spcPts val="0"/>
              </a:spcBef>
              <a:spcAft>
                <a:spcPts val="0"/>
              </a:spcAft>
            </a:pPr>
            <a:r>
              <a:rPr sz="1200" b="0">
                <a:solidFill>
                  <a:srgbClr val="63758A"/>
                </a:solidFill>
                <a:latin typeface="DejaVu Sans"/>
              </a:rPr>
              <a:t>tℓ</a:t>
            </a:r>
          </a:p>
        </p:txBody>
      </p:sp>
      <p:sp>
        <p:nvSpPr>
          <p:cNvPr id="217" name="text_0215"/>
          <p:cNvSpPr txBox="1"/>
          <p:nvPr/>
        </p:nvSpPr>
        <p:spPr>
          <a:xfrm>
            <a:off x="9738360" y="3163824"/>
            <a:ext cx="1554480" cy="246888"/>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global time τ</a:t>
            </a:r>
          </a:p>
        </p:txBody>
      </p:sp>
      <p:sp>
        <p:nvSpPr>
          <p:cNvPr id="218" name="path_0216"/>
          <p:cNvSpPr/>
          <p:nvPr/>
        </p:nvSpPr>
        <p:spPr>
          <a:xfrm>
            <a:off x="8659368" y="3575304"/>
            <a:ext cx="210312" cy="0"/>
          </a:xfrm>
          <a:custGeom>
            <a:avLst/>
            <a:gdLst/>
            <a:ahLst/>
            <a:cxnLst/>
            <a:rect l="l" t="t" r="r" b="b"/>
            <a:pathLst>
              <a:path w="230">
                <a:moveTo>
                  <a:pt x="0" y="0"/>
                </a:moveTo>
                <a:lnTo>
                  <a:pt x="23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_0217"/>
          <p:cNvSpPr txBox="1"/>
          <p:nvPr/>
        </p:nvSpPr>
        <p:spPr>
          <a:xfrm>
            <a:off x="8897112" y="3456432"/>
            <a:ext cx="905256" cy="246888"/>
          </a:xfrm>
          <a:prstGeom prst="rect">
            <a:avLst/>
          </a:prstGeom>
          <a:noFill/>
        </p:spPr>
        <p:txBody>
          <a:bodyPr wrap="none" lIns="0" tIns="0" rIns="0" bIns="0" anchor="ctr">
            <a:spAutoFit/>
          </a:bodyPr>
          <a:lstStyle/>
          <a:p>
            <a:pPr algn="ctr">
              <a:lnSpc>
                <a:spcPts val="1355"/>
              </a:lnSpc>
              <a:spcBef>
                <a:spcPts val="0"/>
              </a:spcBef>
              <a:spcAft>
                <a:spcPts val="0"/>
              </a:spcAft>
            </a:pPr>
            <a:r>
              <a:rPr sz="1200" b="1">
                <a:solidFill>
                  <a:srgbClr val="367AB5"/>
                </a:solidFill>
                <a:latin typeface="DejaVu Sans"/>
              </a:rPr>
              <a:t>γ₁₆=2.5</a:t>
            </a:r>
          </a:p>
        </p:txBody>
      </p:sp>
      <p:sp>
        <p:nvSpPr>
          <p:cNvPr id="220" name="path_0218"/>
          <p:cNvSpPr/>
          <p:nvPr/>
        </p:nvSpPr>
        <p:spPr>
          <a:xfrm>
            <a:off x="9939528" y="3575304"/>
            <a:ext cx="210312" cy="0"/>
          </a:xfrm>
          <a:custGeom>
            <a:avLst/>
            <a:gdLst/>
            <a:ahLst/>
            <a:cxnLst/>
            <a:rect l="l" t="t" r="r" b="b"/>
            <a:pathLst>
              <a:path w="230">
                <a:moveTo>
                  <a:pt x="0" y="0"/>
                </a:moveTo>
                <a:lnTo>
                  <a:pt x="23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text_0219"/>
          <p:cNvSpPr txBox="1"/>
          <p:nvPr/>
        </p:nvSpPr>
        <p:spPr>
          <a:xfrm>
            <a:off x="10177272" y="3456432"/>
            <a:ext cx="905256" cy="246888"/>
          </a:xfrm>
          <a:prstGeom prst="rect">
            <a:avLst/>
          </a:prstGeom>
          <a:noFill/>
        </p:spPr>
        <p:txBody>
          <a:bodyPr wrap="none" lIns="0" tIns="0" rIns="0" bIns="0" anchor="ctr">
            <a:spAutoFit/>
          </a:bodyPr>
          <a:lstStyle/>
          <a:p>
            <a:pPr algn="ctr">
              <a:lnSpc>
                <a:spcPts val="1355"/>
              </a:lnSpc>
              <a:spcBef>
                <a:spcPts val="0"/>
              </a:spcBef>
              <a:spcAft>
                <a:spcPts val="0"/>
              </a:spcAft>
            </a:pPr>
            <a:r>
              <a:rPr sz="1200" b="1">
                <a:solidFill>
                  <a:srgbClr val="C88A35"/>
                </a:solidFill>
                <a:latin typeface="DejaVu Sans"/>
              </a:rPr>
              <a:t>γ₂₄=2</a:t>
            </a:r>
          </a:p>
        </p:txBody>
      </p:sp>
      <p:sp>
        <p:nvSpPr>
          <p:cNvPr id="222" name="path_0220"/>
          <p:cNvSpPr/>
          <p:nvPr/>
        </p:nvSpPr>
        <p:spPr>
          <a:xfrm>
            <a:off x="11100816" y="3575304"/>
            <a:ext cx="210312" cy="0"/>
          </a:xfrm>
          <a:custGeom>
            <a:avLst/>
            <a:gdLst/>
            <a:ahLst/>
            <a:cxnLst/>
            <a:rect l="l" t="t" r="r" b="b"/>
            <a:pathLst>
              <a:path w="230">
                <a:moveTo>
                  <a:pt x="0" y="0"/>
                </a:moveTo>
                <a:lnTo>
                  <a:pt x="23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_0221"/>
          <p:cNvSpPr txBox="1"/>
          <p:nvPr/>
        </p:nvSpPr>
        <p:spPr>
          <a:xfrm>
            <a:off x="11338560" y="3456432"/>
            <a:ext cx="905256" cy="246888"/>
          </a:xfrm>
          <a:prstGeom prst="rect">
            <a:avLst/>
          </a:prstGeom>
          <a:noFill/>
        </p:spPr>
        <p:txBody>
          <a:bodyPr wrap="none" lIns="0" tIns="0" rIns="0" bIns="0" anchor="ctr">
            <a:spAutoFit/>
          </a:bodyPr>
          <a:lstStyle/>
          <a:p>
            <a:pPr algn="ctr">
              <a:lnSpc>
                <a:spcPts val="1355"/>
              </a:lnSpc>
              <a:spcBef>
                <a:spcPts val="0"/>
              </a:spcBef>
              <a:spcAft>
                <a:spcPts val="0"/>
              </a:spcAft>
            </a:pPr>
            <a:r>
              <a:rPr sz="1200" b="1">
                <a:solidFill>
                  <a:srgbClr val="2C917F"/>
                </a:solidFill>
                <a:latin typeface="DejaVu Sans"/>
              </a:rPr>
              <a:t>γ₃₂=1.5</a:t>
            </a:r>
          </a:p>
        </p:txBody>
      </p:sp>
      <p:sp>
        <p:nvSpPr>
          <p:cNvPr id="224" name="text_0222"/>
          <p:cNvSpPr txBox="1"/>
          <p:nvPr/>
        </p:nvSpPr>
        <p:spPr>
          <a:xfrm>
            <a:off x="9006840" y="3813048"/>
            <a:ext cx="667512"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Noise</a:t>
            </a:r>
          </a:p>
        </p:txBody>
      </p:sp>
      <p:sp>
        <p:nvSpPr>
          <p:cNvPr id="740" name="path_0738"/>
          <p:cNvSpPr/>
          <p:nvPr/>
        </p:nvSpPr>
        <p:spPr>
          <a:xfrm>
            <a:off x="9697212" y="4754880"/>
            <a:ext cx="109728" cy="0"/>
          </a:xfrm>
          <a:custGeom>
            <a:avLst/>
            <a:gdLst/>
            <a:ahLst/>
            <a:cxnLst/>
            <a:rect l="l" t="t" r="r" b="b"/>
            <a:pathLst>
              <a:path w="12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text_0739"/>
          <p:cNvSpPr txBox="1"/>
          <p:nvPr/>
        </p:nvSpPr>
        <p:spPr>
          <a:xfrm>
            <a:off x="9820656" y="3813048"/>
            <a:ext cx="667512"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Early</a:t>
            </a:r>
          </a:p>
        </p:txBody>
      </p:sp>
      <p:sp>
        <p:nvSpPr>
          <p:cNvPr id="990" name="path_0988"/>
          <p:cNvSpPr/>
          <p:nvPr/>
        </p:nvSpPr>
        <p:spPr>
          <a:xfrm>
            <a:off x="10511028" y="4754880"/>
            <a:ext cx="109728" cy="0"/>
          </a:xfrm>
          <a:custGeom>
            <a:avLst/>
            <a:gdLst/>
            <a:ahLst/>
            <a:cxnLst/>
            <a:rect l="l" t="t" r="r" b="b"/>
            <a:pathLst>
              <a:path w="12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text_0989"/>
          <p:cNvSpPr txBox="1"/>
          <p:nvPr/>
        </p:nvSpPr>
        <p:spPr>
          <a:xfrm>
            <a:off x="10634472" y="3813048"/>
            <a:ext cx="667512"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Late</a:t>
            </a:r>
          </a:p>
        </p:txBody>
      </p:sp>
      <p:sp>
        <p:nvSpPr>
          <p:cNvPr id="1102" name="path_1100"/>
          <p:cNvSpPr/>
          <p:nvPr/>
        </p:nvSpPr>
        <p:spPr>
          <a:xfrm>
            <a:off x="11324844" y="4754880"/>
            <a:ext cx="109728" cy="0"/>
          </a:xfrm>
          <a:custGeom>
            <a:avLst/>
            <a:gdLst/>
            <a:ahLst/>
            <a:cxnLst/>
            <a:rect l="l" t="t" r="r" b="b"/>
            <a:pathLst>
              <a:path w="12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3" name="text_1101"/>
          <p:cNvSpPr txBox="1"/>
          <p:nvPr/>
        </p:nvSpPr>
        <p:spPr>
          <a:xfrm>
            <a:off x="11448288" y="3813048"/>
            <a:ext cx="667512"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Clean</a:t>
            </a:r>
          </a:p>
        </p:txBody>
      </p:sp>
      <p:sp>
        <p:nvSpPr>
          <p:cNvPr id="1116" name="text_1114"/>
          <p:cNvSpPr txBox="1"/>
          <p:nvPr/>
        </p:nvSpPr>
        <p:spPr>
          <a:xfrm>
            <a:off x="8449056" y="4302252"/>
            <a:ext cx="438912" cy="256032"/>
          </a:xfrm>
          <a:prstGeom prst="rect">
            <a:avLst/>
          </a:prstGeom>
          <a:noFill/>
        </p:spPr>
        <p:txBody>
          <a:bodyPr wrap="none" lIns="0" tIns="0" rIns="0" bIns="0" anchor="ctr">
            <a:spAutoFit/>
          </a:bodyPr>
          <a:lstStyle/>
          <a:p>
            <a:pPr algn="ctr">
              <a:lnSpc>
                <a:spcPts val="1581"/>
              </a:lnSpc>
              <a:spcBef>
                <a:spcPts val="0"/>
              </a:spcBef>
              <a:spcAft>
                <a:spcPts val="0"/>
              </a:spcAft>
            </a:pPr>
            <a:r>
              <a:rPr sz="1400" b="1">
                <a:solidFill>
                  <a:srgbClr val="2C917F"/>
                </a:solidFill>
                <a:latin typeface="DejaVu Sans"/>
              </a:rPr>
              <a:t>32</a:t>
            </a:r>
          </a:p>
        </p:txBody>
      </p:sp>
      <p:sp>
        <p:nvSpPr>
          <p:cNvPr id="1117" name="text_1115"/>
          <p:cNvSpPr txBox="1"/>
          <p:nvPr/>
        </p:nvSpPr>
        <p:spPr>
          <a:xfrm>
            <a:off x="8449056" y="4789170"/>
            <a:ext cx="438912" cy="256032"/>
          </a:xfrm>
          <a:prstGeom prst="rect">
            <a:avLst/>
          </a:prstGeom>
          <a:noFill/>
        </p:spPr>
        <p:txBody>
          <a:bodyPr wrap="none" lIns="0" tIns="0" rIns="0" bIns="0" anchor="ctr">
            <a:spAutoFit/>
          </a:bodyPr>
          <a:lstStyle/>
          <a:p>
            <a:pPr algn="ctr">
              <a:lnSpc>
                <a:spcPts val="1581"/>
              </a:lnSpc>
              <a:spcBef>
                <a:spcPts val="0"/>
              </a:spcBef>
              <a:spcAft>
                <a:spcPts val="0"/>
              </a:spcAft>
            </a:pPr>
            <a:r>
              <a:rPr sz="1400" b="1">
                <a:solidFill>
                  <a:srgbClr val="C88A35"/>
                </a:solidFill>
                <a:latin typeface="DejaVu Sans"/>
              </a:rPr>
              <a:t>24</a:t>
            </a:r>
          </a:p>
        </p:txBody>
      </p:sp>
      <p:sp>
        <p:nvSpPr>
          <p:cNvPr id="1118" name="text_1116"/>
          <p:cNvSpPr txBox="1"/>
          <p:nvPr/>
        </p:nvSpPr>
        <p:spPr>
          <a:xfrm>
            <a:off x="8449056" y="5113782"/>
            <a:ext cx="438912" cy="256032"/>
          </a:xfrm>
          <a:prstGeom prst="rect">
            <a:avLst/>
          </a:prstGeom>
          <a:noFill/>
        </p:spPr>
        <p:txBody>
          <a:bodyPr wrap="none" lIns="0" tIns="0" rIns="0" bIns="0" anchor="ctr">
            <a:spAutoFit/>
          </a:bodyPr>
          <a:lstStyle/>
          <a:p>
            <a:pPr algn="ctr">
              <a:lnSpc>
                <a:spcPts val="1581"/>
              </a:lnSpc>
              <a:spcBef>
                <a:spcPts val="0"/>
              </a:spcBef>
              <a:spcAft>
                <a:spcPts val="0"/>
              </a:spcAft>
            </a:pPr>
            <a:r>
              <a:rPr sz="1400" b="1">
                <a:solidFill>
                  <a:srgbClr val="367AB5"/>
                </a:solidFill>
                <a:latin typeface="DejaVu Sans"/>
              </a:rPr>
              <a:t>16</a:t>
            </a:r>
          </a:p>
        </p:txBody>
      </p:sp>
      <p:sp>
        <p:nvSpPr>
          <p:cNvPr id="1119" name="text_1117"/>
          <p:cNvSpPr txBox="1"/>
          <p:nvPr/>
        </p:nvSpPr>
        <p:spPr>
          <a:xfrm>
            <a:off x="8577072" y="5504688"/>
            <a:ext cx="3621024" cy="228600"/>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63758A"/>
                </a:solidFill>
                <a:latin typeface="DejaVu Sans"/>
              </a:rPr>
              <a:t>One outlined strip = one token</a:t>
            </a:r>
          </a:p>
        </p:txBody>
      </p:sp>
      <p:sp>
        <p:nvSpPr>
          <p:cNvPr id="1122" name="path_1120"/>
          <p:cNvSpPr/>
          <p:nvPr/>
        </p:nvSpPr>
        <p:spPr>
          <a:xfrm>
            <a:off x="12216384" y="1229868"/>
            <a:ext cx="228600" cy="4896612"/>
          </a:xfrm>
          <a:custGeom>
            <a:avLst/>
            <a:gdLst/>
            <a:ahLst/>
            <a:cxnLst/>
            <a:rect l="l" t="t" r="r" b="b"/>
            <a:pathLst>
              <a:path w="250" h="5355">
                <a:moveTo>
                  <a:pt x="40" y="0"/>
                </a:moveTo>
                <a:lnTo>
                  <a:pt x="250" y="0"/>
                </a:lnTo>
                <a:lnTo>
                  <a:pt x="250" y="5355"/>
                </a:lnTo>
                <a:lnTo>
                  <a:pt x="0" y="5355"/>
                </a:lnTo>
              </a:path>
            </a:pathLst>
          </a:custGeom>
          <a:noFill/>
          <a:ln w="12700">
            <a:solidFill>
              <a:srgbClr val="7965A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3" name="path_1121"/>
          <p:cNvSpPr/>
          <p:nvPr/>
        </p:nvSpPr>
        <p:spPr>
          <a:xfrm>
            <a:off x="10387584" y="6364224"/>
            <a:ext cx="0" cy="192024"/>
          </a:xfrm>
          <a:custGeom>
            <a:avLst/>
            <a:gdLst/>
            <a:ahLst/>
            <a:cxnLst/>
            <a:rect l="l" t="t" r="r" b="b"/>
            <a:pathLst>
              <a:path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6" name="text_1124"/>
          <p:cNvSpPr txBox="1"/>
          <p:nvPr/>
        </p:nvSpPr>
        <p:spPr>
          <a:xfrm>
            <a:off x="8577072" y="7068312"/>
            <a:ext cx="3621024" cy="201168"/>
          </a:xfrm>
          <a:prstGeom prst="rect">
            <a:avLst/>
          </a:prstGeom>
          <a:noFill/>
        </p:spPr>
        <p:txBody>
          <a:bodyPr wrap="none" lIns="0" tIns="0" rIns="0" bIns="0" anchor="ctr">
            <a:spAutoFit/>
          </a:bodyPr>
          <a:lstStyle/>
          <a:p>
            <a:pPr algn="ctr">
              <a:lnSpc>
                <a:spcPts val="1243"/>
              </a:lnSpc>
              <a:spcBef>
                <a:spcPts val="0"/>
              </a:spcBef>
              <a:spcAft>
                <a:spcPts val="0"/>
              </a:spcAft>
            </a:pPr>
            <a:r>
              <a:rPr sz="1100" b="0">
                <a:solidFill>
                  <a:srgbClr val="63758A"/>
                </a:solidFill>
                <a:latin typeface="DejaVu Sans"/>
              </a:rPr>
              <a:t>Noise contrast exaggerated for illustration</a:t>
            </a:r>
          </a:p>
        </p:txBody>
      </p:sp>
      <p:grpSp>
        <p:nvGrpSpPr>
          <p:cNvPr id="1143" name="stage_2_heading"/>
          <p:cNvGrpSpPr/>
          <p:nvPr/>
        </p:nvGrpSpPr>
        <p:grpSpPr>
          <a:xfrm>
            <a:off x="5212080" y="210312"/>
            <a:ext cx="2898648" cy="539496"/>
            <a:chOff x="5212080" y="210312"/>
            <a:chExt cx="2898648" cy="539496"/>
          </a:xfrm>
        </p:grpSpPr>
        <p:sp>
          <p:nvSpPr>
            <p:cNvPr id="149" name="rect_0147"/>
            <p:cNvSpPr/>
            <p:nvPr/>
          </p:nvSpPr>
          <p:spPr>
            <a:xfrm>
              <a:off x="5212080" y="210312"/>
              <a:ext cx="2898648"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_0148"/>
            <p:cNvSpPr txBox="1"/>
            <p:nvPr/>
          </p:nvSpPr>
          <p:spPr>
            <a:xfrm>
              <a:off x="5330952" y="237744"/>
              <a:ext cx="274320" cy="457200"/>
            </a:xfrm>
            <a:prstGeom prst="rect">
              <a:avLst/>
            </a:prstGeom>
            <a:noFill/>
          </p:spPr>
          <p:txBody>
            <a:bodyPr wrap="none" lIns="0" tIns="0" r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151" name="text_0149"/>
            <p:cNvSpPr txBox="1"/>
            <p:nvPr/>
          </p:nvSpPr>
          <p:spPr>
            <a:xfrm>
              <a:off x="5660136" y="237744"/>
              <a:ext cx="2377440" cy="457200"/>
            </a:xfrm>
            <a:prstGeom prst="rect">
              <a:avLst/>
            </a:prstGeom>
            <a:noFill/>
          </p:spPr>
          <p:txBody>
            <a:bodyPr wrap="none" lIns="0" tIns="0" rIns="0" bIns="0" anchor="ctr">
              <a:spAutoFit/>
            </a:bodyPr>
            <a:lstStyle/>
            <a:p>
              <a:pPr algn="l">
                <a:lnSpc>
                  <a:spcPts val="2033"/>
                </a:lnSpc>
                <a:spcBef>
                  <a:spcPts val="0"/>
                </a:spcBef>
                <a:spcAft>
                  <a:spcPts val="0"/>
                </a:spcAft>
              </a:pPr>
              <a:r>
                <a:rPr sz="1800" b="1">
                  <a:solidFill>
                    <a:srgbClr val="233344"/>
                  </a:solidFill>
                  <a:latin typeface="DejaVu Sans"/>
                </a:rPr>
                <a:t>Flow training</a:t>
              </a:r>
            </a:p>
          </p:txBody>
        </p:sp>
      </p:grpSp>
      <p:grpSp>
        <p:nvGrpSpPr>
          <p:cNvPr id="1144" name="module_rect_0150"/>
          <p:cNvGrpSpPr/>
          <p:nvPr/>
        </p:nvGrpSpPr>
        <p:grpSpPr>
          <a:xfrm>
            <a:off x="5330952" y="1033271"/>
            <a:ext cx="1207008" cy="393192"/>
            <a:chOff x="5330952" y="1033271"/>
            <a:chExt cx="1207008" cy="393192"/>
          </a:xfrm>
        </p:grpSpPr>
        <p:sp>
          <p:nvSpPr>
            <p:cNvPr id="152" name="rect_0150"/>
            <p:cNvSpPr/>
            <p:nvPr/>
          </p:nvSpPr>
          <p:spPr>
            <a:xfrm>
              <a:off x="5330952" y="1033271"/>
              <a:ext cx="1207008" cy="393192"/>
            </a:xfrm>
            <a:prstGeom prst="roundRect">
              <a:avLst>
                <a:gd name="adj" fmla="val 1200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_0151"/>
            <p:cNvSpPr txBox="1"/>
            <p:nvPr/>
          </p:nvSpPr>
          <p:spPr>
            <a:xfrm>
              <a:off x="5376672" y="1042415"/>
              <a:ext cx="1115568" cy="374904"/>
            </a:xfrm>
            <a:prstGeom prst="rect">
              <a:avLst/>
            </a:prstGeom>
            <a:noFill/>
          </p:spPr>
          <p:txBody>
            <a:bodyPr wrap="none" lIns="0" tIns="0" rIns="0" bIns="0" anchor="ctr">
              <a:spAutoFit/>
            </a:bodyPr>
            <a:lstStyle/>
            <a:p>
              <a:pPr algn="ctr">
                <a:lnSpc>
                  <a:spcPts val="1695"/>
                </a:lnSpc>
                <a:spcBef>
                  <a:spcPts val="0"/>
                </a:spcBef>
                <a:spcAft>
                  <a:spcPts val="0"/>
                </a:spcAft>
              </a:pPr>
              <a:r>
                <a:rPr sz="1500" b="0">
                  <a:solidFill>
                    <a:srgbClr val="7965AA"/>
                  </a:solidFill>
                  <a:latin typeface="DejaVu Sans"/>
                </a:rPr>
                <a:t>Question</a:t>
              </a:r>
            </a:p>
          </p:txBody>
        </p:sp>
      </p:grpSp>
      <p:grpSp>
        <p:nvGrpSpPr>
          <p:cNvPr id="1145" name="module_rect_0152"/>
          <p:cNvGrpSpPr/>
          <p:nvPr/>
        </p:nvGrpSpPr>
        <p:grpSpPr>
          <a:xfrm>
            <a:off x="6784848" y="1033271"/>
            <a:ext cx="1197864" cy="393192"/>
            <a:chOff x="6784848" y="1033271"/>
            <a:chExt cx="1197864" cy="393192"/>
          </a:xfrm>
        </p:grpSpPr>
        <p:sp>
          <p:nvSpPr>
            <p:cNvPr id="154" name="rect_0152"/>
            <p:cNvSpPr/>
            <p:nvPr/>
          </p:nvSpPr>
          <p:spPr>
            <a:xfrm>
              <a:off x="6784848" y="1033271"/>
              <a:ext cx="1197864" cy="393192"/>
            </a:xfrm>
            <a:prstGeom prst="roundRect">
              <a:avLst>
                <a:gd name="adj" fmla="val 1200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_0153"/>
            <p:cNvSpPr txBox="1"/>
            <p:nvPr/>
          </p:nvSpPr>
          <p:spPr>
            <a:xfrm>
              <a:off x="6830568" y="1042415"/>
              <a:ext cx="1106424" cy="374904"/>
            </a:xfrm>
            <a:prstGeom prst="rect">
              <a:avLst/>
            </a:prstGeom>
            <a:noFill/>
          </p:spPr>
          <p:txBody>
            <a:bodyPr wrap="none" lIns="0" tIns="0" rIns="0" bIns="0" anchor="ctr">
              <a:spAutoFit/>
            </a:bodyPr>
            <a:lstStyle/>
            <a:p>
              <a:pPr algn="ctr">
                <a:lnSpc>
                  <a:spcPts val="1468"/>
                </a:lnSpc>
                <a:spcBef>
                  <a:spcPts val="0"/>
                </a:spcBef>
                <a:spcAft>
                  <a:spcPts val="0"/>
                </a:spcAft>
              </a:pPr>
              <a:r>
                <a:rPr sz="1300" b="0">
                  <a:solidFill>
                    <a:srgbClr val="B86565"/>
                  </a:solidFill>
                  <a:latin typeface="DejaVu Sans"/>
                </a:rPr>
                <a:t>Gold latent x</a:t>
              </a:r>
            </a:p>
          </p:txBody>
        </p:sp>
      </p:grpSp>
      <p:grpSp>
        <p:nvGrpSpPr>
          <p:cNvPr id="1146" name="module_prompt_encoder_v2"/>
          <p:cNvGrpSpPr/>
          <p:nvPr/>
        </p:nvGrpSpPr>
        <p:grpSpPr>
          <a:xfrm>
            <a:off x="5330952" y="1920240"/>
            <a:ext cx="1261872" cy="630936"/>
            <a:chOff x="5330952" y="1920240"/>
            <a:chExt cx="1261872" cy="630936"/>
          </a:xfrm>
        </p:grpSpPr>
        <p:sp>
          <p:nvSpPr>
            <p:cNvPr id="157" name="prompt_encoder_v2"/>
            <p:cNvSpPr/>
            <p:nvPr/>
          </p:nvSpPr>
          <p:spPr>
            <a:xfrm>
              <a:off x="5330952" y="1920240"/>
              <a:ext cx="1261872" cy="630936"/>
            </a:xfrm>
            <a:prstGeom prst="roundRect">
              <a:avLst>
                <a:gd name="adj" fmla="val 10144"/>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prompt_encoder_v2_label"/>
            <p:cNvSpPr txBox="1"/>
            <p:nvPr/>
          </p:nvSpPr>
          <p:spPr>
            <a:xfrm>
              <a:off x="5376672" y="1929384"/>
              <a:ext cx="1170431" cy="612647"/>
            </a:xfrm>
            <a:prstGeom prst="rect">
              <a:avLst/>
            </a:prstGeom>
            <a:noFill/>
          </p:spPr>
          <p:txBody>
            <a:bodyPr wrap="none" lIns="0" tIns="0" rIns="0" bIns="0" anchor="ctr">
              <a:spAutoFit/>
            </a:bodyPr>
            <a:lstStyle/>
            <a:p>
              <a:pPr algn="ctr">
                <a:lnSpc>
                  <a:spcPts val="1920"/>
                </a:lnSpc>
                <a:spcBef>
                  <a:spcPts val="0"/>
                </a:spcBef>
                <a:spcAft>
                  <a:spcPts val="0"/>
                </a:spcAft>
              </a:pPr>
              <a:r>
                <a:rPr sz="1700" b="0">
                  <a:solidFill>
                    <a:srgbClr val="233344"/>
                  </a:solidFill>
                  <a:latin typeface="DejaVu Sans"/>
                </a:rPr>
                <a:t>Prompt</a:t>
              </a:r>
            </a:p>
            <a:p>
              <a:pPr algn="ctr">
                <a:lnSpc>
                  <a:spcPts val="1920"/>
                </a:lnSpc>
                <a:spcBef>
                  <a:spcPts val="0"/>
                </a:spcBef>
                <a:spcAft>
                  <a:spcPts val="0"/>
                </a:spcAft>
              </a:pPr>
              <a:r>
                <a:rPr sz="1700" b="0">
                  <a:solidFill>
                    <a:srgbClr val="233344"/>
                  </a:solidFill>
                  <a:latin typeface="DejaVu Sans"/>
                </a:rPr>
                <a:t>encoder</a:t>
              </a:r>
            </a:p>
          </p:txBody>
        </p:sp>
      </p:grpSp>
      <p:grpSp>
        <p:nvGrpSpPr>
          <p:cNvPr id="1147" name="prompt_encoder_trained"/>
          <p:cNvGrpSpPr/>
          <p:nvPr/>
        </p:nvGrpSpPr>
        <p:grpSpPr>
          <a:xfrm>
            <a:off x="6368796" y="1696212"/>
            <a:ext cx="185623" cy="222199"/>
            <a:chOff x="6368796" y="1696212"/>
            <a:chExt cx="185623" cy="222199"/>
          </a:xfrm>
        </p:grpSpPr>
        <p:sp>
          <p:nvSpPr>
            <p:cNvPr id="159" name="path_0157"/>
            <p:cNvSpPr/>
            <p:nvPr/>
          </p:nvSpPr>
          <p:spPr>
            <a:xfrm>
              <a:off x="6368796" y="1696212"/>
              <a:ext cx="185623" cy="222199"/>
            </a:xfrm>
            <a:custGeom>
              <a:avLst/>
              <a:gdLst/>
              <a:ahLst/>
              <a:cxnLst/>
              <a:rect l="l" t="t" r="r" b="b"/>
              <a:pathLst>
                <a:path w="203" h="243">
                  <a:moveTo>
                    <a:pt x="105" y="0"/>
                  </a:moveTo>
                  <a:lnTo>
                    <a:pt x="130" y="43"/>
                  </a:lnTo>
                  <a:lnTo>
                    <a:pt x="127" y="80"/>
                  </a:lnTo>
                  <a:lnTo>
                    <a:pt x="165" y="60"/>
                  </a:lnTo>
                  <a:lnTo>
                    <a:pt x="190" y="103"/>
                  </a:lnTo>
                  <a:lnTo>
                    <a:pt x="203" y="147"/>
                  </a:lnTo>
                  <a:lnTo>
                    <a:pt x="195" y="193"/>
                  </a:lnTo>
                  <a:lnTo>
                    <a:pt x="167" y="227"/>
                  </a:lnTo>
                  <a:lnTo>
                    <a:pt x="118" y="243"/>
                  </a:lnTo>
                  <a:lnTo>
                    <a:pt x="63" y="235"/>
                  </a:lnTo>
                  <a:lnTo>
                    <a:pt x="20" y="210"/>
                  </a:lnTo>
                  <a:lnTo>
                    <a:pt x="0" y="165"/>
                  </a:lnTo>
                  <a:lnTo>
                    <a:pt x="10" y="115"/>
                  </a:lnTo>
                  <a:lnTo>
                    <a:pt x="43" y="75"/>
                  </a:lnTo>
                  <a:lnTo>
                    <a:pt x="37" y="128"/>
                  </a:lnTo>
                  <a:lnTo>
                    <a:pt x="73" y="93"/>
                  </a:lnTo>
                  <a:lnTo>
                    <a:pt x="87" y="53"/>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path_0158"/>
            <p:cNvSpPr/>
            <p:nvPr/>
          </p:nvSpPr>
          <p:spPr>
            <a:xfrm>
              <a:off x="6423660" y="1794967"/>
              <a:ext cx="85039" cy="114300"/>
            </a:xfrm>
            <a:custGeom>
              <a:avLst/>
              <a:gdLst/>
              <a:ahLst/>
              <a:cxnLst/>
              <a:rect l="l" t="t" r="r" b="b"/>
              <a:pathLst>
                <a:path w="93" h="125">
                  <a:moveTo>
                    <a:pt x="50" y="0"/>
                  </a:moveTo>
                  <a:lnTo>
                    <a:pt x="85" y="42"/>
                  </a:lnTo>
                  <a:lnTo>
                    <a:pt x="93" y="82"/>
                  </a:lnTo>
                  <a:lnTo>
                    <a:pt x="77" y="112"/>
                  </a:lnTo>
                  <a:lnTo>
                    <a:pt x="45" y="125"/>
                  </a:lnTo>
                  <a:lnTo>
                    <a:pt x="10" y="107"/>
                  </a:lnTo>
                  <a:lnTo>
                    <a:pt x="0" y="72"/>
                  </a:lnTo>
                  <a:lnTo>
                    <a:pt x="15" y="37"/>
                  </a:lnTo>
                  <a:lnTo>
                    <a:pt x="25" y="77"/>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48" name="module_answer_corruption"/>
          <p:cNvGrpSpPr/>
          <p:nvPr/>
        </p:nvGrpSpPr>
        <p:grpSpPr>
          <a:xfrm>
            <a:off x="6784848" y="1920240"/>
            <a:ext cx="1197864" cy="630936"/>
            <a:chOff x="6784848" y="1920240"/>
            <a:chExt cx="1197864" cy="630936"/>
          </a:xfrm>
        </p:grpSpPr>
        <p:sp>
          <p:nvSpPr>
            <p:cNvPr id="162" name="answer_corruption"/>
            <p:cNvSpPr/>
            <p:nvPr/>
          </p:nvSpPr>
          <p:spPr>
            <a:xfrm>
              <a:off x="6784848" y="1920240"/>
              <a:ext cx="1197864" cy="630936"/>
            </a:xfrm>
            <a:prstGeom prst="roundRect">
              <a:avLst>
                <a:gd name="adj" fmla="val 1014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answer_corruption_label"/>
            <p:cNvSpPr txBox="1"/>
            <p:nvPr/>
          </p:nvSpPr>
          <p:spPr>
            <a:xfrm>
              <a:off x="6830568" y="1929384"/>
              <a:ext cx="1106424" cy="612647"/>
            </a:xfrm>
            <a:prstGeom prst="rect">
              <a:avLst/>
            </a:prstGeom>
            <a:noFill/>
          </p:spPr>
          <p:txBody>
            <a:bodyPr wrap="none" lIns="0" tIns="0" rIns="0" bIns="0" anchor="ctr">
              <a:spAutoFit/>
            </a:bodyPr>
            <a:lstStyle/>
            <a:p>
              <a:pPr algn="ctr">
                <a:lnSpc>
                  <a:spcPts val="1807"/>
                </a:lnSpc>
                <a:spcBef>
                  <a:spcPts val="0"/>
                </a:spcBef>
                <a:spcAft>
                  <a:spcPts val="0"/>
                </a:spcAft>
              </a:pPr>
              <a:r>
                <a:rPr sz="1600" b="0">
                  <a:solidFill>
                    <a:srgbClr val="233344"/>
                  </a:solidFill>
                  <a:latin typeface="DejaVu Sans"/>
                </a:rPr>
                <a:t>Add noise</a:t>
              </a:r>
            </a:p>
          </p:txBody>
        </p:sp>
      </p:grpSp>
      <p:grpSp>
        <p:nvGrpSpPr>
          <p:cNvPr id="1149" name="module_clean_prompt_v2"/>
          <p:cNvGrpSpPr/>
          <p:nvPr/>
        </p:nvGrpSpPr>
        <p:grpSpPr>
          <a:xfrm>
            <a:off x="5349240" y="3127248"/>
            <a:ext cx="1234440" cy="411480"/>
            <a:chOff x="5349240" y="3127248"/>
            <a:chExt cx="1234440" cy="411480"/>
          </a:xfrm>
        </p:grpSpPr>
        <p:sp>
          <p:nvSpPr>
            <p:cNvPr id="166" name="clean_prompt_v2"/>
            <p:cNvSpPr/>
            <p:nvPr/>
          </p:nvSpPr>
          <p:spPr>
            <a:xfrm>
              <a:off x="5349240" y="3127248"/>
              <a:ext cx="1234440" cy="411480"/>
            </a:xfrm>
            <a:prstGeom prst="roundRect">
              <a:avLst>
                <a:gd name="adj" fmla="val 12000"/>
              </a:avLst>
            </a:prstGeom>
            <a:solidFill>
              <a:srgbClr val="EFEDF5"/>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clean_prompt_v2_label"/>
            <p:cNvSpPr txBox="1"/>
            <p:nvPr/>
          </p:nvSpPr>
          <p:spPr>
            <a:xfrm>
              <a:off x="5394959" y="3136391"/>
              <a:ext cx="1143000" cy="393192"/>
            </a:xfrm>
            <a:prstGeom prst="rect">
              <a:avLst/>
            </a:prstGeom>
            <a:noFill/>
          </p:spPr>
          <p:txBody>
            <a:bodyPr wrap="none" lIns="0" tIns="0" rIns="0" bIns="0" anchor="ctr">
              <a:spAutoFit/>
            </a:bodyPr>
            <a:lstStyle/>
            <a:p>
              <a:pPr algn="ctr">
                <a:lnSpc>
                  <a:spcPts val="1920"/>
                </a:lnSpc>
                <a:spcBef>
                  <a:spcPts val="0"/>
                </a:spcBef>
                <a:spcAft>
                  <a:spcPts val="0"/>
                </a:spcAft>
              </a:pPr>
              <a:r>
                <a:rPr sz="1700" b="0">
                  <a:solidFill>
                    <a:srgbClr val="7965AA"/>
                  </a:solidFill>
                  <a:latin typeface="DejaVu Sans"/>
                </a:rPr>
                <a:t>Clean c</a:t>
              </a:r>
            </a:p>
          </p:txBody>
        </p:sp>
      </p:grpSp>
      <p:grpSp>
        <p:nvGrpSpPr>
          <p:cNvPr id="1150" name="module_noisy_answer_label_only"/>
          <p:cNvGrpSpPr/>
          <p:nvPr/>
        </p:nvGrpSpPr>
        <p:grpSpPr>
          <a:xfrm>
            <a:off x="6784848" y="3127248"/>
            <a:ext cx="1197864" cy="411480"/>
            <a:chOff x="6784848" y="3127248"/>
            <a:chExt cx="1197864" cy="411480"/>
          </a:xfrm>
        </p:grpSpPr>
        <p:sp>
          <p:nvSpPr>
            <p:cNvPr id="168" name="noisy_answer_label_only"/>
            <p:cNvSpPr/>
            <p:nvPr/>
          </p:nvSpPr>
          <p:spPr>
            <a:xfrm>
              <a:off x="6784848" y="3127248"/>
              <a:ext cx="1197864" cy="411480"/>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noisy_answer_label_only_label"/>
            <p:cNvSpPr txBox="1"/>
            <p:nvPr/>
          </p:nvSpPr>
          <p:spPr>
            <a:xfrm>
              <a:off x="6830568" y="3136391"/>
              <a:ext cx="1106424" cy="393192"/>
            </a:xfrm>
            <a:prstGeom prst="rect">
              <a:avLst/>
            </a:prstGeom>
            <a:noFill/>
          </p:spPr>
          <p:txBody>
            <a:bodyPr wrap="none" lIns="0" tIns="0" rIns="0" bIns="0" anchor="ctr">
              <a:spAutoFit/>
            </a:bodyPr>
            <a:lstStyle/>
            <a:p>
              <a:pPr algn="ctr">
                <a:lnSpc>
                  <a:spcPts val="1920"/>
                </a:lnSpc>
                <a:spcBef>
                  <a:spcPts val="0"/>
                </a:spcBef>
                <a:spcAft>
                  <a:spcPts val="0"/>
                </a:spcAft>
              </a:pPr>
              <a:r>
                <a:rPr sz="1700" b="0">
                  <a:solidFill>
                    <a:srgbClr val="233344"/>
                  </a:solidFill>
                  <a:latin typeface="DejaVu Sans"/>
                </a:rPr>
                <a:t>Noisy zt</a:t>
              </a:r>
            </a:p>
          </p:txBody>
        </p:sp>
      </p:grpSp>
      <p:grpSp>
        <p:nvGrpSpPr>
          <p:cNvPr id="1151" name="shared_ELF_trained"/>
          <p:cNvGrpSpPr/>
          <p:nvPr/>
        </p:nvGrpSpPr>
        <p:grpSpPr>
          <a:xfrm>
            <a:off x="7712050" y="3680460"/>
            <a:ext cx="177394" cy="213055"/>
            <a:chOff x="7712050" y="3680460"/>
            <a:chExt cx="177394" cy="213055"/>
          </a:xfrm>
        </p:grpSpPr>
        <p:sp>
          <p:nvSpPr>
            <p:cNvPr id="175" name="path_0173"/>
            <p:cNvSpPr/>
            <p:nvPr/>
          </p:nvSpPr>
          <p:spPr>
            <a:xfrm>
              <a:off x="7712050" y="3680460"/>
              <a:ext cx="177394" cy="213055"/>
            </a:xfrm>
            <a:custGeom>
              <a:avLst/>
              <a:gdLst/>
              <a:ahLst/>
              <a:cxnLst/>
              <a:rect l="l" t="t" r="r" b="b"/>
              <a:pathLst>
                <a:path w="194" h="233">
                  <a:moveTo>
                    <a:pt x="101" y="0"/>
                  </a:moveTo>
                  <a:lnTo>
                    <a:pt x="125" y="41"/>
                  </a:lnTo>
                  <a:lnTo>
                    <a:pt x="122" y="77"/>
                  </a:lnTo>
                  <a:lnTo>
                    <a:pt x="158" y="57"/>
                  </a:lnTo>
                  <a:lnTo>
                    <a:pt x="182" y="98"/>
                  </a:lnTo>
                  <a:lnTo>
                    <a:pt x="194" y="141"/>
                  </a:lnTo>
                  <a:lnTo>
                    <a:pt x="187" y="185"/>
                  </a:lnTo>
                  <a:lnTo>
                    <a:pt x="161" y="218"/>
                  </a:lnTo>
                  <a:lnTo>
                    <a:pt x="113" y="233"/>
                  </a:lnTo>
                  <a:lnTo>
                    <a:pt x="60" y="225"/>
                  </a:lnTo>
                  <a:lnTo>
                    <a:pt x="19" y="201"/>
                  </a:lnTo>
                  <a:lnTo>
                    <a:pt x="0" y="158"/>
                  </a:lnTo>
                  <a:lnTo>
                    <a:pt x="10" y="110"/>
                  </a:lnTo>
                  <a:lnTo>
                    <a:pt x="41" y="72"/>
                  </a:lnTo>
                  <a:lnTo>
                    <a:pt x="36" y="122"/>
                  </a:lnTo>
                  <a:lnTo>
                    <a:pt x="70" y="89"/>
                  </a:lnTo>
                  <a:lnTo>
                    <a:pt x="84" y="50"/>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path_0174"/>
            <p:cNvSpPr/>
            <p:nvPr/>
          </p:nvSpPr>
          <p:spPr>
            <a:xfrm>
              <a:off x="7765085" y="3774643"/>
              <a:ext cx="80467" cy="109728"/>
            </a:xfrm>
            <a:custGeom>
              <a:avLst/>
              <a:gdLst/>
              <a:ahLst/>
              <a:cxnLst/>
              <a:rect l="l" t="t" r="r" b="b"/>
              <a:pathLst>
                <a:path w="88" h="120">
                  <a:moveTo>
                    <a:pt x="48" y="0"/>
                  </a:moveTo>
                  <a:lnTo>
                    <a:pt x="81" y="41"/>
                  </a:lnTo>
                  <a:lnTo>
                    <a:pt x="88" y="79"/>
                  </a:lnTo>
                  <a:lnTo>
                    <a:pt x="74" y="108"/>
                  </a:lnTo>
                  <a:lnTo>
                    <a:pt x="43" y="120"/>
                  </a:lnTo>
                  <a:lnTo>
                    <a:pt x="9" y="103"/>
                  </a:lnTo>
                  <a:lnTo>
                    <a:pt x="0" y="70"/>
                  </a:lnTo>
                  <a:lnTo>
                    <a:pt x="14" y="36"/>
                  </a:lnTo>
                  <a:lnTo>
                    <a:pt x="24" y="74"/>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52" name="module_rect_0177"/>
          <p:cNvGrpSpPr/>
          <p:nvPr/>
        </p:nvGrpSpPr>
        <p:grpSpPr>
          <a:xfrm>
            <a:off x="5330952" y="5184648"/>
            <a:ext cx="1207008" cy="438912"/>
            <a:chOff x="5330952" y="5184648"/>
            <a:chExt cx="1207008" cy="438912"/>
          </a:xfrm>
        </p:grpSpPr>
        <p:sp>
          <p:nvSpPr>
            <p:cNvPr id="179" name="rect_0177"/>
            <p:cNvSpPr/>
            <p:nvPr/>
          </p:nvSpPr>
          <p:spPr>
            <a:xfrm>
              <a:off x="5330952" y="5184648"/>
              <a:ext cx="1207008" cy="438912"/>
            </a:xfrm>
            <a:prstGeom prst="roundRect">
              <a:avLst>
                <a:gd name="adj" fmla="val 12000"/>
              </a:avLst>
            </a:prstGeom>
            <a:solidFill>
              <a:srgbClr val="EBF2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_0178"/>
            <p:cNvSpPr txBox="1"/>
            <p:nvPr/>
          </p:nvSpPr>
          <p:spPr>
            <a:xfrm>
              <a:off x="5376672" y="5193792"/>
              <a:ext cx="1115568" cy="420623"/>
            </a:xfrm>
            <a:prstGeom prst="rect">
              <a:avLst/>
            </a:prstGeom>
            <a:noFill/>
          </p:spPr>
          <p:txBody>
            <a:bodyPr wrap="none" lIns="0" tIns="0" rIns="0" bIns="0" anchor="ctr">
              <a:spAutoFit/>
            </a:bodyPr>
            <a:lstStyle/>
            <a:p>
              <a:pPr algn="ctr">
                <a:lnSpc>
                  <a:spcPts val="1695"/>
                </a:lnSpc>
                <a:spcBef>
                  <a:spcPts val="0"/>
                </a:spcBef>
                <a:spcAft>
                  <a:spcPts val="0"/>
                </a:spcAft>
              </a:pPr>
              <a:r>
                <a:rPr sz="1500" b="0">
                  <a:solidFill>
                    <a:srgbClr val="233344"/>
                  </a:solidFill>
                  <a:latin typeface="DejaVu Sans"/>
                </a:rPr>
                <a:t>Flow head</a:t>
              </a:r>
            </a:p>
          </p:txBody>
        </p:sp>
      </p:grpSp>
      <p:grpSp>
        <p:nvGrpSpPr>
          <p:cNvPr id="1153" name="module_rect_0179"/>
          <p:cNvGrpSpPr/>
          <p:nvPr/>
        </p:nvGrpSpPr>
        <p:grpSpPr>
          <a:xfrm>
            <a:off x="6803136" y="5184648"/>
            <a:ext cx="1207008" cy="438912"/>
            <a:chOff x="6803136" y="5184648"/>
            <a:chExt cx="1207008" cy="438912"/>
          </a:xfrm>
        </p:grpSpPr>
        <p:sp>
          <p:nvSpPr>
            <p:cNvPr id="181" name="rect_0179"/>
            <p:cNvSpPr/>
            <p:nvPr/>
          </p:nvSpPr>
          <p:spPr>
            <a:xfrm>
              <a:off x="6803136" y="5184648"/>
              <a:ext cx="1207008" cy="438912"/>
            </a:xfrm>
            <a:prstGeom prst="roundRect">
              <a:avLst>
                <a:gd name="adj" fmla="val 12000"/>
              </a:avLst>
            </a:prstGeom>
            <a:solidFill>
              <a:srgbClr val="EAF4F2"/>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_0180"/>
            <p:cNvSpPr txBox="1"/>
            <p:nvPr/>
          </p:nvSpPr>
          <p:spPr>
            <a:xfrm>
              <a:off x="6848856" y="5193792"/>
              <a:ext cx="1115568" cy="420623"/>
            </a:xfrm>
            <a:prstGeom prst="rect">
              <a:avLst/>
            </a:prstGeom>
            <a:noFill/>
          </p:spPr>
          <p:txBody>
            <a:bodyPr wrap="none" lIns="0" tIns="0" rIns="0" bIns="0" anchor="ctr">
              <a:spAutoFit/>
            </a:bodyPr>
            <a:lstStyle/>
            <a:p>
              <a:pPr algn="ctr">
                <a:lnSpc>
                  <a:spcPts val="1581"/>
                </a:lnSpc>
                <a:spcBef>
                  <a:spcPts val="0"/>
                </a:spcBef>
                <a:spcAft>
                  <a:spcPts val="0"/>
                </a:spcAft>
              </a:pPr>
              <a:r>
                <a:rPr sz="1400" b="0">
                  <a:solidFill>
                    <a:srgbClr val="233344"/>
                  </a:solidFill>
                  <a:latin typeface="DejaVu Sans"/>
                </a:rPr>
                <a:t>Token head</a:t>
              </a:r>
            </a:p>
          </p:txBody>
        </p:sp>
      </p:grpSp>
      <p:grpSp>
        <p:nvGrpSpPr>
          <p:cNvPr id="1154" name="flow_head_trained"/>
          <p:cNvGrpSpPr/>
          <p:nvPr/>
        </p:nvGrpSpPr>
        <p:grpSpPr>
          <a:xfrm>
            <a:off x="6362395" y="5014570"/>
            <a:ext cx="133502" cy="159106"/>
            <a:chOff x="6362395" y="5014570"/>
            <a:chExt cx="133502" cy="159106"/>
          </a:xfrm>
        </p:grpSpPr>
        <p:sp>
          <p:nvSpPr>
            <p:cNvPr id="183" name="path_0181"/>
            <p:cNvSpPr/>
            <p:nvPr/>
          </p:nvSpPr>
          <p:spPr>
            <a:xfrm>
              <a:off x="6362395" y="5014570"/>
              <a:ext cx="133502" cy="159106"/>
            </a:xfrm>
            <a:custGeom>
              <a:avLst/>
              <a:gdLst/>
              <a:ahLst/>
              <a:cxnLst/>
              <a:rect l="l" t="t" r="r" b="b"/>
              <a:pathLst>
                <a:path w="146" h="174">
                  <a:moveTo>
                    <a:pt x="76" y="0"/>
                  </a:moveTo>
                  <a:lnTo>
                    <a:pt x="94" y="30"/>
                  </a:lnTo>
                  <a:lnTo>
                    <a:pt x="92" y="57"/>
                  </a:lnTo>
                  <a:lnTo>
                    <a:pt x="119" y="43"/>
                  </a:lnTo>
                  <a:lnTo>
                    <a:pt x="137" y="73"/>
                  </a:lnTo>
                  <a:lnTo>
                    <a:pt x="146" y="106"/>
                  </a:lnTo>
                  <a:lnTo>
                    <a:pt x="140" y="138"/>
                  </a:lnTo>
                  <a:lnTo>
                    <a:pt x="121" y="163"/>
                  </a:lnTo>
                  <a:lnTo>
                    <a:pt x="85" y="174"/>
                  </a:lnTo>
                  <a:lnTo>
                    <a:pt x="45" y="169"/>
                  </a:lnTo>
                  <a:lnTo>
                    <a:pt x="14" y="151"/>
                  </a:lnTo>
                  <a:lnTo>
                    <a:pt x="0" y="118"/>
                  </a:lnTo>
                  <a:lnTo>
                    <a:pt x="7" y="82"/>
                  </a:lnTo>
                  <a:lnTo>
                    <a:pt x="31" y="54"/>
                  </a:lnTo>
                  <a:lnTo>
                    <a:pt x="27" y="91"/>
                  </a:lnTo>
                  <a:lnTo>
                    <a:pt x="52" y="66"/>
                  </a:lnTo>
                  <a:lnTo>
                    <a:pt x="63" y="3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path_0182"/>
            <p:cNvSpPr/>
            <p:nvPr/>
          </p:nvSpPr>
          <p:spPr>
            <a:xfrm>
              <a:off x="6401714" y="5084978"/>
              <a:ext cx="61265" cy="82296"/>
            </a:xfrm>
            <a:custGeom>
              <a:avLst/>
              <a:gdLst/>
              <a:ahLst/>
              <a:cxnLst/>
              <a:rect l="l" t="t" r="r" b="b"/>
              <a:pathLst>
                <a:path w="67" h="90">
                  <a:moveTo>
                    <a:pt x="36" y="0"/>
                  </a:moveTo>
                  <a:lnTo>
                    <a:pt x="61" y="31"/>
                  </a:lnTo>
                  <a:lnTo>
                    <a:pt x="67" y="59"/>
                  </a:lnTo>
                  <a:lnTo>
                    <a:pt x="56" y="81"/>
                  </a:lnTo>
                  <a:lnTo>
                    <a:pt x="33" y="90"/>
                  </a:lnTo>
                  <a:lnTo>
                    <a:pt x="7" y="77"/>
                  </a:lnTo>
                  <a:lnTo>
                    <a:pt x="0" y="52"/>
                  </a:lnTo>
                  <a:lnTo>
                    <a:pt x="11" y="27"/>
                  </a:lnTo>
                  <a:lnTo>
                    <a:pt x="18" y="56"/>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55" name="token_head_trained"/>
          <p:cNvGrpSpPr/>
          <p:nvPr/>
        </p:nvGrpSpPr>
        <p:grpSpPr>
          <a:xfrm>
            <a:off x="7825435" y="5014570"/>
            <a:ext cx="133502" cy="159106"/>
            <a:chOff x="7825435" y="5014570"/>
            <a:chExt cx="133502" cy="159106"/>
          </a:xfrm>
        </p:grpSpPr>
        <p:sp>
          <p:nvSpPr>
            <p:cNvPr id="185" name="path_0183"/>
            <p:cNvSpPr/>
            <p:nvPr/>
          </p:nvSpPr>
          <p:spPr>
            <a:xfrm>
              <a:off x="7825435" y="5014570"/>
              <a:ext cx="133502" cy="159106"/>
            </a:xfrm>
            <a:custGeom>
              <a:avLst/>
              <a:gdLst/>
              <a:ahLst/>
              <a:cxnLst/>
              <a:rect l="l" t="t" r="r" b="b"/>
              <a:pathLst>
                <a:path w="146" h="174">
                  <a:moveTo>
                    <a:pt x="76" y="0"/>
                  </a:moveTo>
                  <a:lnTo>
                    <a:pt x="94" y="30"/>
                  </a:lnTo>
                  <a:lnTo>
                    <a:pt x="92" y="57"/>
                  </a:lnTo>
                  <a:lnTo>
                    <a:pt x="119" y="43"/>
                  </a:lnTo>
                  <a:lnTo>
                    <a:pt x="137" y="73"/>
                  </a:lnTo>
                  <a:lnTo>
                    <a:pt x="146" y="106"/>
                  </a:lnTo>
                  <a:lnTo>
                    <a:pt x="140" y="138"/>
                  </a:lnTo>
                  <a:lnTo>
                    <a:pt x="121" y="163"/>
                  </a:lnTo>
                  <a:lnTo>
                    <a:pt x="85" y="174"/>
                  </a:lnTo>
                  <a:lnTo>
                    <a:pt x="45" y="169"/>
                  </a:lnTo>
                  <a:lnTo>
                    <a:pt x="14" y="151"/>
                  </a:lnTo>
                  <a:lnTo>
                    <a:pt x="0" y="118"/>
                  </a:lnTo>
                  <a:lnTo>
                    <a:pt x="7" y="82"/>
                  </a:lnTo>
                  <a:lnTo>
                    <a:pt x="31" y="54"/>
                  </a:lnTo>
                  <a:lnTo>
                    <a:pt x="27" y="91"/>
                  </a:lnTo>
                  <a:lnTo>
                    <a:pt x="52" y="66"/>
                  </a:lnTo>
                  <a:lnTo>
                    <a:pt x="63" y="3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path_0184"/>
            <p:cNvSpPr/>
            <p:nvPr/>
          </p:nvSpPr>
          <p:spPr>
            <a:xfrm>
              <a:off x="7864754" y="5084978"/>
              <a:ext cx="61265" cy="82296"/>
            </a:xfrm>
            <a:custGeom>
              <a:avLst/>
              <a:gdLst/>
              <a:ahLst/>
              <a:cxnLst/>
              <a:rect l="l" t="t" r="r" b="b"/>
              <a:pathLst>
                <a:path w="67" h="90">
                  <a:moveTo>
                    <a:pt x="36" y="0"/>
                  </a:moveTo>
                  <a:lnTo>
                    <a:pt x="61" y="31"/>
                  </a:lnTo>
                  <a:lnTo>
                    <a:pt x="67" y="59"/>
                  </a:lnTo>
                  <a:lnTo>
                    <a:pt x="56" y="81"/>
                  </a:lnTo>
                  <a:lnTo>
                    <a:pt x="33" y="90"/>
                  </a:lnTo>
                  <a:lnTo>
                    <a:pt x="7" y="77"/>
                  </a:lnTo>
                  <a:lnTo>
                    <a:pt x="0" y="52"/>
                  </a:lnTo>
                  <a:lnTo>
                    <a:pt x="11" y="27"/>
                  </a:lnTo>
                  <a:lnTo>
                    <a:pt x="18" y="56"/>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56" name="stage_3_heading"/>
          <p:cNvGrpSpPr/>
          <p:nvPr/>
        </p:nvGrpSpPr>
        <p:grpSpPr>
          <a:xfrm>
            <a:off x="8366760" y="210312"/>
            <a:ext cx="4023360" cy="539496"/>
            <a:chOff x="8366760" y="210312"/>
            <a:chExt cx="4023360" cy="539496"/>
          </a:xfrm>
        </p:grpSpPr>
        <p:sp>
          <p:nvSpPr>
            <p:cNvPr id="193" name="rect_0191"/>
            <p:cNvSpPr/>
            <p:nvPr/>
          </p:nvSpPr>
          <p:spPr>
            <a:xfrm>
              <a:off x="8366760" y="210312"/>
              <a:ext cx="4023360"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_0192"/>
            <p:cNvSpPr txBox="1"/>
            <p:nvPr/>
          </p:nvSpPr>
          <p:spPr>
            <a:xfrm>
              <a:off x="8485632" y="237744"/>
              <a:ext cx="274320" cy="457200"/>
            </a:xfrm>
            <a:prstGeom prst="rect">
              <a:avLst/>
            </a:prstGeom>
            <a:noFill/>
          </p:spPr>
          <p:txBody>
            <a:bodyPr wrap="none" lIns="0" tIns="0" r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95" name="text_0193"/>
            <p:cNvSpPr txBox="1"/>
            <p:nvPr/>
          </p:nvSpPr>
          <p:spPr>
            <a:xfrm>
              <a:off x="8814816" y="237744"/>
              <a:ext cx="3502152" cy="457200"/>
            </a:xfrm>
            <a:prstGeom prst="rect">
              <a:avLst/>
            </a:prstGeom>
            <a:noFill/>
          </p:spPr>
          <p:txBody>
            <a:bodyPr wrap="none" lIns="0" tIns="0" rIns="0" bIns="0" anchor="ctr">
              <a:spAutoFit/>
            </a:bodyPr>
            <a:lstStyle/>
            <a:p>
              <a:pPr algn="l">
                <a:lnSpc>
                  <a:spcPts val="2033"/>
                </a:lnSpc>
                <a:spcBef>
                  <a:spcPts val="0"/>
                </a:spcBef>
                <a:spcAft>
                  <a:spcPts val="0"/>
                </a:spcAft>
              </a:pPr>
              <a:r>
                <a:rPr sz="1800" b="1">
                  <a:solidFill>
                    <a:srgbClr val="233344"/>
                  </a:solidFill>
                  <a:latin typeface="DejaVu Sans"/>
                </a:rPr>
                <a:t>Async inference</a:t>
              </a:r>
            </a:p>
          </p:txBody>
        </p:sp>
      </p:grpSp>
      <p:grpSp>
        <p:nvGrpSpPr>
          <p:cNvPr id="1157" name="module_rect_0194"/>
          <p:cNvGrpSpPr/>
          <p:nvPr/>
        </p:nvGrpSpPr>
        <p:grpSpPr>
          <a:xfrm>
            <a:off x="8522208" y="1033271"/>
            <a:ext cx="3712463" cy="393192"/>
            <a:chOff x="8522208" y="1033271"/>
            <a:chExt cx="3712463" cy="393192"/>
          </a:xfrm>
        </p:grpSpPr>
        <p:sp>
          <p:nvSpPr>
            <p:cNvPr id="196" name="rect_0194"/>
            <p:cNvSpPr/>
            <p:nvPr/>
          </p:nvSpPr>
          <p:spPr>
            <a:xfrm>
              <a:off x="8522208" y="1033271"/>
              <a:ext cx="3712463" cy="393192"/>
            </a:xfrm>
            <a:prstGeom prst="roundRect">
              <a:avLst>
                <a:gd name="adj" fmla="val 12000"/>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_0195"/>
            <p:cNvSpPr txBox="1"/>
            <p:nvPr/>
          </p:nvSpPr>
          <p:spPr>
            <a:xfrm>
              <a:off x="8567928" y="1042415"/>
              <a:ext cx="3621023" cy="374904"/>
            </a:xfrm>
            <a:prstGeom prst="rect">
              <a:avLst/>
            </a:prstGeom>
            <a:noFill/>
          </p:spPr>
          <p:txBody>
            <a:bodyPr wrap="none" lIns="0" tIns="0" rIns="0" bIns="0" anchor="ctr">
              <a:spAutoFit/>
            </a:bodyPr>
            <a:lstStyle/>
            <a:p>
              <a:pPr algn="ctr">
                <a:lnSpc>
                  <a:spcPts val="1807"/>
                </a:lnSpc>
                <a:spcBef>
                  <a:spcPts val="0"/>
                </a:spcBef>
                <a:spcAft>
                  <a:spcPts val="0"/>
                </a:spcAft>
              </a:pPr>
              <a:r>
                <a:rPr sz="1600" b="0">
                  <a:solidFill>
                    <a:srgbClr val="233344"/>
                  </a:solidFill>
                  <a:latin typeface="DejaVu Sans"/>
                </a:rPr>
                <a:t>Encode question once → cache c</a:t>
              </a:r>
            </a:p>
          </p:txBody>
        </p:sp>
      </p:grpSp>
      <p:grpSp>
        <p:nvGrpSpPr>
          <p:cNvPr id="1158" name="inference_noise_editable_token_strips"/>
          <p:cNvGrpSpPr/>
          <p:nvPr/>
        </p:nvGrpSpPr>
        <p:grpSpPr>
          <a:xfrm>
            <a:off x="9025128" y="4105656"/>
            <a:ext cx="630934" cy="1298448"/>
            <a:chOff x="9025128" y="4105656"/>
            <a:chExt cx="630934" cy="1298448"/>
          </a:xfrm>
        </p:grpSpPr>
        <p:sp>
          <p:nvSpPr>
            <p:cNvPr id="225" name="inference_noise_token1_L32_solid"/>
            <p:cNvSpPr/>
            <p:nvPr/>
          </p:nvSpPr>
          <p:spPr>
            <a:xfrm>
              <a:off x="9025128"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_0224"/>
            <p:cNvSpPr/>
            <p:nvPr/>
          </p:nvSpPr>
          <p:spPr>
            <a:xfrm>
              <a:off x="9025128"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rect_0225"/>
            <p:cNvSpPr/>
            <p:nvPr/>
          </p:nvSpPr>
          <p:spPr>
            <a:xfrm>
              <a:off x="9056624"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rect_0226"/>
            <p:cNvSpPr/>
            <p:nvPr/>
          </p:nvSpPr>
          <p:spPr>
            <a:xfrm>
              <a:off x="9088120"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rect_0227"/>
            <p:cNvSpPr/>
            <p:nvPr/>
          </p:nvSpPr>
          <p:spPr>
            <a:xfrm>
              <a:off x="9119616" y="410565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rect_0228"/>
            <p:cNvSpPr/>
            <p:nvPr/>
          </p:nvSpPr>
          <p:spPr>
            <a:xfrm>
              <a:off x="9182608"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rect_0229"/>
            <p:cNvSpPr/>
            <p:nvPr/>
          </p:nvSpPr>
          <p:spPr>
            <a:xfrm>
              <a:off x="902512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rect_0230"/>
            <p:cNvSpPr/>
            <p:nvPr/>
          </p:nvSpPr>
          <p:spPr>
            <a:xfrm>
              <a:off x="9056624"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_0231"/>
            <p:cNvSpPr/>
            <p:nvPr/>
          </p:nvSpPr>
          <p:spPr>
            <a:xfrm>
              <a:off x="9088120"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rect_0232"/>
            <p:cNvSpPr/>
            <p:nvPr/>
          </p:nvSpPr>
          <p:spPr>
            <a:xfrm>
              <a:off x="9119616"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rect_0233"/>
            <p:cNvSpPr/>
            <p:nvPr/>
          </p:nvSpPr>
          <p:spPr>
            <a:xfrm>
              <a:off x="9151112"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rect_0234"/>
            <p:cNvSpPr/>
            <p:nvPr/>
          </p:nvSpPr>
          <p:spPr>
            <a:xfrm>
              <a:off x="9182608"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rect_0235"/>
            <p:cNvSpPr/>
            <p:nvPr/>
          </p:nvSpPr>
          <p:spPr>
            <a:xfrm>
              <a:off x="9025128"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rect_0236"/>
            <p:cNvSpPr/>
            <p:nvPr/>
          </p:nvSpPr>
          <p:spPr>
            <a:xfrm>
              <a:off x="9056624"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rect_0237"/>
            <p:cNvSpPr/>
            <p:nvPr/>
          </p:nvSpPr>
          <p:spPr>
            <a:xfrm>
              <a:off x="9088120" y="415975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rect_0238"/>
            <p:cNvSpPr/>
            <p:nvPr/>
          </p:nvSpPr>
          <p:spPr>
            <a:xfrm>
              <a:off x="9151112"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rect_0239"/>
            <p:cNvSpPr/>
            <p:nvPr/>
          </p:nvSpPr>
          <p:spPr>
            <a:xfrm>
              <a:off x="9182608"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_0240"/>
            <p:cNvSpPr/>
            <p:nvPr/>
          </p:nvSpPr>
          <p:spPr>
            <a:xfrm>
              <a:off x="9025128"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rect_0241"/>
            <p:cNvSpPr/>
            <p:nvPr/>
          </p:nvSpPr>
          <p:spPr>
            <a:xfrm>
              <a:off x="9056624" y="418680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rect_0242"/>
            <p:cNvSpPr/>
            <p:nvPr/>
          </p:nvSpPr>
          <p:spPr>
            <a:xfrm>
              <a:off x="9088120"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rect_0243"/>
            <p:cNvSpPr/>
            <p:nvPr/>
          </p:nvSpPr>
          <p:spPr>
            <a:xfrm>
              <a:off x="9119616" y="418680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rect_0244"/>
            <p:cNvSpPr/>
            <p:nvPr/>
          </p:nvSpPr>
          <p:spPr>
            <a:xfrm>
              <a:off x="9182608"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rect_0245"/>
            <p:cNvSpPr/>
            <p:nvPr/>
          </p:nvSpPr>
          <p:spPr>
            <a:xfrm>
              <a:off x="9025128"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ct_0246"/>
            <p:cNvSpPr/>
            <p:nvPr/>
          </p:nvSpPr>
          <p:spPr>
            <a:xfrm>
              <a:off x="9119616" y="421386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_0247"/>
            <p:cNvSpPr/>
            <p:nvPr/>
          </p:nvSpPr>
          <p:spPr>
            <a:xfrm>
              <a:off x="9182608" y="421386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_0248"/>
            <p:cNvSpPr/>
            <p:nvPr/>
          </p:nvSpPr>
          <p:spPr>
            <a:xfrm>
              <a:off x="9025128" y="424091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_0249"/>
            <p:cNvSpPr/>
            <p:nvPr/>
          </p:nvSpPr>
          <p:spPr>
            <a:xfrm>
              <a:off x="9119616" y="4240911"/>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rect_0250"/>
            <p:cNvSpPr/>
            <p:nvPr/>
          </p:nvSpPr>
          <p:spPr>
            <a:xfrm>
              <a:off x="9025128" y="426796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rect_0251"/>
            <p:cNvSpPr/>
            <p:nvPr/>
          </p:nvSpPr>
          <p:spPr>
            <a:xfrm>
              <a:off x="9088120" y="426796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rect_0252"/>
            <p:cNvSpPr/>
            <p:nvPr/>
          </p:nvSpPr>
          <p:spPr>
            <a:xfrm>
              <a:off x="9119616" y="426796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rect_0253"/>
            <p:cNvSpPr/>
            <p:nvPr/>
          </p:nvSpPr>
          <p:spPr>
            <a:xfrm>
              <a:off x="9025128" y="429501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rect_0254"/>
            <p:cNvSpPr/>
            <p:nvPr/>
          </p:nvSpPr>
          <p:spPr>
            <a:xfrm>
              <a:off x="9119616"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rect_0255"/>
            <p:cNvSpPr/>
            <p:nvPr/>
          </p:nvSpPr>
          <p:spPr>
            <a:xfrm>
              <a:off x="9151112" y="429501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rect_0256"/>
            <p:cNvSpPr/>
            <p:nvPr/>
          </p:nvSpPr>
          <p:spPr>
            <a:xfrm>
              <a:off x="9025128"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rect_0257"/>
            <p:cNvSpPr/>
            <p:nvPr/>
          </p:nvSpPr>
          <p:spPr>
            <a:xfrm>
              <a:off x="9056624"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rect_0258"/>
            <p:cNvSpPr/>
            <p:nvPr/>
          </p:nvSpPr>
          <p:spPr>
            <a:xfrm>
              <a:off x="9088120"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rect_0259"/>
            <p:cNvSpPr/>
            <p:nvPr/>
          </p:nvSpPr>
          <p:spPr>
            <a:xfrm>
              <a:off x="9119616" y="432206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_0260"/>
            <p:cNvSpPr/>
            <p:nvPr/>
          </p:nvSpPr>
          <p:spPr>
            <a:xfrm>
              <a:off x="9182608"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_0261"/>
            <p:cNvSpPr/>
            <p:nvPr/>
          </p:nvSpPr>
          <p:spPr>
            <a:xfrm>
              <a:off x="9025128"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_0262"/>
            <p:cNvSpPr/>
            <p:nvPr/>
          </p:nvSpPr>
          <p:spPr>
            <a:xfrm>
              <a:off x="9088120" y="4349115"/>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_0263"/>
            <p:cNvSpPr/>
            <p:nvPr/>
          </p:nvSpPr>
          <p:spPr>
            <a:xfrm>
              <a:off x="9025128"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_0264"/>
            <p:cNvSpPr/>
            <p:nvPr/>
          </p:nvSpPr>
          <p:spPr>
            <a:xfrm>
              <a:off x="9119616"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_0265"/>
            <p:cNvSpPr/>
            <p:nvPr/>
          </p:nvSpPr>
          <p:spPr>
            <a:xfrm>
              <a:off x="9151112" y="437616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_0266"/>
            <p:cNvSpPr/>
            <p:nvPr/>
          </p:nvSpPr>
          <p:spPr>
            <a:xfrm>
              <a:off x="9182608"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_0267"/>
            <p:cNvSpPr/>
            <p:nvPr/>
          </p:nvSpPr>
          <p:spPr>
            <a:xfrm>
              <a:off x="9025128" y="4403217"/>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_0268"/>
            <p:cNvSpPr/>
            <p:nvPr/>
          </p:nvSpPr>
          <p:spPr>
            <a:xfrm>
              <a:off x="9119616"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_0269"/>
            <p:cNvSpPr/>
            <p:nvPr/>
          </p:nvSpPr>
          <p:spPr>
            <a:xfrm>
              <a:off x="9151112" y="440321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_0270"/>
            <p:cNvSpPr/>
            <p:nvPr/>
          </p:nvSpPr>
          <p:spPr>
            <a:xfrm>
              <a:off x="9025128" y="4430268"/>
              <a:ext cx="18897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_0271"/>
            <p:cNvSpPr/>
            <p:nvPr/>
          </p:nvSpPr>
          <p:spPr>
            <a:xfrm>
              <a:off x="9025128" y="4457319"/>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_0272"/>
            <p:cNvSpPr/>
            <p:nvPr/>
          </p:nvSpPr>
          <p:spPr>
            <a:xfrm>
              <a:off x="9151112" y="445731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_0273"/>
            <p:cNvSpPr/>
            <p:nvPr/>
          </p:nvSpPr>
          <p:spPr>
            <a:xfrm>
              <a:off x="9025128" y="448437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_0274"/>
            <p:cNvSpPr/>
            <p:nvPr/>
          </p:nvSpPr>
          <p:spPr>
            <a:xfrm>
              <a:off x="9088120"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_0275"/>
            <p:cNvSpPr/>
            <p:nvPr/>
          </p:nvSpPr>
          <p:spPr>
            <a:xfrm>
              <a:off x="9119616"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rect_0276"/>
            <p:cNvSpPr/>
            <p:nvPr/>
          </p:nvSpPr>
          <p:spPr>
            <a:xfrm>
              <a:off x="9151112"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_0277"/>
            <p:cNvSpPr/>
            <p:nvPr/>
          </p:nvSpPr>
          <p:spPr>
            <a:xfrm>
              <a:off x="9182608"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rect_0278"/>
            <p:cNvSpPr/>
            <p:nvPr/>
          </p:nvSpPr>
          <p:spPr>
            <a:xfrm>
              <a:off x="9025128" y="451142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rect_0279"/>
            <p:cNvSpPr/>
            <p:nvPr/>
          </p:nvSpPr>
          <p:spPr>
            <a:xfrm>
              <a:off x="9088120"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rect_0280"/>
            <p:cNvSpPr/>
            <p:nvPr/>
          </p:nvSpPr>
          <p:spPr>
            <a:xfrm>
              <a:off x="9119616"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rect_0281"/>
            <p:cNvSpPr/>
            <p:nvPr/>
          </p:nvSpPr>
          <p:spPr>
            <a:xfrm>
              <a:off x="9151112"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rect_0282"/>
            <p:cNvSpPr/>
            <p:nvPr/>
          </p:nvSpPr>
          <p:spPr>
            <a:xfrm>
              <a:off x="9182608"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rect_0283"/>
            <p:cNvSpPr/>
            <p:nvPr/>
          </p:nvSpPr>
          <p:spPr>
            <a:xfrm>
              <a:off x="9025128"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rect_0284"/>
            <p:cNvSpPr/>
            <p:nvPr/>
          </p:nvSpPr>
          <p:spPr>
            <a:xfrm>
              <a:off x="9056624"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rect_0285"/>
            <p:cNvSpPr/>
            <p:nvPr/>
          </p:nvSpPr>
          <p:spPr>
            <a:xfrm>
              <a:off x="9088120" y="453847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rect_0286"/>
            <p:cNvSpPr/>
            <p:nvPr/>
          </p:nvSpPr>
          <p:spPr>
            <a:xfrm>
              <a:off x="9151112" y="453847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rect_0287"/>
            <p:cNvSpPr/>
            <p:nvPr/>
          </p:nvSpPr>
          <p:spPr>
            <a:xfrm>
              <a:off x="9025128" y="456552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rect_0288"/>
            <p:cNvSpPr/>
            <p:nvPr/>
          </p:nvSpPr>
          <p:spPr>
            <a:xfrm>
              <a:off x="9119616" y="456552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rect_0289"/>
            <p:cNvSpPr/>
            <p:nvPr/>
          </p:nvSpPr>
          <p:spPr>
            <a:xfrm>
              <a:off x="9182608"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rect_0290"/>
            <p:cNvSpPr/>
            <p:nvPr/>
          </p:nvSpPr>
          <p:spPr>
            <a:xfrm>
              <a:off x="902512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rect_0291"/>
            <p:cNvSpPr/>
            <p:nvPr/>
          </p:nvSpPr>
          <p:spPr>
            <a:xfrm>
              <a:off x="9056624" y="459257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rect_0292"/>
            <p:cNvSpPr/>
            <p:nvPr/>
          </p:nvSpPr>
          <p:spPr>
            <a:xfrm>
              <a:off x="9151112" y="459257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rect_0293"/>
            <p:cNvSpPr/>
            <p:nvPr/>
          </p:nvSpPr>
          <p:spPr>
            <a:xfrm>
              <a:off x="9025128"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rect_0294"/>
            <p:cNvSpPr/>
            <p:nvPr/>
          </p:nvSpPr>
          <p:spPr>
            <a:xfrm>
              <a:off x="90566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rect_0295"/>
            <p:cNvSpPr/>
            <p:nvPr/>
          </p:nvSpPr>
          <p:spPr>
            <a:xfrm>
              <a:off x="9088120"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rect_0296"/>
            <p:cNvSpPr/>
            <p:nvPr/>
          </p:nvSpPr>
          <p:spPr>
            <a:xfrm>
              <a:off x="9119616"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rect_0297"/>
            <p:cNvSpPr/>
            <p:nvPr/>
          </p:nvSpPr>
          <p:spPr>
            <a:xfrm>
              <a:off x="9151112"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ect_0298"/>
            <p:cNvSpPr/>
            <p:nvPr/>
          </p:nvSpPr>
          <p:spPr>
            <a:xfrm>
              <a:off x="918260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rect_0299"/>
            <p:cNvSpPr/>
            <p:nvPr/>
          </p:nvSpPr>
          <p:spPr>
            <a:xfrm>
              <a:off x="9025128"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rect_0300"/>
            <p:cNvSpPr/>
            <p:nvPr/>
          </p:nvSpPr>
          <p:spPr>
            <a:xfrm>
              <a:off x="9056624" y="464667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ect_0301"/>
            <p:cNvSpPr/>
            <p:nvPr/>
          </p:nvSpPr>
          <p:spPr>
            <a:xfrm>
              <a:off x="9151112"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rect_0302"/>
            <p:cNvSpPr/>
            <p:nvPr/>
          </p:nvSpPr>
          <p:spPr>
            <a:xfrm>
              <a:off x="9182608"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rect_0303"/>
            <p:cNvSpPr/>
            <p:nvPr/>
          </p:nvSpPr>
          <p:spPr>
            <a:xfrm>
              <a:off x="9025128"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ect_0304"/>
            <p:cNvSpPr/>
            <p:nvPr/>
          </p:nvSpPr>
          <p:spPr>
            <a:xfrm>
              <a:off x="9056624" y="467372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rect_0305"/>
            <p:cNvSpPr/>
            <p:nvPr/>
          </p:nvSpPr>
          <p:spPr>
            <a:xfrm>
              <a:off x="9182608"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rect_0306"/>
            <p:cNvSpPr/>
            <p:nvPr/>
          </p:nvSpPr>
          <p:spPr>
            <a:xfrm>
              <a:off x="9025128"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ect_0307"/>
            <p:cNvSpPr/>
            <p:nvPr/>
          </p:nvSpPr>
          <p:spPr>
            <a:xfrm>
              <a:off x="9056624" y="4700778"/>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rect_0308"/>
            <p:cNvSpPr/>
            <p:nvPr/>
          </p:nvSpPr>
          <p:spPr>
            <a:xfrm>
              <a:off x="9182608"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rect_0309"/>
            <p:cNvSpPr/>
            <p:nvPr/>
          </p:nvSpPr>
          <p:spPr>
            <a:xfrm>
              <a:off x="902512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ect_0310"/>
            <p:cNvSpPr/>
            <p:nvPr/>
          </p:nvSpPr>
          <p:spPr>
            <a:xfrm>
              <a:off x="9056624" y="472782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rect_0311"/>
            <p:cNvSpPr/>
            <p:nvPr/>
          </p:nvSpPr>
          <p:spPr>
            <a:xfrm>
              <a:off x="9119616"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rect_0312"/>
            <p:cNvSpPr/>
            <p:nvPr/>
          </p:nvSpPr>
          <p:spPr>
            <a:xfrm>
              <a:off x="9151112" y="472782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inference_noise_token1_L24_solid"/>
            <p:cNvSpPr/>
            <p:nvPr/>
          </p:nvSpPr>
          <p:spPr>
            <a:xfrm>
              <a:off x="9025128"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rect_0314"/>
            <p:cNvSpPr/>
            <p:nvPr/>
          </p:nvSpPr>
          <p:spPr>
            <a:xfrm>
              <a:off x="9025128"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rect_0315"/>
            <p:cNvSpPr/>
            <p:nvPr/>
          </p:nvSpPr>
          <p:spPr>
            <a:xfrm>
              <a:off x="9056624" y="4754880"/>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rect_0316"/>
            <p:cNvSpPr/>
            <p:nvPr/>
          </p:nvSpPr>
          <p:spPr>
            <a:xfrm>
              <a:off x="9151112"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rect_0317"/>
            <p:cNvSpPr/>
            <p:nvPr/>
          </p:nvSpPr>
          <p:spPr>
            <a:xfrm>
              <a:off x="9025128" y="478193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rect_0318"/>
            <p:cNvSpPr/>
            <p:nvPr/>
          </p:nvSpPr>
          <p:spPr>
            <a:xfrm>
              <a:off x="9151112" y="478193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rect_0319"/>
            <p:cNvSpPr/>
            <p:nvPr/>
          </p:nvSpPr>
          <p:spPr>
            <a:xfrm>
              <a:off x="9025128"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rect_0320"/>
            <p:cNvSpPr/>
            <p:nvPr/>
          </p:nvSpPr>
          <p:spPr>
            <a:xfrm>
              <a:off x="905662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rect_0321"/>
            <p:cNvSpPr/>
            <p:nvPr/>
          </p:nvSpPr>
          <p:spPr>
            <a:xfrm>
              <a:off x="9088120"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rect_0322"/>
            <p:cNvSpPr/>
            <p:nvPr/>
          </p:nvSpPr>
          <p:spPr>
            <a:xfrm>
              <a:off x="9151112"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rect_0323"/>
            <p:cNvSpPr/>
            <p:nvPr/>
          </p:nvSpPr>
          <p:spPr>
            <a:xfrm>
              <a:off x="9025128"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rect_0324"/>
            <p:cNvSpPr/>
            <p:nvPr/>
          </p:nvSpPr>
          <p:spPr>
            <a:xfrm>
              <a:off x="9088120"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rect_0325"/>
            <p:cNvSpPr/>
            <p:nvPr/>
          </p:nvSpPr>
          <p:spPr>
            <a:xfrm>
              <a:off x="9151112"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rect_0326"/>
            <p:cNvSpPr/>
            <p:nvPr/>
          </p:nvSpPr>
          <p:spPr>
            <a:xfrm>
              <a:off x="9025128"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rect_0327"/>
            <p:cNvSpPr/>
            <p:nvPr/>
          </p:nvSpPr>
          <p:spPr>
            <a:xfrm>
              <a:off x="9056624" y="4863084"/>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rect_0328"/>
            <p:cNvSpPr/>
            <p:nvPr/>
          </p:nvSpPr>
          <p:spPr>
            <a:xfrm>
              <a:off x="9182608"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rect_0329"/>
            <p:cNvSpPr/>
            <p:nvPr/>
          </p:nvSpPr>
          <p:spPr>
            <a:xfrm>
              <a:off x="9025128"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rect_0330"/>
            <p:cNvSpPr/>
            <p:nvPr/>
          </p:nvSpPr>
          <p:spPr>
            <a:xfrm>
              <a:off x="9056624" y="489013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rect_0331"/>
            <p:cNvSpPr/>
            <p:nvPr/>
          </p:nvSpPr>
          <p:spPr>
            <a:xfrm>
              <a:off x="9119616" y="489013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rect_0332"/>
            <p:cNvSpPr/>
            <p:nvPr/>
          </p:nvSpPr>
          <p:spPr>
            <a:xfrm>
              <a:off x="9025128"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rect_0333"/>
            <p:cNvSpPr/>
            <p:nvPr/>
          </p:nvSpPr>
          <p:spPr>
            <a:xfrm>
              <a:off x="9088120" y="491718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rect_0334"/>
            <p:cNvSpPr/>
            <p:nvPr/>
          </p:nvSpPr>
          <p:spPr>
            <a:xfrm>
              <a:off x="9182608"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rect_0335"/>
            <p:cNvSpPr/>
            <p:nvPr/>
          </p:nvSpPr>
          <p:spPr>
            <a:xfrm>
              <a:off x="902512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rect_0336"/>
            <p:cNvSpPr/>
            <p:nvPr/>
          </p:nvSpPr>
          <p:spPr>
            <a:xfrm>
              <a:off x="9056624" y="4944237"/>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rect_0337"/>
            <p:cNvSpPr/>
            <p:nvPr/>
          </p:nvSpPr>
          <p:spPr>
            <a:xfrm>
              <a:off x="9025128"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rect_0338"/>
            <p:cNvSpPr/>
            <p:nvPr/>
          </p:nvSpPr>
          <p:spPr>
            <a:xfrm>
              <a:off x="9056624"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rect_0339"/>
            <p:cNvSpPr/>
            <p:nvPr/>
          </p:nvSpPr>
          <p:spPr>
            <a:xfrm>
              <a:off x="9088120" y="497128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rect_0340"/>
            <p:cNvSpPr/>
            <p:nvPr/>
          </p:nvSpPr>
          <p:spPr>
            <a:xfrm>
              <a:off x="9182608"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rect_0341"/>
            <p:cNvSpPr/>
            <p:nvPr/>
          </p:nvSpPr>
          <p:spPr>
            <a:xfrm>
              <a:off x="902512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rect_0342"/>
            <p:cNvSpPr/>
            <p:nvPr/>
          </p:nvSpPr>
          <p:spPr>
            <a:xfrm>
              <a:off x="9056624"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rect_0343"/>
            <p:cNvSpPr/>
            <p:nvPr/>
          </p:nvSpPr>
          <p:spPr>
            <a:xfrm>
              <a:off x="9088120"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rect_0344"/>
            <p:cNvSpPr/>
            <p:nvPr/>
          </p:nvSpPr>
          <p:spPr>
            <a:xfrm>
              <a:off x="9119616" y="499833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rect_0345"/>
            <p:cNvSpPr/>
            <p:nvPr/>
          </p:nvSpPr>
          <p:spPr>
            <a:xfrm>
              <a:off x="918260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rect_0346"/>
            <p:cNvSpPr/>
            <p:nvPr/>
          </p:nvSpPr>
          <p:spPr>
            <a:xfrm>
              <a:off x="9025128"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rect_0347"/>
            <p:cNvSpPr/>
            <p:nvPr/>
          </p:nvSpPr>
          <p:spPr>
            <a:xfrm>
              <a:off x="9088120"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rect_0348"/>
            <p:cNvSpPr/>
            <p:nvPr/>
          </p:nvSpPr>
          <p:spPr>
            <a:xfrm>
              <a:off x="9119616"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rect_0349"/>
            <p:cNvSpPr/>
            <p:nvPr/>
          </p:nvSpPr>
          <p:spPr>
            <a:xfrm>
              <a:off x="9182608"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rect_0350"/>
            <p:cNvSpPr/>
            <p:nvPr/>
          </p:nvSpPr>
          <p:spPr>
            <a:xfrm>
              <a:off x="9025128"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rect_0351"/>
            <p:cNvSpPr/>
            <p:nvPr/>
          </p:nvSpPr>
          <p:spPr>
            <a:xfrm>
              <a:off x="905662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rect_0352"/>
            <p:cNvSpPr/>
            <p:nvPr/>
          </p:nvSpPr>
          <p:spPr>
            <a:xfrm>
              <a:off x="9088120" y="505244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inference_noise_token1_L16_solid"/>
            <p:cNvSpPr/>
            <p:nvPr/>
          </p:nvSpPr>
          <p:spPr>
            <a:xfrm>
              <a:off x="9025128"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rect_0354"/>
            <p:cNvSpPr/>
            <p:nvPr/>
          </p:nvSpPr>
          <p:spPr>
            <a:xfrm>
              <a:off x="902512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rect_0355"/>
            <p:cNvSpPr/>
            <p:nvPr/>
          </p:nvSpPr>
          <p:spPr>
            <a:xfrm>
              <a:off x="9056624" y="507949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rect_0356"/>
            <p:cNvSpPr/>
            <p:nvPr/>
          </p:nvSpPr>
          <p:spPr>
            <a:xfrm>
              <a:off x="918260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rect_0357"/>
            <p:cNvSpPr/>
            <p:nvPr/>
          </p:nvSpPr>
          <p:spPr>
            <a:xfrm>
              <a:off x="9025128"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rect_0358"/>
            <p:cNvSpPr/>
            <p:nvPr/>
          </p:nvSpPr>
          <p:spPr>
            <a:xfrm>
              <a:off x="9151112"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rect_0359"/>
            <p:cNvSpPr/>
            <p:nvPr/>
          </p:nvSpPr>
          <p:spPr>
            <a:xfrm>
              <a:off x="9025128"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rect_0360"/>
            <p:cNvSpPr/>
            <p:nvPr/>
          </p:nvSpPr>
          <p:spPr>
            <a:xfrm>
              <a:off x="9056624" y="5133594"/>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rect_0361"/>
            <p:cNvSpPr/>
            <p:nvPr/>
          </p:nvSpPr>
          <p:spPr>
            <a:xfrm>
              <a:off x="9182608"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rect_0362"/>
            <p:cNvSpPr/>
            <p:nvPr/>
          </p:nvSpPr>
          <p:spPr>
            <a:xfrm>
              <a:off x="9025128"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rect_0363"/>
            <p:cNvSpPr/>
            <p:nvPr/>
          </p:nvSpPr>
          <p:spPr>
            <a:xfrm>
              <a:off x="9056624"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rect_0364"/>
            <p:cNvSpPr/>
            <p:nvPr/>
          </p:nvSpPr>
          <p:spPr>
            <a:xfrm>
              <a:off x="9119616"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rect_0365"/>
            <p:cNvSpPr/>
            <p:nvPr/>
          </p:nvSpPr>
          <p:spPr>
            <a:xfrm>
              <a:off x="9151112"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rect_0366"/>
            <p:cNvSpPr/>
            <p:nvPr/>
          </p:nvSpPr>
          <p:spPr>
            <a:xfrm>
              <a:off x="9182608"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rect_0367"/>
            <p:cNvSpPr/>
            <p:nvPr/>
          </p:nvSpPr>
          <p:spPr>
            <a:xfrm>
              <a:off x="9025128" y="5187696"/>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rect_0368"/>
            <p:cNvSpPr/>
            <p:nvPr/>
          </p:nvSpPr>
          <p:spPr>
            <a:xfrm>
              <a:off x="9151112"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rect_0369"/>
            <p:cNvSpPr/>
            <p:nvPr/>
          </p:nvSpPr>
          <p:spPr>
            <a:xfrm>
              <a:off x="9182608"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rect_0370"/>
            <p:cNvSpPr/>
            <p:nvPr/>
          </p:nvSpPr>
          <p:spPr>
            <a:xfrm>
              <a:off x="902512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rect_0371"/>
            <p:cNvSpPr/>
            <p:nvPr/>
          </p:nvSpPr>
          <p:spPr>
            <a:xfrm>
              <a:off x="9056624"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rect_0372"/>
            <p:cNvSpPr/>
            <p:nvPr/>
          </p:nvSpPr>
          <p:spPr>
            <a:xfrm>
              <a:off x="9088120"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rect_0373"/>
            <p:cNvSpPr/>
            <p:nvPr/>
          </p:nvSpPr>
          <p:spPr>
            <a:xfrm>
              <a:off x="9119616" y="521474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rect_0374"/>
            <p:cNvSpPr/>
            <p:nvPr/>
          </p:nvSpPr>
          <p:spPr>
            <a:xfrm>
              <a:off x="918260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rect_0375"/>
            <p:cNvSpPr/>
            <p:nvPr/>
          </p:nvSpPr>
          <p:spPr>
            <a:xfrm>
              <a:off x="902512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rect_0376"/>
            <p:cNvSpPr/>
            <p:nvPr/>
          </p:nvSpPr>
          <p:spPr>
            <a:xfrm>
              <a:off x="905662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rect_0377"/>
            <p:cNvSpPr/>
            <p:nvPr/>
          </p:nvSpPr>
          <p:spPr>
            <a:xfrm>
              <a:off x="9088120"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rect_0378"/>
            <p:cNvSpPr/>
            <p:nvPr/>
          </p:nvSpPr>
          <p:spPr>
            <a:xfrm>
              <a:off x="9151112"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rect_0379"/>
            <p:cNvSpPr/>
            <p:nvPr/>
          </p:nvSpPr>
          <p:spPr>
            <a:xfrm>
              <a:off x="918260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rect_0380"/>
            <p:cNvSpPr/>
            <p:nvPr/>
          </p:nvSpPr>
          <p:spPr>
            <a:xfrm>
              <a:off x="9025128"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rect_0381"/>
            <p:cNvSpPr/>
            <p:nvPr/>
          </p:nvSpPr>
          <p:spPr>
            <a:xfrm>
              <a:off x="9056624" y="526884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rect_0382"/>
            <p:cNvSpPr/>
            <p:nvPr/>
          </p:nvSpPr>
          <p:spPr>
            <a:xfrm>
              <a:off x="9119616" y="526884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rect_0383"/>
            <p:cNvSpPr/>
            <p:nvPr/>
          </p:nvSpPr>
          <p:spPr>
            <a:xfrm>
              <a:off x="9025128"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rect_0384"/>
            <p:cNvSpPr/>
            <p:nvPr/>
          </p:nvSpPr>
          <p:spPr>
            <a:xfrm>
              <a:off x="9056624"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rect_0385"/>
            <p:cNvSpPr/>
            <p:nvPr/>
          </p:nvSpPr>
          <p:spPr>
            <a:xfrm>
              <a:off x="9088120" y="529589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rect_0386"/>
            <p:cNvSpPr/>
            <p:nvPr/>
          </p:nvSpPr>
          <p:spPr>
            <a:xfrm>
              <a:off x="9151112"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rect_0387"/>
            <p:cNvSpPr/>
            <p:nvPr/>
          </p:nvSpPr>
          <p:spPr>
            <a:xfrm>
              <a:off x="902512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rect_0388"/>
            <p:cNvSpPr/>
            <p:nvPr/>
          </p:nvSpPr>
          <p:spPr>
            <a:xfrm>
              <a:off x="9056624"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rect_0389"/>
            <p:cNvSpPr/>
            <p:nvPr/>
          </p:nvSpPr>
          <p:spPr>
            <a:xfrm>
              <a:off x="9119616"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rect_0390"/>
            <p:cNvSpPr/>
            <p:nvPr/>
          </p:nvSpPr>
          <p:spPr>
            <a:xfrm>
              <a:off x="9151112"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rect_0391"/>
            <p:cNvSpPr/>
            <p:nvPr/>
          </p:nvSpPr>
          <p:spPr>
            <a:xfrm>
              <a:off x="918260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rect_0392"/>
            <p:cNvSpPr/>
            <p:nvPr/>
          </p:nvSpPr>
          <p:spPr>
            <a:xfrm>
              <a:off x="902512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rect_0393"/>
            <p:cNvSpPr/>
            <p:nvPr/>
          </p:nvSpPr>
          <p:spPr>
            <a:xfrm>
              <a:off x="905662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rect_0394"/>
            <p:cNvSpPr/>
            <p:nvPr/>
          </p:nvSpPr>
          <p:spPr>
            <a:xfrm>
              <a:off x="908812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rect_0395"/>
            <p:cNvSpPr/>
            <p:nvPr/>
          </p:nvSpPr>
          <p:spPr>
            <a:xfrm>
              <a:off x="9119616"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rect_0396"/>
            <p:cNvSpPr/>
            <p:nvPr/>
          </p:nvSpPr>
          <p:spPr>
            <a:xfrm>
              <a:off x="91826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rect_0397"/>
            <p:cNvSpPr/>
            <p:nvPr/>
          </p:nvSpPr>
          <p:spPr>
            <a:xfrm>
              <a:off x="9025128"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rect_0398"/>
            <p:cNvSpPr/>
            <p:nvPr/>
          </p:nvSpPr>
          <p:spPr>
            <a:xfrm>
              <a:off x="9056624"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rect_0399"/>
            <p:cNvSpPr/>
            <p:nvPr/>
          </p:nvSpPr>
          <p:spPr>
            <a:xfrm>
              <a:off x="9119616"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inference_noise_token1_bold_boundary"/>
            <p:cNvSpPr/>
            <p:nvPr/>
          </p:nvSpPr>
          <p:spPr>
            <a:xfrm>
              <a:off x="9025128"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inference_noise_token2_L32_solid"/>
            <p:cNvSpPr/>
            <p:nvPr/>
          </p:nvSpPr>
          <p:spPr>
            <a:xfrm>
              <a:off x="9246108"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rect_0402"/>
            <p:cNvSpPr/>
            <p:nvPr/>
          </p:nvSpPr>
          <p:spPr>
            <a:xfrm>
              <a:off x="9246108"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rect_0403"/>
            <p:cNvSpPr/>
            <p:nvPr/>
          </p:nvSpPr>
          <p:spPr>
            <a:xfrm>
              <a:off x="9277604" y="410565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rect_0404"/>
            <p:cNvSpPr/>
            <p:nvPr/>
          </p:nvSpPr>
          <p:spPr>
            <a:xfrm>
              <a:off x="9340596"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rect_0405"/>
            <p:cNvSpPr/>
            <p:nvPr/>
          </p:nvSpPr>
          <p:spPr>
            <a:xfrm>
              <a:off x="9372092" y="410565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rect_0406"/>
            <p:cNvSpPr/>
            <p:nvPr/>
          </p:nvSpPr>
          <p:spPr>
            <a:xfrm>
              <a:off x="924610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rect_0407"/>
            <p:cNvSpPr/>
            <p:nvPr/>
          </p:nvSpPr>
          <p:spPr>
            <a:xfrm>
              <a:off x="9277604" y="413270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rect_0408"/>
            <p:cNvSpPr/>
            <p:nvPr/>
          </p:nvSpPr>
          <p:spPr>
            <a:xfrm>
              <a:off x="9340596"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rect_0409"/>
            <p:cNvSpPr/>
            <p:nvPr/>
          </p:nvSpPr>
          <p:spPr>
            <a:xfrm>
              <a:off x="9372092"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rect_0410"/>
            <p:cNvSpPr/>
            <p:nvPr/>
          </p:nvSpPr>
          <p:spPr>
            <a:xfrm>
              <a:off x="940358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rect_0411"/>
            <p:cNvSpPr/>
            <p:nvPr/>
          </p:nvSpPr>
          <p:spPr>
            <a:xfrm>
              <a:off x="9246108" y="4159758"/>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rect_0412"/>
            <p:cNvSpPr/>
            <p:nvPr/>
          </p:nvSpPr>
          <p:spPr>
            <a:xfrm>
              <a:off x="9372092" y="415975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rect_0413"/>
            <p:cNvSpPr/>
            <p:nvPr/>
          </p:nvSpPr>
          <p:spPr>
            <a:xfrm>
              <a:off x="9246108" y="418680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rect_0414"/>
            <p:cNvSpPr/>
            <p:nvPr/>
          </p:nvSpPr>
          <p:spPr>
            <a:xfrm>
              <a:off x="9309100" y="418680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rect_0415"/>
            <p:cNvSpPr/>
            <p:nvPr/>
          </p:nvSpPr>
          <p:spPr>
            <a:xfrm>
              <a:off x="9340596" y="418680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rect_0416"/>
            <p:cNvSpPr/>
            <p:nvPr/>
          </p:nvSpPr>
          <p:spPr>
            <a:xfrm>
              <a:off x="9246108"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rect_0417"/>
            <p:cNvSpPr/>
            <p:nvPr/>
          </p:nvSpPr>
          <p:spPr>
            <a:xfrm>
              <a:off x="9277604"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rect_0418"/>
            <p:cNvSpPr/>
            <p:nvPr/>
          </p:nvSpPr>
          <p:spPr>
            <a:xfrm>
              <a:off x="9372092"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rect_0419"/>
            <p:cNvSpPr/>
            <p:nvPr/>
          </p:nvSpPr>
          <p:spPr>
            <a:xfrm>
              <a:off x="9403588" y="421386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rect_0420"/>
            <p:cNvSpPr/>
            <p:nvPr/>
          </p:nvSpPr>
          <p:spPr>
            <a:xfrm>
              <a:off x="9246108" y="4240911"/>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rect_0421"/>
            <p:cNvSpPr/>
            <p:nvPr/>
          </p:nvSpPr>
          <p:spPr>
            <a:xfrm>
              <a:off x="9340596"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rect_0422"/>
            <p:cNvSpPr/>
            <p:nvPr/>
          </p:nvSpPr>
          <p:spPr>
            <a:xfrm>
              <a:off x="9372092" y="424091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rect_0423"/>
            <p:cNvSpPr/>
            <p:nvPr/>
          </p:nvSpPr>
          <p:spPr>
            <a:xfrm>
              <a:off x="9403588"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rect_0424"/>
            <p:cNvSpPr/>
            <p:nvPr/>
          </p:nvSpPr>
          <p:spPr>
            <a:xfrm>
              <a:off x="9246108" y="4267962"/>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rect_0425"/>
            <p:cNvSpPr/>
            <p:nvPr/>
          </p:nvSpPr>
          <p:spPr>
            <a:xfrm>
              <a:off x="9403588" y="426796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rect_0426"/>
            <p:cNvSpPr/>
            <p:nvPr/>
          </p:nvSpPr>
          <p:spPr>
            <a:xfrm>
              <a:off x="9246108" y="429501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rect_0427"/>
            <p:cNvSpPr/>
            <p:nvPr/>
          </p:nvSpPr>
          <p:spPr>
            <a:xfrm>
              <a:off x="9309100" y="429501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rect_0428"/>
            <p:cNvSpPr/>
            <p:nvPr/>
          </p:nvSpPr>
          <p:spPr>
            <a:xfrm>
              <a:off x="9340596" y="429501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rect_0429"/>
            <p:cNvSpPr/>
            <p:nvPr/>
          </p:nvSpPr>
          <p:spPr>
            <a:xfrm>
              <a:off x="9246108" y="4322064"/>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rect_0430"/>
            <p:cNvSpPr/>
            <p:nvPr/>
          </p:nvSpPr>
          <p:spPr>
            <a:xfrm>
              <a:off x="9403588"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rect_0431"/>
            <p:cNvSpPr/>
            <p:nvPr/>
          </p:nvSpPr>
          <p:spPr>
            <a:xfrm>
              <a:off x="9246108" y="434911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rect_0432"/>
            <p:cNvSpPr/>
            <p:nvPr/>
          </p:nvSpPr>
          <p:spPr>
            <a:xfrm>
              <a:off x="9277604" y="434911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rect_0433"/>
            <p:cNvSpPr/>
            <p:nvPr/>
          </p:nvSpPr>
          <p:spPr>
            <a:xfrm>
              <a:off x="9309100" y="434911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rect_0434"/>
            <p:cNvSpPr/>
            <p:nvPr/>
          </p:nvSpPr>
          <p:spPr>
            <a:xfrm>
              <a:off x="9372092"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rect_0435"/>
            <p:cNvSpPr/>
            <p:nvPr/>
          </p:nvSpPr>
          <p:spPr>
            <a:xfrm>
              <a:off x="9246108" y="437616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rect_0436"/>
            <p:cNvSpPr/>
            <p:nvPr/>
          </p:nvSpPr>
          <p:spPr>
            <a:xfrm>
              <a:off x="9277604"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rect_0437"/>
            <p:cNvSpPr/>
            <p:nvPr/>
          </p:nvSpPr>
          <p:spPr>
            <a:xfrm>
              <a:off x="9309100"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rect_0438"/>
            <p:cNvSpPr/>
            <p:nvPr/>
          </p:nvSpPr>
          <p:spPr>
            <a:xfrm>
              <a:off x="9403588"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rect_0439"/>
            <p:cNvSpPr/>
            <p:nvPr/>
          </p:nvSpPr>
          <p:spPr>
            <a:xfrm>
              <a:off x="9246108" y="4403217"/>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rect_0440"/>
            <p:cNvSpPr/>
            <p:nvPr/>
          </p:nvSpPr>
          <p:spPr>
            <a:xfrm>
              <a:off x="9340596" y="440321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rect_0441"/>
            <p:cNvSpPr/>
            <p:nvPr/>
          </p:nvSpPr>
          <p:spPr>
            <a:xfrm>
              <a:off x="9372092"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rect_0442"/>
            <p:cNvSpPr/>
            <p:nvPr/>
          </p:nvSpPr>
          <p:spPr>
            <a:xfrm>
              <a:off x="9403588" y="440321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rect_0443"/>
            <p:cNvSpPr/>
            <p:nvPr/>
          </p:nvSpPr>
          <p:spPr>
            <a:xfrm>
              <a:off x="9246108" y="4430268"/>
              <a:ext cx="18897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rect_0444"/>
            <p:cNvSpPr/>
            <p:nvPr/>
          </p:nvSpPr>
          <p:spPr>
            <a:xfrm>
              <a:off x="9246108"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rect_0445"/>
            <p:cNvSpPr/>
            <p:nvPr/>
          </p:nvSpPr>
          <p:spPr>
            <a:xfrm>
              <a:off x="9309100" y="445731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rect_0446"/>
            <p:cNvSpPr/>
            <p:nvPr/>
          </p:nvSpPr>
          <p:spPr>
            <a:xfrm>
              <a:off x="9372092" y="445731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rect_0447"/>
            <p:cNvSpPr/>
            <p:nvPr/>
          </p:nvSpPr>
          <p:spPr>
            <a:xfrm>
              <a:off x="9403588"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rect_0448"/>
            <p:cNvSpPr/>
            <p:nvPr/>
          </p:nvSpPr>
          <p:spPr>
            <a:xfrm>
              <a:off x="9246108" y="4484370"/>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rect_0449"/>
            <p:cNvSpPr/>
            <p:nvPr/>
          </p:nvSpPr>
          <p:spPr>
            <a:xfrm>
              <a:off x="9340596"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rect_0450"/>
            <p:cNvSpPr/>
            <p:nvPr/>
          </p:nvSpPr>
          <p:spPr>
            <a:xfrm>
              <a:off x="9372092" y="448437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rect_0451"/>
            <p:cNvSpPr/>
            <p:nvPr/>
          </p:nvSpPr>
          <p:spPr>
            <a:xfrm>
              <a:off x="9246108"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rect_0452"/>
            <p:cNvSpPr/>
            <p:nvPr/>
          </p:nvSpPr>
          <p:spPr>
            <a:xfrm>
              <a:off x="9277604" y="4511421"/>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rect_0453"/>
            <p:cNvSpPr/>
            <p:nvPr/>
          </p:nvSpPr>
          <p:spPr>
            <a:xfrm>
              <a:off x="9246108"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rect_0454"/>
            <p:cNvSpPr/>
            <p:nvPr/>
          </p:nvSpPr>
          <p:spPr>
            <a:xfrm>
              <a:off x="9277604"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rect_0455"/>
            <p:cNvSpPr/>
            <p:nvPr/>
          </p:nvSpPr>
          <p:spPr>
            <a:xfrm>
              <a:off x="9309100"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rect_0456"/>
            <p:cNvSpPr/>
            <p:nvPr/>
          </p:nvSpPr>
          <p:spPr>
            <a:xfrm>
              <a:off x="9340596"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rect_0457"/>
            <p:cNvSpPr/>
            <p:nvPr/>
          </p:nvSpPr>
          <p:spPr>
            <a:xfrm>
              <a:off x="9372092"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rect_0458"/>
            <p:cNvSpPr/>
            <p:nvPr/>
          </p:nvSpPr>
          <p:spPr>
            <a:xfrm>
              <a:off x="9403588"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rect_0459"/>
            <p:cNvSpPr/>
            <p:nvPr/>
          </p:nvSpPr>
          <p:spPr>
            <a:xfrm>
              <a:off x="9246108"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rect_0460"/>
            <p:cNvSpPr/>
            <p:nvPr/>
          </p:nvSpPr>
          <p:spPr>
            <a:xfrm>
              <a:off x="9277604" y="456552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rect_0461"/>
            <p:cNvSpPr/>
            <p:nvPr/>
          </p:nvSpPr>
          <p:spPr>
            <a:xfrm>
              <a:off x="9372092"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rect_0462"/>
            <p:cNvSpPr/>
            <p:nvPr/>
          </p:nvSpPr>
          <p:spPr>
            <a:xfrm>
              <a:off x="9403588"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rect_0463"/>
            <p:cNvSpPr/>
            <p:nvPr/>
          </p:nvSpPr>
          <p:spPr>
            <a:xfrm>
              <a:off x="924610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rect_0464"/>
            <p:cNvSpPr/>
            <p:nvPr/>
          </p:nvSpPr>
          <p:spPr>
            <a:xfrm>
              <a:off x="9277604" y="459257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rect_0465"/>
            <p:cNvSpPr/>
            <p:nvPr/>
          </p:nvSpPr>
          <p:spPr>
            <a:xfrm>
              <a:off x="9340596"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rect_0466"/>
            <p:cNvSpPr/>
            <p:nvPr/>
          </p:nvSpPr>
          <p:spPr>
            <a:xfrm>
              <a:off x="9372092" y="459257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rect_0467"/>
            <p:cNvSpPr/>
            <p:nvPr/>
          </p:nvSpPr>
          <p:spPr>
            <a:xfrm>
              <a:off x="940358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rect_0468"/>
            <p:cNvSpPr/>
            <p:nvPr/>
          </p:nvSpPr>
          <p:spPr>
            <a:xfrm>
              <a:off x="924610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rect_0469"/>
            <p:cNvSpPr/>
            <p:nvPr/>
          </p:nvSpPr>
          <p:spPr>
            <a:xfrm>
              <a:off x="9277604"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rect_0470"/>
            <p:cNvSpPr/>
            <p:nvPr/>
          </p:nvSpPr>
          <p:spPr>
            <a:xfrm>
              <a:off x="9309100"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rect_0471"/>
            <p:cNvSpPr/>
            <p:nvPr/>
          </p:nvSpPr>
          <p:spPr>
            <a:xfrm>
              <a:off x="9340596" y="461962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rect_0472"/>
            <p:cNvSpPr/>
            <p:nvPr/>
          </p:nvSpPr>
          <p:spPr>
            <a:xfrm>
              <a:off x="940358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rect_0473"/>
            <p:cNvSpPr/>
            <p:nvPr/>
          </p:nvSpPr>
          <p:spPr>
            <a:xfrm>
              <a:off x="9246108"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rect_0474"/>
            <p:cNvSpPr/>
            <p:nvPr/>
          </p:nvSpPr>
          <p:spPr>
            <a:xfrm>
              <a:off x="9277604"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rect_0475"/>
            <p:cNvSpPr/>
            <p:nvPr/>
          </p:nvSpPr>
          <p:spPr>
            <a:xfrm>
              <a:off x="9309100"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rect_0476"/>
            <p:cNvSpPr/>
            <p:nvPr/>
          </p:nvSpPr>
          <p:spPr>
            <a:xfrm>
              <a:off x="9340596"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rect_0477"/>
            <p:cNvSpPr/>
            <p:nvPr/>
          </p:nvSpPr>
          <p:spPr>
            <a:xfrm>
              <a:off x="9372092"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rect_0478"/>
            <p:cNvSpPr/>
            <p:nvPr/>
          </p:nvSpPr>
          <p:spPr>
            <a:xfrm>
              <a:off x="9403588"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rect_0479"/>
            <p:cNvSpPr/>
            <p:nvPr/>
          </p:nvSpPr>
          <p:spPr>
            <a:xfrm>
              <a:off x="9246108"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rect_0480"/>
            <p:cNvSpPr/>
            <p:nvPr/>
          </p:nvSpPr>
          <p:spPr>
            <a:xfrm>
              <a:off x="9277604"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rect_0481"/>
            <p:cNvSpPr/>
            <p:nvPr/>
          </p:nvSpPr>
          <p:spPr>
            <a:xfrm>
              <a:off x="9309100"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rect_0482"/>
            <p:cNvSpPr/>
            <p:nvPr/>
          </p:nvSpPr>
          <p:spPr>
            <a:xfrm>
              <a:off x="9340596" y="4673727"/>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5" name="rect_0483"/>
            <p:cNvSpPr/>
            <p:nvPr/>
          </p:nvSpPr>
          <p:spPr>
            <a:xfrm>
              <a:off x="9246108" y="470077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rect_0484"/>
            <p:cNvSpPr/>
            <p:nvPr/>
          </p:nvSpPr>
          <p:spPr>
            <a:xfrm>
              <a:off x="9277604" y="4700778"/>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rect_0485"/>
            <p:cNvSpPr/>
            <p:nvPr/>
          </p:nvSpPr>
          <p:spPr>
            <a:xfrm>
              <a:off x="924610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rect_0486"/>
            <p:cNvSpPr/>
            <p:nvPr/>
          </p:nvSpPr>
          <p:spPr>
            <a:xfrm>
              <a:off x="9277604" y="472782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rect_0487"/>
            <p:cNvSpPr/>
            <p:nvPr/>
          </p:nvSpPr>
          <p:spPr>
            <a:xfrm>
              <a:off x="940358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inference_noise_token2_L24_solid"/>
            <p:cNvSpPr/>
            <p:nvPr/>
          </p:nvSpPr>
          <p:spPr>
            <a:xfrm>
              <a:off x="9246108"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rect_0489"/>
            <p:cNvSpPr/>
            <p:nvPr/>
          </p:nvSpPr>
          <p:spPr>
            <a:xfrm>
              <a:off x="9246108" y="4754880"/>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rect_0490"/>
            <p:cNvSpPr/>
            <p:nvPr/>
          </p:nvSpPr>
          <p:spPr>
            <a:xfrm>
              <a:off x="9372092"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rect_0491"/>
            <p:cNvSpPr/>
            <p:nvPr/>
          </p:nvSpPr>
          <p:spPr>
            <a:xfrm>
              <a:off x="9403588"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rect_0492"/>
            <p:cNvSpPr/>
            <p:nvPr/>
          </p:nvSpPr>
          <p:spPr>
            <a:xfrm>
              <a:off x="9246108"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5" name="rect_0493"/>
            <p:cNvSpPr/>
            <p:nvPr/>
          </p:nvSpPr>
          <p:spPr>
            <a:xfrm>
              <a:off x="9277604" y="478193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rect_0494"/>
            <p:cNvSpPr/>
            <p:nvPr/>
          </p:nvSpPr>
          <p:spPr>
            <a:xfrm>
              <a:off x="9403588"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rect_0495"/>
            <p:cNvSpPr/>
            <p:nvPr/>
          </p:nvSpPr>
          <p:spPr>
            <a:xfrm>
              <a:off x="9246108"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rect_0496"/>
            <p:cNvSpPr/>
            <p:nvPr/>
          </p:nvSpPr>
          <p:spPr>
            <a:xfrm>
              <a:off x="9309100"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rect_0497"/>
            <p:cNvSpPr/>
            <p:nvPr/>
          </p:nvSpPr>
          <p:spPr>
            <a:xfrm>
              <a:off x="9340596"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rect_0498"/>
            <p:cNvSpPr/>
            <p:nvPr/>
          </p:nvSpPr>
          <p:spPr>
            <a:xfrm>
              <a:off x="9372092"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rect_0499"/>
            <p:cNvSpPr/>
            <p:nvPr/>
          </p:nvSpPr>
          <p:spPr>
            <a:xfrm>
              <a:off x="9246108" y="4836033"/>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rect_0500"/>
            <p:cNvSpPr/>
            <p:nvPr/>
          </p:nvSpPr>
          <p:spPr>
            <a:xfrm>
              <a:off x="9372092"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rect_0501"/>
            <p:cNvSpPr/>
            <p:nvPr/>
          </p:nvSpPr>
          <p:spPr>
            <a:xfrm>
              <a:off x="9403588"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rect_0502"/>
            <p:cNvSpPr/>
            <p:nvPr/>
          </p:nvSpPr>
          <p:spPr>
            <a:xfrm>
              <a:off x="9246108"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rect_0503"/>
            <p:cNvSpPr/>
            <p:nvPr/>
          </p:nvSpPr>
          <p:spPr>
            <a:xfrm>
              <a:off x="927760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rect_0504"/>
            <p:cNvSpPr/>
            <p:nvPr/>
          </p:nvSpPr>
          <p:spPr>
            <a:xfrm>
              <a:off x="9309100"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rect_0505"/>
            <p:cNvSpPr/>
            <p:nvPr/>
          </p:nvSpPr>
          <p:spPr>
            <a:xfrm>
              <a:off x="9340596" y="486308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rect_0506"/>
            <p:cNvSpPr/>
            <p:nvPr/>
          </p:nvSpPr>
          <p:spPr>
            <a:xfrm>
              <a:off x="9246108" y="4890135"/>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rect_0507"/>
            <p:cNvSpPr/>
            <p:nvPr/>
          </p:nvSpPr>
          <p:spPr>
            <a:xfrm>
              <a:off x="9403588"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rect_0508"/>
            <p:cNvSpPr/>
            <p:nvPr/>
          </p:nvSpPr>
          <p:spPr>
            <a:xfrm>
              <a:off x="9246108"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rect_0509"/>
            <p:cNvSpPr/>
            <p:nvPr/>
          </p:nvSpPr>
          <p:spPr>
            <a:xfrm>
              <a:off x="9277604"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rect_0510"/>
            <p:cNvSpPr/>
            <p:nvPr/>
          </p:nvSpPr>
          <p:spPr>
            <a:xfrm>
              <a:off x="9309100" y="4917186"/>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rect_0511"/>
            <p:cNvSpPr/>
            <p:nvPr/>
          </p:nvSpPr>
          <p:spPr>
            <a:xfrm>
              <a:off x="924610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rect_0512"/>
            <p:cNvSpPr/>
            <p:nvPr/>
          </p:nvSpPr>
          <p:spPr>
            <a:xfrm>
              <a:off x="9277604" y="494423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 name="rect_0513"/>
            <p:cNvSpPr/>
            <p:nvPr/>
          </p:nvSpPr>
          <p:spPr>
            <a:xfrm>
              <a:off x="940358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rect_0514"/>
            <p:cNvSpPr/>
            <p:nvPr/>
          </p:nvSpPr>
          <p:spPr>
            <a:xfrm>
              <a:off x="9246108" y="497128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rect_0515"/>
            <p:cNvSpPr/>
            <p:nvPr/>
          </p:nvSpPr>
          <p:spPr>
            <a:xfrm>
              <a:off x="9340596"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rect_0516"/>
            <p:cNvSpPr/>
            <p:nvPr/>
          </p:nvSpPr>
          <p:spPr>
            <a:xfrm>
              <a:off x="9372092"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rect_0517"/>
            <p:cNvSpPr/>
            <p:nvPr/>
          </p:nvSpPr>
          <p:spPr>
            <a:xfrm>
              <a:off x="9403588"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rect_0518"/>
            <p:cNvSpPr/>
            <p:nvPr/>
          </p:nvSpPr>
          <p:spPr>
            <a:xfrm>
              <a:off x="9246108" y="499833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rect_0519"/>
            <p:cNvSpPr/>
            <p:nvPr/>
          </p:nvSpPr>
          <p:spPr>
            <a:xfrm>
              <a:off x="9372092"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rect_0520"/>
            <p:cNvSpPr/>
            <p:nvPr/>
          </p:nvSpPr>
          <p:spPr>
            <a:xfrm>
              <a:off x="940358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rect_0521"/>
            <p:cNvSpPr/>
            <p:nvPr/>
          </p:nvSpPr>
          <p:spPr>
            <a:xfrm>
              <a:off x="9246108" y="5025390"/>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rect_0522"/>
            <p:cNvSpPr/>
            <p:nvPr/>
          </p:nvSpPr>
          <p:spPr>
            <a:xfrm>
              <a:off x="9372092"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5" name="rect_0523"/>
            <p:cNvSpPr/>
            <p:nvPr/>
          </p:nvSpPr>
          <p:spPr>
            <a:xfrm>
              <a:off x="9246108"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rect_0524"/>
            <p:cNvSpPr/>
            <p:nvPr/>
          </p:nvSpPr>
          <p:spPr>
            <a:xfrm>
              <a:off x="927760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rect_0525"/>
            <p:cNvSpPr/>
            <p:nvPr/>
          </p:nvSpPr>
          <p:spPr>
            <a:xfrm>
              <a:off x="9309100"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rect_0526"/>
            <p:cNvSpPr/>
            <p:nvPr/>
          </p:nvSpPr>
          <p:spPr>
            <a:xfrm>
              <a:off x="9340596"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rect_0527"/>
            <p:cNvSpPr/>
            <p:nvPr/>
          </p:nvSpPr>
          <p:spPr>
            <a:xfrm>
              <a:off x="9372092"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rect_0528"/>
            <p:cNvSpPr/>
            <p:nvPr/>
          </p:nvSpPr>
          <p:spPr>
            <a:xfrm>
              <a:off x="9403588"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inference_noise_token2_L16_solid"/>
            <p:cNvSpPr/>
            <p:nvPr/>
          </p:nvSpPr>
          <p:spPr>
            <a:xfrm>
              <a:off x="9246108"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rect_0530"/>
            <p:cNvSpPr/>
            <p:nvPr/>
          </p:nvSpPr>
          <p:spPr>
            <a:xfrm>
              <a:off x="924610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rect_0531"/>
            <p:cNvSpPr/>
            <p:nvPr/>
          </p:nvSpPr>
          <p:spPr>
            <a:xfrm>
              <a:off x="9277604" y="507949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rect_0532"/>
            <p:cNvSpPr/>
            <p:nvPr/>
          </p:nvSpPr>
          <p:spPr>
            <a:xfrm>
              <a:off x="9340596"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5" name="rect_0533"/>
            <p:cNvSpPr/>
            <p:nvPr/>
          </p:nvSpPr>
          <p:spPr>
            <a:xfrm>
              <a:off x="9372092"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rect_0534"/>
            <p:cNvSpPr/>
            <p:nvPr/>
          </p:nvSpPr>
          <p:spPr>
            <a:xfrm>
              <a:off x="940358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rect_0535"/>
            <p:cNvSpPr/>
            <p:nvPr/>
          </p:nvSpPr>
          <p:spPr>
            <a:xfrm>
              <a:off x="9246108"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rect_0536"/>
            <p:cNvSpPr/>
            <p:nvPr/>
          </p:nvSpPr>
          <p:spPr>
            <a:xfrm>
              <a:off x="9277604" y="5106542"/>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rect_0537"/>
            <p:cNvSpPr/>
            <p:nvPr/>
          </p:nvSpPr>
          <p:spPr>
            <a:xfrm>
              <a:off x="9246108"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rect_0538"/>
            <p:cNvSpPr/>
            <p:nvPr/>
          </p:nvSpPr>
          <p:spPr>
            <a:xfrm>
              <a:off x="927760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rect_0539"/>
            <p:cNvSpPr/>
            <p:nvPr/>
          </p:nvSpPr>
          <p:spPr>
            <a:xfrm>
              <a:off x="9309100" y="513359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rect_0540"/>
            <p:cNvSpPr/>
            <p:nvPr/>
          </p:nvSpPr>
          <p:spPr>
            <a:xfrm>
              <a:off x="9372092"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rect_0541"/>
            <p:cNvSpPr/>
            <p:nvPr/>
          </p:nvSpPr>
          <p:spPr>
            <a:xfrm>
              <a:off x="9246108"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rect_0542"/>
            <p:cNvSpPr/>
            <p:nvPr/>
          </p:nvSpPr>
          <p:spPr>
            <a:xfrm>
              <a:off x="9340596"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5" name="rect_0543"/>
            <p:cNvSpPr/>
            <p:nvPr/>
          </p:nvSpPr>
          <p:spPr>
            <a:xfrm>
              <a:off x="9372092"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rect_0544"/>
            <p:cNvSpPr/>
            <p:nvPr/>
          </p:nvSpPr>
          <p:spPr>
            <a:xfrm>
              <a:off x="940358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rect_0545"/>
            <p:cNvSpPr/>
            <p:nvPr/>
          </p:nvSpPr>
          <p:spPr>
            <a:xfrm>
              <a:off x="924610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rect_0546"/>
            <p:cNvSpPr/>
            <p:nvPr/>
          </p:nvSpPr>
          <p:spPr>
            <a:xfrm>
              <a:off x="9277604"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rect_0547"/>
            <p:cNvSpPr/>
            <p:nvPr/>
          </p:nvSpPr>
          <p:spPr>
            <a:xfrm>
              <a:off x="9372092"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rect_0548"/>
            <p:cNvSpPr/>
            <p:nvPr/>
          </p:nvSpPr>
          <p:spPr>
            <a:xfrm>
              <a:off x="9403588"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rect_0549"/>
            <p:cNvSpPr/>
            <p:nvPr/>
          </p:nvSpPr>
          <p:spPr>
            <a:xfrm>
              <a:off x="924610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rect_0550"/>
            <p:cNvSpPr/>
            <p:nvPr/>
          </p:nvSpPr>
          <p:spPr>
            <a:xfrm>
              <a:off x="9277604"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rect_0551"/>
            <p:cNvSpPr/>
            <p:nvPr/>
          </p:nvSpPr>
          <p:spPr>
            <a:xfrm>
              <a:off x="9309100"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rect_0552"/>
            <p:cNvSpPr/>
            <p:nvPr/>
          </p:nvSpPr>
          <p:spPr>
            <a:xfrm>
              <a:off x="9340596"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rect_0553"/>
            <p:cNvSpPr/>
            <p:nvPr/>
          </p:nvSpPr>
          <p:spPr>
            <a:xfrm>
              <a:off x="924610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rect_0554"/>
            <p:cNvSpPr/>
            <p:nvPr/>
          </p:nvSpPr>
          <p:spPr>
            <a:xfrm>
              <a:off x="927760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rect_0555"/>
            <p:cNvSpPr/>
            <p:nvPr/>
          </p:nvSpPr>
          <p:spPr>
            <a:xfrm>
              <a:off x="9309100"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rect_0556"/>
            <p:cNvSpPr/>
            <p:nvPr/>
          </p:nvSpPr>
          <p:spPr>
            <a:xfrm>
              <a:off x="9403588"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rect_0557"/>
            <p:cNvSpPr/>
            <p:nvPr/>
          </p:nvSpPr>
          <p:spPr>
            <a:xfrm>
              <a:off x="9246108"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rect_0558"/>
            <p:cNvSpPr/>
            <p:nvPr/>
          </p:nvSpPr>
          <p:spPr>
            <a:xfrm>
              <a:off x="9277604"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rect_0559"/>
            <p:cNvSpPr/>
            <p:nvPr/>
          </p:nvSpPr>
          <p:spPr>
            <a:xfrm>
              <a:off x="9246108"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rect_0560"/>
            <p:cNvSpPr/>
            <p:nvPr/>
          </p:nvSpPr>
          <p:spPr>
            <a:xfrm>
              <a:off x="9277604"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rect_0561"/>
            <p:cNvSpPr/>
            <p:nvPr/>
          </p:nvSpPr>
          <p:spPr>
            <a:xfrm>
              <a:off x="9309100" y="529589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rect_0562"/>
            <p:cNvSpPr/>
            <p:nvPr/>
          </p:nvSpPr>
          <p:spPr>
            <a:xfrm>
              <a:off x="924610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rect_0563"/>
            <p:cNvSpPr/>
            <p:nvPr/>
          </p:nvSpPr>
          <p:spPr>
            <a:xfrm>
              <a:off x="9277604"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rect_0564"/>
            <p:cNvSpPr/>
            <p:nvPr/>
          </p:nvSpPr>
          <p:spPr>
            <a:xfrm>
              <a:off x="9309100"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rect_0565"/>
            <p:cNvSpPr/>
            <p:nvPr/>
          </p:nvSpPr>
          <p:spPr>
            <a:xfrm>
              <a:off x="9340596"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rect_0566"/>
            <p:cNvSpPr/>
            <p:nvPr/>
          </p:nvSpPr>
          <p:spPr>
            <a:xfrm>
              <a:off x="940358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rect_0567"/>
            <p:cNvSpPr/>
            <p:nvPr/>
          </p:nvSpPr>
          <p:spPr>
            <a:xfrm>
              <a:off x="92461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rect_0568"/>
            <p:cNvSpPr/>
            <p:nvPr/>
          </p:nvSpPr>
          <p:spPr>
            <a:xfrm>
              <a:off x="927760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rect_0569"/>
            <p:cNvSpPr/>
            <p:nvPr/>
          </p:nvSpPr>
          <p:spPr>
            <a:xfrm>
              <a:off x="930910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rect_0570"/>
            <p:cNvSpPr/>
            <p:nvPr/>
          </p:nvSpPr>
          <p:spPr>
            <a:xfrm>
              <a:off x="9340596"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rect_0571"/>
            <p:cNvSpPr/>
            <p:nvPr/>
          </p:nvSpPr>
          <p:spPr>
            <a:xfrm>
              <a:off x="9372092"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rect_0572"/>
            <p:cNvSpPr/>
            <p:nvPr/>
          </p:nvSpPr>
          <p:spPr>
            <a:xfrm>
              <a:off x="9403588"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rect_0573"/>
            <p:cNvSpPr/>
            <p:nvPr/>
          </p:nvSpPr>
          <p:spPr>
            <a:xfrm>
              <a:off x="9246108"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rect_0574"/>
            <p:cNvSpPr/>
            <p:nvPr/>
          </p:nvSpPr>
          <p:spPr>
            <a:xfrm>
              <a:off x="9340596" y="537705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inference_noise_token2_bold_boundary"/>
            <p:cNvSpPr/>
            <p:nvPr/>
          </p:nvSpPr>
          <p:spPr>
            <a:xfrm>
              <a:off x="9246108"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inference_noise_token3_L32_solid"/>
            <p:cNvSpPr/>
            <p:nvPr/>
          </p:nvSpPr>
          <p:spPr>
            <a:xfrm>
              <a:off x="9467087"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rect_0577"/>
            <p:cNvSpPr/>
            <p:nvPr/>
          </p:nvSpPr>
          <p:spPr>
            <a:xfrm>
              <a:off x="9467087" y="4105656"/>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rect_0578"/>
            <p:cNvSpPr/>
            <p:nvPr/>
          </p:nvSpPr>
          <p:spPr>
            <a:xfrm>
              <a:off x="9624567"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rect_0579"/>
            <p:cNvSpPr/>
            <p:nvPr/>
          </p:nvSpPr>
          <p:spPr>
            <a:xfrm>
              <a:off x="9467087"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rect_0580"/>
            <p:cNvSpPr/>
            <p:nvPr/>
          </p:nvSpPr>
          <p:spPr>
            <a:xfrm>
              <a:off x="9498583"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rect_0581"/>
            <p:cNvSpPr/>
            <p:nvPr/>
          </p:nvSpPr>
          <p:spPr>
            <a:xfrm>
              <a:off x="9530079" y="413270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rect_0582"/>
            <p:cNvSpPr/>
            <p:nvPr/>
          </p:nvSpPr>
          <p:spPr>
            <a:xfrm>
              <a:off x="9593071" y="413270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rect_0583"/>
            <p:cNvSpPr/>
            <p:nvPr/>
          </p:nvSpPr>
          <p:spPr>
            <a:xfrm>
              <a:off x="9467087"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rect_0584"/>
            <p:cNvSpPr/>
            <p:nvPr/>
          </p:nvSpPr>
          <p:spPr>
            <a:xfrm>
              <a:off x="9498583"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rect_0585"/>
            <p:cNvSpPr/>
            <p:nvPr/>
          </p:nvSpPr>
          <p:spPr>
            <a:xfrm>
              <a:off x="9530079"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rect_0586"/>
            <p:cNvSpPr/>
            <p:nvPr/>
          </p:nvSpPr>
          <p:spPr>
            <a:xfrm>
              <a:off x="9561575" y="415975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9" name="rect_0587"/>
            <p:cNvSpPr/>
            <p:nvPr/>
          </p:nvSpPr>
          <p:spPr>
            <a:xfrm>
              <a:off x="9467087" y="418680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0" name="rect_0588"/>
            <p:cNvSpPr/>
            <p:nvPr/>
          </p:nvSpPr>
          <p:spPr>
            <a:xfrm>
              <a:off x="9530079" y="418680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rect_0589"/>
            <p:cNvSpPr/>
            <p:nvPr/>
          </p:nvSpPr>
          <p:spPr>
            <a:xfrm>
              <a:off x="9624567"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2" name="rect_0590"/>
            <p:cNvSpPr/>
            <p:nvPr/>
          </p:nvSpPr>
          <p:spPr>
            <a:xfrm>
              <a:off x="9467087"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rect_0591"/>
            <p:cNvSpPr/>
            <p:nvPr/>
          </p:nvSpPr>
          <p:spPr>
            <a:xfrm>
              <a:off x="9561575"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4" name="rect_0592"/>
            <p:cNvSpPr/>
            <p:nvPr/>
          </p:nvSpPr>
          <p:spPr>
            <a:xfrm>
              <a:off x="9593071" y="421386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rect_0593"/>
            <p:cNvSpPr/>
            <p:nvPr/>
          </p:nvSpPr>
          <p:spPr>
            <a:xfrm>
              <a:off x="9467087"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6" name="rect_0594"/>
            <p:cNvSpPr/>
            <p:nvPr/>
          </p:nvSpPr>
          <p:spPr>
            <a:xfrm>
              <a:off x="9498583" y="424091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rect_0595"/>
            <p:cNvSpPr/>
            <p:nvPr/>
          </p:nvSpPr>
          <p:spPr>
            <a:xfrm>
              <a:off x="9530079"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8" name="rect_0596"/>
            <p:cNvSpPr/>
            <p:nvPr/>
          </p:nvSpPr>
          <p:spPr>
            <a:xfrm>
              <a:off x="9561575" y="424091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9" name="rect_0597"/>
            <p:cNvSpPr/>
            <p:nvPr/>
          </p:nvSpPr>
          <p:spPr>
            <a:xfrm>
              <a:off x="9624567"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rect_0598"/>
            <p:cNvSpPr/>
            <p:nvPr/>
          </p:nvSpPr>
          <p:spPr>
            <a:xfrm>
              <a:off x="9467087" y="426796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rect_0599"/>
            <p:cNvSpPr/>
            <p:nvPr/>
          </p:nvSpPr>
          <p:spPr>
            <a:xfrm>
              <a:off x="9561575" y="426796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2" name="rect_0600"/>
            <p:cNvSpPr/>
            <p:nvPr/>
          </p:nvSpPr>
          <p:spPr>
            <a:xfrm>
              <a:off x="9624567" y="426796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3" name="rect_0601"/>
            <p:cNvSpPr/>
            <p:nvPr/>
          </p:nvSpPr>
          <p:spPr>
            <a:xfrm>
              <a:off x="9467087"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rect_0602"/>
            <p:cNvSpPr/>
            <p:nvPr/>
          </p:nvSpPr>
          <p:spPr>
            <a:xfrm>
              <a:off x="9498583" y="429501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rect_0603"/>
            <p:cNvSpPr/>
            <p:nvPr/>
          </p:nvSpPr>
          <p:spPr>
            <a:xfrm>
              <a:off x="9530079"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6" name="rect_0604"/>
            <p:cNvSpPr/>
            <p:nvPr/>
          </p:nvSpPr>
          <p:spPr>
            <a:xfrm>
              <a:off x="9561575" y="429501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rect_0605"/>
            <p:cNvSpPr/>
            <p:nvPr/>
          </p:nvSpPr>
          <p:spPr>
            <a:xfrm>
              <a:off x="9467087" y="432206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8" name="rect_0606"/>
            <p:cNvSpPr/>
            <p:nvPr/>
          </p:nvSpPr>
          <p:spPr>
            <a:xfrm>
              <a:off x="9530079"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rect_0607"/>
            <p:cNvSpPr/>
            <p:nvPr/>
          </p:nvSpPr>
          <p:spPr>
            <a:xfrm>
              <a:off x="9561575"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rect_0608"/>
            <p:cNvSpPr/>
            <p:nvPr/>
          </p:nvSpPr>
          <p:spPr>
            <a:xfrm>
              <a:off x="9593071" y="432206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rect_0609"/>
            <p:cNvSpPr/>
            <p:nvPr/>
          </p:nvSpPr>
          <p:spPr>
            <a:xfrm>
              <a:off x="9467087" y="434911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2" name="rect_0610"/>
            <p:cNvSpPr/>
            <p:nvPr/>
          </p:nvSpPr>
          <p:spPr>
            <a:xfrm>
              <a:off x="9561575"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rect_0611"/>
            <p:cNvSpPr/>
            <p:nvPr/>
          </p:nvSpPr>
          <p:spPr>
            <a:xfrm>
              <a:off x="9624567" y="434911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4" name="rect_0612"/>
            <p:cNvSpPr/>
            <p:nvPr/>
          </p:nvSpPr>
          <p:spPr>
            <a:xfrm>
              <a:off x="9467087"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rect_0613"/>
            <p:cNvSpPr/>
            <p:nvPr/>
          </p:nvSpPr>
          <p:spPr>
            <a:xfrm>
              <a:off x="9498583"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rect_0614"/>
            <p:cNvSpPr/>
            <p:nvPr/>
          </p:nvSpPr>
          <p:spPr>
            <a:xfrm>
              <a:off x="9593071" y="437616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rect_0615"/>
            <p:cNvSpPr/>
            <p:nvPr/>
          </p:nvSpPr>
          <p:spPr>
            <a:xfrm>
              <a:off x="9467087" y="440321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8" name="rect_0616"/>
            <p:cNvSpPr/>
            <p:nvPr/>
          </p:nvSpPr>
          <p:spPr>
            <a:xfrm>
              <a:off x="9530079" y="440321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9" name="rect_0617"/>
            <p:cNvSpPr/>
            <p:nvPr/>
          </p:nvSpPr>
          <p:spPr>
            <a:xfrm>
              <a:off x="9593071" y="440321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rect_0618"/>
            <p:cNvSpPr/>
            <p:nvPr/>
          </p:nvSpPr>
          <p:spPr>
            <a:xfrm>
              <a:off x="9467087" y="443026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rect_0619"/>
            <p:cNvSpPr/>
            <p:nvPr/>
          </p:nvSpPr>
          <p:spPr>
            <a:xfrm>
              <a:off x="9561575" y="443026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2" name="rect_0620"/>
            <p:cNvSpPr/>
            <p:nvPr/>
          </p:nvSpPr>
          <p:spPr>
            <a:xfrm>
              <a:off x="9624567" y="443026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rect_0621"/>
            <p:cNvSpPr/>
            <p:nvPr/>
          </p:nvSpPr>
          <p:spPr>
            <a:xfrm>
              <a:off x="9467087"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rect_0622"/>
            <p:cNvSpPr/>
            <p:nvPr/>
          </p:nvSpPr>
          <p:spPr>
            <a:xfrm>
              <a:off x="9530079"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5" name="rect_0623"/>
            <p:cNvSpPr/>
            <p:nvPr/>
          </p:nvSpPr>
          <p:spPr>
            <a:xfrm>
              <a:off x="9561575"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rect_0624"/>
            <p:cNvSpPr/>
            <p:nvPr/>
          </p:nvSpPr>
          <p:spPr>
            <a:xfrm>
              <a:off x="9624567"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rect_0625"/>
            <p:cNvSpPr/>
            <p:nvPr/>
          </p:nvSpPr>
          <p:spPr>
            <a:xfrm>
              <a:off x="9467087" y="448437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rect_0626"/>
            <p:cNvSpPr/>
            <p:nvPr/>
          </p:nvSpPr>
          <p:spPr>
            <a:xfrm>
              <a:off x="9530079"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9" name="rect_0627"/>
            <p:cNvSpPr/>
            <p:nvPr/>
          </p:nvSpPr>
          <p:spPr>
            <a:xfrm>
              <a:off x="9561575" y="448437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rect_0628"/>
            <p:cNvSpPr/>
            <p:nvPr/>
          </p:nvSpPr>
          <p:spPr>
            <a:xfrm>
              <a:off x="9467087" y="451142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1" name="rect_0629"/>
            <p:cNvSpPr/>
            <p:nvPr/>
          </p:nvSpPr>
          <p:spPr>
            <a:xfrm>
              <a:off x="9530079"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2" name="rect_0630"/>
            <p:cNvSpPr/>
            <p:nvPr/>
          </p:nvSpPr>
          <p:spPr>
            <a:xfrm>
              <a:off x="9561575"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3" name="rect_0631"/>
            <p:cNvSpPr/>
            <p:nvPr/>
          </p:nvSpPr>
          <p:spPr>
            <a:xfrm>
              <a:off x="9593071" y="451142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rect_0632"/>
            <p:cNvSpPr/>
            <p:nvPr/>
          </p:nvSpPr>
          <p:spPr>
            <a:xfrm>
              <a:off x="9467087" y="453847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5" name="rect_0633"/>
            <p:cNvSpPr/>
            <p:nvPr/>
          </p:nvSpPr>
          <p:spPr>
            <a:xfrm>
              <a:off x="9530079"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rect_0634"/>
            <p:cNvSpPr/>
            <p:nvPr/>
          </p:nvSpPr>
          <p:spPr>
            <a:xfrm>
              <a:off x="9561575" y="453847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7" name="rect_0635"/>
            <p:cNvSpPr/>
            <p:nvPr/>
          </p:nvSpPr>
          <p:spPr>
            <a:xfrm>
              <a:off x="9467087"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rect_0636"/>
            <p:cNvSpPr/>
            <p:nvPr/>
          </p:nvSpPr>
          <p:spPr>
            <a:xfrm>
              <a:off x="9498583" y="456552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9" name="rect_0637"/>
            <p:cNvSpPr/>
            <p:nvPr/>
          </p:nvSpPr>
          <p:spPr>
            <a:xfrm>
              <a:off x="9561575"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rect_0638"/>
            <p:cNvSpPr/>
            <p:nvPr/>
          </p:nvSpPr>
          <p:spPr>
            <a:xfrm>
              <a:off x="9593071" y="456552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1" name="rect_0639"/>
            <p:cNvSpPr/>
            <p:nvPr/>
          </p:nvSpPr>
          <p:spPr>
            <a:xfrm>
              <a:off x="9467087" y="459257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rect_0640"/>
            <p:cNvSpPr/>
            <p:nvPr/>
          </p:nvSpPr>
          <p:spPr>
            <a:xfrm>
              <a:off x="9530079"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3" name="rect_0641"/>
            <p:cNvSpPr/>
            <p:nvPr/>
          </p:nvSpPr>
          <p:spPr>
            <a:xfrm>
              <a:off x="9561575" y="459257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4" name="rect_0642"/>
            <p:cNvSpPr/>
            <p:nvPr/>
          </p:nvSpPr>
          <p:spPr>
            <a:xfrm>
              <a:off x="9467087"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5" name="rect_0643"/>
            <p:cNvSpPr/>
            <p:nvPr/>
          </p:nvSpPr>
          <p:spPr>
            <a:xfrm>
              <a:off x="9498583"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rect_0644"/>
            <p:cNvSpPr/>
            <p:nvPr/>
          </p:nvSpPr>
          <p:spPr>
            <a:xfrm>
              <a:off x="9530079"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rect_0645"/>
            <p:cNvSpPr/>
            <p:nvPr/>
          </p:nvSpPr>
          <p:spPr>
            <a:xfrm>
              <a:off x="9561575" y="461962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rect_0646"/>
            <p:cNvSpPr/>
            <p:nvPr/>
          </p:nvSpPr>
          <p:spPr>
            <a:xfrm>
              <a:off x="9624567"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9" name="rect_0647"/>
            <p:cNvSpPr/>
            <p:nvPr/>
          </p:nvSpPr>
          <p:spPr>
            <a:xfrm>
              <a:off x="9467087" y="4646676"/>
              <a:ext cx="18897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rect_0648"/>
            <p:cNvSpPr/>
            <p:nvPr/>
          </p:nvSpPr>
          <p:spPr>
            <a:xfrm>
              <a:off x="9467087" y="467372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1" name="rect_0649"/>
            <p:cNvSpPr/>
            <p:nvPr/>
          </p:nvSpPr>
          <p:spPr>
            <a:xfrm>
              <a:off x="9593071"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rect_0650"/>
            <p:cNvSpPr/>
            <p:nvPr/>
          </p:nvSpPr>
          <p:spPr>
            <a:xfrm>
              <a:off x="9624567"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rect_0651"/>
            <p:cNvSpPr/>
            <p:nvPr/>
          </p:nvSpPr>
          <p:spPr>
            <a:xfrm>
              <a:off x="9467087"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4" name="rect_0652"/>
            <p:cNvSpPr/>
            <p:nvPr/>
          </p:nvSpPr>
          <p:spPr>
            <a:xfrm>
              <a:off x="9498583" y="470077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rect_0653"/>
            <p:cNvSpPr/>
            <p:nvPr/>
          </p:nvSpPr>
          <p:spPr>
            <a:xfrm>
              <a:off x="9593071" y="470077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rect_0654"/>
            <p:cNvSpPr/>
            <p:nvPr/>
          </p:nvSpPr>
          <p:spPr>
            <a:xfrm>
              <a:off x="9467087" y="472782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7" name="rect_0655"/>
            <p:cNvSpPr/>
            <p:nvPr/>
          </p:nvSpPr>
          <p:spPr>
            <a:xfrm>
              <a:off x="9624567" y="472782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inference_noise_token3_L24_solid"/>
            <p:cNvSpPr/>
            <p:nvPr/>
          </p:nvSpPr>
          <p:spPr>
            <a:xfrm>
              <a:off x="9467087"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9" name="rect_0657"/>
            <p:cNvSpPr/>
            <p:nvPr/>
          </p:nvSpPr>
          <p:spPr>
            <a:xfrm>
              <a:off x="9467087"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rect_0658"/>
            <p:cNvSpPr/>
            <p:nvPr/>
          </p:nvSpPr>
          <p:spPr>
            <a:xfrm>
              <a:off x="9498583"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1" name="rect_0659"/>
            <p:cNvSpPr/>
            <p:nvPr/>
          </p:nvSpPr>
          <p:spPr>
            <a:xfrm>
              <a:off x="9530079"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2" name="rect_0660"/>
            <p:cNvSpPr/>
            <p:nvPr/>
          </p:nvSpPr>
          <p:spPr>
            <a:xfrm>
              <a:off x="9593071"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3" name="rect_0661"/>
            <p:cNvSpPr/>
            <p:nvPr/>
          </p:nvSpPr>
          <p:spPr>
            <a:xfrm>
              <a:off x="9624567"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rect_0662"/>
            <p:cNvSpPr/>
            <p:nvPr/>
          </p:nvSpPr>
          <p:spPr>
            <a:xfrm>
              <a:off x="9467087"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5" name="rect_0663"/>
            <p:cNvSpPr/>
            <p:nvPr/>
          </p:nvSpPr>
          <p:spPr>
            <a:xfrm>
              <a:off x="9498583" y="478193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rect_0664"/>
            <p:cNvSpPr/>
            <p:nvPr/>
          </p:nvSpPr>
          <p:spPr>
            <a:xfrm>
              <a:off x="9593071"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7" name="rect_0665"/>
            <p:cNvSpPr/>
            <p:nvPr/>
          </p:nvSpPr>
          <p:spPr>
            <a:xfrm>
              <a:off x="9467087"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rect_0666"/>
            <p:cNvSpPr/>
            <p:nvPr/>
          </p:nvSpPr>
          <p:spPr>
            <a:xfrm>
              <a:off x="9498583"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rect_0667"/>
            <p:cNvSpPr/>
            <p:nvPr/>
          </p:nvSpPr>
          <p:spPr>
            <a:xfrm>
              <a:off x="9530079"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rect_0668"/>
            <p:cNvSpPr/>
            <p:nvPr/>
          </p:nvSpPr>
          <p:spPr>
            <a:xfrm>
              <a:off x="9561575"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1" name="rect_0669"/>
            <p:cNvSpPr/>
            <p:nvPr/>
          </p:nvSpPr>
          <p:spPr>
            <a:xfrm>
              <a:off x="9593071"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rect_0670"/>
            <p:cNvSpPr/>
            <p:nvPr/>
          </p:nvSpPr>
          <p:spPr>
            <a:xfrm>
              <a:off x="9467087" y="4836033"/>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rect_0671"/>
            <p:cNvSpPr/>
            <p:nvPr/>
          </p:nvSpPr>
          <p:spPr>
            <a:xfrm>
              <a:off x="9593071"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4" name="rect_0672"/>
            <p:cNvSpPr/>
            <p:nvPr/>
          </p:nvSpPr>
          <p:spPr>
            <a:xfrm>
              <a:off x="9467087" y="4863084"/>
              <a:ext cx="18897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rect_0673"/>
            <p:cNvSpPr/>
            <p:nvPr/>
          </p:nvSpPr>
          <p:spPr>
            <a:xfrm>
              <a:off x="9467087"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rect_0674"/>
            <p:cNvSpPr/>
            <p:nvPr/>
          </p:nvSpPr>
          <p:spPr>
            <a:xfrm>
              <a:off x="9498583" y="489013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7" name="rect_0675"/>
            <p:cNvSpPr/>
            <p:nvPr/>
          </p:nvSpPr>
          <p:spPr>
            <a:xfrm>
              <a:off x="9561575" y="489013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rect_0676"/>
            <p:cNvSpPr/>
            <p:nvPr/>
          </p:nvSpPr>
          <p:spPr>
            <a:xfrm>
              <a:off x="9624567"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rect_0677"/>
            <p:cNvSpPr/>
            <p:nvPr/>
          </p:nvSpPr>
          <p:spPr>
            <a:xfrm>
              <a:off x="9467087"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0" name="rect_0678"/>
            <p:cNvSpPr/>
            <p:nvPr/>
          </p:nvSpPr>
          <p:spPr>
            <a:xfrm>
              <a:off x="9530079" y="4917186"/>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rect_0679"/>
            <p:cNvSpPr/>
            <p:nvPr/>
          </p:nvSpPr>
          <p:spPr>
            <a:xfrm>
              <a:off x="9467087"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2" name="rect_0680"/>
            <p:cNvSpPr/>
            <p:nvPr/>
          </p:nvSpPr>
          <p:spPr>
            <a:xfrm>
              <a:off x="9530079" y="494423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3" name="rect_0681"/>
            <p:cNvSpPr/>
            <p:nvPr/>
          </p:nvSpPr>
          <p:spPr>
            <a:xfrm>
              <a:off x="9593071"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4" name="rect_0682"/>
            <p:cNvSpPr/>
            <p:nvPr/>
          </p:nvSpPr>
          <p:spPr>
            <a:xfrm>
              <a:off x="9467087"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rect_0683"/>
            <p:cNvSpPr/>
            <p:nvPr/>
          </p:nvSpPr>
          <p:spPr>
            <a:xfrm>
              <a:off x="9530079" y="497128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6" name="rect_0684"/>
            <p:cNvSpPr/>
            <p:nvPr/>
          </p:nvSpPr>
          <p:spPr>
            <a:xfrm>
              <a:off x="9593071"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rect_0685"/>
            <p:cNvSpPr/>
            <p:nvPr/>
          </p:nvSpPr>
          <p:spPr>
            <a:xfrm>
              <a:off x="9467087"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8" name="rect_0686"/>
            <p:cNvSpPr/>
            <p:nvPr/>
          </p:nvSpPr>
          <p:spPr>
            <a:xfrm>
              <a:off x="9530079"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9" name="rect_0687"/>
            <p:cNvSpPr/>
            <p:nvPr/>
          </p:nvSpPr>
          <p:spPr>
            <a:xfrm>
              <a:off x="9561575"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0" name="rect_0688"/>
            <p:cNvSpPr/>
            <p:nvPr/>
          </p:nvSpPr>
          <p:spPr>
            <a:xfrm>
              <a:off x="9593071"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rect_0689"/>
            <p:cNvSpPr/>
            <p:nvPr/>
          </p:nvSpPr>
          <p:spPr>
            <a:xfrm>
              <a:off x="9624567"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2" name="rect_0690"/>
            <p:cNvSpPr/>
            <p:nvPr/>
          </p:nvSpPr>
          <p:spPr>
            <a:xfrm>
              <a:off x="9467087"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3" name="rect_0691"/>
            <p:cNvSpPr/>
            <p:nvPr/>
          </p:nvSpPr>
          <p:spPr>
            <a:xfrm>
              <a:off x="9498583" y="5025390"/>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4" name="rect_0692"/>
            <p:cNvSpPr/>
            <p:nvPr/>
          </p:nvSpPr>
          <p:spPr>
            <a:xfrm>
              <a:off x="9467087"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5" name="rect_0693"/>
            <p:cNvSpPr/>
            <p:nvPr/>
          </p:nvSpPr>
          <p:spPr>
            <a:xfrm>
              <a:off x="9498583" y="5052441"/>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6" name="inference_noise_token3_L16_solid"/>
            <p:cNvSpPr/>
            <p:nvPr/>
          </p:nvSpPr>
          <p:spPr>
            <a:xfrm>
              <a:off x="9467087"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7" name="rect_0695"/>
            <p:cNvSpPr/>
            <p:nvPr/>
          </p:nvSpPr>
          <p:spPr>
            <a:xfrm>
              <a:off x="9467087"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8" name="rect_0696"/>
            <p:cNvSpPr/>
            <p:nvPr/>
          </p:nvSpPr>
          <p:spPr>
            <a:xfrm>
              <a:off x="9498583" y="507949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9" name="rect_0697"/>
            <p:cNvSpPr/>
            <p:nvPr/>
          </p:nvSpPr>
          <p:spPr>
            <a:xfrm>
              <a:off x="9561575" y="507949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0" name="rect_0698"/>
            <p:cNvSpPr/>
            <p:nvPr/>
          </p:nvSpPr>
          <p:spPr>
            <a:xfrm>
              <a:off x="9467087"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1" name="rect_0699"/>
            <p:cNvSpPr/>
            <p:nvPr/>
          </p:nvSpPr>
          <p:spPr>
            <a:xfrm>
              <a:off x="9593071"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rect_0700"/>
            <p:cNvSpPr/>
            <p:nvPr/>
          </p:nvSpPr>
          <p:spPr>
            <a:xfrm>
              <a:off x="9467087" y="5133594"/>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3" name="rect_0701"/>
            <p:cNvSpPr/>
            <p:nvPr/>
          </p:nvSpPr>
          <p:spPr>
            <a:xfrm>
              <a:off x="9561575"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4" name="rect_0702"/>
            <p:cNvSpPr/>
            <p:nvPr/>
          </p:nvSpPr>
          <p:spPr>
            <a:xfrm>
              <a:off x="9593071"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5" name="rect_0703"/>
            <p:cNvSpPr/>
            <p:nvPr/>
          </p:nvSpPr>
          <p:spPr>
            <a:xfrm>
              <a:off x="9467087" y="516064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rect_0704"/>
            <p:cNvSpPr/>
            <p:nvPr/>
          </p:nvSpPr>
          <p:spPr>
            <a:xfrm>
              <a:off x="9561575"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7" name="rect_0705"/>
            <p:cNvSpPr/>
            <p:nvPr/>
          </p:nvSpPr>
          <p:spPr>
            <a:xfrm>
              <a:off x="9593071"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rect_0706"/>
            <p:cNvSpPr/>
            <p:nvPr/>
          </p:nvSpPr>
          <p:spPr>
            <a:xfrm>
              <a:off x="9624567"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9" name="rect_0707"/>
            <p:cNvSpPr/>
            <p:nvPr/>
          </p:nvSpPr>
          <p:spPr>
            <a:xfrm>
              <a:off x="9467087" y="518769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0" name="rect_0708"/>
            <p:cNvSpPr/>
            <p:nvPr/>
          </p:nvSpPr>
          <p:spPr>
            <a:xfrm>
              <a:off x="9561575"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1" name="rect_0709"/>
            <p:cNvSpPr/>
            <p:nvPr/>
          </p:nvSpPr>
          <p:spPr>
            <a:xfrm>
              <a:off x="9467087"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2" name="rect_0710"/>
            <p:cNvSpPr/>
            <p:nvPr/>
          </p:nvSpPr>
          <p:spPr>
            <a:xfrm>
              <a:off x="9498583"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3" name="rect_0711"/>
            <p:cNvSpPr/>
            <p:nvPr/>
          </p:nvSpPr>
          <p:spPr>
            <a:xfrm>
              <a:off x="9593071" y="521474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4" name="rect_0712"/>
            <p:cNvSpPr/>
            <p:nvPr/>
          </p:nvSpPr>
          <p:spPr>
            <a:xfrm>
              <a:off x="9467087"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5" name="rect_0713"/>
            <p:cNvSpPr/>
            <p:nvPr/>
          </p:nvSpPr>
          <p:spPr>
            <a:xfrm>
              <a:off x="9498583"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6" name="rect_0714"/>
            <p:cNvSpPr/>
            <p:nvPr/>
          </p:nvSpPr>
          <p:spPr>
            <a:xfrm>
              <a:off x="953007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7" name="rect_0715"/>
            <p:cNvSpPr/>
            <p:nvPr/>
          </p:nvSpPr>
          <p:spPr>
            <a:xfrm>
              <a:off x="9561575"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 name="rect_0716"/>
            <p:cNvSpPr/>
            <p:nvPr/>
          </p:nvSpPr>
          <p:spPr>
            <a:xfrm>
              <a:off x="9593071"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 name="rect_0717"/>
            <p:cNvSpPr/>
            <p:nvPr/>
          </p:nvSpPr>
          <p:spPr>
            <a:xfrm>
              <a:off x="9467087"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rect_0718"/>
            <p:cNvSpPr/>
            <p:nvPr/>
          </p:nvSpPr>
          <p:spPr>
            <a:xfrm>
              <a:off x="9498583" y="526884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1" name="rect_0719"/>
            <p:cNvSpPr/>
            <p:nvPr/>
          </p:nvSpPr>
          <p:spPr>
            <a:xfrm>
              <a:off x="9624567"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2" name="rect_0720"/>
            <p:cNvSpPr/>
            <p:nvPr/>
          </p:nvSpPr>
          <p:spPr>
            <a:xfrm>
              <a:off x="9467087"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3" name="rect_0721"/>
            <p:cNvSpPr/>
            <p:nvPr/>
          </p:nvSpPr>
          <p:spPr>
            <a:xfrm>
              <a:off x="9498583"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4" name="rect_0722"/>
            <p:cNvSpPr/>
            <p:nvPr/>
          </p:nvSpPr>
          <p:spPr>
            <a:xfrm>
              <a:off x="9530079"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rect_0723"/>
            <p:cNvSpPr/>
            <p:nvPr/>
          </p:nvSpPr>
          <p:spPr>
            <a:xfrm>
              <a:off x="9561575" y="529589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rect_0724"/>
            <p:cNvSpPr/>
            <p:nvPr/>
          </p:nvSpPr>
          <p:spPr>
            <a:xfrm>
              <a:off x="9467087"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rect_0725"/>
            <p:cNvSpPr/>
            <p:nvPr/>
          </p:nvSpPr>
          <p:spPr>
            <a:xfrm>
              <a:off x="9530079"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rect_0726"/>
            <p:cNvSpPr/>
            <p:nvPr/>
          </p:nvSpPr>
          <p:spPr>
            <a:xfrm>
              <a:off x="9561575" y="532295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9" name="rect_0727"/>
            <p:cNvSpPr/>
            <p:nvPr/>
          </p:nvSpPr>
          <p:spPr>
            <a:xfrm>
              <a:off x="9467087"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rect_0728"/>
            <p:cNvSpPr/>
            <p:nvPr/>
          </p:nvSpPr>
          <p:spPr>
            <a:xfrm>
              <a:off x="9498583"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1" name="rect_0729"/>
            <p:cNvSpPr/>
            <p:nvPr/>
          </p:nvSpPr>
          <p:spPr>
            <a:xfrm>
              <a:off x="9530079"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2" name="rect_0730"/>
            <p:cNvSpPr/>
            <p:nvPr/>
          </p:nvSpPr>
          <p:spPr>
            <a:xfrm>
              <a:off x="9561575"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3" name="rect_0731"/>
            <p:cNvSpPr/>
            <p:nvPr/>
          </p:nvSpPr>
          <p:spPr>
            <a:xfrm>
              <a:off x="9593071"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4" name="rect_0732"/>
            <p:cNvSpPr/>
            <p:nvPr/>
          </p:nvSpPr>
          <p:spPr>
            <a:xfrm>
              <a:off x="9467087"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rect_0733"/>
            <p:cNvSpPr/>
            <p:nvPr/>
          </p:nvSpPr>
          <p:spPr>
            <a:xfrm>
              <a:off x="9498583"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6" name="rect_0734"/>
            <p:cNvSpPr/>
            <p:nvPr/>
          </p:nvSpPr>
          <p:spPr>
            <a:xfrm>
              <a:off x="9530079"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rect_0735"/>
            <p:cNvSpPr/>
            <p:nvPr/>
          </p:nvSpPr>
          <p:spPr>
            <a:xfrm>
              <a:off x="9593071"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rect_0736"/>
            <p:cNvSpPr/>
            <p:nvPr/>
          </p:nvSpPr>
          <p:spPr>
            <a:xfrm>
              <a:off x="9624567"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inference_noise_token3_bold_boundary"/>
            <p:cNvSpPr/>
            <p:nvPr/>
          </p:nvSpPr>
          <p:spPr>
            <a:xfrm>
              <a:off x="9467087"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59" name="inference_early_editable_token_strips"/>
          <p:cNvGrpSpPr/>
          <p:nvPr/>
        </p:nvGrpSpPr>
        <p:grpSpPr>
          <a:xfrm>
            <a:off x="9838944" y="4105656"/>
            <a:ext cx="630935" cy="1298448"/>
            <a:chOff x="9838944" y="4105656"/>
            <a:chExt cx="630935" cy="1298448"/>
          </a:xfrm>
        </p:grpSpPr>
        <p:sp>
          <p:nvSpPr>
            <p:cNvPr id="742" name="inference_early_token1_L32_solid"/>
            <p:cNvSpPr/>
            <p:nvPr/>
          </p:nvSpPr>
          <p:spPr>
            <a:xfrm>
              <a:off x="9838944"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rect_0741"/>
            <p:cNvSpPr/>
            <p:nvPr/>
          </p:nvSpPr>
          <p:spPr>
            <a:xfrm>
              <a:off x="9933432"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rect_0742"/>
            <p:cNvSpPr/>
            <p:nvPr/>
          </p:nvSpPr>
          <p:spPr>
            <a:xfrm>
              <a:off x="9964928"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rect_0743"/>
            <p:cNvSpPr/>
            <p:nvPr/>
          </p:nvSpPr>
          <p:spPr>
            <a:xfrm>
              <a:off x="9901936"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rect_0744"/>
            <p:cNvSpPr/>
            <p:nvPr/>
          </p:nvSpPr>
          <p:spPr>
            <a:xfrm>
              <a:off x="9838944"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7" name="rect_0745"/>
            <p:cNvSpPr/>
            <p:nvPr/>
          </p:nvSpPr>
          <p:spPr>
            <a:xfrm>
              <a:off x="9870440" y="434911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rect_0746"/>
            <p:cNvSpPr/>
            <p:nvPr/>
          </p:nvSpPr>
          <p:spPr>
            <a:xfrm>
              <a:off x="9901936"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9" name="rect_0747"/>
            <p:cNvSpPr/>
            <p:nvPr/>
          </p:nvSpPr>
          <p:spPr>
            <a:xfrm>
              <a:off x="9996424"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0" name="rect_0748"/>
            <p:cNvSpPr/>
            <p:nvPr/>
          </p:nvSpPr>
          <p:spPr>
            <a:xfrm>
              <a:off x="99964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rect_0749"/>
            <p:cNvSpPr/>
            <p:nvPr/>
          </p:nvSpPr>
          <p:spPr>
            <a:xfrm>
              <a:off x="9964928" y="472782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2" name="inference_early_token1_L24_solid"/>
            <p:cNvSpPr/>
            <p:nvPr/>
          </p:nvSpPr>
          <p:spPr>
            <a:xfrm>
              <a:off x="9838944"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3" name="rect_0751"/>
            <p:cNvSpPr/>
            <p:nvPr/>
          </p:nvSpPr>
          <p:spPr>
            <a:xfrm>
              <a:off x="9838944"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4" name="rect_0752"/>
            <p:cNvSpPr/>
            <p:nvPr/>
          </p:nvSpPr>
          <p:spPr>
            <a:xfrm>
              <a:off x="9901936"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rect_0753"/>
            <p:cNvSpPr/>
            <p:nvPr/>
          </p:nvSpPr>
          <p:spPr>
            <a:xfrm>
              <a:off x="9964928" y="478193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6" name="rect_0754"/>
            <p:cNvSpPr/>
            <p:nvPr/>
          </p:nvSpPr>
          <p:spPr>
            <a:xfrm>
              <a:off x="9838944"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rect_0755"/>
            <p:cNvSpPr/>
            <p:nvPr/>
          </p:nvSpPr>
          <p:spPr>
            <a:xfrm>
              <a:off x="9870440"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rect_0756"/>
            <p:cNvSpPr/>
            <p:nvPr/>
          </p:nvSpPr>
          <p:spPr>
            <a:xfrm>
              <a:off x="9901936"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9" name="rect_0757"/>
            <p:cNvSpPr/>
            <p:nvPr/>
          </p:nvSpPr>
          <p:spPr>
            <a:xfrm>
              <a:off x="9964928"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rect_0758"/>
            <p:cNvSpPr/>
            <p:nvPr/>
          </p:nvSpPr>
          <p:spPr>
            <a:xfrm>
              <a:off x="9901936"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rect_0759"/>
            <p:cNvSpPr/>
            <p:nvPr/>
          </p:nvSpPr>
          <p:spPr>
            <a:xfrm>
              <a:off x="999642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2" name="rect_0760"/>
            <p:cNvSpPr/>
            <p:nvPr/>
          </p:nvSpPr>
          <p:spPr>
            <a:xfrm>
              <a:off x="9838944"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rect_0761"/>
            <p:cNvSpPr/>
            <p:nvPr/>
          </p:nvSpPr>
          <p:spPr>
            <a:xfrm>
              <a:off x="9901936"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rect_0762"/>
            <p:cNvSpPr/>
            <p:nvPr/>
          </p:nvSpPr>
          <p:spPr>
            <a:xfrm>
              <a:off x="9933432"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5" name="rect_0763"/>
            <p:cNvSpPr/>
            <p:nvPr/>
          </p:nvSpPr>
          <p:spPr>
            <a:xfrm>
              <a:off x="9838944"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rect_0764"/>
            <p:cNvSpPr/>
            <p:nvPr/>
          </p:nvSpPr>
          <p:spPr>
            <a:xfrm>
              <a:off x="9901936"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rect_0765"/>
            <p:cNvSpPr/>
            <p:nvPr/>
          </p:nvSpPr>
          <p:spPr>
            <a:xfrm>
              <a:off x="9838944"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8" name="rect_0766"/>
            <p:cNvSpPr/>
            <p:nvPr/>
          </p:nvSpPr>
          <p:spPr>
            <a:xfrm>
              <a:off x="9870440" y="4944237"/>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rect_0767"/>
            <p:cNvSpPr/>
            <p:nvPr/>
          </p:nvSpPr>
          <p:spPr>
            <a:xfrm>
              <a:off x="9996424"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0" name="rect_0768"/>
            <p:cNvSpPr/>
            <p:nvPr/>
          </p:nvSpPr>
          <p:spPr>
            <a:xfrm>
              <a:off x="9838944"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rect_0769"/>
            <p:cNvSpPr/>
            <p:nvPr/>
          </p:nvSpPr>
          <p:spPr>
            <a:xfrm>
              <a:off x="9870440"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rect_0770"/>
            <p:cNvSpPr/>
            <p:nvPr/>
          </p:nvSpPr>
          <p:spPr>
            <a:xfrm>
              <a:off x="9933432"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rect_0771"/>
            <p:cNvSpPr/>
            <p:nvPr/>
          </p:nvSpPr>
          <p:spPr>
            <a:xfrm>
              <a:off x="983894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4" name="rect_0772"/>
            <p:cNvSpPr/>
            <p:nvPr/>
          </p:nvSpPr>
          <p:spPr>
            <a:xfrm>
              <a:off x="9870440"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5" name="rect_0773"/>
            <p:cNvSpPr/>
            <p:nvPr/>
          </p:nvSpPr>
          <p:spPr>
            <a:xfrm>
              <a:off x="9901936"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6" name="rect_0774"/>
            <p:cNvSpPr/>
            <p:nvPr/>
          </p:nvSpPr>
          <p:spPr>
            <a:xfrm>
              <a:off x="9964928"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7" name="rect_0775"/>
            <p:cNvSpPr/>
            <p:nvPr/>
          </p:nvSpPr>
          <p:spPr>
            <a:xfrm>
              <a:off x="999642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8" name="rect_0776"/>
            <p:cNvSpPr/>
            <p:nvPr/>
          </p:nvSpPr>
          <p:spPr>
            <a:xfrm>
              <a:off x="9870440"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9" name="rect_0777"/>
            <p:cNvSpPr/>
            <p:nvPr/>
          </p:nvSpPr>
          <p:spPr>
            <a:xfrm>
              <a:off x="9901936"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0" name="rect_0778"/>
            <p:cNvSpPr/>
            <p:nvPr/>
          </p:nvSpPr>
          <p:spPr>
            <a:xfrm>
              <a:off x="9964928"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1" name="rect_0779"/>
            <p:cNvSpPr/>
            <p:nvPr/>
          </p:nvSpPr>
          <p:spPr>
            <a:xfrm>
              <a:off x="9838944"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2" name="rect_0780"/>
            <p:cNvSpPr/>
            <p:nvPr/>
          </p:nvSpPr>
          <p:spPr>
            <a:xfrm>
              <a:off x="9901936" y="505244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3" name="inference_early_token1_L16_solid"/>
            <p:cNvSpPr/>
            <p:nvPr/>
          </p:nvSpPr>
          <p:spPr>
            <a:xfrm>
              <a:off x="9838944"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4" name="rect_0782"/>
            <p:cNvSpPr/>
            <p:nvPr/>
          </p:nvSpPr>
          <p:spPr>
            <a:xfrm>
              <a:off x="983894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5" name="rect_0783"/>
            <p:cNvSpPr/>
            <p:nvPr/>
          </p:nvSpPr>
          <p:spPr>
            <a:xfrm>
              <a:off x="9870440" y="507949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6" name="rect_0784"/>
            <p:cNvSpPr/>
            <p:nvPr/>
          </p:nvSpPr>
          <p:spPr>
            <a:xfrm>
              <a:off x="999642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7" name="rect_0785"/>
            <p:cNvSpPr/>
            <p:nvPr/>
          </p:nvSpPr>
          <p:spPr>
            <a:xfrm>
              <a:off x="9838944"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8" name="rect_0786"/>
            <p:cNvSpPr/>
            <p:nvPr/>
          </p:nvSpPr>
          <p:spPr>
            <a:xfrm>
              <a:off x="9964928"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9" name="rect_0787"/>
            <p:cNvSpPr/>
            <p:nvPr/>
          </p:nvSpPr>
          <p:spPr>
            <a:xfrm>
              <a:off x="983894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0" name="rect_0788"/>
            <p:cNvSpPr/>
            <p:nvPr/>
          </p:nvSpPr>
          <p:spPr>
            <a:xfrm>
              <a:off x="9870440" y="5133594"/>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1" name="rect_0789"/>
            <p:cNvSpPr/>
            <p:nvPr/>
          </p:nvSpPr>
          <p:spPr>
            <a:xfrm>
              <a:off x="999642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2" name="rect_0790"/>
            <p:cNvSpPr/>
            <p:nvPr/>
          </p:nvSpPr>
          <p:spPr>
            <a:xfrm>
              <a:off x="9838944"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3" name="rect_0791"/>
            <p:cNvSpPr/>
            <p:nvPr/>
          </p:nvSpPr>
          <p:spPr>
            <a:xfrm>
              <a:off x="9870440"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4" name="rect_0792"/>
            <p:cNvSpPr/>
            <p:nvPr/>
          </p:nvSpPr>
          <p:spPr>
            <a:xfrm>
              <a:off x="996492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5" name="rect_0793"/>
            <p:cNvSpPr/>
            <p:nvPr/>
          </p:nvSpPr>
          <p:spPr>
            <a:xfrm>
              <a:off x="9996424"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6" name="rect_0794"/>
            <p:cNvSpPr/>
            <p:nvPr/>
          </p:nvSpPr>
          <p:spPr>
            <a:xfrm>
              <a:off x="9838944" y="5187696"/>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7" name="rect_0795"/>
            <p:cNvSpPr/>
            <p:nvPr/>
          </p:nvSpPr>
          <p:spPr>
            <a:xfrm>
              <a:off x="996492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8" name="rect_0796"/>
            <p:cNvSpPr/>
            <p:nvPr/>
          </p:nvSpPr>
          <p:spPr>
            <a:xfrm>
              <a:off x="9996424"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9" name="rect_0797"/>
            <p:cNvSpPr/>
            <p:nvPr/>
          </p:nvSpPr>
          <p:spPr>
            <a:xfrm>
              <a:off x="983894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0" name="rect_0798"/>
            <p:cNvSpPr/>
            <p:nvPr/>
          </p:nvSpPr>
          <p:spPr>
            <a:xfrm>
              <a:off x="9870440"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1" name="rect_0799"/>
            <p:cNvSpPr/>
            <p:nvPr/>
          </p:nvSpPr>
          <p:spPr>
            <a:xfrm>
              <a:off x="9901936"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2" name="rect_0800"/>
            <p:cNvSpPr/>
            <p:nvPr/>
          </p:nvSpPr>
          <p:spPr>
            <a:xfrm>
              <a:off x="9933432" y="521474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3" name="rect_0801"/>
            <p:cNvSpPr/>
            <p:nvPr/>
          </p:nvSpPr>
          <p:spPr>
            <a:xfrm>
              <a:off x="999642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4" name="rect_0802"/>
            <p:cNvSpPr/>
            <p:nvPr/>
          </p:nvSpPr>
          <p:spPr>
            <a:xfrm>
              <a:off x="983894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5" name="rect_0803"/>
            <p:cNvSpPr/>
            <p:nvPr/>
          </p:nvSpPr>
          <p:spPr>
            <a:xfrm>
              <a:off x="987044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6" name="rect_0804"/>
            <p:cNvSpPr/>
            <p:nvPr/>
          </p:nvSpPr>
          <p:spPr>
            <a:xfrm>
              <a:off x="9901936"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7" name="rect_0805"/>
            <p:cNvSpPr/>
            <p:nvPr/>
          </p:nvSpPr>
          <p:spPr>
            <a:xfrm>
              <a:off x="9964928"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8" name="rect_0806"/>
            <p:cNvSpPr/>
            <p:nvPr/>
          </p:nvSpPr>
          <p:spPr>
            <a:xfrm>
              <a:off x="999642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rect_0807"/>
            <p:cNvSpPr/>
            <p:nvPr/>
          </p:nvSpPr>
          <p:spPr>
            <a:xfrm>
              <a:off x="9870440" y="526884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rect_0808"/>
            <p:cNvSpPr/>
            <p:nvPr/>
          </p:nvSpPr>
          <p:spPr>
            <a:xfrm>
              <a:off x="9964928" y="526884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1" name="rect_0809"/>
            <p:cNvSpPr/>
            <p:nvPr/>
          </p:nvSpPr>
          <p:spPr>
            <a:xfrm>
              <a:off x="9838944"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rect_0810"/>
            <p:cNvSpPr/>
            <p:nvPr/>
          </p:nvSpPr>
          <p:spPr>
            <a:xfrm>
              <a:off x="9870440"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rect_0811"/>
            <p:cNvSpPr/>
            <p:nvPr/>
          </p:nvSpPr>
          <p:spPr>
            <a:xfrm>
              <a:off x="9901936"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rect_0812"/>
            <p:cNvSpPr/>
            <p:nvPr/>
          </p:nvSpPr>
          <p:spPr>
            <a:xfrm>
              <a:off x="9964928"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rect_0813"/>
            <p:cNvSpPr/>
            <p:nvPr/>
          </p:nvSpPr>
          <p:spPr>
            <a:xfrm>
              <a:off x="983894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rect_0814"/>
            <p:cNvSpPr/>
            <p:nvPr/>
          </p:nvSpPr>
          <p:spPr>
            <a:xfrm>
              <a:off x="9870440"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7" name="rect_0815"/>
            <p:cNvSpPr/>
            <p:nvPr/>
          </p:nvSpPr>
          <p:spPr>
            <a:xfrm>
              <a:off x="9933432"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rect_0816"/>
            <p:cNvSpPr/>
            <p:nvPr/>
          </p:nvSpPr>
          <p:spPr>
            <a:xfrm>
              <a:off x="9964928"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9" name="rect_0817"/>
            <p:cNvSpPr/>
            <p:nvPr/>
          </p:nvSpPr>
          <p:spPr>
            <a:xfrm>
              <a:off x="999642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rect_0818"/>
            <p:cNvSpPr/>
            <p:nvPr/>
          </p:nvSpPr>
          <p:spPr>
            <a:xfrm>
              <a:off x="983894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 name="rect_0819"/>
            <p:cNvSpPr/>
            <p:nvPr/>
          </p:nvSpPr>
          <p:spPr>
            <a:xfrm>
              <a:off x="987044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rect_0820"/>
            <p:cNvSpPr/>
            <p:nvPr/>
          </p:nvSpPr>
          <p:spPr>
            <a:xfrm>
              <a:off x="9901936"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3" name="rect_0821"/>
            <p:cNvSpPr/>
            <p:nvPr/>
          </p:nvSpPr>
          <p:spPr>
            <a:xfrm>
              <a:off x="9933432"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4" name="rect_0822"/>
            <p:cNvSpPr/>
            <p:nvPr/>
          </p:nvSpPr>
          <p:spPr>
            <a:xfrm>
              <a:off x="999642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5" name="rect_0823"/>
            <p:cNvSpPr/>
            <p:nvPr/>
          </p:nvSpPr>
          <p:spPr>
            <a:xfrm>
              <a:off x="9870440"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rect_0824"/>
            <p:cNvSpPr/>
            <p:nvPr/>
          </p:nvSpPr>
          <p:spPr>
            <a:xfrm>
              <a:off x="9933432"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inference_early_token1_bold_boundary"/>
            <p:cNvSpPr/>
            <p:nvPr/>
          </p:nvSpPr>
          <p:spPr>
            <a:xfrm>
              <a:off x="9838944"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inference_early_token2_L32_solid"/>
            <p:cNvSpPr/>
            <p:nvPr/>
          </p:nvSpPr>
          <p:spPr>
            <a:xfrm>
              <a:off x="10059924"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rect_0827"/>
            <p:cNvSpPr/>
            <p:nvPr/>
          </p:nvSpPr>
          <p:spPr>
            <a:xfrm>
              <a:off x="10122916"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rect_0828"/>
            <p:cNvSpPr/>
            <p:nvPr/>
          </p:nvSpPr>
          <p:spPr>
            <a:xfrm>
              <a:off x="10217404"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rect_0829"/>
            <p:cNvSpPr/>
            <p:nvPr/>
          </p:nvSpPr>
          <p:spPr>
            <a:xfrm>
              <a:off x="100599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inference_early_token2_L24_solid"/>
            <p:cNvSpPr/>
            <p:nvPr/>
          </p:nvSpPr>
          <p:spPr>
            <a:xfrm>
              <a:off x="10059924"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3" name="rect_0831"/>
            <p:cNvSpPr/>
            <p:nvPr/>
          </p:nvSpPr>
          <p:spPr>
            <a:xfrm>
              <a:off x="10091420"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rect_0832"/>
            <p:cNvSpPr/>
            <p:nvPr/>
          </p:nvSpPr>
          <p:spPr>
            <a:xfrm>
              <a:off x="10154412"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rect_0833"/>
            <p:cNvSpPr/>
            <p:nvPr/>
          </p:nvSpPr>
          <p:spPr>
            <a:xfrm>
              <a:off x="10185908"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6" name="rect_0834"/>
            <p:cNvSpPr/>
            <p:nvPr/>
          </p:nvSpPr>
          <p:spPr>
            <a:xfrm>
              <a:off x="10059924"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rect_0835"/>
            <p:cNvSpPr/>
            <p:nvPr/>
          </p:nvSpPr>
          <p:spPr>
            <a:xfrm>
              <a:off x="10091420"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8" name="rect_0836"/>
            <p:cNvSpPr/>
            <p:nvPr/>
          </p:nvSpPr>
          <p:spPr>
            <a:xfrm>
              <a:off x="10185908"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rect_0837"/>
            <p:cNvSpPr/>
            <p:nvPr/>
          </p:nvSpPr>
          <p:spPr>
            <a:xfrm>
              <a:off x="10217404"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rect_0838"/>
            <p:cNvSpPr/>
            <p:nvPr/>
          </p:nvSpPr>
          <p:spPr>
            <a:xfrm>
              <a:off x="1005992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1" name="rect_0839"/>
            <p:cNvSpPr/>
            <p:nvPr/>
          </p:nvSpPr>
          <p:spPr>
            <a:xfrm>
              <a:off x="10122916"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rect_0840"/>
            <p:cNvSpPr/>
            <p:nvPr/>
          </p:nvSpPr>
          <p:spPr>
            <a:xfrm>
              <a:off x="10185908"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rect_0841"/>
            <p:cNvSpPr/>
            <p:nvPr/>
          </p:nvSpPr>
          <p:spPr>
            <a:xfrm>
              <a:off x="10122916"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4" name="rect_0842"/>
            <p:cNvSpPr/>
            <p:nvPr/>
          </p:nvSpPr>
          <p:spPr>
            <a:xfrm>
              <a:off x="10185908"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rect_0843"/>
            <p:cNvSpPr/>
            <p:nvPr/>
          </p:nvSpPr>
          <p:spPr>
            <a:xfrm>
              <a:off x="10217404"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rect_0844"/>
            <p:cNvSpPr/>
            <p:nvPr/>
          </p:nvSpPr>
          <p:spPr>
            <a:xfrm>
              <a:off x="10059924"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7" name="rect_0845"/>
            <p:cNvSpPr/>
            <p:nvPr/>
          </p:nvSpPr>
          <p:spPr>
            <a:xfrm>
              <a:off x="10154412"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rect_0846"/>
            <p:cNvSpPr/>
            <p:nvPr/>
          </p:nvSpPr>
          <p:spPr>
            <a:xfrm>
              <a:off x="1021740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rect_0847"/>
            <p:cNvSpPr/>
            <p:nvPr/>
          </p:nvSpPr>
          <p:spPr>
            <a:xfrm>
              <a:off x="10091420"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rect_0848"/>
            <p:cNvSpPr/>
            <p:nvPr/>
          </p:nvSpPr>
          <p:spPr>
            <a:xfrm>
              <a:off x="10185908"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1" name="rect_0849"/>
            <p:cNvSpPr/>
            <p:nvPr/>
          </p:nvSpPr>
          <p:spPr>
            <a:xfrm>
              <a:off x="10217404"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2" name="rect_0850"/>
            <p:cNvSpPr/>
            <p:nvPr/>
          </p:nvSpPr>
          <p:spPr>
            <a:xfrm>
              <a:off x="10059924"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3" name="rect_0851"/>
            <p:cNvSpPr/>
            <p:nvPr/>
          </p:nvSpPr>
          <p:spPr>
            <a:xfrm>
              <a:off x="10091420"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4" name="rect_0852"/>
            <p:cNvSpPr/>
            <p:nvPr/>
          </p:nvSpPr>
          <p:spPr>
            <a:xfrm>
              <a:off x="10122916" y="491718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5" name="rect_0853"/>
            <p:cNvSpPr/>
            <p:nvPr/>
          </p:nvSpPr>
          <p:spPr>
            <a:xfrm>
              <a:off x="10059924"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6" name="rect_0854"/>
            <p:cNvSpPr/>
            <p:nvPr/>
          </p:nvSpPr>
          <p:spPr>
            <a:xfrm>
              <a:off x="10091420"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7" name="rect_0855"/>
            <p:cNvSpPr/>
            <p:nvPr/>
          </p:nvSpPr>
          <p:spPr>
            <a:xfrm>
              <a:off x="10185908"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8" name="rect_0856"/>
            <p:cNvSpPr/>
            <p:nvPr/>
          </p:nvSpPr>
          <p:spPr>
            <a:xfrm>
              <a:off x="10091420"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9" name="rect_0857"/>
            <p:cNvSpPr/>
            <p:nvPr/>
          </p:nvSpPr>
          <p:spPr>
            <a:xfrm>
              <a:off x="10154412"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0" name="rect_0858"/>
            <p:cNvSpPr/>
            <p:nvPr/>
          </p:nvSpPr>
          <p:spPr>
            <a:xfrm>
              <a:off x="10185908"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1" name="rect_0859"/>
            <p:cNvSpPr/>
            <p:nvPr/>
          </p:nvSpPr>
          <p:spPr>
            <a:xfrm>
              <a:off x="10091420" y="499833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2" name="rect_0860"/>
            <p:cNvSpPr/>
            <p:nvPr/>
          </p:nvSpPr>
          <p:spPr>
            <a:xfrm>
              <a:off x="1021740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3" name="rect_0861"/>
            <p:cNvSpPr/>
            <p:nvPr/>
          </p:nvSpPr>
          <p:spPr>
            <a:xfrm>
              <a:off x="10059924" y="502539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4" name="rect_0862"/>
            <p:cNvSpPr/>
            <p:nvPr/>
          </p:nvSpPr>
          <p:spPr>
            <a:xfrm>
              <a:off x="10154412"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5" name="rect_0863"/>
            <p:cNvSpPr/>
            <p:nvPr/>
          </p:nvSpPr>
          <p:spPr>
            <a:xfrm>
              <a:off x="10185908"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6" name="rect_0864"/>
            <p:cNvSpPr/>
            <p:nvPr/>
          </p:nvSpPr>
          <p:spPr>
            <a:xfrm>
              <a:off x="10059924"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7" name="rect_0865"/>
            <p:cNvSpPr/>
            <p:nvPr/>
          </p:nvSpPr>
          <p:spPr>
            <a:xfrm>
              <a:off x="10091420"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8" name="rect_0866"/>
            <p:cNvSpPr/>
            <p:nvPr/>
          </p:nvSpPr>
          <p:spPr>
            <a:xfrm>
              <a:off x="10122916"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9" name="rect_0867"/>
            <p:cNvSpPr/>
            <p:nvPr/>
          </p:nvSpPr>
          <p:spPr>
            <a:xfrm>
              <a:off x="1021740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0" name="inference_early_token2_L16_solid"/>
            <p:cNvSpPr/>
            <p:nvPr/>
          </p:nvSpPr>
          <p:spPr>
            <a:xfrm>
              <a:off x="10059924"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1" name="rect_0869"/>
            <p:cNvSpPr/>
            <p:nvPr/>
          </p:nvSpPr>
          <p:spPr>
            <a:xfrm>
              <a:off x="1005992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2" name="rect_0870"/>
            <p:cNvSpPr/>
            <p:nvPr/>
          </p:nvSpPr>
          <p:spPr>
            <a:xfrm>
              <a:off x="10122916"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3" name="rect_0871"/>
            <p:cNvSpPr/>
            <p:nvPr/>
          </p:nvSpPr>
          <p:spPr>
            <a:xfrm>
              <a:off x="10154412"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4" name="rect_0872"/>
            <p:cNvSpPr/>
            <p:nvPr/>
          </p:nvSpPr>
          <p:spPr>
            <a:xfrm>
              <a:off x="10185908"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5" name="rect_0873"/>
            <p:cNvSpPr/>
            <p:nvPr/>
          </p:nvSpPr>
          <p:spPr>
            <a:xfrm>
              <a:off x="10059924"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6" name="rect_0874"/>
            <p:cNvSpPr/>
            <p:nvPr/>
          </p:nvSpPr>
          <p:spPr>
            <a:xfrm>
              <a:off x="10091420" y="5106542"/>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7" name="rect_0875"/>
            <p:cNvSpPr/>
            <p:nvPr/>
          </p:nvSpPr>
          <p:spPr>
            <a:xfrm>
              <a:off x="10059924"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8" name="rect_0876"/>
            <p:cNvSpPr/>
            <p:nvPr/>
          </p:nvSpPr>
          <p:spPr>
            <a:xfrm>
              <a:off x="10091420"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9" name="rect_0877"/>
            <p:cNvSpPr/>
            <p:nvPr/>
          </p:nvSpPr>
          <p:spPr>
            <a:xfrm>
              <a:off x="10122916" y="513359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0" name="rect_0878"/>
            <p:cNvSpPr/>
            <p:nvPr/>
          </p:nvSpPr>
          <p:spPr>
            <a:xfrm>
              <a:off x="10185908"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1" name="rect_0879"/>
            <p:cNvSpPr/>
            <p:nvPr/>
          </p:nvSpPr>
          <p:spPr>
            <a:xfrm>
              <a:off x="10059924"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2" name="rect_0880"/>
            <p:cNvSpPr/>
            <p:nvPr/>
          </p:nvSpPr>
          <p:spPr>
            <a:xfrm>
              <a:off x="10154412"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3" name="rect_0881"/>
            <p:cNvSpPr/>
            <p:nvPr/>
          </p:nvSpPr>
          <p:spPr>
            <a:xfrm>
              <a:off x="10217404"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4" name="rect_0882"/>
            <p:cNvSpPr/>
            <p:nvPr/>
          </p:nvSpPr>
          <p:spPr>
            <a:xfrm>
              <a:off x="10091420"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5" name="rect_0883"/>
            <p:cNvSpPr/>
            <p:nvPr/>
          </p:nvSpPr>
          <p:spPr>
            <a:xfrm>
              <a:off x="1018590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6" name="rect_0884"/>
            <p:cNvSpPr/>
            <p:nvPr/>
          </p:nvSpPr>
          <p:spPr>
            <a:xfrm>
              <a:off x="10217404"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7" name="rect_0885"/>
            <p:cNvSpPr/>
            <p:nvPr/>
          </p:nvSpPr>
          <p:spPr>
            <a:xfrm>
              <a:off x="1005992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8" name="rect_0886"/>
            <p:cNvSpPr/>
            <p:nvPr/>
          </p:nvSpPr>
          <p:spPr>
            <a:xfrm>
              <a:off x="10091420"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rect_0887"/>
            <p:cNvSpPr/>
            <p:nvPr/>
          </p:nvSpPr>
          <p:spPr>
            <a:xfrm>
              <a:off x="10122916"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 name="rect_0888"/>
            <p:cNvSpPr/>
            <p:nvPr/>
          </p:nvSpPr>
          <p:spPr>
            <a:xfrm>
              <a:off x="10154412"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rect_0889"/>
            <p:cNvSpPr/>
            <p:nvPr/>
          </p:nvSpPr>
          <p:spPr>
            <a:xfrm>
              <a:off x="1005992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 name="rect_0890"/>
            <p:cNvSpPr/>
            <p:nvPr/>
          </p:nvSpPr>
          <p:spPr>
            <a:xfrm>
              <a:off x="1009142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 name="rect_0891"/>
            <p:cNvSpPr/>
            <p:nvPr/>
          </p:nvSpPr>
          <p:spPr>
            <a:xfrm>
              <a:off x="10122916"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 name="rect_0892"/>
            <p:cNvSpPr/>
            <p:nvPr/>
          </p:nvSpPr>
          <p:spPr>
            <a:xfrm>
              <a:off x="1021740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 name="rect_0893"/>
            <p:cNvSpPr/>
            <p:nvPr/>
          </p:nvSpPr>
          <p:spPr>
            <a:xfrm>
              <a:off x="10059924"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6" name="rect_0894"/>
            <p:cNvSpPr/>
            <p:nvPr/>
          </p:nvSpPr>
          <p:spPr>
            <a:xfrm>
              <a:off x="10091420"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7" name="rect_0895"/>
            <p:cNvSpPr/>
            <p:nvPr/>
          </p:nvSpPr>
          <p:spPr>
            <a:xfrm>
              <a:off x="10059924"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8" name="rect_0896"/>
            <p:cNvSpPr/>
            <p:nvPr/>
          </p:nvSpPr>
          <p:spPr>
            <a:xfrm>
              <a:off x="10154412" y="529589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9" name="rect_0897"/>
            <p:cNvSpPr/>
            <p:nvPr/>
          </p:nvSpPr>
          <p:spPr>
            <a:xfrm>
              <a:off x="1005992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 name="rect_0898"/>
            <p:cNvSpPr/>
            <p:nvPr/>
          </p:nvSpPr>
          <p:spPr>
            <a:xfrm>
              <a:off x="10122916"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 name="rect_0899"/>
            <p:cNvSpPr/>
            <p:nvPr/>
          </p:nvSpPr>
          <p:spPr>
            <a:xfrm>
              <a:off x="10154412"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 name="rect_0900"/>
            <p:cNvSpPr/>
            <p:nvPr/>
          </p:nvSpPr>
          <p:spPr>
            <a:xfrm>
              <a:off x="1021740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 name="rect_0901"/>
            <p:cNvSpPr/>
            <p:nvPr/>
          </p:nvSpPr>
          <p:spPr>
            <a:xfrm>
              <a:off x="1005992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 name="rect_0902"/>
            <p:cNvSpPr/>
            <p:nvPr/>
          </p:nvSpPr>
          <p:spPr>
            <a:xfrm>
              <a:off x="1009142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rect_0903"/>
            <p:cNvSpPr/>
            <p:nvPr/>
          </p:nvSpPr>
          <p:spPr>
            <a:xfrm>
              <a:off x="10154412"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rect_0904"/>
            <p:cNvSpPr/>
            <p:nvPr/>
          </p:nvSpPr>
          <p:spPr>
            <a:xfrm>
              <a:off x="101859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rect_0905"/>
            <p:cNvSpPr/>
            <p:nvPr/>
          </p:nvSpPr>
          <p:spPr>
            <a:xfrm>
              <a:off x="1021740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rect_0906"/>
            <p:cNvSpPr/>
            <p:nvPr/>
          </p:nvSpPr>
          <p:spPr>
            <a:xfrm>
              <a:off x="10059924"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rect_0907"/>
            <p:cNvSpPr/>
            <p:nvPr/>
          </p:nvSpPr>
          <p:spPr>
            <a:xfrm>
              <a:off x="10154412" y="537705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inference_early_token2_bold_boundary"/>
            <p:cNvSpPr/>
            <p:nvPr/>
          </p:nvSpPr>
          <p:spPr>
            <a:xfrm>
              <a:off x="10059924"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inference_early_token3_L32_solid"/>
            <p:cNvSpPr/>
            <p:nvPr/>
          </p:nvSpPr>
          <p:spPr>
            <a:xfrm>
              <a:off x="10280903"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2" name="rect_0910"/>
            <p:cNvSpPr/>
            <p:nvPr/>
          </p:nvSpPr>
          <p:spPr>
            <a:xfrm>
              <a:off x="10343896"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rect_0911"/>
            <p:cNvSpPr/>
            <p:nvPr/>
          </p:nvSpPr>
          <p:spPr>
            <a:xfrm>
              <a:off x="10375392"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rect_0912"/>
            <p:cNvSpPr/>
            <p:nvPr/>
          </p:nvSpPr>
          <p:spPr>
            <a:xfrm>
              <a:off x="10406888" y="426796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rect_0913"/>
            <p:cNvSpPr/>
            <p:nvPr/>
          </p:nvSpPr>
          <p:spPr>
            <a:xfrm>
              <a:off x="10280903"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rect_0914"/>
            <p:cNvSpPr/>
            <p:nvPr/>
          </p:nvSpPr>
          <p:spPr>
            <a:xfrm>
              <a:off x="10375392"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rect_0915"/>
            <p:cNvSpPr/>
            <p:nvPr/>
          </p:nvSpPr>
          <p:spPr>
            <a:xfrm>
              <a:off x="10312400"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inference_early_token3_L24_solid"/>
            <p:cNvSpPr/>
            <p:nvPr/>
          </p:nvSpPr>
          <p:spPr>
            <a:xfrm>
              <a:off x="10280903"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9" name="rect_0917"/>
            <p:cNvSpPr/>
            <p:nvPr/>
          </p:nvSpPr>
          <p:spPr>
            <a:xfrm>
              <a:off x="10312400"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rect_0918"/>
            <p:cNvSpPr/>
            <p:nvPr/>
          </p:nvSpPr>
          <p:spPr>
            <a:xfrm>
              <a:off x="10343896"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rect_0919"/>
            <p:cNvSpPr/>
            <p:nvPr/>
          </p:nvSpPr>
          <p:spPr>
            <a:xfrm>
              <a:off x="10406888"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rect_0920"/>
            <p:cNvSpPr/>
            <p:nvPr/>
          </p:nvSpPr>
          <p:spPr>
            <a:xfrm>
              <a:off x="10438384"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rect_0921"/>
            <p:cNvSpPr/>
            <p:nvPr/>
          </p:nvSpPr>
          <p:spPr>
            <a:xfrm>
              <a:off x="10280903"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rect_0922"/>
            <p:cNvSpPr/>
            <p:nvPr/>
          </p:nvSpPr>
          <p:spPr>
            <a:xfrm>
              <a:off x="10312400"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rect_0923"/>
            <p:cNvSpPr/>
            <p:nvPr/>
          </p:nvSpPr>
          <p:spPr>
            <a:xfrm>
              <a:off x="10280903"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rect_0924"/>
            <p:cNvSpPr/>
            <p:nvPr/>
          </p:nvSpPr>
          <p:spPr>
            <a:xfrm>
              <a:off x="10312400"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rect_0925"/>
            <p:cNvSpPr/>
            <p:nvPr/>
          </p:nvSpPr>
          <p:spPr>
            <a:xfrm>
              <a:off x="10343896"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rect_0926"/>
            <p:cNvSpPr/>
            <p:nvPr/>
          </p:nvSpPr>
          <p:spPr>
            <a:xfrm>
              <a:off x="1043838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rect_0927"/>
            <p:cNvSpPr/>
            <p:nvPr/>
          </p:nvSpPr>
          <p:spPr>
            <a:xfrm>
              <a:off x="10280903" y="4836033"/>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rect_0928"/>
            <p:cNvSpPr/>
            <p:nvPr/>
          </p:nvSpPr>
          <p:spPr>
            <a:xfrm>
              <a:off x="10406888"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rect_0929"/>
            <p:cNvSpPr/>
            <p:nvPr/>
          </p:nvSpPr>
          <p:spPr>
            <a:xfrm>
              <a:off x="10280903" y="486308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rect_0930"/>
            <p:cNvSpPr/>
            <p:nvPr/>
          </p:nvSpPr>
          <p:spPr>
            <a:xfrm>
              <a:off x="10406888" y="486308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rect_0931"/>
            <p:cNvSpPr/>
            <p:nvPr/>
          </p:nvSpPr>
          <p:spPr>
            <a:xfrm>
              <a:off x="10312400"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rect_0932"/>
            <p:cNvSpPr/>
            <p:nvPr/>
          </p:nvSpPr>
          <p:spPr>
            <a:xfrm>
              <a:off x="10406888"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5" name="rect_0933"/>
            <p:cNvSpPr/>
            <p:nvPr/>
          </p:nvSpPr>
          <p:spPr>
            <a:xfrm>
              <a:off x="10438384"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rect_0934"/>
            <p:cNvSpPr/>
            <p:nvPr/>
          </p:nvSpPr>
          <p:spPr>
            <a:xfrm>
              <a:off x="10280903"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7" name="rect_0935"/>
            <p:cNvSpPr/>
            <p:nvPr/>
          </p:nvSpPr>
          <p:spPr>
            <a:xfrm>
              <a:off x="10406888"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rect_0936"/>
            <p:cNvSpPr/>
            <p:nvPr/>
          </p:nvSpPr>
          <p:spPr>
            <a:xfrm>
              <a:off x="10280903"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rect_0937"/>
            <p:cNvSpPr/>
            <p:nvPr/>
          </p:nvSpPr>
          <p:spPr>
            <a:xfrm>
              <a:off x="1040688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0" name="rect_0938"/>
            <p:cNvSpPr/>
            <p:nvPr/>
          </p:nvSpPr>
          <p:spPr>
            <a:xfrm>
              <a:off x="10343896" y="497128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rect_0939"/>
            <p:cNvSpPr/>
            <p:nvPr/>
          </p:nvSpPr>
          <p:spPr>
            <a:xfrm>
              <a:off x="10406888"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2" name="rect_0940"/>
            <p:cNvSpPr/>
            <p:nvPr/>
          </p:nvSpPr>
          <p:spPr>
            <a:xfrm>
              <a:off x="10280903"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rect_0941"/>
            <p:cNvSpPr/>
            <p:nvPr/>
          </p:nvSpPr>
          <p:spPr>
            <a:xfrm>
              <a:off x="10375392"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rect_0942"/>
            <p:cNvSpPr/>
            <p:nvPr/>
          </p:nvSpPr>
          <p:spPr>
            <a:xfrm>
              <a:off x="1043838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rect_0943"/>
            <p:cNvSpPr/>
            <p:nvPr/>
          </p:nvSpPr>
          <p:spPr>
            <a:xfrm>
              <a:off x="10312400"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rect_0944"/>
            <p:cNvSpPr/>
            <p:nvPr/>
          </p:nvSpPr>
          <p:spPr>
            <a:xfrm>
              <a:off x="10438384"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rect_0945"/>
            <p:cNvSpPr/>
            <p:nvPr/>
          </p:nvSpPr>
          <p:spPr>
            <a:xfrm>
              <a:off x="10312400" y="505244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8" name="rect_0946"/>
            <p:cNvSpPr/>
            <p:nvPr/>
          </p:nvSpPr>
          <p:spPr>
            <a:xfrm>
              <a:off x="10406888" y="505244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inference_early_token3_L16_solid"/>
            <p:cNvSpPr/>
            <p:nvPr/>
          </p:nvSpPr>
          <p:spPr>
            <a:xfrm>
              <a:off x="10280903"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rect_0948"/>
            <p:cNvSpPr/>
            <p:nvPr/>
          </p:nvSpPr>
          <p:spPr>
            <a:xfrm>
              <a:off x="10280903"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rect_0949"/>
            <p:cNvSpPr/>
            <p:nvPr/>
          </p:nvSpPr>
          <p:spPr>
            <a:xfrm>
              <a:off x="10312400" y="507949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rect_0950"/>
            <p:cNvSpPr/>
            <p:nvPr/>
          </p:nvSpPr>
          <p:spPr>
            <a:xfrm>
              <a:off x="10375392" y="507949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rect_0951"/>
            <p:cNvSpPr/>
            <p:nvPr/>
          </p:nvSpPr>
          <p:spPr>
            <a:xfrm>
              <a:off x="10280903"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4" name="rect_0952"/>
            <p:cNvSpPr/>
            <p:nvPr/>
          </p:nvSpPr>
          <p:spPr>
            <a:xfrm>
              <a:off x="10406888"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5" name="rect_0953"/>
            <p:cNvSpPr/>
            <p:nvPr/>
          </p:nvSpPr>
          <p:spPr>
            <a:xfrm>
              <a:off x="10280903" y="5133594"/>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rect_0954"/>
            <p:cNvSpPr/>
            <p:nvPr/>
          </p:nvSpPr>
          <p:spPr>
            <a:xfrm>
              <a:off x="10375392"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7" name="rect_0955"/>
            <p:cNvSpPr/>
            <p:nvPr/>
          </p:nvSpPr>
          <p:spPr>
            <a:xfrm>
              <a:off x="10406888"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8" name="rect_0956"/>
            <p:cNvSpPr/>
            <p:nvPr/>
          </p:nvSpPr>
          <p:spPr>
            <a:xfrm>
              <a:off x="10312400"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9" name="rect_0957"/>
            <p:cNvSpPr/>
            <p:nvPr/>
          </p:nvSpPr>
          <p:spPr>
            <a:xfrm>
              <a:off x="10375392"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 name="rect_0958"/>
            <p:cNvSpPr/>
            <p:nvPr/>
          </p:nvSpPr>
          <p:spPr>
            <a:xfrm>
              <a:off x="1040688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 name="rect_0959"/>
            <p:cNvSpPr/>
            <p:nvPr/>
          </p:nvSpPr>
          <p:spPr>
            <a:xfrm>
              <a:off x="10280903" y="518769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rect_0960"/>
            <p:cNvSpPr/>
            <p:nvPr/>
          </p:nvSpPr>
          <p:spPr>
            <a:xfrm>
              <a:off x="10375392"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 name="rect_0961"/>
            <p:cNvSpPr/>
            <p:nvPr/>
          </p:nvSpPr>
          <p:spPr>
            <a:xfrm>
              <a:off x="10280903"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4" name="rect_0962"/>
            <p:cNvSpPr/>
            <p:nvPr/>
          </p:nvSpPr>
          <p:spPr>
            <a:xfrm>
              <a:off x="10312400"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5" name="rect_0963"/>
            <p:cNvSpPr/>
            <p:nvPr/>
          </p:nvSpPr>
          <p:spPr>
            <a:xfrm>
              <a:off x="10406888" y="521474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6" name="rect_0964"/>
            <p:cNvSpPr/>
            <p:nvPr/>
          </p:nvSpPr>
          <p:spPr>
            <a:xfrm>
              <a:off x="10280903"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7" name="rect_0965"/>
            <p:cNvSpPr/>
            <p:nvPr/>
          </p:nvSpPr>
          <p:spPr>
            <a:xfrm>
              <a:off x="1031240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8" name="rect_0966"/>
            <p:cNvSpPr/>
            <p:nvPr/>
          </p:nvSpPr>
          <p:spPr>
            <a:xfrm>
              <a:off x="10375392"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rect_0967"/>
            <p:cNvSpPr/>
            <p:nvPr/>
          </p:nvSpPr>
          <p:spPr>
            <a:xfrm>
              <a:off x="10406888"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 name="rect_0968"/>
            <p:cNvSpPr/>
            <p:nvPr/>
          </p:nvSpPr>
          <p:spPr>
            <a:xfrm>
              <a:off x="10280903"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1" name="rect_0969"/>
            <p:cNvSpPr/>
            <p:nvPr/>
          </p:nvSpPr>
          <p:spPr>
            <a:xfrm>
              <a:off x="10312400" y="526884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rect_0970"/>
            <p:cNvSpPr/>
            <p:nvPr/>
          </p:nvSpPr>
          <p:spPr>
            <a:xfrm>
              <a:off x="10438384"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3" name="rect_0971"/>
            <p:cNvSpPr/>
            <p:nvPr/>
          </p:nvSpPr>
          <p:spPr>
            <a:xfrm>
              <a:off x="10280903"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4" name="rect_0972"/>
            <p:cNvSpPr/>
            <p:nvPr/>
          </p:nvSpPr>
          <p:spPr>
            <a:xfrm>
              <a:off x="10312400"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5" name="rect_0973"/>
            <p:cNvSpPr/>
            <p:nvPr/>
          </p:nvSpPr>
          <p:spPr>
            <a:xfrm>
              <a:off x="10343896"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6" name="rect_0974"/>
            <p:cNvSpPr/>
            <p:nvPr/>
          </p:nvSpPr>
          <p:spPr>
            <a:xfrm>
              <a:off x="10375392" y="529589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7" name="rect_0975"/>
            <p:cNvSpPr/>
            <p:nvPr/>
          </p:nvSpPr>
          <p:spPr>
            <a:xfrm>
              <a:off x="10280903"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8" name="rect_0976"/>
            <p:cNvSpPr/>
            <p:nvPr/>
          </p:nvSpPr>
          <p:spPr>
            <a:xfrm>
              <a:off x="10343896"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9" name="rect_0977"/>
            <p:cNvSpPr/>
            <p:nvPr/>
          </p:nvSpPr>
          <p:spPr>
            <a:xfrm>
              <a:off x="10375392" y="532295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0" name="rect_0978"/>
            <p:cNvSpPr/>
            <p:nvPr/>
          </p:nvSpPr>
          <p:spPr>
            <a:xfrm>
              <a:off x="10280903"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1" name="rect_0979"/>
            <p:cNvSpPr/>
            <p:nvPr/>
          </p:nvSpPr>
          <p:spPr>
            <a:xfrm>
              <a:off x="1031240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2" name="rect_0980"/>
            <p:cNvSpPr/>
            <p:nvPr/>
          </p:nvSpPr>
          <p:spPr>
            <a:xfrm>
              <a:off x="10343896"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rect_0981"/>
            <p:cNvSpPr/>
            <p:nvPr/>
          </p:nvSpPr>
          <p:spPr>
            <a:xfrm>
              <a:off x="10375392"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4" name="rect_0982"/>
            <p:cNvSpPr/>
            <p:nvPr/>
          </p:nvSpPr>
          <p:spPr>
            <a:xfrm>
              <a:off x="10406888"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rect_0983"/>
            <p:cNvSpPr/>
            <p:nvPr/>
          </p:nvSpPr>
          <p:spPr>
            <a:xfrm>
              <a:off x="10280903"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6" name="rect_0984"/>
            <p:cNvSpPr/>
            <p:nvPr/>
          </p:nvSpPr>
          <p:spPr>
            <a:xfrm>
              <a:off x="10312400"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rect_0985"/>
            <p:cNvSpPr/>
            <p:nvPr/>
          </p:nvSpPr>
          <p:spPr>
            <a:xfrm>
              <a:off x="10343896"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rect_0986"/>
            <p:cNvSpPr/>
            <p:nvPr/>
          </p:nvSpPr>
          <p:spPr>
            <a:xfrm>
              <a:off x="10438384"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inference_early_token3_bold_boundary"/>
            <p:cNvSpPr/>
            <p:nvPr/>
          </p:nvSpPr>
          <p:spPr>
            <a:xfrm>
              <a:off x="10280903"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60" name="inference_late_editable_token_strips"/>
          <p:cNvGrpSpPr/>
          <p:nvPr/>
        </p:nvGrpSpPr>
        <p:grpSpPr>
          <a:xfrm>
            <a:off x="10652759" y="4105656"/>
            <a:ext cx="630935" cy="1298448"/>
            <a:chOff x="10652759" y="4105656"/>
            <a:chExt cx="630935" cy="1298448"/>
          </a:xfrm>
        </p:grpSpPr>
        <p:sp>
          <p:nvSpPr>
            <p:cNvPr id="992" name="inference_late_token1_L32_solid"/>
            <p:cNvSpPr/>
            <p:nvPr/>
          </p:nvSpPr>
          <p:spPr>
            <a:xfrm>
              <a:off x="10652759"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inference_late_token1_L24_solid"/>
            <p:cNvSpPr/>
            <p:nvPr/>
          </p:nvSpPr>
          <p:spPr>
            <a:xfrm>
              <a:off x="10652759"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rect_0992"/>
            <p:cNvSpPr/>
            <p:nvPr/>
          </p:nvSpPr>
          <p:spPr>
            <a:xfrm>
              <a:off x="10684255"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rect_0993"/>
            <p:cNvSpPr/>
            <p:nvPr/>
          </p:nvSpPr>
          <p:spPr>
            <a:xfrm>
              <a:off x="10715751"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rect_0994"/>
            <p:cNvSpPr/>
            <p:nvPr/>
          </p:nvSpPr>
          <p:spPr>
            <a:xfrm>
              <a:off x="10715751"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rect_0995"/>
            <p:cNvSpPr/>
            <p:nvPr/>
          </p:nvSpPr>
          <p:spPr>
            <a:xfrm>
              <a:off x="10684255"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8" name="rect_0996"/>
            <p:cNvSpPr/>
            <p:nvPr/>
          </p:nvSpPr>
          <p:spPr>
            <a:xfrm>
              <a:off x="10684255"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9" name="rect_0997"/>
            <p:cNvSpPr/>
            <p:nvPr/>
          </p:nvSpPr>
          <p:spPr>
            <a:xfrm>
              <a:off x="10810239"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inference_late_token1_L16_solid"/>
            <p:cNvSpPr/>
            <p:nvPr/>
          </p:nvSpPr>
          <p:spPr>
            <a:xfrm>
              <a:off x="10652759"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ect_0999"/>
            <p:cNvSpPr/>
            <p:nvPr/>
          </p:nvSpPr>
          <p:spPr>
            <a:xfrm>
              <a:off x="10684255" y="507949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_1000"/>
            <p:cNvSpPr/>
            <p:nvPr/>
          </p:nvSpPr>
          <p:spPr>
            <a:xfrm>
              <a:off x="10810239"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rect_1001"/>
            <p:cNvSpPr/>
            <p:nvPr/>
          </p:nvSpPr>
          <p:spPr>
            <a:xfrm>
              <a:off x="10715751"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rect_1002"/>
            <p:cNvSpPr/>
            <p:nvPr/>
          </p:nvSpPr>
          <p:spPr>
            <a:xfrm>
              <a:off x="10778743"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rect_1003"/>
            <p:cNvSpPr/>
            <p:nvPr/>
          </p:nvSpPr>
          <p:spPr>
            <a:xfrm>
              <a:off x="10652759"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ect_1004"/>
            <p:cNvSpPr/>
            <p:nvPr/>
          </p:nvSpPr>
          <p:spPr>
            <a:xfrm>
              <a:off x="10684255" y="513359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_1005"/>
            <p:cNvSpPr/>
            <p:nvPr/>
          </p:nvSpPr>
          <p:spPr>
            <a:xfrm>
              <a:off x="10810239"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rect_1006"/>
            <p:cNvSpPr/>
            <p:nvPr/>
          </p:nvSpPr>
          <p:spPr>
            <a:xfrm>
              <a:off x="10652759"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rect_1007"/>
            <p:cNvSpPr/>
            <p:nvPr/>
          </p:nvSpPr>
          <p:spPr>
            <a:xfrm>
              <a:off x="10652759" y="518769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rect_1008"/>
            <p:cNvSpPr/>
            <p:nvPr/>
          </p:nvSpPr>
          <p:spPr>
            <a:xfrm>
              <a:off x="10810239"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ect_1009"/>
            <p:cNvSpPr/>
            <p:nvPr/>
          </p:nvSpPr>
          <p:spPr>
            <a:xfrm>
              <a:off x="10684255"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_1010"/>
            <p:cNvSpPr/>
            <p:nvPr/>
          </p:nvSpPr>
          <p:spPr>
            <a:xfrm>
              <a:off x="10715751"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rect_1011"/>
            <p:cNvSpPr/>
            <p:nvPr/>
          </p:nvSpPr>
          <p:spPr>
            <a:xfrm>
              <a:off x="10747247"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rect_1012"/>
            <p:cNvSpPr/>
            <p:nvPr/>
          </p:nvSpPr>
          <p:spPr>
            <a:xfrm>
              <a:off x="10684255"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rect_1013"/>
            <p:cNvSpPr/>
            <p:nvPr/>
          </p:nvSpPr>
          <p:spPr>
            <a:xfrm>
              <a:off x="10747247"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ect_1014"/>
            <p:cNvSpPr/>
            <p:nvPr/>
          </p:nvSpPr>
          <p:spPr>
            <a:xfrm>
              <a:off x="10778743"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rect_1015"/>
            <p:cNvSpPr/>
            <p:nvPr/>
          </p:nvSpPr>
          <p:spPr>
            <a:xfrm>
              <a:off x="1081023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rect_1016"/>
            <p:cNvSpPr/>
            <p:nvPr/>
          </p:nvSpPr>
          <p:spPr>
            <a:xfrm>
              <a:off x="10778743"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rect_1017"/>
            <p:cNvSpPr/>
            <p:nvPr/>
          </p:nvSpPr>
          <p:spPr>
            <a:xfrm>
              <a:off x="10684255"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rect_1018"/>
            <p:cNvSpPr/>
            <p:nvPr/>
          </p:nvSpPr>
          <p:spPr>
            <a:xfrm>
              <a:off x="10715751"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rect_1019"/>
            <p:cNvSpPr/>
            <p:nvPr/>
          </p:nvSpPr>
          <p:spPr>
            <a:xfrm>
              <a:off x="10778743"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rect_1020"/>
            <p:cNvSpPr/>
            <p:nvPr/>
          </p:nvSpPr>
          <p:spPr>
            <a:xfrm>
              <a:off x="10652759"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rect_1021"/>
            <p:cNvSpPr/>
            <p:nvPr/>
          </p:nvSpPr>
          <p:spPr>
            <a:xfrm>
              <a:off x="10715751"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rect_1022"/>
            <p:cNvSpPr/>
            <p:nvPr/>
          </p:nvSpPr>
          <p:spPr>
            <a:xfrm>
              <a:off x="10778743"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rect_1023"/>
            <p:cNvSpPr/>
            <p:nvPr/>
          </p:nvSpPr>
          <p:spPr>
            <a:xfrm>
              <a:off x="10684255"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rect_1024"/>
            <p:cNvSpPr/>
            <p:nvPr/>
          </p:nvSpPr>
          <p:spPr>
            <a:xfrm>
              <a:off x="10810239"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rect_1025"/>
            <p:cNvSpPr/>
            <p:nvPr/>
          </p:nvSpPr>
          <p:spPr>
            <a:xfrm>
              <a:off x="10684255"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rect_1026"/>
            <p:cNvSpPr/>
            <p:nvPr/>
          </p:nvSpPr>
          <p:spPr>
            <a:xfrm>
              <a:off x="10747247"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inference_late_token1_bold_boundary"/>
            <p:cNvSpPr/>
            <p:nvPr/>
          </p:nvSpPr>
          <p:spPr>
            <a:xfrm>
              <a:off x="10652759"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inference_late_token2_L32_solid"/>
            <p:cNvSpPr/>
            <p:nvPr/>
          </p:nvSpPr>
          <p:spPr>
            <a:xfrm>
              <a:off x="10873740"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inference_late_token2_L24_solid"/>
            <p:cNvSpPr/>
            <p:nvPr/>
          </p:nvSpPr>
          <p:spPr>
            <a:xfrm>
              <a:off x="10873740"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rect_1030"/>
            <p:cNvSpPr/>
            <p:nvPr/>
          </p:nvSpPr>
          <p:spPr>
            <a:xfrm>
              <a:off x="10873740"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rect_1031"/>
            <p:cNvSpPr/>
            <p:nvPr/>
          </p:nvSpPr>
          <p:spPr>
            <a:xfrm>
              <a:off x="10936732"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rect_1032"/>
            <p:cNvSpPr/>
            <p:nvPr/>
          </p:nvSpPr>
          <p:spPr>
            <a:xfrm>
              <a:off x="10999724"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rect_1033"/>
            <p:cNvSpPr/>
            <p:nvPr/>
          </p:nvSpPr>
          <p:spPr>
            <a:xfrm>
              <a:off x="10968228"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rect_1034"/>
            <p:cNvSpPr/>
            <p:nvPr/>
          </p:nvSpPr>
          <p:spPr>
            <a:xfrm>
              <a:off x="10873740"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inference_late_token2_L16_solid"/>
            <p:cNvSpPr/>
            <p:nvPr/>
          </p:nvSpPr>
          <p:spPr>
            <a:xfrm>
              <a:off x="10873740"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rect_1036"/>
            <p:cNvSpPr/>
            <p:nvPr/>
          </p:nvSpPr>
          <p:spPr>
            <a:xfrm>
              <a:off x="10873740"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9" name="rect_1037"/>
            <p:cNvSpPr/>
            <p:nvPr/>
          </p:nvSpPr>
          <p:spPr>
            <a:xfrm>
              <a:off x="10936732"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0" name="rect_1038"/>
            <p:cNvSpPr/>
            <p:nvPr/>
          </p:nvSpPr>
          <p:spPr>
            <a:xfrm>
              <a:off x="1096822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rect_1039"/>
            <p:cNvSpPr/>
            <p:nvPr/>
          </p:nvSpPr>
          <p:spPr>
            <a:xfrm>
              <a:off x="10999724"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rect_1040"/>
            <p:cNvSpPr/>
            <p:nvPr/>
          </p:nvSpPr>
          <p:spPr>
            <a:xfrm>
              <a:off x="10873740"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rect_1041"/>
            <p:cNvSpPr/>
            <p:nvPr/>
          </p:nvSpPr>
          <p:spPr>
            <a:xfrm>
              <a:off x="10905236"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rect_1042"/>
            <p:cNvSpPr/>
            <p:nvPr/>
          </p:nvSpPr>
          <p:spPr>
            <a:xfrm>
              <a:off x="10936732"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 name="rect_1043"/>
            <p:cNvSpPr/>
            <p:nvPr/>
          </p:nvSpPr>
          <p:spPr>
            <a:xfrm>
              <a:off x="10999724"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rect_1044"/>
            <p:cNvSpPr/>
            <p:nvPr/>
          </p:nvSpPr>
          <p:spPr>
            <a:xfrm>
              <a:off x="10873740"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rect_1045"/>
            <p:cNvSpPr/>
            <p:nvPr/>
          </p:nvSpPr>
          <p:spPr>
            <a:xfrm>
              <a:off x="10905236" y="518769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rect_1046"/>
            <p:cNvSpPr/>
            <p:nvPr/>
          </p:nvSpPr>
          <p:spPr>
            <a:xfrm>
              <a:off x="10999724"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9" name="rect_1047"/>
            <p:cNvSpPr/>
            <p:nvPr/>
          </p:nvSpPr>
          <p:spPr>
            <a:xfrm>
              <a:off x="11031220"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rect_1048"/>
            <p:cNvSpPr/>
            <p:nvPr/>
          </p:nvSpPr>
          <p:spPr>
            <a:xfrm>
              <a:off x="10905236"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rect_1049"/>
            <p:cNvSpPr/>
            <p:nvPr/>
          </p:nvSpPr>
          <p:spPr>
            <a:xfrm>
              <a:off x="10968228"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2" name="rect_1050"/>
            <p:cNvSpPr/>
            <p:nvPr/>
          </p:nvSpPr>
          <p:spPr>
            <a:xfrm>
              <a:off x="10905236"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rect_1051"/>
            <p:cNvSpPr/>
            <p:nvPr/>
          </p:nvSpPr>
          <p:spPr>
            <a:xfrm>
              <a:off x="10936732"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rect_1052"/>
            <p:cNvSpPr/>
            <p:nvPr/>
          </p:nvSpPr>
          <p:spPr>
            <a:xfrm>
              <a:off x="10905236"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5" name="rect_1053"/>
            <p:cNvSpPr/>
            <p:nvPr/>
          </p:nvSpPr>
          <p:spPr>
            <a:xfrm>
              <a:off x="10873740"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6" name="rect_1054"/>
            <p:cNvSpPr/>
            <p:nvPr/>
          </p:nvSpPr>
          <p:spPr>
            <a:xfrm>
              <a:off x="10999724" y="529589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7" name="rect_1055"/>
            <p:cNvSpPr/>
            <p:nvPr/>
          </p:nvSpPr>
          <p:spPr>
            <a:xfrm>
              <a:off x="10936732"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8" name="rect_1056"/>
            <p:cNvSpPr/>
            <p:nvPr/>
          </p:nvSpPr>
          <p:spPr>
            <a:xfrm>
              <a:off x="10999724"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rect_1057"/>
            <p:cNvSpPr/>
            <p:nvPr/>
          </p:nvSpPr>
          <p:spPr>
            <a:xfrm>
              <a:off x="1103122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rect_1058"/>
            <p:cNvSpPr/>
            <p:nvPr/>
          </p:nvSpPr>
          <p:spPr>
            <a:xfrm>
              <a:off x="10936732"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1" name="rect_1059"/>
            <p:cNvSpPr/>
            <p:nvPr/>
          </p:nvSpPr>
          <p:spPr>
            <a:xfrm>
              <a:off x="11031220"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inference_late_token2_bold_boundary"/>
            <p:cNvSpPr/>
            <p:nvPr/>
          </p:nvSpPr>
          <p:spPr>
            <a:xfrm>
              <a:off x="10873740"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3" name="inference_late_token3_L32_solid"/>
            <p:cNvSpPr/>
            <p:nvPr/>
          </p:nvSpPr>
          <p:spPr>
            <a:xfrm>
              <a:off x="11094719"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4" name="inference_late_token3_L24_solid"/>
            <p:cNvSpPr/>
            <p:nvPr/>
          </p:nvSpPr>
          <p:spPr>
            <a:xfrm>
              <a:off x="11094719"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rect_1063"/>
            <p:cNvSpPr/>
            <p:nvPr/>
          </p:nvSpPr>
          <p:spPr>
            <a:xfrm>
              <a:off x="11157711"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rect_1064"/>
            <p:cNvSpPr/>
            <p:nvPr/>
          </p:nvSpPr>
          <p:spPr>
            <a:xfrm>
              <a:off x="11126215"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7" name="rect_1065"/>
            <p:cNvSpPr/>
            <p:nvPr/>
          </p:nvSpPr>
          <p:spPr>
            <a:xfrm>
              <a:off x="11094719"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8" name="rect_1066"/>
            <p:cNvSpPr/>
            <p:nvPr/>
          </p:nvSpPr>
          <p:spPr>
            <a:xfrm>
              <a:off x="11252199"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inference_late_token3_L16_solid"/>
            <p:cNvSpPr/>
            <p:nvPr/>
          </p:nvSpPr>
          <p:spPr>
            <a:xfrm>
              <a:off x="11094719"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0" name="rect_1068"/>
            <p:cNvSpPr/>
            <p:nvPr/>
          </p:nvSpPr>
          <p:spPr>
            <a:xfrm>
              <a:off x="11126215"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1" name="rect_1069"/>
            <p:cNvSpPr/>
            <p:nvPr/>
          </p:nvSpPr>
          <p:spPr>
            <a:xfrm>
              <a:off x="11220703"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rect_1070"/>
            <p:cNvSpPr/>
            <p:nvPr/>
          </p:nvSpPr>
          <p:spPr>
            <a:xfrm>
              <a:off x="11094719"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3" name="rect_1071"/>
            <p:cNvSpPr/>
            <p:nvPr/>
          </p:nvSpPr>
          <p:spPr>
            <a:xfrm>
              <a:off x="11157711"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rect_1072"/>
            <p:cNvSpPr/>
            <p:nvPr/>
          </p:nvSpPr>
          <p:spPr>
            <a:xfrm>
              <a:off x="11220703"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5" name="rect_1073"/>
            <p:cNvSpPr/>
            <p:nvPr/>
          </p:nvSpPr>
          <p:spPr>
            <a:xfrm>
              <a:off x="11094719"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rect_1074"/>
            <p:cNvSpPr/>
            <p:nvPr/>
          </p:nvSpPr>
          <p:spPr>
            <a:xfrm>
              <a:off x="11189207"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rect_1075"/>
            <p:cNvSpPr/>
            <p:nvPr/>
          </p:nvSpPr>
          <p:spPr>
            <a:xfrm>
              <a:off x="11126215"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rect_1076"/>
            <p:cNvSpPr/>
            <p:nvPr/>
          </p:nvSpPr>
          <p:spPr>
            <a:xfrm>
              <a:off x="11189207"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rect_1077"/>
            <p:cNvSpPr/>
            <p:nvPr/>
          </p:nvSpPr>
          <p:spPr>
            <a:xfrm>
              <a:off x="11094719" y="518769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0" name="rect_1078"/>
            <p:cNvSpPr/>
            <p:nvPr/>
          </p:nvSpPr>
          <p:spPr>
            <a:xfrm>
              <a:off x="11189207"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rect_1079"/>
            <p:cNvSpPr/>
            <p:nvPr/>
          </p:nvSpPr>
          <p:spPr>
            <a:xfrm>
              <a:off x="11094719"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2" name="rect_1080"/>
            <p:cNvSpPr/>
            <p:nvPr/>
          </p:nvSpPr>
          <p:spPr>
            <a:xfrm>
              <a:off x="11126215"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rect_1081"/>
            <p:cNvSpPr/>
            <p:nvPr/>
          </p:nvSpPr>
          <p:spPr>
            <a:xfrm>
              <a:off x="11220703"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rect_1082"/>
            <p:cNvSpPr/>
            <p:nvPr/>
          </p:nvSpPr>
          <p:spPr>
            <a:xfrm>
              <a:off x="1109471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rect_1083"/>
            <p:cNvSpPr/>
            <p:nvPr/>
          </p:nvSpPr>
          <p:spPr>
            <a:xfrm>
              <a:off x="11094719"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rect_1084"/>
            <p:cNvSpPr/>
            <p:nvPr/>
          </p:nvSpPr>
          <p:spPr>
            <a:xfrm>
              <a:off x="11189207" y="526884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rect_1085"/>
            <p:cNvSpPr/>
            <p:nvPr/>
          </p:nvSpPr>
          <p:spPr>
            <a:xfrm>
              <a:off x="11252199"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rect_1086"/>
            <p:cNvSpPr/>
            <p:nvPr/>
          </p:nvSpPr>
          <p:spPr>
            <a:xfrm>
              <a:off x="11094719"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rect_1087"/>
            <p:cNvSpPr/>
            <p:nvPr/>
          </p:nvSpPr>
          <p:spPr>
            <a:xfrm>
              <a:off x="11126215"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rect_1088"/>
            <p:cNvSpPr/>
            <p:nvPr/>
          </p:nvSpPr>
          <p:spPr>
            <a:xfrm>
              <a:off x="11157711"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rect_1089"/>
            <p:cNvSpPr/>
            <p:nvPr/>
          </p:nvSpPr>
          <p:spPr>
            <a:xfrm>
              <a:off x="11189207"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2" name="rect_1090"/>
            <p:cNvSpPr/>
            <p:nvPr/>
          </p:nvSpPr>
          <p:spPr>
            <a:xfrm>
              <a:off x="11094719"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rect_1091"/>
            <p:cNvSpPr/>
            <p:nvPr/>
          </p:nvSpPr>
          <p:spPr>
            <a:xfrm>
              <a:off x="11157711"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rect_1092"/>
            <p:cNvSpPr/>
            <p:nvPr/>
          </p:nvSpPr>
          <p:spPr>
            <a:xfrm>
              <a:off x="11189207"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5" name="rect_1093"/>
            <p:cNvSpPr/>
            <p:nvPr/>
          </p:nvSpPr>
          <p:spPr>
            <a:xfrm>
              <a:off x="11126215"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rect_1094"/>
            <p:cNvSpPr/>
            <p:nvPr/>
          </p:nvSpPr>
          <p:spPr>
            <a:xfrm>
              <a:off x="11157711"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rect_1095"/>
            <p:cNvSpPr/>
            <p:nvPr/>
          </p:nvSpPr>
          <p:spPr>
            <a:xfrm>
              <a:off x="11189207"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8" name="rect_1096"/>
            <p:cNvSpPr/>
            <p:nvPr/>
          </p:nvSpPr>
          <p:spPr>
            <a:xfrm>
              <a:off x="11094719"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rect_1097"/>
            <p:cNvSpPr/>
            <p:nvPr/>
          </p:nvSpPr>
          <p:spPr>
            <a:xfrm>
              <a:off x="11126215"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rect_1098"/>
            <p:cNvSpPr/>
            <p:nvPr/>
          </p:nvSpPr>
          <p:spPr>
            <a:xfrm>
              <a:off x="11252199"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inference_late_token3_bold_boundary"/>
            <p:cNvSpPr/>
            <p:nvPr/>
          </p:nvSpPr>
          <p:spPr>
            <a:xfrm>
              <a:off x="11094719"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61" name="inference_clean_editable_token_strips"/>
          <p:cNvGrpSpPr/>
          <p:nvPr/>
        </p:nvGrpSpPr>
        <p:grpSpPr>
          <a:xfrm>
            <a:off x="11466576" y="4105656"/>
            <a:ext cx="630934" cy="1298448"/>
            <a:chOff x="11466576" y="4105656"/>
            <a:chExt cx="630934" cy="1298448"/>
          </a:xfrm>
        </p:grpSpPr>
        <p:sp>
          <p:nvSpPr>
            <p:cNvPr id="1104" name="inference_clean_token1_L32_solid"/>
            <p:cNvSpPr/>
            <p:nvPr/>
          </p:nvSpPr>
          <p:spPr>
            <a:xfrm>
              <a:off x="11466576"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5" name="inference_clean_token1_L24_solid"/>
            <p:cNvSpPr/>
            <p:nvPr/>
          </p:nvSpPr>
          <p:spPr>
            <a:xfrm>
              <a:off x="11466576"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6" name="inference_clean_token1_L16_solid"/>
            <p:cNvSpPr/>
            <p:nvPr/>
          </p:nvSpPr>
          <p:spPr>
            <a:xfrm>
              <a:off x="11466576"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7" name="inference_clean_token1_bold_boundary"/>
            <p:cNvSpPr/>
            <p:nvPr/>
          </p:nvSpPr>
          <p:spPr>
            <a:xfrm>
              <a:off x="11466576"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8" name="inference_clean_token2_L32_solid"/>
            <p:cNvSpPr/>
            <p:nvPr/>
          </p:nvSpPr>
          <p:spPr>
            <a:xfrm>
              <a:off x="11687556"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9" name="inference_clean_token2_L24_solid"/>
            <p:cNvSpPr/>
            <p:nvPr/>
          </p:nvSpPr>
          <p:spPr>
            <a:xfrm>
              <a:off x="11687556"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0" name="inference_clean_token2_L16_solid"/>
            <p:cNvSpPr/>
            <p:nvPr/>
          </p:nvSpPr>
          <p:spPr>
            <a:xfrm>
              <a:off x="11687556"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1" name="inference_clean_token2_bold_boundary"/>
            <p:cNvSpPr/>
            <p:nvPr/>
          </p:nvSpPr>
          <p:spPr>
            <a:xfrm>
              <a:off x="11687556"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2" name="inference_clean_token3_L32_solid"/>
            <p:cNvSpPr/>
            <p:nvPr/>
          </p:nvSpPr>
          <p:spPr>
            <a:xfrm>
              <a:off x="11908535"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3" name="inference_clean_token3_L24_solid"/>
            <p:cNvSpPr/>
            <p:nvPr/>
          </p:nvSpPr>
          <p:spPr>
            <a:xfrm>
              <a:off x="11908535"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inference_clean_token3_L16_solid"/>
            <p:cNvSpPr/>
            <p:nvPr/>
          </p:nvSpPr>
          <p:spPr>
            <a:xfrm>
              <a:off x="11908535"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5" name="inference_clean_token3_bold_boundary"/>
            <p:cNvSpPr/>
            <p:nvPr/>
          </p:nvSpPr>
          <p:spPr>
            <a:xfrm>
              <a:off x="11908535"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62" name="module_rect_1118"/>
          <p:cNvGrpSpPr/>
          <p:nvPr/>
        </p:nvGrpSpPr>
        <p:grpSpPr>
          <a:xfrm>
            <a:off x="8577072" y="5916168"/>
            <a:ext cx="3621024" cy="420624"/>
            <a:chOff x="8577072" y="5916168"/>
            <a:chExt cx="3621024" cy="420624"/>
          </a:xfrm>
        </p:grpSpPr>
        <p:sp>
          <p:nvSpPr>
            <p:cNvPr id="1120" name="rect_1118"/>
            <p:cNvSpPr/>
            <p:nvPr/>
          </p:nvSpPr>
          <p:spPr>
            <a:xfrm>
              <a:off x="8577072" y="5916168"/>
              <a:ext cx="3621024" cy="420624"/>
            </a:xfrm>
            <a:prstGeom prst="roundRect">
              <a:avLst>
                <a:gd name="adj" fmla="val 12000"/>
              </a:avLst>
            </a:prstGeom>
            <a:solidFill>
              <a:srgbClr val="EDF3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1" name="text_1119"/>
            <p:cNvSpPr txBox="1"/>
            <p:nvPr/>
          </p:nvSpPr>
          <p:spPr>
            <a:xfrm>
              <a:off x="8622792" y="5925312"/>
              <a:ext cx="3529584" cy="402336"/>
            </a:xfrm>
            <a:prstGeom prst="rect">
              <a:avLst/>
            </a:prstGeom>
            <a:noFill/>
          </p:spPr>
          <p:txBody>
            <a:bodyPr wrap="none" lIns="0" tIns="0" rIns="0" bIns="0" anchor="ctr">
              <a:spAutoFit/>
            </a:bodyPr>
            <a:lstStyle/>
            <a:p>
              <a:pPr algn="ctr">
                <a:lnSpc>
                  <a:spcPts val="1807"/>
                </a:lnSpc>
                <a:spcBef>
                  <a:spcPts val="0"/>
                </a:spcBef>
                <a:spcAft>
                  <a:spcPts val="0"/>
                </a:spcAft>
              </a:pPr>
              <a:r>
                <a:rPr sz="1600" b="0">
                  <a:solidFill>
                    <a:srgbClr val="233344"/>
                  </a:solidFill>
                  <a:latin typeface="DejaVu Sans"/>
                </a:rPr>
                <a:t>Joint ELF calls + Euler updates</a:t>
              </a:r>
            </a:p>
          </p:txBody>
        </p:sp>
      </p:grpSp>
      <p:grpSp>
        <p:nvGrpSpPr>
          <p:cNvPr id="1163" name="module_rect_1122"/>
          <p:cNvGrpSpPr/>
          <p:nvPr/>
        </p:nvGrpSpPr>
        <p:grpSpPr>
          <a:xfrm>
            <a:off x="8577072" y="6583680"/>
            <a:ext cx="3621024" cy="420624"/>
            <a:chOff x="8577072" y="6583680"/>
            <a:chExt cx="3621024" cy="420624"/>
          </a:xfrm>
        </p:grpSpPr>
        <p:sp>
          <p:nvSpPr>
            <p:cNvPr id="1124" name="rect_1122"/>
            <p:cNvSpPr/>
            <p:nvPr/>
          </p:nvSpPr>
          <p:spPr>
            <a:xfrm>
              <a:off x="8577072" y="6583680"/>
              <a:ext cx="3621024" cy="420624"/>
            </a:xfrm>
            <a:prstGeom prst="roundRect">
              <a:avLst>
                <a:gd name="adj" fmla="val 12000"/>
              </a:avLst>
            </a:prstGeom>
            <a:solidFill>
              <a:srgbClr val="ECF5F3"/>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5" name="text_1123"/>
            <p:cNvSpPr txBox="1"/>
            <p:nvPr/>
          </p:nvSpPr>
          <p:spPr>
            <a:xfrm>
              <a:off x="8622792" y="6592824"/>
              <a:ext cx="3529584" cy="402336"/>
            </a:xfrm>
            <a:prstGeom prst="rect">
              <a:avLst/>
            </a:prstGeom>
            <a:noFill/>
          </p:spPr>
          <p:txBody>
            <a:bodyPr wrap="none" lIns="0" tIns="0" rIns="0" bIns="0" anchor="ctr">
              <a:spAutoFit/>
            </a:bodyPr>
            <a:lstStyle/>
            <a:p>
              <a:pPr algn="ctr">
                <a:lnSpc>
                  <a:spcPts val="1807"/>
                </a:lnSpc>
                <a:spcBef>
                  <a:spcPts val="0"/>
                </a:spcBef>
                <a:spcAft>
                  <a:spcPts val="0"/>
                </a:spcAft>
              </a:pPr>
              <a:r>
                <a:rPr sz="1600" b="0">
                  <a:solidFill>
                    <a:srgbClr val="233344"/>
                  </a:solidFill>
                  <a:latin typeface="DejaVu Sans"/>
                </a:rPr>
                <a:t>ELF + token head → answer</a:t>
              </a:r>
            </a:p>
          </p:txBody>
        </p:sp>
      </p:grpSp>
      <p:sp>
        <p:nvSpPr>
          <p:cNvPr id="1169" name="v4_text_0005"/>
          <p:cNvSpPr txBox="1"/>
          <p:nvPr/>
        </p:nvSpPr>
        <p:spPr>
          <a:xfrm>
            <a:off x="475488" y="1517904"/>
            <a:ext cx="1627632" cy="25603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Teacher p</a:t>
            </a:r>
          </a:p>
        </p:txBody>
      </p:sp>
      <p:sp>
        <p:nvSpPr>
          <p:cNvPr id="1170" name="v4_text_0006"/>
          <p:cNvSpPr txBox="1"/>
          <p:nvPr/>
        </p:nvSpPr>
        <p:spPr>
          <a:xfrm>
            <a:off x="3118104" y="1517904"/>
            <a:ext cx="1801368" cy="256032"/>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367AB5"/>
                </a:solidFill>
                <a:latin typeface="DejaVu Sans"/>
              </a:rPr>
              <a:t>Reconstructed p̂</a:t>
            </a:r>
          </a:p>
        </p:txBody>
      </p:sp>
      <p:sp>
        <p:nvSpPr>
          <p:cNvPr id="4" name="v4_teacher_distribution_to_CE"/>
          <p:cNvSpPr/>
          <p:nvPr/>
        </p:nvSpPr>
        <p:spPr>
          <a:xfrm>
            <a:off x="1289304" y="1161288"/>
            <a:ext cx="557784" cy="320040"/>
          </a:xfrm>
          <a:custGeom>
            <a:avLst/>
            <a:gdLst/>
            <a:ahLst/>
            <a:cxnLst/>
            <a:rect l="l" t="t" r="r" b="b"/>
            <a:pathLst>
              <a:path w="610" h="350">
                <a:moveTo>
                  <a:pt x="0" y="350"/>
                </a:moveTo>
                <a:lnTo>
                  <a:pt x="0" y="0"/>
                </a:lnTo>
                <a:lnTo>
                  <a:pt x="610" y="0"/>
                </a:lnTo>
              </a:path>
            </a:pathLst>
          </a:custGeom>
          <a:noFill/>
          <a:ln w="1524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v4_reconstructed_distribution_to_CE"/>
          <p:cNvSpPr/>
          <p:nvPr/>
        </p:nvSpPr>
        <p:spPr>
          <a:xfrm>
            <a:off x="3300984" y="1161288"/>
            <a:ext cx="717804" cy="320040"/>
          </a:xfrm>
          <a:custGeom>
            <a:avLst/>
            <a:gdLst/>
            <a:ahLst/>
            <a:cxnLst/>
            <a:rect l="l" t="t" r="r" b="b"/>
            <a:pathLst>
              <a:path w="785" h="350">
                <a:moveTo>
                  <a:pt x="785" y="350"/>
                </a:moveTo>
                <a:lnTo>
                  <a:pt x="785" y="0"/>
                </a:lnTo>
                <a:lnTo>
                  <a:pt x="0" y="0"/>
                </a:lnTo>
              </a:path>
            </a:pathLst>
          </a:custGeom>
          <a:noFill/>
          <a:ln w="1524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4_path_0029"/>
          <p:cNvSpPr/>
          <p:nvPr/>
        </p:nvSpPr>
        <p:spPr>
          <a:xfrm>
            <a:off x="1284732" y="1801368"/>
            <a:ext cx="0" cy="146304"/>
          </a:xfrm>
          <a:custGeom>
            <a:avLst/>
            <a:gdLst/>
            <a:ahLst/>
            <a:cxnLst/>
            <a:rect l="l" t="t" r="r" b="b"/>
            <a:pathLst>
              <a:path w="0" h="160">
                <a:moveTo>
                  <a:pt x="0" y="16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4_path_0050"/>
          <p:cNvSpPr/>
          <p:nvPr/>
        </p:nvSpPr>
        <p:spPr>
          <a:xfrm>
            <a:off x="4009644" y="1801368"/>
            <a:ext cx="0" cy="146304"/>
          </a:xfrm>
          <a:custGeom>
            <a:avLst/>
            <a:gdLst/>
            <a:ahLst/>
            <a:cxnLst/>
            <a:rect l="l" t="t" r="r" b="b"/>
            <a:pathLst>
              <a:path w="0" h="160">
                <a:moveTo>
                  <a:pt x="0" y="16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v4_shared_prefix_to_h16"/>
          <p:cNvSpPr/>
          <p:nvPr/>
        </p:nvSpPr>
        <p:spPr>
          <a:xfrm>
            <a:off x="1536192" y="3154680"/>
            <a:ext cx="0" cy="740664"/>
          </a:xfrm>
          <a:custGeom>
            <a:avLst/>
            <a:gdLst/>
            <a:ahLst/>
            <a:cxnLst/>
            <a:rect l="l" t="t" r="r" b="b"/>
            <a:pathLst>
              <a:path w="0" h="810">
                <a:moveTo>
                  <a:pt x="0" y="81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v4_same_h16_fork"/>
          <p:cNvSpPr/>
          <p:nvPr/>
        </p:nvSpPr>
        <p:spPr>
          <a:xfrm>
            <a:off x="1504188" y="3122676"/>
            <a:ext cx="64008" cy="64008"/>
          </a:xfrm>
          <a:prstGeom prst="roundRect">
            <a:avLst>
              <a:gd name="adj" fmla="val 12000"/>
            </a:avLst>
          </a:prstGeom>
          <a:solidFill>
            <a:srgbClr val="233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v4_text_0073"/>
          <p:cNvSpPr txBox="1"/>
          <p:nvPr/>
        </p:nvSpPr>
        <p:spPr>
          <a:xfrm>
            <a:off x="1636776" y="3364992"/>
            <a:ext cx="448056" cy="274320"/>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h₁₆</a:t>
            </a:r>
          </a:p>
        </p:txBody>
      </p:sp>
      <p:sp>
        <p:nvSpPr>
          <p:cNvPr id="63" name="v4_unchanged_teacher_branch"/>
          <p:cNvSpPr/>
          <p:nvPr/>
        </p:nvSpPr>
        <p:spPr>
          <a:xfrm>
            <a:off x="1284732" y="2578608"/>
            <a:ext cx="251460" cy="576072"/>
          </a:xfrm>
          <a:custGeom>
            <a:avLst/>
            <a:gdLst/>
            <a:ahLst/>
            <a:cxnLst/>
            <a:rect l="l" t="t" r="r" b="b"/>
            <a:pathLst>
              <a:path w="275" h="630">
                <a:moveTo>
                  <a:pt x="275" y="630"/>
                </a:moveTo>
                <a:lnTo>
                  <a:pt x="0" y="630"/>
                </a:lnTo>
                <a:lnTo>
                  <a:pt x="0" y="0"/>
                </a:lnTo>
              </a:path>
            </a:pathLst>
          </a:custGeom>
          <a:noFill/>
          <a:ln w="1524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v4_text_0075"/>
          <p:cNvSpPr txBox="1"/>
          <p:nvPr/>
        </p:nvSpPr>
        <p:spPr>
          <a:xfrm>
            <a:off x="438912" y="2816352"/>
            <a:ext cx="722376" cy="237744"/>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Original</a:t>
            </a:r>
          </a:p>
        </p:txBody>
      </p:sp>
      <p:sp>
        <p:nvSpPr>
          <p:cNvPr id="64" name="v4_h16_to_encoder"/>
          <p:cNvSpPr/>
          <p:nvPr/>
        </p:nvSpPr>
        <p:spPr>
          <a:xfrm>
            <a:off x="1572768" y="3154680"/>
            <a:ext cx="795528" cy="0"/>
          </a:xfrm>
          <a:custGeom>
            <a:avLst/>
            <a:gdLst/>
            <a:ahLst/>
            <a:cxnLst/>
            <a:rect l="l" t="t" r="r" b="b"/>
            <a:pathLst>
              <a:path w="870" h="0">
                <a:moveTo>
                  <a:pt x="0" y="0"/>
                </a:moveTo>
                <a:lnTo>
                  <a:pt x="87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v4_text_0077"/>
          <p:cNvSpPr txBox="1"/>
          <p:nvPr/>
        </p:nvSpPr>
        <p:spPr>
          <a:xfrm>
            <a:off x="1856231" y="2834640"/>
            <a:ext cx="466344"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2560</a:t>
            </a:r>
          </a:p>
        </p:txBody>
      </p:sp>
      <p:sp>
        <p:nvSpPr>
          <p:cNvPr id="65" name="v4_learned_E16"/>
          <p:cNvSpPr/>
          <p:nvPr/>
        </p:nvSpPr>
        <p:spPr>
          <a:xfrm>
            <a:off x="2395728" y="2889504"/>
            <a:ext cx="457200" cy="530352"/>
          </a:xfrm>
          <a:custGeom>
            <a:avLst/>
            <a:gdLst/>
            <a:ahLst/>
            <a:cxnLst/>
            <a:rect l="l" t="t" r="r" b="b"/>
            <a:pathLst>
              <a:path w="500" h="580">
                <a:moveTo>
                  <a:pt x="0" y="0"/>
                </a:moveTo>
                <a:lnTo>
                  <a:pt x="500" y="110"/>
                </a:lnTo>
                <a:lnTo>
                  <a:pt x="500" y="470"/>
                </a:lnTo>
                <a:lnTo>
                  <a:pt x="0" y="58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v4_text_0079"/>
          <p:cNvSpPr txBox="1"/>
          <p:nvPr/>
        </p:nvSpPr>
        <p:spPr>
          <a:xfrm>
            <a:off x="2450592" y="3008376"/>
            <a:ext cx="347472" cy="292608"/>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367AB5"/>
                </a:solidFill>
                <a:latin typeface="DejaVu Sans"/>
              </a:rPr>
              <a:t>E₁₆</a:t>
            </a:r>
          </a:p>
        </p:txBody>
      </p:sp>
      <p:sp>
        <p:nvSpPr>
          <p:cNvPr id="1182" name="v4_text_0082"/>
          <p:cNvSpPr txBox="1"/>
          <p:nvPr/>
        </p:nvSpPr>
        <p:spPr>
          <a:xfrm>
            <a:off x="2304288" y="3529584"/>
            <a:ext cx="649224"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Encoder</a:t>
            </a:r>
          </a:p>
        </p:txBody>
      </p:sp>
      <p:sp>
        <p:nvSpPr>
          <p:cNvPr id="68" name="v4_path_0083"/>
          <p:cNvSpPr/>
          <p:nvPr/>
        </p:nvSpPr>
        <p:spPr>
          <a:xfrm>
            <a:off x="2880360" y="3154680"/>
            <a:ext cx="173736" cy="0"/>
          </a:xfrm>
          <a:custGeom>
            <a:avLst/>
            <a:gdLst/>
            <a:ahLst/>
            <a:cxnLst/>
            <a:rect l="l" t="t" r="r" b="b"/>
            <a:pathLst>
              <a:path w="190" h="0">
                <a:moveTo>
                  <a:pt x="0" y="0"/>
                </a:moveTo>
                <a:lnTo>
                  <a:pt x="19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v4_text_0086"/>
          <p:cNvSpPr txBox="1"/>
          <p:nvPr/>
        </p:nvSpPr>
        <p:spPr>
          <a:xfrm>
            <a:off x="3008376" y="3520440"/>
            <a:ext cx="512064"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256</a:t>
            </a:r>
          </a:p>
        </p:txBody>
      </p:sp>
      <p:sp>
        <p:nvSpPr>
          <p:cNvPr id="69" name="v4_path_0087"/>
          <p:cNvSpPr/>
          <p:nvPr/>
        </p:nvSpPr>
        <p:spPr>
          <a:xfrm>
            <a:off x="3474720" y="3154680"/>
            <a:ext cx="146304" cy="0"/>
          </a:xfrm>
          <a:custGeom>
            <a:avLst/>
            <a:gdLst/>
            <a:ahLst/>
            <a:cxnLst/>
            <a:rect l="l" t="t" r="r" b="b"/>
            <a:pathLst>
              <a:path w="160" h="0">
                <a:moveTo>
                  <a:pt x="0" y="0"/>
                </a:moveTo>
                <a:lnTo>
                  <a:pt x="16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v4_learned_D16"/>
          <p:cNvSpPr/>
          <p:nvPr/>
        </p:nvSpPr>
        <p:spPr>
          <a:xfrm>
            <a:off x="3648456" y="2889504"/>
            <a:ext cx="457200" cy="530352"/>
          </a:xfrm>
          <a:custGeom>
            <a:avLst/>
            <a:gdLst/>
            <a:ahLst/>
            <a:cxnLst/>
            <a:rect l="l" t="t" r="r" b="b"/>
            <a:pathLst>
              <a:path w="500" h="580">
                <a:moveTo>
                  <a:pt x="0" y="110"/>
                </a:moveTo>
                <a:lnTo>
                  <a:pt x="500" y="0"/>
                </a:lnTo>
                <a:lnTo>
                  <a:pt x="500" y="580"/>
                </a:lnTo>
                <a:lnTo>
                  <a:pt x="0" y="47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v4_text_0089"/>
          <p:cNvSpPr txBox="1"/>
          <p:nvPr/>
        </p:nvSpPr>
        <p:spPr>
          <a:xfrm>
            <a:off x="3694176" y="3008376"/>
            <a:ext cx="356616" cy="292608"/>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367AB5"/>
                </a:solidFill>
                <a:latin typeface="DejaVu Sans"/>
              </a:rPr>
              <a:t>D₁₆</a:t>
            </a:r>
          </a:p>
        </p:txBody>
      </p:sp>
      <p:sp>
        <p:nvSpPr>
          <p:cNvPr id="1187" name="v4_text_0092"/>
          <p:cNvSpPr txBox="1"/>
          <p:nvPr/>
        </p:nvSpPr>
        <p:spPr>
          <a:xfrm>
            <a:off x="3575304" y="3529584"/>
            <a:ext cx="676656"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Decoder</a:t>
            </a:r>
          </a:p>
        </p:txBody>
      </p:sp>
      <p:sp>
        <p:nvSpPr>
          <p:cNvPr id="73" name="v4_reconstruction_to_frozen_suffix"/>
          <p:cNvSpPr/>
          <p:nvPr/>
        </p:nvSpPr>
        <p:spPr>
          <a:xfrm>
            <a:off x="4133088" y="2578608"/>
            <a:ext cx="320040" cy="576072"/>
          </a:xfrm>
          <a:custGeom>
            <a:avLst/>
            <a:gdLst/>
            <a:ahLst/>
            <a:cxnLst/>
            <a:rect l="l" t="t" r="r" b="b"/>
            <a:pathLst>
              <a:path w="350" h="630">
                <a:moveTo>
                  <a:pt x="0" y="630"/>
                </a:moveTo>
                <a:lnTo>
                  <a:pt x="350" y="630"/>
                </a:lnTo>
                <a:lnTo>
                  <a:pt x="350" y="0"/>
                </a:lnTo>
              </a:path>
            </a:pathLst>
          </a:custGeom>
          <a:noFill/>
          <a:ln w="1524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v4_text_0094"/>
          <p:cNvSpPr txBox="1"/>
          <p:nvPr/>
        </p:nvSpPr>
        <p:spPr>
          <a:xfrm>
            <a:off x="4251960" y="2816352"/>
            <a:ext cx="539496" cy="228600"/>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2560</a:t>
            </a:r>
          </a:p>
        </p:txBody>
      </p:sp>
      <p:sp>
        <p:nvSpPr>
          <p:cNvPr id="74" name="v4_path_0099"/>
          <p:cNvSpPr/>
          <p:nvPr/>
        </p:nvSpPr>
        <p:spPr>
          <a:xfrm>
            <a:off x="1540764" y="4553712"/>
            <a:ext cx="0" cy="91440"/>
          </a:xfrm>
          <a:custGeom>
            <a:avLst/>
            <a:gdLst/>
            <a:ahLst/>
            <a:cxnLst/>
            <a:rect l="l" t="t" r="r" b="b"/>
            <a:pathLst>
              <a:path w="0" h="100">
                <a:moveTo>
                  <a:pt x="0" y="10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v4_text_0100"/>
          <p:cNvSpPr txBox="1"/>
          <p:nvPr/>
        </p:nvSpPr>
        <p:spPr>
          <a:xfrm>
            <a:off x="2871216" y="3986784"/>
            <a:ext cx="2002536" cy="493776"/>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Layers 24 and 32:</a:t>
            </a:r>
          </a:p>
          <a:p>
            <a:pPr algn="ctr">
              <a:lnSpc>
                <a:spcPts val="1468"/>
              </a:lnSpc>
              <a:spcBef>
                <a:spcPts val="0"/>
              </a:spcBef>
              <a:spcAft>
                <a:spcPts val="0"/>
              </a:spcAft>
            </a:pPr>
            <a:r>
              <a:rPr sz="1300" b="0">
                <a:solidFill>
                  <a:srgbClr val="63758A"/>
                </a:solidFill>
                <a:latin typeface="DejaVu Sans"/>
              </a:rPr>
              <a:t>learn analogously</a:t>
            </a:r>
          </a:p>
        </p:txBody>
      </p:sp>
      <p:sp>
        <p:nvSpPr>
          <p:cNvPr id="1194" name="v4_text_0101"/>
          <p:cNvSpPr txBox="1"/>
          <p:nvPr/>
        </p:nvSpPr>
        <p:spPr>
          <a:xfrm>
            <a:off x="2871216" y="4581144"/>
            <a:ext cx="2002536" cy="41148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Shared frozen</a:t>
            </a:r>
          </a:p>
          <a:p>
            <a:pPr algn="ctr">
              <a:lnSpc>
                <a:spcPts val="1355"/>
              </a:lnSpc>
              <a:spcBef>
                <a:spcPts val="0"/>
              </a:spcBef>
              <a:spcAft>
                <a:spcPts val="0"/>
              </a:spcAft>
            </a:pPr>
            <a:r>
              <a:rPr sz="1200" b="0">
                <a:solidFill>
                  <a:srgbClr val="63758A"/>
                </a:solidFill>
                <a:latin typeface="DejaVu Sans"/>
              </a:rPr>
              <a:t>Qwen weights</a:t>
            </a:r>
          </a:p>
        </p:txBody>
      </p:sp>
      <p:sp>
        <p:nvSpPr>
          <p:cNvPr id="75" name="v4_path_0102"/>
          <p:cNvSpPr/>
          <p:nvPr/>
        </p:nvSpPr>
        <p:spPr>
          <a:xfrm>
            <a:off x="402336" y="5202936"/>
            <a:ext cx="4416552" cy="0"/>
          </a:xfrm>
          <a:custGeom>
            <a:avLst/>
            <a:gdLst/>
            <a:ahLst/>
            <a:cxnLst/>
            <a:rect l="l" t="t" r="r" b="b"/>
            <a:pathLst>
              <a:path w="4830" h="0">
                <a:moveTo>
                  <a:pt x="0" y="0"/>
                </a:moveTo>
                <a:lnTo>
                  <a:pt x="4830" y="0"/>
                </a:lnTo>
              </a:path>
            </a:pathLst>
          </a:custGeom>
          <a:noFill/>
          <a:ln w="889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v4_text_0103"/>
          <p:cNvSpPr txBox="1"/>
          <p:nvPr/>
        </p:nvSpPr>
        <p:spPr>
          <a:xfrm>
            <a:off x="402336" y="5312664"/>
            <a:ext cx="4425696" cy="320040"/>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Learned representation (1024-D)</a:t>
            </a:r>
          </a:p>
        </p:txBody>
      </p:sp>
      <p:sp>
        <p:nvSpPr>
          <p:cNvPr id="1196" name="v4_text_0104"/>
          <p:cNvSpPr txBox="1"/>
          <p:nvPr/>
        </p:nvSpPr>
        <p:spPr>
          <a:xfrm>
            <a:off x="566927" y="5687568"/>
            <a:ext cx="950976"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Layer 16</a:t>
            </a:r>
          </a:p>
        </p:txBody>
      </p:sp>
      <p:sp>
        <p:nvSpPr>
          <p:cNvPr id="76" name="v4_path_0105"/>
          <p:cNvSpPr/>
          <p:nvPr/>
        </p:nvSpPr>
        <p:spPr>
          <a:xfrm>
            <a:off x="1042416" y="5943600"/>
            <a:ext cx="0" cy="109728"/>
          </a:xfrm>
          <a:custGeom>
            <a:avLst/>
            <a:gdLst/>
            <a:ahLst/>
            <a:cxnLst/>
            <a:rect l="l" t="t" r="r" b="b"/>
            <a:pathLst>
              <a:path w="0" h="120">
                <a:moveTo>
                  <a:pt x="0" y="0"/>
                </a:moveTo>
                <a:lnTo>
                  <a:pt x="0" y="12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v4_final_encoder_L16"/>
          <p:cNvSpPr/>
          <p:nvPr/>
        </p:nvSpPr>
        <p:spPr>
          <a:xfrm>
            <a:off x="786384" y="6080760"/>
            <a:ext cx="512064" cy="320040"/>
          </a:xfrm>
          <a:custGeom>
            <a:avLst/>
            <a:gdLst/>
            <a:ahLst/>
            <a:cxnLst/>
            <a:rect l="l" t="t" r="r" b="b"/>
            <a:pathLst>
              <a:path w="560" h="350">
                <a:moveTo>
                  <a:pt x="0" y="0"/>
                </a:moveTo>
                <a:lnTo>
                  <a:pt x="560" y="0"/>
                </a:lnTo>
                <a:lnTo>
                  <a:pt x="460" y="350"/>
                </a:lnTo>
                <a:lnTo>
                  <a:pt x="100" y="350"/>
                </a:lnTo>
                <a:close/>
              </a:path>
            </a:pathLst>
          </a:custGeom>
          <a:solidFill>
            <a:srgbClr val="E5EEF5"/>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v4_text_0107"/>
          <p:cNvSpPr txBox="1"/>
          <p:nvPr/>
        </p:nvSpPr>
        <p:spPr>
          <a:xfrm>
            <a:off x="822959" y="6126480"/>
            <a:ext cx="438912" cy="219456"/>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367AB5"/>
                </a:solidFill>
                <a:latin typeface="DejaVu Sans"/>
              </a:rPr>
              <a:t>E₁₆</a:t>
            </a:r>
          </a:p>
        </p:txBody>
      </p:sp>
      <p:sp>
        <p:nvSpPr>
          <p:cNvPr id="96" name="v4_path_0126"/>
          <p:cNvSpPr/>
          <p:nvPr/>
        </p:nvSpPr>
        <p:spPr>
          <a:xfrm>
            <a:off x="1042416" y="6428232"/>
            <a:ext cx="0" cy="100584"/>
          </a:xfrm>
          <a:custGeom>
            <a:avLst/>
            <a:gdLst/>
            <a:ahLst/>
            <a:cxnLst/>
            <a:rect l="l" t="t" r="r" b="b"/>
            <a:pathLst>
              <a:path w="0" h="110">
                <a:moveTo>
                  <a:pt x="0" y="0"/>
                </a:moveTo>
                <a:lnTo>
                  <a:pt x="0" y="11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v4_concatenated_L16"/>
          <p:cNvSpPr/>
          <p:nvPr/>
        </p:nvSpPr>
        <p:spPr>
          <a:xfrm>
            <a:off x="539496" y="6556248"/>
            <a:ext cx="1005840" cy="301752"/>
          </a:xfrm>
          <a:prstGeom prst="rect">
            <a:avLst/>
          </a:prstGeom>
          <a:solidFill>
            <a:srgbClr val="BFD4E7"/>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v4_text_0128"/>
          <p:cNvSpPr txBox="1"/>
          <p:nvPr/>
        </p:nvSpPr>
        <p:spPr>
          <a:xfrm>
            <a:off x="539496" y="6574536"/>
            <a:ext cx="1005840" cy="256032"/>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367AB5"/>
                </a:solidFill>
                <a:latin typeface="DejaVu Sans"/>
              </a:rPr>
              <a:t>256</a:t>
            </a:r>
          </a:p>
        </p:txBody>
      </p:sp>
      <p:sp>
        <p:nvSpPr>
          <p:cNvPr id="1200" name="v4_text_0129"/>
          <p:cNvSpPr txBox="1"/>
          <p:nvPr/>
        </p:nvSpPr>
        <p:spPr>
          <a:xfrm>
            <a:off x="1572768" y="5687568"/>
            <a:ext cx="950976"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C88A35"/>
                </a:solidFill>
                <a:latin typeface="DejaVu Sans"/>
              </a:rPr>
              <a:t>Layer 24</a:t>
            </a:r>
          </a:p>
        </p:txBody>
      </p:sp>
      <p:sp>
        <p:nvSpPr>
          <p:cNvPr id="97" name="v4_path_0130"/>
          <p:cNvSpPr/>
          <p:nvPr/>
        </p:nvSpPr>
        <p:spPr>
          <a:xfrm>
            <a:off x="2048256" y="5943600"/>
            <a:ext cx="0" cy="109728"/>
          </a:xfrm>
          <a:custGeom>
            <a:avLst/>
            <a:gdLst/>
            <a:ahLst/>
            <a:cxnLst/>
            <a:rect l="l" t="t" r="r" b="b"/>
            <a:pathLst>
              <a:path w="0" h="120">
                <a:moveTo>
                  <a:pt x="0" y="0"/>
                </a:moveTo>
                <a:lnTo>
                  <a:pt x="0" y="120"/>
                </a:lnTo>
              </a:path>
            </a:pathLst>
          </a:custGeom>
          <a:noFill/>
          <a:ln w="1270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v4_final_encoder_L24"/>
          <p:cNvSpPr/>
          <p:nvPr/>
        </p:nvSpPr>
        <p:spPr>
          <a:xfrm>
            <a:off x="1792224" y="6080760"/>
            <a:ext cx="512064" cy="320040"/>
          </a:xfrm>
          <a:custGeom>
            <a:avLst/>
            <a:gdLst/>
            <a:ahLst/>
            <a:cxnLst/>
            <a:rect l="l" t="t" r="r" b="b"/>
            <a:pathLst>
              <a:path w="560" h="350">
                <a:moveTo>
                  <a:pt x="0" y="0"/>
                </a:moveTo>
                <a:lnTo>
                  <a:pt x="560" y="0"/>
                </a:lnTo>
                <a:lnTo>
                  <a:pt x="460" y="350"/>
                </a:lnTo>
                <a:lnTo>
                  <a:pt x="100" y="350"/>
                </a:lnTo>
                <a:close/>
              </a:path>
            </a:pathLst>
          </a:custGeom>
          <a:solidFill>
            <a:srgbClr val="F8F0E5"/>
          </a:solidFill>
          <a:ln w="1524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v4_text_0132"/>
          <p:cNvSpPr txBox="1"/>
          <p:nvPr/>
        </p:nvSpPr>
        <p:spPr>
          <a:xfrm>
            <a:off x="1828800" y="6126480"/>
            <a:ext cx="438912" cy="219456"/>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C88A35"/>
                </a:solidFill>
                <a:latin typeface="DejaVu Sans"/>
              </a:rPr>
              <a:t>E₂₄</a:t>
            </a:r>
          </a:p>
        </p:txBody>
      </p:sp>
      <p:sp>
        <p:nvSpPr>
          <p:cNvPr id="117" name="v4_path_0151"/>
          <p:cNvSpPr/>
          <p:nvPr/>
        </p:nvSpPr>
        <p:spPr>
          <a:xfrm>
            <a:off x="2048256" y="6428232"/>
            <a:ext cx="0" cy="100584"/>
          </a:xfrm>
          <a:custGeom>
            <a:avLst/>
            <a:gdLst/>
            <a:ahLst/>
            <a:cxnLst/>
            <a:rect l="l" t="t" r="r" b="b"/>
            <a:pathLst>
              <a:path w="0" h="110">
                <a:moveTo>
                  <a:pt x="0" y="0"/>
                </a:moveTo>
                <a:lnTo>
                  <a:pt x="0" y="110"/>
                </a:lnTo>
              </a:path>
            </a:pathLst>
          </a:custGeom>
          <a:noFill/>
          <a:ln w="1270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v4_concatenated_L24"/>
          <p:cNvSpPr/>
          <p:nvPr/>
        </p:nvSpPr>
        <p:spPr>
          <a:xfrm>
            <a:off x="1545336" y="6556248"/>
            <a:ext cx="1005840" cy="301752"/>
          </a:xfrm>
          <a:prstGeom prst="rect">
            <a:avLst/>
          </a:prstGeom>
          <a:solidFill>
            <a:srgbClr val="EDDABE"/>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v4_text_0153"/>
          <p:cNvSpPr txBox="1"/>
          <p:nvPr/>
        </p:nvSpPr>
        <p:spPr>
          <a:xfrm>
            <a:off x="1545336" y="6574536"/>
            <a:ext cx="1005840" cy="256032"/>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C88A35"/>
                </a:solidFill>
                <a:latin typeface="DejaVu Sans"/>
              </a:rPr>
              <a:t>256</a:t>
            </a:r>
          </a:p>
        </p:txBody>
      </p:sp>
      <p:sp>
        <p:nvSpPr>
          <p:cNvPr id="1204" name="v4_text_0154"/>
          <p:cNvSpPr txBox="1"/>
          <p:nvPr/>
        </p:nvSpPr>
        <p:spPr>
          <a:xfrm>
            <a:off x="3081528" y="5687568"/>
            <a:ext cx="950976" cy="22860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C917F"/>
                </a:solidFill>
                <a:latin typeface="DejaVu Sans"/>
              </a:rPr>
              <a:t>Layer 32</a:t>
            </a:r>
          </a:p>
        </p:txBody>
      </p:sp>
      <p:sp>
        <p:nvSpPr>
          <p:cNvPr id="118" name="v4_path_0155"/>
          <p:cNvSpPr/>
          <p:nvPr/>
        </p:nvSpPr>
        <p:spPr>
          <a:xfrm>
            <a:off x="3557016" y="5943600"/>
            <a:ext cx="0" cy="109728"/>
          </a:xfrm>
          <a:custGeom>
            <a:avLst/>
            <a:gdLst/>
            <a:ahLst/>
            <a:cxnLst/>
            <a:rect l="l" t="t" r="r" b="b"/>
            <a:pathLst>
              <a:path w="0" h="120">
                <a:moveTo>
                  <a:pt x="0" y="0"/>
                </a:moveTo>
                <a:lnTo>
                  <a:pt x="0" y="120"/>
                </a:lnTo>
              </a:path>
            </a:pathLst>
          </a:custGeom>
          <a:noFill/>
          <a:ln w="1270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v4_final_encoder_L32"/>
          <p:cNvSpPr/>
          <p:nvPr/>
        </p:nvSpPr>
        <p:spPr>
          <a:xfrm>
            <a:off x="3300984" y="6080760"/>
            <a:ext cx="512064" cy="320040"/>
          </a:xfrm>
          <a:custGeom>
            <a:avLst/>
            <a:gdLst/>
            <a:ahLst/>
            <a:cxnLst/>
            <a:rect l="l" t="t" r="r" b="b"/>
            <a:pathLst>
              <a:path w="560" h="350">
                <a:moveTo>
                  <a:pt x="0" y="0"/>
                </a:moveTo>
                <a:lnTo>
                  <a:pt x="560" y="0"/>
                </a:lnTo>
                <a:lnTo>
                  <a:pt x="460" y="350"/>
                </a:lnTo>
                <a:lnTo>
                  <a:pt x="100" y="350"/>
                </a:lnTo>
                <a:close/>
              </a:path>
            </a:pathLst>
          </a:custGeom>
          <a:solidFill>
            <a:srgbClr val="E4F1EE"/>
          </a:solidFill>
          <a:ln w="1524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v4_text_0157"/>
          <p:cNvSpPr txBox="1"/>
          <p:nvPr/>
        </p:nvSpPr>
        <p:spPr>
          <a:xfrm>
            <a:off x="3337560" y="6126480"/>
            <a:ext cx="438912" cy="219456"/>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2C917F"/>
                </a:solidFill>
                <a:latin typeface="DejaVu Sans"/>
              </a:rPr>
              <a:t>E₃₂</a:t>
            </a:r>
          </a:p>
        </p:txBody>
      </p:sp>
      <p:sp>
        <p:nvSpPr>
          <p:cNvPr id="138" name="v4_path_0176"/>
          <p:cNvSpPr/>
          <p:nvPr/>
        </p:nvSpPr>
        <p:spPr>
          <a:xfrm>
            <a:off x="3557016" y="6428232"/>
            <a:ext cx="0" cy="100584"/>
          </a:xfrm>
          <a:custGeom>
            <a:avLst/>
            <a:gdLst/>
            <a:ahLst/>
            <a:cxnLst/>
            <a:rect l="l" t="t" r="r" b="b"/>
            <a:pathLst>
              <a:path w="0" h="110">
                <a:moveTo>
                  <a:pt x="0" y="0"/>
                </a:moveTo>
                <a:lnTo>
                  <a:pt x="0" y="110"/>
                </a:lnTo>
              </a:path>
            </a:pathLst>
          </a:custGeom>
          <a:noFill/>
          <a:ln w="1270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v4_concatenated_L32"/>
          <p:cNvSpPr/>
          <p:nvPr/>
        </p:nvSpPr>
        <p:spPr>
          <a:xfrm>
            <a:off x="2551176" y="6556248"/>
            <a:ext cx="2011680" cy="301752"/>
          </a:xfrm>
          <a:prstGeom prst="rect">
            <a:avLst/>
          </a:prstGeom>
          <a:solidFill>
            <a:srgbClr val="BBDCD6"/>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v4_text_0178"/>
          <p:cNvSpPr txBox="1"/>
          <p:nvPr/>
        </p:nvSpPr>
        <p:spPr>
          <a:xfrm>
            <a:off x="2551176" y="6574536"/>
            <a:ext cx="2011680" cy="256032"/>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2C917F"/>
                </a:solidFill>
                <a:latin typeface="DejaVu Sans"/>
              </a:rPr>
              <a:t>512</a:t>
            </a:r>
          </a:p>
        </p:txBody>
      </p:sp>
      <p:sp>
        <p:nvSpPr>
          <p:cNvPr id="1208" name="v4_text_0197"/>
          <p:cNvSpPr txBox="1"/>
          <p:nvPr/>
        </p:nvSpPr>
        <p:spPr>
          <a:xfrm>
            <a:off x="667512" y="6967728"/>
            <a:ext cx="832104" cy="256032"/>
          </a:xfrm>
          <a:prstGeom prst="rect">
            <a:avLst/>
          </a:prstGeom>
          <a:noFill/>
        </p:spPr>
        <p:txBody>
          <a:bodyPr wrap="none" lIns="0" rIns="0" tIns="0" bIns="0" anchor="ctr">
            <a:spAutoFit/>
          </a:bodyPr>
          <a:lstStyle/>
          <a:p>
            <a:pPr algn="l">
              <a:lnSpc>
                <a:spcPts val="1468"/>
              </a:lnSpc>
              <a:spcBef>
                <a:spcPts val="0"/>
              </a:spcBef>
              <a:spcAft>
                <a:spcPts val="0"/>
              </a:spcAft>
            </a:pPr>
            <a:r>
              <a:rPr sz="1300" b="0">
                <a:solidFill>
                  <a:srgbClr val="63758A"/>
                </a:solidFill>
                <a:latin typeface="DejaVu Sans"/>
              </a:rPr>
              <a:t>Frozen</a:t>
            </a:r>
          </a:p>
        </p:txBody>
      </p:sp>
      <p:sp>
        <p:nvSpPr>
          <p:cNvPr id="1209" name="v4_text_0200"/>
          <p:cNvSpPr txBox="1"/>
          <p:nvPr/>
        </p:nvSpPr>
        <p:spPr>
          <a:xfrm>
            <a:off x="1965960" y="6967728"/>
            <a:ext cx="950976" cy="256032"/>
          </a:xfrm>
          <a:prstGeom prst="rect">
            <a:avLst/>
          </a:prstGeom>
          <a:noFill/>
        </p:spPr>
        <p:txBody>
          <a:bodyPr wrap="none" lIns="0" rIns="0" tIns="0" bIns="0" anchor="ctr">
            <a:spAutoFit/>
          </a:bodyPr>
          <a:lstStyle/>
          <a:p>
            <a:pPr algn="l">
              <a:lnSpc>
                <a:spcPts val="1468"/>
              </a:lnSpc>
              <a:spcBef>
                <a:spcPts val="0"/>
              </a:spcBef>
              <a:spcAft>
                <a:spcPts val="0"/>
              </a:spcAft>
            </a:pPr>
            <a:r>
              <a:rPr sz="1300" b="0">
                <a:solidFill>
                  <a:srgbClr val="63758A"/>
                </a:solidFill>
                <a:latin typeface="DejaVu Sans"/>
              </a:rPr>
              <a:t>Trained</a:t>
            </a:r>
          </a:p>
        </p:txBody>
      </p:sp>
      <p:grpSp>
        <p:nvGrpSpPr>
          <p:cNvPr id="1137" name="v4_stage_1_heading"/>
          <p:cNvGrpSpPr/>
          <p:nvPr/>
        </p:nvGrpSpPr>
        <p:grpSpPr>
          <a:xfrm>
            <a:off x="228600" y="210312"/>
            <a:ext cx="4727448" cy="539496"/>
            <a:chOff x="228600" y="210312"/>
            <a:chExt cx="4727448" cy="539496"/>
          </a:xfrm>
        </p:grpSpPr>
        <p:sp>
          <p:nvSpPr>
            <p:cNvPr id="1164" name="v4_rect_0000"/>
            <p:cNvSpPr/>
            <p:nvPr/>
          </p:nvSpPr>
          <p:spPr>
            <a:xfrm>
              <a:off x="228600" y="210312"/>
              <a:ext cx="4727448"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v4_text_0001"/>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1166" name="v4_text_0002"/>
            <p:cNvSpPr txBox="1"/>
            <p:nvPr/>
          </p:nvSpPr>
          <p:spPr>
            <a:xfrm>
              <a:off x="676656" y="237744"/>
              <a:ext cx="420624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Representation learning</a:t>
              </a:r>
            </a:p>
          </p:txBody>
        </p:sp>
      </p:grpSp>
      <p:grpSp>
        <p:nvGrpSpPr>
          <p:cNvPr id="1138" name="v4_module_teacher_CE_comparison"/>
          <p:cNvGrpSpPr/>
          <p:nvPr/>
        </p:nvGrpSpPr>
        <p:grpSpPr>
          <a:xfrm>
            <a:off x="1874519" y="950976"/>
            <a:ext cx="1399032" cy="420624"/>
            <a:chOff x="1874519" y="950976"/>
            <a:chExt cx="1399032" cy="420624"/>
          </a:xfrm>
        </p:grpSpPr>
        <p:sp>
          <p:nvSpPr>
            <p:cNvPr id="1167" name="v4_teacher_CE_comparison"/>
            <p:cNvSpPr/>
            <p:nvPr/>
          </p:nvSpPr>
          <p:spPr>
            <a:xfrm>
              <a:off x="1874519" y="950976"/>
              <a:ext cx="1399032" cy="420624"/>
            </a:xfrm>
            <a:prstGeom prst="roundRect">
              <a:avLst>
                <a:gd name="adj" fmla="val 12000"/>
              </a:avLst>
            </a:prstGeom>
            <a:solidFill>
              <a:srgbClr val="FAF4F4"/>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v4_teacher_CE_comparison_label"/>
            <p:cNvSpPr txBox="1"/>
            <p:nvPr/>
          </p:nvSpPr>
          <p:spPr>
            <a:xfrm>
              <a:off x="1920239" y="960120"/>
              <a:ext cx="1307592" cy="402336"/>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B86565"/>
                  </a:solidFill>
                  <a:latin typeface="DejaVu Sans"/>
                </a:rPr>
                <a:t>Teacher CE</a:t>
              </a:r>
            </a:p>
          </p:txBody>
        </p:sp>
      </p:grpSp>
      <p:grpSp>
        <p:nvGrpSpPr>
          <p:cNvPr id="1139" name="v4_module_teacher_frozen_suffix"/>
          <p:cNvGrpSpPr/>
          <p:nvPr/>
        </p:nvGrpSpPr>
        <p:grpSpPr>
          <a:xfrm>
            <a:off x="484632" y="1975104"/>
            <a:ext cx="1600200" cy="576072"/>
            <a:chOff x="484632" y="1975104"/>
            <a:chExt cx="1600200" cy="576072"/>
          </a:xfrm>
        </p:grpSpPr>
        <p:sp>
          <p:nvSpPr>
            <p:cNvPr id="1171" name="v4_teacher_frozen_suffix"/>
            <p:cNvSpPr/>
            <p:nvPr/>
          </p:nvSpPr>
          <p:spPr>
            <a:xfrm>
              <a:off x="484632" y="1975104"/>
              <a:ext cx="1600200" cy="576072"/>
            </a:xfrm>
            <a:prstGeom prst="roundRect">
              <a:avLst>
                <a:gd name="adj" fmla="val 11111"/>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v4_teacher_frozen_suffix_label"/>
            <p:cNvSpPr txBox="1"/>
            <p:nvPr/>
          </p:nvSpPr>
          <p:spPr>
            <a:xfrm>
              <a:off x="530352" y="1984248"/>
              <a:ext cx="1508760" cy="557784"/>
            </a:xfrm>
            <a:prstGeom prst="rect">
              <a:avLst/>
            </a:prstGeom>
            <a:noFill/>
          </p:spPr>
          <p:txBody>
            <a:bodyPr wrap="none" lIns="0" rIns="0" tIns="0" bIns="0" anchor="ctr">
              <a:spAutoFit/>
            </a:bodyPr>
            <a:lstStyle/>
            <a:p>
              <a:pPr algn="ctr">
                <a:lnSpc>
                  <a:spcPts val="1525"/>
                </a:lnSpc>
                <a:spcBef>
                  <a:spcPts val="0"/>
                </a:spcBef>
                <a:spcAft>
                  <a:spcPts val="0"/>
                </a:spcAft>
              </a:pPr>
              <a:r>
                <a:rPr sz="1350" b="0">
                  <a:solidFill>
                    <a:srgbClr val="233344"/>
                  </a:solidFill>
                  <a:latin typeface="DejaVu Sans"/>
                </a:rPr>
                <a:t>Qwen 17–36</a:t>
              </a:r>
            </a:p>
            <a:p>
              <a:pPr algn="ctr">
                <a:lnSpc>
                  <a:spcPts val="1525"/>
                </a:lnSpc>
                <a:spcBef>
                  <a:spcPts val="0"/>
                </a:spcBef>
                <a:spcAft>
                  <a:spcPts val="0"/>
                </a:spcAft>
              </a:pPr>
              <a:r>
                <a:rPr sz="1350" b="0">
                  <a:solidFill>
                    <a:srgbClr val="233344"/>
                  </a:solidFill>
                  <a:latin typeface="DejaVu Sans"/>
                </a:rPr>
                <a:t>+ vocab head</a:t>
              </a:r>
            </a:p>
          </p:txBody>
        </p:sp>
      </p:grpSp>
      <p:grpSp>
        <p:nvGrpSpPr>
          <p:cNvPr id="1140" name="v4_teacher_frozen_icon"/>
          <p:cNvGrpSpPr/>
          <p:nvPr/>
        </p:nvGrpSpPr>
        <p:grpSpPr>
          <a:xfrm>
            <a:off x="1801368" y="1803197"/>
            <a:ext cx="164592" cy="142646"/>
            <a:chOff x="1801368" y="1803197"/>
            <a:chExt cx="164592" cy="142646"/>
          </a:xfrm>
        </p:grpSpPr>
        <p:sp>
          <p:nvSpPr>
            <p:cNvPr id="6" name="v4_path_0011"/>
            <p:cNvSpPr/>
            <p:nvPr/>
          </p:nvSpPr>
          <p:spPr>
            <a:xfrm>
              <a:off x="1883664" y="1874520"/>
              <a:ext cx="82296" cy="0"/>
            </a:xfrm>
            <a:custGeom>
              <a:avLst/>
              <a:gdLst/>
              <a:ahLst/>
              <a:cxnLst/>
              <a:rect l="l" t="t" r="r" b="b"/>
              <a:pathLst>
                <a:path w="90" h="0">
                  <a:moveTo>
                    <a:pt x="0" y="0"/>
                  </a:moveTo>
                  <a:lnTo>
                    <a:pt x="9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4_path_0012"/>
            <p:cNvSpPr/>
            <p:nvPr/>
          </p:nvSpPr>
          <p:spPr>
            <a:xfrm>
              <a:off x="1936699" y="1852574"/>
              <a:ext cx="12802" cy="21946"/>
            </a:xfrm>
            <a:custGeom>
              <a:avLst/>
              <a:gdLst/>
              <a:ahLst/>
              <a:cxnLst/>
              <a:rect l="l" t="t" r="r" b="b"/>
              <a:pathLst>
                <a:path w="14" h="24">
                  <a:moveTo>
                    <a:pt x="0" y="24"/>
                  </a:moveTo>
                  <a:lnTo>
                    <a:pt x="1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4_path_0013"/>
            <p:cNvSpPr/>
            <p:nvPr/>
          </p:nvSpPr>
          <p:spPr>
            <a:xfrm>
              <a:off x="1936699" y="1874520"/>
              <a:ext cx="12802" cy="21946"/>
            </a:xfrm>
            <a:custGeom>
              <a:avLst/>
              <a:gdLst/>
              <a:ahLst/>
              <a:cxnLst/>
              <a:rect l="l" t="t" r="r" b="b"/>
              <a:pathLst>
                <a:path w="14" h="24">
                  <a:moveTo>
                    <a:pt x="0" y="0"/>
                  </a:moveTo>
                  <a:lnTo>
                    <a:pt x="14"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4_path_0014"/>
            <p:cNvSpPr/>
            <p:nvPr/>
          </p:nvSpPr>
          <p:spPr>
            <a:xfrm>
              <a:off x="1883664" y="1874520"/>
              <a:ext cx="41148" cy="71323"/>
            </a:xfrm>
            <a:custGeom>
              <a:avLst/>
              <a:gdLst/>
              <a:ahLst/>
              <a:cxnLst/>
              <a:rect l="l" t="t" r="r" b="b"/>
              <a:pathLst>
                <a:path w="45" h="78">
                  <a:moveTo>
                    <a:pt x="0" y="0"/>
                  </a:moveTo>
                  <a:lnTo>
                    <a:pt x="45" y="78"/>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4_path_0015"/>
            <p:cNvSpPr/>
            <p:nvPr/>
          </p:nvSpPr>
          <p:spPr>
            <a:xfrm>
              <a:off x="1910182" y="1921154"/>
              <a:ext cx="25603" cy="0"/>
            </a:xfrm>
            <a:custGeom>
              <a:avLst/>
              <a:gdLst/>
              <a:ahLst/>
              <a:cxnLst/>
              <a:rect l="l" t="t" r="r" b="b"/>
              <a:pathLst>
                <a:path w="28" h="0">
                  <a:moveTo>
                    <a:pt x="0" y="0"/>
                  </a:moveTo>
                  <a:lnTo>
                    <a:pt x="2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4_path_0016"/>
            <p:cNvSpPr/>
            <p:nvPr/>
          </p:nvSpPr>
          <p:spPr>
            <a:xfrm>
              <a:off x="1897380" y="1921154"/>
              <a:ext cx="12802" cy="21946"/>
            </a:xfrm>
            <a:custGeom>
              <a:avLst/>
              <a:gdLst/>
              <a:ahLst/>
              <a:cxnLst/>
              <a:rect l="l" t="t" r="r" b="b"/>
              <a:pathLst>
                <a:path w="14" h="24">
                  <a:moveTo>
                    <a:pt x="14" y="0"/>
                  </a:moveTo>
                  <a:lnTo>
                    <a:pt x="0"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4_path_0017"/>
            <p:cNvSpPr/>
            <p:nvPr/>
          </p:nvSpPr>
          <p:spPr>
            <a:xfrm>
              <a:off x="1842516" y="1874520"/>
              <a:ext cx="41148" cy="71323"/>
            </a:xfrm>
            <a:custGeom>
              <a:avLst/>
              <a:gdLst/>
              <a:ahLst/>
              <a:cxnLst/>
              <a:rect l="l" t="t" r="r" b="b"/>
              <a:pathLst>
                <a:path w="45" h="78">
                  <a:moveTo>
                    <a:pt x="45" y="0"/>
                  </a:moveTo>
                  <a:lnTo>
                    <a:pt x="0" y="78"/>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4_path_0018"/>
            <p:cNvSpPr/>
            <p:nvPr/>
          </p:nvSpPr>
          <p:spPr>
            <a:xfrm>
              <a:off x="1857146" y="1921154"/>
              <a:ext cx="12802" cy="21946"/>
            </a:xfrm>
            <a:custGeom>
              <a:avLst/>
              <a:gdLst/>
              <a:ahLst/>
              <a:cxnLst/>
              <a:rect l="l" t="t" r="r" b="b"/>
              <a:pathLst>
                <a:path w="14" h="24">
                  <a:moveTo>
                    <a:pt x="0" y="0"/>
                  </a:moveTo>
                  <a:lnTo>
                    <a:pt x="14"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v4_path_0019"/>
            <p:cNvSpPr/>
            <p:nvPr/>
          </p:nvSpPr>
          <p:spPr>
            <a:xfrm>
              <a:off x="1831543" y="1921154"/>
              <a:ext cx="25603" cy="0"/>
            </a:xfrm>
            <a:custGeom>
              <a:avLst/>
              <a:gdLst/>
              <a:ahLst/>
              <a:cxnLst/>
              <a:rect l="l" t="t" r="r" b="b"/>
              <a:pathLst>
                <a:path w="28" h="0">
                  <a:moveTo>
                    <a:pt x="28"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4_path_0020"/>
            <p:cNvSpPr/>
            <p:nvPr/>
          </p:nvSpPr>
          <p:spPr>
            <a:xfrm>
              <a:off x="1801368" y="1874520"/>
              <a:ext cx="82296" cy="0"/>
            </a:xfrm>
            <a:custGeom>
              <a:avLst/>
              <a:gdLst/>
              <a:ahLst/>
              <a:cxnLst/>
              <a:rect l="l" t="t" r="r" b="b"/>
              <a:pathLst>
                <a:path w="90" h="0">
                  <a:moveTo>
                    <a:pt x="90"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4_path_0021"/>
            <p:cNvSpPr/>
            <p:nvPr/>
          </p:nvSpPr>
          <p:spPr>
            <a:xfrm>
              <a:off x="1817827" y="1874520"/>
              <a:ext cx="12802" cy="21946"/>
            </a:xfrm>
            <a:custGeom>
              <a:avLst/>
              <a:gdLst/>
              <a:ahLst/>
              <a:cxnLst/>
              <a:rect l="l" t="t" r="r" b="b"/>
              <a:pathLst>
                <a:path w="14" h="24">
                  <a:moveTo>
                    <a:pt x="14" y="0"/>
                  </a:moveTo>
                  <a:lnTo>
                    <a:pt x="0"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4_path_0022"/>
            <p:cNvSpPr/>
            <p:nvPr/>
          </p:nvSpPr>
          <p:spPr>
            <a:xfrm>
              <a:off x="1817827" y="1852574"/>
              <a:ext cx="12802" cy="21946"/>
            </a:xfrm>
            <a:custGeom>
              <a:avLst/>
              <a:gdLst/>
              <a:ahLst/>
              <a:cxnLst/>
              <a:rect l="l" t="t" r="r" b="b"/>
              <a:pathLst>
                <a:path w="14" h="24">
                  <a:moveTo>
                    <a:pt x="14" y="24"/>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4_path_0023"/>
            <p:cNvSpPr/>
            <p:nvPr/>
          </p:nvSpPr>
          <p:spPr>
            <a:xfrm>
              <a:off x="1842516" y="1803197"/>
              <a:ext cx="41148" cy="71323"/>
            </a:xfrm>
            <a:custGeom>
              <a:avLst/>
              <a:gdLst/>
              <a:ahLst/>
              <a:cxnLst/>
              <a:rect l="l" t="t" r="r" b="b"/>
              <a:pathLst>
                <a:path w="45" h="78">
                  <a:moveTo>
                    <a:pt x="45" y="78"/>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4_path_0024"/>
            <p:cNvSpPr/>
            <p:nvPr/>
          </p:nvSpPr>
          <p:spPr>
            <a:xfrm>
              <a:off x="1831543" y="1827886"/>
              <a:ext cx="25603" cy="0"/>
            </a:xfrm>
            <a:custGeom>
              <a:avLst/>
              <a:gdLst/>
              <a:ahLst/>
              <a:cxnLst/>
              <a:rect l="l" t="t" r="r" b="b"/>
              <a:pathLst>
                <a:path w="28" h="0">
                  <a:moveTo>
                    <a:pt x="28"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4_path_0025"/>
            <p:cNvSpPr/>
            <p:nvPr/>
          </p:nvSpPr>
          <p:spPr>
            <a:xfrm>
              <a:off x="1857146" y="1805940"/>
              <a:ext cx="12802" cy="21946"/>
            </a:xfrm>
            <a:custGeom>
              <a:avLst/>
              <a:gdLst/>
              <a:ahLst/>
              <a:cxnLst/>
              <a:rect l="l" t="t" r="r" b="b"/>
              <a:pathLst>
                <a:path w="14" h="24">
                  <a:moveTo>
                    <a:pt x="0" y="24"/>
                  </a:moveTo>
                  <a:lnTo>
                    <a:pt x="1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4_path_0026"/>
            <p:cNvSpPr/>
            <p:nvPr/>
          </p:nvSpPr>
          <p:spPr>
            <a:xfrm>
              <a:off x="1883664" y="1803197"/>
              <a:ext cx="41148" cy="71323"/>
            </a:xfrm>
            <a:custGeom>
              <a:avLst/>
              <a:gdLst/>
              <a:ahLst/>
              <a:cxnLst/>
              <a:rect l="l" t="t" r="r" b="b"/>
              <a:pathLst>
                <a:path w="45" h="78">
                  <a:moveTo>
                    <a:pt x="0" y="78"/>
                  </a:moveTo>
                  <a:lnTo>
                    <a:pt x="45"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v4_path_0027"/>
            <p:cNvSpPr/>
            <p:nvPr/>
          </p:nvSpPr>
          <p:spPr>
            <a:xfrm>
              <a:off x="1897380" y="1805940"/>
              <a:ext cx="12802" cy="21946"/>
            </a:xfrm>
            <a:custGeom>
              <a:avLst/>
              <a:gdLst/>
              <a:ahLst/>
              <a:cxnLst/>
              <a:rect l="l" t="t" r="r" b="b"/>
              <a:pathLst>
                <a:path w="14" h="24">
                  <a:moveTo>
                    <a:pt x="14" y="24"/>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4_path_0028"/>
            <p:cNvSpPr/>
            <p:nvPr/>
          </p:nvSpPr>
          <p:spPr>
            <a:xfrm>
              <a:off x="1910182" y="1827886"/>
              <a:ext cx="25603" cy="0"/>
            </a:xfrm>
            <a:custGeom>
              <a:avLst/>
              <a:gdLst/>
              <a:ahLst/>
              <a:cxnLst/>
              <a:rect l="l" t="t" r="r" b="b"/>
              <a:pathLst>
                <a:path w="28" h="0">
                  <a:moveTo>
                    <a:pt x="0" y="0"/>
                  </a:moveTo>
                  <a:lnTo>
                    <a:pt x="2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41" name="v4_module_reconstructed_frozen_suffix"/>
          <p:cNvGrpSpPr/>
          <p:nvPr/>
        </p:nvGrpSpPr>
        <p:grpSpPr>
          <a:xfrm>
            <a:off x="3209544" y="1975104"/>
            <a:ext cx="1600200" cy="576072"/>
            <a:chOff x="3209544" y="1975104"/>
            <a:chExt cx="1600200" cy="576072"/>
          </a:xfrm>
        </p:grpSpPr>
        <p:sp>
          <p:nvSpPr>
            <p:cNvPr id="1173" name="v4_reconstructed_frozen_suffix"/>
            <p:cNvSpPr/>
            <p:nvPr/>
          </p:nvSpPr>
          <p:spPr>
            <a:xfrm>
              <a:off x="3209544" y="1975104"/>
              <a:ext cx="1600200" cy="576072"/>
            </a:xfrm>
            <a:prstGeom prst="roundRect">
              <a:avLst>
                <a:gd name="adj" fmla="val 11111"/>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v4_reconstructed_frozen_suffix_label"/>
            <p:cNvSpPr txBox="1"/>
            <p:nvPr/>
          </p:nvSpPr>
          <p:spPr>
            <a:xfrm>
              <a:off x="3255263" y="1984248"/>
              <a:ext cx="1508760" cy="557784"/>
            </a:xfrm>
            <a:prstGeom prst="rect">
              <a:avLst/>
            </a:prstGeom>
            <a:noFill/>
          </p:spPr>
          <p:txBody>
            <a:bodyPr wrap="none" lIns="0" rIns="0" tIns="0" bIns="0" anchor="ctr">
              <a:spAutoFit/>
            </a:bodyPr>
            <a:lstStyle/>
            <a:p>
              <a:pPr algn="ctr">
                <a:lnSpc>
                  <a:spcPts val="1525"/>
                </a:lnSpc>
                <a:spcBef>
                  <a:spcPts val="0"/>
                </a:spcBef>
                <a:spcAft>
                  <a:spcPts val="0"/>
                </a:spcAft>
              </a:pPr>
              <a:r>
                <a:rPr sz="1350" b="0">
                  <a:solidFill>
                    <a:srgbClr val="233344"/>
                  </a:solidFill>
                  <a:latin typeface="DejaVu Sans"/>
                </a:rPr>
                <a:t>Qwen 17–36</a:t>
              </a:r>
            </a:p>
            <a:p>
              <a:pPr algn="ctr">
                <a:lnSpc>
                  <a:spcPts val="1525"/>
                </a:lnSpc>
                <a:spcBef>
                  <a:spcPts val="0"/>
                </a:spcBef>
                <a:spcAft>
                  <a:spcPts val="0"/>
                </a:spcAft>
              </a:pPr>
              <a:r>
                <a:rPr sz="1350" b="0">
                  <a:solidFill>
                    <a:srgbClr val="233344"/>
                  </a:solidFill>
                  <a:latin typeface="DejaVu Sans"/>
                </a:rPr>
                <a:t>+ vocab head</a:t>
              </a:r>
            </a:p>
          </p:txBody>
        </p:sp>
      </p:grpSp>
      <p:grpSp>
        <p:nvGrpSpPr>
          <p:cNvPr id="1142" name="v4_reconstructed_frozen_icon"/>
          <p:cNvGrpSpPr/>
          <p:nvPr/>
        </p:nvGrpSpPr>
        <p:grpSpPr>
          <a:xfrm>
            <a:off x="4526280" y="1803197"/>
            <a:ext cx="164592" cy="142646"/>
            <a:chOff x="4526280" y="1803197"/>
            <a:chExt cx="164592" cy="142646"/>
          </a:xfrm>
        </p:grpSpPr>
        <p:sp>
          <p:nvSpPr>
            <p:cNvPr id="25" name="v4_path_0032"/>
            <p:cNvSpPr/>
            <p:nvPr/>
          </p:nvSpPr>
          <p:spPr>
            <a:xfrm>
              <a:off x="4608576" y="1874520"/>
              <a:ext cx="82296" cy="0"/>
            </a:xfrm>
            <a:custGeom>
              <a:avLst/>
              <a:gdLst/>
              <a:ahLst/>
              <a:cxnLst/>
              <a:rect l="l" t="t" r="r" b="b"/>
              <a:pathLst>
                <a:path w="90" h="0">
                  <a:moveTo>
                    <a:pt x="0" y="0"/>
                  </a:moveTo>
                  <a:lnTo>
                    <a:pt x="9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4_path_0033"/>
            <p:cNvSpPr/>
            <p:nvPr/>
          </p:nvSpPr>
          <p:spPr>
            <a:xfrm>
              <a:off x="4661611" y="1852574"/>
              <a:ext cx="12802" cy="21946"/>
            </a:xfrm>
            <a:custGeom>
              <a:avLst/>
              <a:gdLst/>
              <a:ahLst/>
              <a:cxnLst/>
              <a:rect l="l" t="t" r="r" b="b"/>
              <a:pathLst>
                <a:path w="14" h="24">
                  <a:moveTo>
                    <a:pt x="0" y="24"/>
                  </a:moveTo>
                  <a:lnTo>
                    <a:pt x="1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4_path_0034"/>
            <p:cNvSpPr/>
            <p:nvPr/>
          </p:nvSpPr>
          <p:spPr>
            <a:xfrm>
              <a:off x="4661611" y="1874520"/>
              <a:ext cx="12802" cy="21946"/>
            </a:xfrm>
            <a:custGeom>
              <a:avLst/>
              <a:gdLst/>
              <a:ahLst/>
              <a:cxnLst/>
              <a:rect l="l" t="t" r="r" b="b"/>
              <a:pathLst>
                <a:path w="14" h="24">
                  <a:moveTo>
                    <a:pt x="0" y="0"/>
                  </a:moveTo>
                  <a:lnTo>
                    <a:pt x="14"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v4_path_0035"/>
            <p:cNvSpPr/>
            <p:nvPr/>
          </p:nvSpPr>
          <p:spPr>
            <a:xfrm>
              <a:off x="4608576" y="1874520"/>
              <a:ext cx="41148" cy="71323"/>
            </a:xfrm>
            <a:custGeom>
              <a:avLst/>
              <a:gdLst/>
              <a:ahLst/>
              <a:cxnLst/>
              <a:rect l="l" t="t" r="r" b="b"/>
              <a:pathLst>
                <a:path w="45" h="78">
                  <a:moveTo>
                    <a:pt x="0" y="0"/>
                  </a:moveTo>
                  <a:lnTo>
                    <a:pt x="45" y="78"/>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4_path_0036"/>
            <p:cNvSpPr/>
            <p:nvPr/>
          </p:nvSpPr>
          <p:spPr>
            <a:xfrm>
              <a:off x="4635094" y="1921154"/>
              <a:ext cx="25603" cy="0"/>
            </a:xfrm>
            <a:custGeom>
              <a:avLst/>
              <a:gdLst/>
              <a:ahLst/>
              <a:cxnLst/>
              <a:rect l="l" t="t" r="r" b="b"/>
              <a:pathLst>
                <a:path w="28" h="0">
                  <a:moveTo>
                    <a:pt x="0" y="0"/>
                  </a:moveTo>
                  <a:lnTo>
                    <a:pt x="2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4_path_0037"/>
            <p:cNvSpPr/>
            <p:nvPr/>
          </p:nvSpPr>
          <p:spPr>
            <a:xfrm>
              <a:off x="4622292" y="1921154"/>
              <a:ext cx="12802" cy="21946"/>
            </a:xfrm>
            <a:custGeom>
              <a:avLst/>
              <a:gdLst/>
              <a:ahLst/>
              <a:cxnLst/>
              <a:rect l="l" t="t" r="r" b="b"/>
              <a:pathLst>
                <a:path w="14" h="24">
                  <a:moveTo>
                    <a:pt x="14" y="0"/>
                  </a:moveTo>
                  <a:lnTo>
                    <a:pt x="0"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4_path_0038"/>
            <p:cNvSpPr/>
            <p:nvPr/>
          </p:nvSpPr>
          <p:spPr>
            <a:xfrm>
              <a:off x="4567428" y="1874520"/>
              <a:ext cx="41148" cy="71323"/>
            </a:xfrm>
            <a:custGeom>
              <a:avLst/>
              <a:gdLst/>
              <a:ahLst/>
              <a:cxnLst/>
              <a:rect l="l" t="t" r="r" b="b"/>
              <a:pathLst>
                <a:path w="45" h="78">
                  <a:moveTo>
                    <a:pt x="45" y="0"/>
                  </a:moveTo>
                  <a:lnTo>
                    <a:pt x="0" y="78"/>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4_path_0039"/>
            <p:cNvSpPr/>
            <p:nvPr/>
          </p:nvSpPr>
          <p:spPr>
            <a:xfrm>
              <a:off x="4582058" y="1921154"/>
              <a:ext cx="12802" cy="21946"/>
            </a:xfrm>
            <a:custGeom>
              <a:avLst/>
              <a:gdLst/>
              <a:ahLst/>
              <a:cxnLst/>
              <a:rect l="l" t="t" r="r" b="b"/>
              <a:pathLst>
                <a:path w="14" h="24">
                  <a:moveTo>
                    <a:pt x="0" y="0"/>
                  </a:moveTo>
                  <a:lnTo>
                    <a:pt x="14"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v4_path_0040"/>
            <p:cNvSpPr/>
            <p:nvPr/>
          </p:nvSpPr>
          <p:spPr>
            <a:xfrm>
              <a:off x="4556455" y="1921154"/>
              <a:ext cx="25603" cy="0"/>
            </a:xfrm>
            <a:custGeom>
              <a:avLst/>
              <a:gdLst/>
              <a:ahLst/>
              <a:cxnLst/>
              <a:rect l="l" t="t" r="r" b="b"/>
              <a:pathLst>
                <a:path w="28" h="0">
                  <a:moveTo>
                    <a:pt x="28"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4_path_0041"/>
            <p:cNvSpPr/>
            <p:nvPr/>
          </p:nvSpPr>
          <p:spPr>
            <a:xfrm>
              <a:off x="4526280" y="1874520"/>
              <a:ext cx="82296" cy="0"/>
            </a:xfrm>
            <a:custGeom>
              <a:avLst/>
              <a:gdLst/>
              <a:ahLst/>
              <a:cxnLst/>
              <a:rect l="l" t="t" r="r" b="b"/>
              <a:pathLst>
                <a:path w="90" h="0">
                  <a:moveTo>
                    <a:pt x="90"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v4_path_0042"/>
            <p:cNvSpPr/>
            <p:nvPr/>
          </p:nvSpPr>
          <p:spPr>
            <a:xfrm>
              <a:off x="4542739" y="1874520"/>
              <a:ext cx="11887" cy="21946"/>
            </a:xfrm>
            <a:custGeom>
              <a:avLst/>
              <a:gdLst/>
              <a:ahLst/>
              <a:cxnLst/>
              <a:rect l="l" t="t" r="r" b="b"/>
              <a:pathLst>
                <a:path w="13" h="24">
                  <a:moveTo>
                    <a:pt x="13" y="0"/>
                  </a:moveTo>
                  <a:lnTo>
                    <a:pt x="0" y="24"/>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v4_path_0043"/>
            <p:cNvSpPr/>
            <p:nvPr/>
          </p:nvSpPr>
          <p:spPr>
            <a:xfrm>
              <a:off x="4542739" y="1852574"/>
              <a:ext cx="11887" cy="21946"/>
            </a:xfrm>
            <a:custGeom>
              <a:avLst/>
              <a:gdLst/>
              <a:ahLst/>
              <a:cxnLst/>
              <a:rect l="l" t="t" r="r" b="b"/>
              <a:pathLst>
                <a:path w="13" h="24">
                  <a:moveTo>
                    <a:pt x="13" y="24"/>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v4_path_0044"/>
            <p:cNvSpPr/>
            <p:nvPr/>
          </p:nvSpPr>
          <p:spPr>
            <a:xfrm>
              <a:off x="4567428" y="1803197"/>
              <a:ext cx="41148" cy="71323"/>
            </a:xfrm>
            <a:custGeom>
              <a:avLst/>
              <a:gdLst/>
              <a:ahLst/>
              <a:cxnLst/>
              <a:rect l="l" t="t" r="r" b="b"/>
              <a:pathLst>
                <a:path w="45" h="78">
                  <a:moveTo>
                    <a:pt x="45" y="78"/>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4_path_0045"/>
            <p:cNvSpPr/>
            <p:nvPr/>
          </p:nvSpPr>
          <p:spPr>
            <a:xfrm>
              <a:off x="4556455" y="1827886"/>
              <a:ext cx="25603" cy="0"/>
            </a:xfrm>
            <a:custGeom>
              <a:avLst/>
              <a:gdLst/>
              <a:ahLst/>
              <a:cxnLst/>
              <a:rect l="l" t="t" r="r" b="b"/>
              <a:pathLst>
                <a:path w="28" h="0">
                  <a:moveTo>
                    <a:pt x="28"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v4_path_0046"/>
            <p:cNvSpPr/>
            <p:nvPr/>
          </p:nvSpPr>
          <p:spPr>
            <a:xfrm>
              <a:off x="4582058" y="1805940"/>
              <a:ext cx="12802" cy="21946"/>
            </a:xfrm>
            <a:custGeom>
              <a:avLst/>
              <a:gdLst/>
              <a:ahLst/>
              <a:cxnLst/>
              <a:rect l="l" t="t" r="r" b="b"/>
              <a:pathLst>
                <a:path w="14" h="24">
                  <a:moveTo>
                    <a:pt x="0" y="24"/>
                  </a:moveTo>
                  <a:lnTo>
                    <a:pt x="1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v4_path_0047"/>
            <p:cNvSpPr/>
            <p:nvPr/>
          </p:nvSpPr>
          <p:spPr>
            <a:xfrm>
              <a:off x="4608576" y="1803197"/>
              <a:ext cx="41148" cy="71323"/>
            </a:xfrm>
            <a:custGeom>
              <a:avLst/>
              <a:gdLst/>
              <a:ahLst/>
              <a:cxnLst/>
              <a:rect l="l" t="t" r="r" b="b"/>
              <a:pathLst>
                <a:path w="45" h="78">
                  <a:moveTo>
                    <a:pt x="0" y="78"/>
                  </a:moveTo>
                  <a:lnTo>
                    <a:pt x="45"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v4_path_0048"/>
            <p:cNvSpPr/>
            <p:nvPr/>
          </p:nvSpPr>
          <p:spPr>
            <a:xfrm>
              <a:off x="4622292" y="1805940"/>
              <a:ext cx="12802" cy="21946"/>
            </a:xfrm>
            <a:custGeom>
              <a:avLst/>
              <a:gdLst/>
              <a:ahLst/>
              <a:cxnLst/>
              <a:rect l="l" t="t" r="r" b="b"/>
              <a:pathLst>
                <a:path w="14" h="24">
                  <a:moveTo>
                    <a:pt x="14" y="24"/>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v4_path_0049"/>
            <p:cNvSpPr/>
            <p:nvPr/>
          </p:nvSpPr>
          <p:spPr>
            <a:xfrm>
              <a:off x="4635094" y="1827886"/>
              <a:ext cx="25603" cy="0"/>
            </a:xfrm>
            <a:custGeom>
              <a:avLst/>
              <a:gdLst/>
              <a:ahLst/>
              <a:cxnLst/>
              <a:rect l="l" t="t" r="r" b="b"/>
              <a:pathLst>
                <a:path w="28" h="0">
                  <a:moveTo>
                    <a:pt x="0" y="0"/>
                  </a:moveTo>
                  <a:lnTo>
                    <a:pt x="2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0" name="v4_module_shared_Qwen_prefix_1_16"/>
          <p:cNvGrpSpPr/>
          <p:nvPr/>
        </p:nvGrpSpPr>
        <p:grpSpPr>
          <a:xfrm>
            <a:off x="640080" y="3922776"/>
            <a:ext cx="1792224" cy="603504"/>
            <a:chOff x="640080" y="3922776"/>
            <a:chExt cx="1792224" cy="603504"/>
          </a:xfrm>
        </p:grpSpPr>
        <p:sp>
          <p:nvSpPr>
            <p:cNvPr id="1175" name="v4_shared_Qwen_prefix_1_16"/>
            <p:cNvSpPr/>
            <p:nvPr/>
          </p:nvSpPr>
          <p:spPr>
            <a:xfrm>
              <a:off x="640080" y="3922776"/>
              <a:ext cx="1792224" cy="603504"/>
            </a:xfrm>
            <a:prstGeom prst="roundRect">
              <a:avLst>
                <a:gd name="adj" fmla="val 10606"/>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v4_shared_Qwen_prefix_1_16_label"/>
            <p:cNvSpPr txBox="1"/>
            <p:nvPr/>
          </p:nvSpPr>
          <p:spPr>
            <a:xfrm>
              <a:off x="685800" y="3931920"/>
              <a:ext cx="1700784" cy="585216"/>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Qwen</a:t>
              </a:r>
            </a:p>
            <a:p>
              <a:pPr algn="ctr">
                <a:lnSpc>
                  <a:spcPts val="1695"/>
                </a:lnSpc>
                <a:spcBef>
                  <a:spcPts val="0"/>
                </a:spcBef>
                <a:spcAft>
                  <a:spcPts val="0"/>
                </a:spcAft>
              </a:pPr>
              <a:r>
                <a:rPr sz="1500" b="0">
                  <a:solidFill>
                    <a:srgbClr val="233344"/>
                  </a:solidFill>
                  <a:latin typeface="DejaVu Sans"/>
                </a:rPr>
                <a:t>layers 1–16</a:t>
              </a:r>
            </a:p>
          </p:txBody>
        </p:sp>
      </p:grpSp>
      <p:grpSp>
        <p:nvGrpSpPr>
          <p:cNvPr id="1211" name="v4_shared_Qwen_prefix_frozen"/>
          <p:cNvGrpSpPr/>
          <p:nvPr/>
        </p:nvGrpSpPr>
        <p:grpSpPr>
          <a:xfrm>
            <a:off x="2222906" y="3706978"/>
            <a:ext cx="181052" cy="157276"/>
            <a:chOff x="2222906" y="3706978"/>
            <a:chExt cx="181052" cy="157276"/>
          </a:xfrm>
        </p:grpSpPr>
        <p:sp>
          <p:nvSpPr>
            <p:cNvPr id="44" name="v4_path_0053"/>
            <p:cNvSpPr/>
            <p:nvPr/>
          </p:nvSpPr>
          <p:spPr>
            <a:xfrm>
              <a:off x="2313432" y="3785616"/>
              <a:ext cx="90526" cy="0"/>
            </a:xfrm>
            <a:custGeom>
              <a:avLst/>
              <a:gdLst/>
              <a:ahLst/>
              <a:cxnLst/>
              <a:rect l="l" t="t" r="r" b="b"/>
              <a:pathLst>
                <a:path w="99" h="0">
                  <a:moveTo>
                    <a:pt x="0" y="0"/>
                  </a:moveTo>
                  <a:lnTo>
                    <a:pt x="99"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v4_path_0054"/>
            <p:cNvSpPr/>
            <p:nvPr/>
          </p:nvSpPr>
          <p:spPr>
            <a:xfrm>
              <a:off x="2371954" y="3760927"/>
              <a:ext cx="14630" cy="24689"/>
            </a:xfrm>
            <a:custGeom>
              <a:avLst/>
              <a:gdLst/>
              <a:ahLst/>
              <a:cxnLst/>
              <a:rect l="l" t="t" r="r" b="b"/>
              <a:pathLst>
                <a:path w="16" h="27">
                  <a:moveTo>
                    <a:pt x="0" y="27"/>
                  </a:moveTo>
                  <a:lnTo>
                    <a:pt x="16"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v4_path_0055"/>
            <p:cNvSpPr/>
            <p:nvPr/>
          </p:nvSpPr>
          <p:spPr>
            <a:xfrm>
              <a:off x="2371954" y="3785616"/>
              <a:ext cx="14630" cy="24689"/>
            </a:xfrm>
            <a:custGeom>
              <a:avLst/>
              <a:gdLst/>
              <a:ahLst/>
              <a:cxnLst/>
              <a:rect l="l" t="t" r="r" b="b"/>
              <a:pathLst>
                <a:path w="16" h="27">
                  <a:moveTo>
                    <a:pt x="0" y="0"/>
                  </a:moveTo>
                  <a:lnTo>
                    <a:pt x="16" y="27"/>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v4_path_0056"/>
            <p:cNvSpPr/>
            <p:nvPr/>
          </p:nvSpPr>
          <p:spPr>
            <a:xfrm>
              <a:off x="2313432" y="3785616"/>
              <a:ext cx="45720" cy="78638"/>
            </a:xfrm>
            <a:custGeom>
              <a:avLst/>
              <a:gdLst/>
              <a:ahLst/>
              <a:cxnLst/>
              <a:rect l="l" t="t" r="r" b="b"/>
              <a:pathLst>
                <a:path w="50" h="86">
                  <a:moveTo>
                    <a:pt x="0" y="0"/>
                  </a:moveTo>
                  <a:lnTo>
                    <a:pt x="50" y="86"/>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v4_path_0057"/>
            <p:cNvSpPr/>
            <p:nvPr/>
          </p:nvSpPr>
          <p:spPr>
            <a:xfrm>
              <a:off x="2342693" y="3836822"/>
              <a:ext cx="28346" cy="0"/>
            </a:xfrm>
            <a:custGeom>
              <a:avLst/>
              <a:gdLst/>
              <a:ahLst/>
              <a:cxnLst/>
              <a:rect l="l" t="t" r="r" b="b"/>
              <a:pathLst>
                <a:path w="31" h="0">
                  <a:moveTo>
                    <a:pt x="0" y="0"/>
                  </a:moveTo>
                  <a:lnTo>
                    <a:pt x="31"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v4_path_0058"/>
            <p:cNvSpPr/>
            <p:nvPr/>
          </p:nvSpPr>
          <p:spPr>
            <a:xfrm>
              <a:off x="2328977" y="3836822"/>
              <a:ext cx="13716" cy="23774"/>
            </a:xfrm>
            <a:custGeom>
              <a:avLst/>
              <a:gdLst/>
              <a:ahLst/>
              <a:cxnLst/>
              <a:rect l="l" t="t" r="r" b="b"/>
              <a:pathLst>
                <a:path w="15" h="26">
                  <a:moveTo>
                    <a:pt x="15" y="0"/>
                  </a:moveTo>
                  <a:lnTo>
                    <a:pt x="0" y="2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v4_path_0059"/>
            <p:cNvSpPr/>
            <p:nvPr/>
          </p:nvSpPr>
          <p:spPr>
            <a:xfrm>
              <a:off x="2267712" y="3785616"/>
              <a:ext cx="45720" cy="78638"/>
            </a:xfrm>
            <a:custGeom>
              <a:avLst/>
              <a:gdLst/>
              <a:ahLst/>
              <a:cxnLst/>
              <a:rect l="l" t="t" r="r" b="b"/>
              <a:pathLst>
                <a:path w="50" h="86">
                  <a:moveTo>
                    <a:pt x="50" y="0"/>
                  </a:moveTo>
                  <a:lnTo>
                    <a:pt x="0" y="86"/>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v4_path_0060"/>
            <p:cNvSpPr/>
            <p:nvPr/>
          </p:nvSpPr>
          <p:spPr>
            <a:xfrm>
              <a:off x="2284171" y="3836822"/>
              <a:ext cx="13716" cy="23774"/>
            </a:xfrm>
            <a:custGeom>
              <a:avLst/>
              <a:gdLst/>
              <a:ahLst/>
              <a:cxnLst/>
              <a:rect l="l" t="t" r="r" b="b"/>
              <a:pathLst>
                <a:path w="15" h="26">
                  <a:moveTo>
                    <a:pt x="0" y="0"/>
                  </a:moveTo>
                  <a:lnTo>
                    <a:pt x="15" y="2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v4_path_0061"/>
            <p:cNvSpPr/>
            <p:nvPr/>
          </p:nvSpPr>
          <p:spPr>
            <a:xfrm>
              <a:off x="2255825" y="3836822"/>
              <a:ext cx="28346" cy="0"/>
            </a:xfrm>
            <a:custGeom>
              <a:avLst/>
              <a:gdLst/>
              <a:ahLst/>
              <a:cxnLst/>
              <a:rect l="l" t="t" r="r" b="b"/>
              <a:pathLst>
                <a:path w="31" h="0">
                  <a:moveTo>
                    <a:pt x="31"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v4_path_0062"/>
            <p:cNvSpPr/>
            <p:nvPr/>
          </p:nvSpPr>
          <p:spPr>
            <a:xfrm>
              <a:off x="2222906" y="3785616"/>
              <a:ext cx="90526" cy="0"/>
            </a:xfrm>
            <a:custGeom>
              <a:avLst/>
              <a:gdLst/>
              <a:ahLst/>
              <a:cxnLst/>
              <a:rect l="l" t="t" r="r" b="b"/>
              <a:pathLst>
                <a:path w="99" h="0">
                  <a:moveTo>
                    <a:pt x="99"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v4_path_0063"/>
            <p:cNvSpPr/>
            <p:nvPr/>
          </p:nvSpPr>
          <p:spPr>
            <a:xfrm>
              <a:off x="2240280" y="3785616"/>
              <a:ext cx="14630" cy="24689"/>
            </a:xfrm>
            <a:custGeom>
              <a:avLst/>
              <a:gdLst/>
              <a:ahLst/>
              <a:cxnLst/>
              <a:rect l="l" t="t" r="r" b="b"/>
              <a:pathLst>
                <a:path w="16" h="27">
                  <a:moveTo>
                    <a:pt x="16" y="0"/>
                  </a:moveTo>
                  <a:lnTo>
                    <a:pt x="0" y="27"/>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v4_path_0064"/>
            <p:cNvSpPr/>
            <p:nvPr/>
          </p:nvSpPr>
          <p:spPr>
            <a:xfrm>
              <a:off x="2240280" y="3760927"/>
              <a:ext cx="14630" cy="24689"/>
            </a:xfrm>
            <a:custGeom>
              <a:avLst/>
              <a:gdLst/>
              <a:ahLst/>
              <a:cxnLst/>
              <a:rect l="l" t="t" r="r" b="b"/>
              <a:pathLst>
                <a:path w="16" h="27">
                  <a:moveTo>
                    <a:pt x="16" y="27"/>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v4_path_0065"/>
            <p:cNvSpPr/>
            <p:nvPr/>
          </p:nvSpPr>
          <p:spPr>
            <a:xfrm>
              <a:off x="2267712" y="3706978"/>
              <a:ext cx="45720" cy="78638"/>
            </a:xfrm>
            <a:custGeom>
              <a:avLst/>
              <a:gdLst/>
              <a:ahLst/>
              <a:cxnLst/>
              <a:rect l="l" t="t" r="r" b="b"/>
              <a:pathLst>
                <a:path w="50" h="86">
                  <a:moveTo>
                    <a:pt x="50" y="86"/>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v4_path_0066"/>
            <p:cNvSpPr/>
            <p:nvPr/>
          </p:nvSpPr>
          <p:spPr>
            <a:xfrm>
              <a:off x="2255825" y="3734410"/>
              <a:ext cx="28346" cy="0"/>
            </a:xfrm>
            <a:custGeom>
              <a:avLst/>
              <a:gdLst/>
              <a:ahLst/>
              <a:cxnLst/>
              <a:rect l="l" t="t" r="r" b="b"/>
              <a:pathLst>
                <a:path w="31" h="0">
                  <a:moveTo>
                    <a:pt x="31"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v4_path_0067"/>
            <p:cNvSpPr/>
            <p:nvPr/>
          </p:nvSpPr>
          <p:spPr>
            <a:xfrm>
              <a:off x="2284171" y="3710635"/>
              <a:ext cx="13716" cy="23774"/>
            </a:xfrm>
            <a:custGeom>
              <a:avLst/>
              <a:gdLst/>
              <a:ahLst/>
              <a:cxnLst/>
              <a:rect l="l" t="t" r="r" b="b"/>
              <a:pathLst>
                <a:path w="15" h="26">
                  <a:moveTo>
                    <a:pt x="0" y="26"/>
                  </a:moveTo>
                  <a:lnTo>
                    <a:pt x="1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v4_path_0068"/>
            <p:cNvSpPr/>
            <p:nvPr/>
          </p:nvSpPr>
          <p:spPr>
            <a:xfrm>
              <a:off x="2313432" y="3706978"/>
              <a:ext cx="45720" cy="78638"/>
            </a:xfrm>
            <a:custGeom>
              <a:avLst/>
              <a:gdLst/>
              <a:ahLst/>
              <a:cxnLst/>
              <a:rect l="l" t="t" r="r" b="b"/>
              <a:pathLst>
                <a:path w="50" h="86">
                  <a:moveTo>
                    <a:pt x="0" y="86"/>
                  </a:moveTo>
                  <a:lnTo>
                    <a:pt x="5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v4_path_0069"/>
            <p:cNvSpPr/>
            <p:nvPr/>
          </p:nvSpPr>
          <p:spPr>
            <a:xfrm>
              <a:off x="2328977" y="3710635"/>
              <a:ext cx="13716" cy="23774"/>
            </a:xfrm>
            <a:custGeom>
              <a:avLst/>
              <a:gdLst/>
              <a:ahLst/>
              <a:cxnLst/>
              <a:rect l="l" t="t" r="r" b="b"/>
              <a:pathLst>
                <a:path w="15" h="26">
                  <a:moveTo>
                    <a:pt x="15" y="26"/>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v4_path_0070"/>
            <p:cNvSpPr/>
            <p:nvPr/>
          </p:nvSpPr>
          <p:spPr>
            <a:xfrm>
              <a:off x="2342693" y="3734410"/>
              <a:ext cx="28346" cy="0"/>
            </a:xfrm>
            <a:custGeom>
              <a:avLst/>
              <a:gdLst/>
              <a:ahLst/>
              <a:cxnLst/>
              <a:rect l="l" t="t" r="r" b="b"/>
              <a:pathLst>
                <a:path w="31" h="0">
                  <a:moveTo>
                    <a:pt x="0" y="0"/>
                  </a:moveTo>
                  <a:lnTo>
                    <a:pt x="31"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2" name="v4_encoder_16_trained"/>
          <p:cNvGrpSpPr/>
          <p:nvPr/>
        </p:nvGrpSpPr>
        <p:grpSpPr>
          <a:xfrm>
            <a:off x="2543861" y="2637130"/>
            <a:ext cx="162763" cy="195682"/>
            <a:chOff x="2543861" y="2637130"/>
            <a:chExt cx="162763" cy="195682"/>
          </a:xfrm>
        </p:grpSpPr>
        <p:sp>
          <p:nvSpPr>
            <p:cNvPr id="66" name="v4_path_0080"/>
            <p:cNvSpPr/>
            <p:nvPr/>
          </p:nvSpPr>
          <p:spPr>
            <a:xfrm>
              <a:off x="2543861" y="2637130"/>
              <a:ext cx="162763" cy="195682"/>
            </a:xfrm>
            <a:custGeom>
              <a:avLst/>
              <a:gdLst/>
              <a:ahLst/>
              <a:cxnLst/>
              <a:rect l="l" t="t" r="r" b="b"/>
              <a:pathLst>
                <a:path w="178" h="214">
                  <a:moveTo>
                    <a:pt x="92" y="0"/>
                  </a:moveTo>
                  <a:lnTo>
                    <a:pt x="114" y="38"/>
                  </a:lnTo>
                  <a:lnTo>
                    <a:pt x="112" y="71"/>
                  </a:lnTo>
                  <a:lnTo>
                    <a:pt x="145" y="53"/>
                  </a:lnTo>
                  <a:lnTo>
                    <a:pt x="167" y="91"/>
                  </a:lnTo>
                  <a:lnTo>
                    <a:pt x="178" y="130"/>
                  </a:lnTo>
                  <a:lnTo>
                    <a:pt x="172" y="170"/>
                  </a:lnTo>
                  <a:lnTo>
                    <a:pt x="147" y="201"/>
                  </a:lnTo>
                  <a:lnTo>
                    <a:pt x="103" y="214"/>
                  </a:lnTo>
                  <a:lnTo>
                    <a:pt x="55" y="207"/>
                  </a:lnTo>
                  <a:lnTo>
                    <a:pt x="18" y="185"/>
                  </a:lnTo>
                  <a:lnTo>
                    <a:pt x="0" y="146"/>
                  </a:lnTo>
                  <a:lnTo>
                    <a:pt x="9" y="102"/>
                  </a:lnTo>
                  <a:lnTo>
                    <a:pt x="37" y="66"/>
                  </a:lnTo>
                  <a:lnTo>
                    <a:pt x="33" y="113"/>
                  </a:lnTo>
                  <a:lnTo>
                    <a:pt x="64" y="82"/>
                  </a:lnTo>
                  <a:lnTo>
                    <a:pt x="77" y="4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v4_path_0081"/>
            <p:cNvSpPr/>
            <p:nvPr/>
          </p:nvSpPr>
          <p:spPr>
            <a:xfrm>
              <a:off x="2592324" y="2723998"/>
              <a:ext cx="74066" cy="100584"/>
            </a:xfrm>
            <a:custGeom>
              <a:avLst/>
              <a:gdLst/>
              <a:ahLst/>
              <a:cxnLst/>
              <a:rect l="l" t="t" r="r" b="b"/>
              <a:pathLst>
                <a:path w="81" h="110">
                  <a:moveTo>
                    <a:pt x="44" y="0"/>
                  </a:moveTo>
                  <a:lnTo>
                    <a:pt x="75" y="37"/>
                  </a:lnTo>
                  <a:lnTo>
                    <a:pt x="81" y="73"/>
                  </a:lnTo>
                  <a:lnTo>
                    <a:pt x="68" y="99"/>
                  </a:lnTo>
                  <a:lnTo>
                    <a:pt x="39" y="110"/>
                  </a:lnTo>
                  <a:lnTo>
                    <a:pt x="9" y="95"/>
                  </a:lnTo>
                  <a:lnTo>
                    <a:pt x="0" y="64"/>
                  </a:lnTo>
                  <a:lnTo>
                    <a:pt x="13" y="33"/>
                  </a:lnTo>
                  <a:lnTo>
                    <a:pt x="22" y="68"/>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3" name="v4_module_compact_z16"/>
          <p:cNvGrpSpPr/>
          <p:nvPr/>
        </p:nvGrpSpPr>
        <p:grpSpPr>
          <a:xfrm>
            <a:off x="3081528" y="2962656"/>
            <a:ext cx="365760" cy="384048"/>
            <a:chOff x="3081528" y="2962656"/>
            <a:chExt cx="365760" cy="384048"/>
          </a:xfrm>
        </p:grpSpPr>
        <p:sp>
          <p:nvSpPr>
            <p:cNvPr id="1183" name="v4_compact_z16"/>
            <p:cNvSpPr/>
            <p:nvPr/>
          </p:nvSpPr>
          <p:spPr>
            <a:xfrm>
              <a:off x="3081528" y="2962656"/>
              <a:ext cx="365760" cy="384048"/>
            </a:xfrm>
            <a:prstGeom prst="roundRect">
              <a:avLst>
                <a:gd name="adj" fmla="val 12000"/>
              </a:avLst>
            </a:prstGeom>
            <a:solidFill>
              <a:srgbClr val="D1E0EE"/>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v4_compact_z16_label"/>
            <p:cNvSpPr txBox="1"/>
            <p:nvPr/>
          </p:nvSpPr>
          <p:spPr>
            <a:xfrm>
              <a:off x="3127248" y="2971800"/>
              <a:ext cx="274320" cy="365759"/>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367AB5"/>
                  </a:solidFill>
                  <a:latin typeface="DejaVu Sans"/>
                </a:rPr>
                <a:t>z₁₆</a:t>
              </a:r>
            </a:p>
          </p:txBody>
        </p:sp>
      </p:grpSp>
      <p:grpSp>
        <p:nvGrpSpPr>
          <p:cNvPr id="1214" name="v4_decoder_16_trained"/>
          <p:cNvGrpSpPr/>
          <p:nvPr/>
        </p:nvGrpSpPr>
        <p:grpSpPr>
          <a:xfrm>
            <a:off x="3796589" y="2637130"/>
            <a:ext cx="162763" cy="195682"/>
            <a:chOff x="3796589" y="2637130"/>
            <a:chExt cx="162763" cy="195682"/>
          </a:xfrm>
        </p:grpSpPr>
        <p:sp>
          <p:nvSpPr>
            <p:cNvPr id="71" name="v4_path_0090"/>
            <p:cNvSpPr/>
            <p:nvPr/>
          </p:nvSpPr>
          <p:spPr>
            <a:xfrm>
              <a:off x="3796589" y="2637130"/>
              <a:ext cx="162763" cy="195682"/>
            </a:xfrm>
            <a:custGeom>
              <a:avLst/>
              <a:gdLst/>
              <a:ahLst/>
              <a:cxnLst/>
              <a:rect l="l" t="t" r="r" b="b"/>
              <a:pathLst>
                <a:path w="178" h="214">
                  <a:moveTo>
                    <a:pt x="92" y="0"/>
                  </a:moveTo>
                  <a:lnTo>
                    <a:pt x="114" y="38"/>
                  </a:lnTo>
                  <a:lnTo>
                    <a:pt x="112" y="71"/>
                  </a:lnTo>
                  <a:lnTo>
                    <a:pt x="145" y="53"/>
                  </a:lnTo>
                  <a:lnTo>
                    <a:pt x="167" y="91"/>
                  </a:lnTo>
                  <a:lnTo>
                    <a:pt x="178" y="130"/>
                  </a:lnTo>
                  <a:lnTo>
                    <a:pt x="172" y="170"/>
                  </a:lnTo>
                  <a:lnTo>
                    <a:pt x="147" y="201"/>
                  </a:lnTo>
                  <a:lnTo>
                    <a:pt x="103" y="214"/>
                  </a:lnTo>
                  <a:lnTo>
                    <a:pt x="55" y="207"/>
                  </a:lnTo>
                  <a:lnTo>
                    <a:pt x="18" y="185"/>
                  </a:lnTo>
                  <a:lnTo>
                    <a:pt x="0" y="146"/>
                  </a:lnTo>
                  <a:lnTo>
                    <a:pt x="9" y="102"/>
                  </a:lnTo>
                  <a:lnTo>
                    <a:pt x="37" y="66"/>
                  </a:lnTo>
                  <a:lnTo>
                    <a:pt x="33" y="113"/>
                  </a:lnTo>
                  <a:lnTo>
                    <a:pt x="64" y="82"/>
                  </a:lnTo>
                  <a:lnTo>
                    <a:pt x="77" y="4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v4_path_0091"/>
            <p:cNvSpPr/>
            <p:nvPr/>
          </p:nvSpPr>
          <p:spPr>
            <a:xfrm>
              <a:off x="3845052" y="2723998"/>
              <a:ext cx="74066" cy="100584"/>
            </a:xfrm>
            <a:custGeom>
              <a:avLst/>
              <a:gdLst/>
              <a:ahLst/>
              <a:cxnLst/>
              <a:rect l="l" t="t" r="r" b="b"/>
              <a:pathLst>
                <a:path w="81" h="110">
                  <a:moveTo>
                    <a:pt x="44" y="0"/>
                  </a:moveTo>
                  <a:lnTo>
                    <a:pt x="75" y="37"/>
                  </a:lnTo>
                  <a:lnTo>
                    <a:pt x="81" y="73"/>
                  </a:lnTo>
                  <a:lnTo>
                    <a:pt x="68" y="99"/>
                  </a:lnTo>
                  <a:lnTo>
                    <a:pt x="39" y="110"/>
                  </a:lnTo>
                  <a:lnTo>
                    <a:pt x="9" y="95"/>
                  </a:lnTo>
                  <a:lnTo>
                    <a:pt x="0" y="64"/>
                  </a:lnTo>
                  <a:lnTo>
                    <a:pt x="13" y="33"/>
                  </a:lnTo>
                  <a:lnTo>
                    <a:pt x="22" y="68"/>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5" name="v4_module_rect_0095"/>
          <p:cNvGrpSpPr/>
          <p:nvPr/>
        </p:nvGrpSpPr>
        <p:grpSpPr>
          <a:xfrm>
            <a:off x="393192" y="4672584"/>
            <a:ext cx="987552" cy="329184"/>
            <a:chOff x="393192" y="4672584"/>
            <a:chExt cx="987552" cy="329184"/>
          </a:xfrm>
        </p:grpSpPr>
        <p:sp>
          <p:nvSpPr>
            <p:cNvPr id="1189" name="v4_rect_0095"/>
            <p:cNvSpPr/>
            <p:nvPr/>
          </p:nvSpPr>
          <p:spPr>
            <a:xfrm>
              <a:off x="393192" y="4672584"/>
              <a:ext cx="987552" cy="329184"/>
            </a:xfrm>
            <a:prstGeom prst="roundRect">
              <a:avLst>
                <a:gd name="adj" fmla="val 1200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v4_text_0096"/>
            <p:cNvSpPr txBox="1"/>
            <p:nvPr/>
          </p:nvSpPr>
          <p:spPr>
            <a:xfrm>
              <a:off x="438912" y="4681728"/>
              <a:ext cx="896112" cy="31089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7965AA"/>
                  </a:solidFill>
                  <a:latin typeface="DejaVu Sans"/>
                </a:rPr>
                <a:t>Question</a:t>
              </a:r>
            </a:p>
          </p:txBody>
        </p:sp>
      </p:grpSp>
      <p:grpSp>
        <p:nvGrpSpPr>
          <p:cNvPr id="1216" name="v4_module_rect_0097"/>
          <p:cNvGrpSpPr/>
          <p:nvPr/>
        </p:nvGrpSpPr>
        <p:grpSpPr>
          <a:xfrm>
            <a:off x="1380744" y="4672584"/>
            <a:ext cx="1307592" cy="329184"/>
            <a:chOff x="1380744" y="4672584"/>
            <a:chExt cx="1307592" cy="329184"/>
          </a:xfrm>
        </p:grpSpPr>
        <p:sp>
          <p:nvSpPr>
            <p:cNvPr id="1191" name="v4_rect_0097"/>
            <p:cNvSpPr/>
            <p:nvPr/>
          </p:nvSpPr>
          <p:spPr>
            <a:xfrm>
              <a:off x="1380744" y="4672584"/>
              <a:ext cx="1307592" cy="329184"/>
            </a:xfrm>
            <a:prstGeom prst="roundRect">
              <a:avLst>
                <a:gd name="adj" fmla="val 1200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v4_text_0098"/>
            <p:cNvSpPr txBox="1"/>
            <p:nvPr/>
          </p:nvSpPr>
          <p:spPr>
            <a:xfrm>
              <a:off x="1426464" y="4681728"/>
              <a:ext cx="1216151" cy="31089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B86565"/>
                  </a:solidFill>
                  <a:latin typeface="DejaVu Sans"/>
                </a:rPr>
                <a:t>Gold solution</a:t>
              </a:r>
            </a:p>
          </p:txBody>
        </p:sp>
      </p:grpSp>
      <p:grpSp>
        <p:nvGrpSpPr>
          <p:cNvPr id="1217" name="v4_final_encoder_L16_frozen"/>
          <p:cNvGrpSpPr/>
          <p:nvPr/>
        </p:nvGrpSpPr>
        <p:grpSpPr>
          <a:xfrm>
            <a:off x="1352398" y="6126480"/>
            <a:ext cx="148132" cy="128016"/>
            <a:chOff x="1352398" y="6126480"/>
            <a:chExt cx="148132" cy="128016"/>
          </a:xfrm>
        </p:grpSpPr>
        <p:sp>
          <p:nvSpPr>
            <p:cNvPr id="78" name="v4_path_0108"/>
            <p:cNvSpPr/>
            <p:nvPr/>
          </p:nvSpPr>
          <p:spPr>
            <a:xfrm>
              <a:off x="1426464" y="6190488"/>
              <a:ext cx="74066" cy="0"/>
            </a:xfrm>
            <a:custGeom>
              <a:avLst/>
              <a:gdLst/>
              <a:ahLst/>
              <a:cxnLst/>
              <a:rect l="l" t="t" r="r" b="b"/>
              <a:pathLst>
                <a:path w="81" h="0">
                  <a:moveTo>
                    <a:pt x="0" y="0"/>
                  </a:moveTo>
                  <a:lnTo>
                    <a:pt x="81"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v4_path_0109"/>
            <p:cNvSpPr/>
            <p:nvPr/>
          </p:nvSpPr>
          <p:spPr>
            <a:xfrm>
              <a:off x="1474927" y="6170371"/>
              <a:ext cx="10973" cy="20117"/>
            </a:xfrm>
            <a:custGeom>
              <a:avLst/>
              <a:gdLst/>
              <a:ahLst/>
              <a:cxnLst/>
              <a:rect l="l" t="t" r="r" b="b"/>
              <a:pathLst>
                <a:path w="12" h="22">
                  <a:moveTo>
                    <a:pt x="0" y="22"/>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v4_path_0110"/>
            <p:cNvSpPr/>
            <p:nvPr/>
          </p:nvSpPr>
          <p:spPr>
            <a:xfrm>
              <a:off x="1474927" y="6190488"/>
              <a:ext cx="10973" cy="20117"/>
            </a:xfrm>
            <a:custGeom>
              <a:avLst/>
              <a:gdLst/>
              <a:ahLst/>
              <a:cxnLst/>
              <a:rect l="l" t="t" r="r" b="b"/>
              <a:pathLst>
                <a:path w="12" h="22">
                  <a:moveTo>
                    <a:pt x="0" y="0"/>
                  </a:moveTo>
                  <a:lnTo>
                    <a:pt x="12"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v4_path_0111"/>
            <p:cNvSpPr/>
            <p:nvPr/>
          </p:nvSpPr>
          <p:spPr>
            <a:xfrm>
              <a:off x="1426464" y="6190488"/>
              <a:ext cx="36576" cy="64008"/>
            </a:xfrm>
            <a:custGeom>
              <a:avLst/>
              <a:gdLst/>
              <a:ahLst/>
              <a:cxnLst/>
              <a:rect l="l" t="t" r="r" b="b"/>
              <a:pathLst>
                <a:path w="40" h="70">
                  <a:moveTo>
                    <a:pt x="0" y="0"/>
                  </a:moveTo>
                  <a:lnTo>
                    <a:pt x="40"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v4_path_0112"/>
            <p:cNvSpPr/>
            <p:nvPr/>
          </p:nvSpPr>
          <p:spPr>
            <a:xfrm>
              <a:off x="1450238" y="6232550"/>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v4_path_0113"/>
            <p:cNvSpPr/>
            <p:nvPr/>
          </p:nvSpPr>
          <p:spPr>
            <a:xfrm>
              <a:off x="1439266" y="6232550"/>
              <a:ext cx="10973" cy="19202"/>
            </a:xfrm>
            <a:custGeom>
              <a:avLst/>
              <a:gdLst/>
              <a:ahLst/>
              <a:cxnLst/>
              <a:rect l="l" t="t" r="r" b="b"/>
              <a:pathLst>
                <a:path w="12" h="21">
                  <a:moveTo>
                    <a:pt x="12" y="0"/>
                  </a:moveTo>
                  <a:lnTo>
                    <a:pt x="0"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v4_path_0114"/>
            <p:cNvSpPr/>
            <p:nvPr/>
          </p:nvSpPr>
          <p:spPr>
            <a:xfrm>
              <a:off x="1389888" y="6190488"/>
              <a:ext cx="36576" cy="64008"/>
            </a:xfrm>
            <a:custGeom>
              <a:avLst/>
              <a:gdLst/>
              <a:ahLst/>
              <a:cxnLst/>
              <a:rect l="l" t="t" r="r" b="b"/>
              <a:pathLst>
                <a:path w="40" h="70">
                  <a:moveTo>
                    <a:pt x="40" y="0"/>
                  </a:moveTo>
                  <a:lnTo>
                    <a:pt x="0"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v4_path_0115"/>
            <p:cNvSpPr/>
            <p:nvPr/>
          </p:nvSpPr>
          <p:spPr>
            <a:xfrm>
              <a:off x="1402690" y="6232550"/>
              <a:ext cx="10973" cy="19202"/>
            </a:xfrm>
            <a:custGeom>
              <a:avLst/>
              <a:gdLst/>
              <a:ahLst/>
              <a:cxnLst/>
              <a:rect l="l" t="t" r="r" b="b"/>
              <a:pathLst>
                <a:path w="12" h="21">
                  <a:moveTo>
                    <a:pt x="0" y="0"/>
                  </a:moveTo>
                  <a:lnTo>
                    <a:pt x="12"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v4_path_0116"/>
            <p:cNvSpPr/>
            <p:nvPr/>
          </p:nvSpPr>
          <p:spPr>
            <a:xfrm>
              <a:off x="1379830" y="6232550"/>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v4_path_0117"/>
            <p:cNvSpPr/>
            <p:nvPr/>
          </p:nvSpPr>
          <p:spPr>
            <a:xfrm>
              <a:off x="1352398" y="6190488"/>
              <a:ext cx="74066" cy="0"/>
            </a:xfrm>
            <a:custGeom>
              <a:avLst/>
              <a:gdLst/>
              <a:ahLst/>
              <a:cxnLst/>
              <a:rect l="l" t="t" r="r" b="b"/>
              <a:pathLst>
                <a:path w="81" h="0">
                  <a:moveTo>
                    <a:pt x="81"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v4_path_0118"/>
            <p:cNvSpPr/>
            <p:nvPr/>
          </p:nvSpPr>
          <p:spPr>
            <a:xfrm>
              <a:off x="1367028" y="6190488"/>
              <a:ext cx="10973" cy="20117"/>
            </a:xfrm>
            <a:custGeom>
              <a:avLst/>
              <a:gdLst/>
              <a:ahLst/>
              <a:cxnLst/>
              <a:rect l="l" t="t" r="r" b="b"/>
              <a:pathLst>
                <a:path w="12" h="22">
                  <a:moveTo>
                    <a:pt x="12" y="0"/>
                  </a:moveTo>
                  <a:lnTo>
                    <a:pt x="0"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v4_path_0119"/>
            <p:cNvSpPr/>
            <p:nvPr/>
          </p:nvSpPr>
          <p:spPr>
            <a:xfrm>
              <a:off x="1367028" y="6170371"/>
              <a:ext cx="10973" cy="20117"/>
            </a:xfrm>
            <a:custGeom>
              <a:avLst/>
              <a:gdLst/>
              <a:ahLst/>
              <a:cxnLst/>
              <a:rect l="l" t="t" r="r" b="b"/>
              <a:pathLst>
                <a:path w="12" h="22">
                  <a:moveTo>
                    <a:pt x="12" y="22"/>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v4_path_0120"/>
            <p:cNvSpPr/>
            <p:nvPr/>
          </p:nvSpPr>
          <p:spPr>
            <a:xfrm>
              <a:off x="1389888" y="6126480"/>
              <a:ext cx="36576" cy="64008"/>
            </a:xfrm>
            <a:custGeom>
              <a:avLst/>
              <a:gdLst/>
              <a:ahLst/>
              <a:cxnLst/>
              <a:rect l="l" t="t" r="r" b="b"/>
              <a:pathLst>
                <a:path w="40" h="70">
                  <a:moveTo>
                    <a:pt x="40" y="7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v4_path_0121"/>
            <p:cNvSpPr/>
            <p:nvPr/>
          </p:nvSpPr>
          <p:spPr>
            <a:xfrm>
              <a:off x="1379830" y="6148426"/>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v4_path_0122"/>
            <p:cNvSpPr/>
            <p:nvPr/>
          </p:nvSpPr>
          <p:spPr>
            <a:xfrm>
              <a:off x="1402690" y="6129223"/>
              <a:ext cx="10973" cy="19202"/>
            </a:xfrm>
            <a:custGeom>
              <a:avLst/>
              <a:gdLst/>
              <a:ahLst/>
              <a:cxnLst/>
              <a:rect l="l" t="t" r="r" b="b"/>
              <a:pathLst>
                <a:path w="12" h="21">
                  <a:moveTo>
                    <a:pt x="0" y="21"/>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v4_path_0123"/>
            <p:cNvSpPr/>
            <p:nvPr/>
          </p:nvSpPr>
          <p:spPr>
            <a:xfrm>
              <a:off x="1426464" y="6126480"/>
              <a:ext cx="36576" cy="64008"/>
            </a:xfrm>
            <a:custGeom>
              <a:avLst/>
              <a:gdLst/>
              <a:ahLst/>
              <a:cxnLst/>
              <a:rect l="l" t="t" r="r" b="b"/>
              <a:pathLst>
                <a:path w="40" h="70">
                  <a:moveTo>
                    <a:pt x="0" y="70"/>
                  </a:moveTo>
                  <a:lnTo>
                    <a:pt x="4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v4_path_0124"/>
            <p:cNvSpPr/>
            <p:nvPr/>
          </p:nvSpPr>
          <p:spPr>
            <a:xfrm>
              <a:off x="1439266" y="6129223"/>
              <a:ext cx="10973" cy="19202"/>
            </a:xfrm>
            <a:custGeom>
              <a:avLst/>
              <a:gdLst/>
              <a:ahLst/>
              <a:cxnLst/>
              <a:rect l="l" t="t" r="r" b="b"/>
              <a:pathLst>
                <a:path w="12" h="21">
                  <a:moveTo>
                    <a:pt x="12" y="21"/>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v4_path_0125"/>
            <p:cNvSpPr/>
            <p:nvPr/>
          </p:nvSpPr>
          <p:spPr>
            <a:xfrm>
              <a:off x="1450238" y="6148426"/>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8" name="v4_final_encoder_L24_frozen"/>
          <p:cNvGrpSpPr/>
          <p:nvPr/>
        </p:nvGrpSpPr>
        <p:grpSpPr>
          <a:xfrm>
            <a:off x="2358238" y="6126480"/>
            <a:ext cx="148132" cy="128016"/>
            <a:chOff x="2358238" y="6126480"/>
            <a:chExt cx="148132" cy="128016"/>
          </a:xfrm>
        </p:grpSpPr>
        <p:sp>
          <p:nvSpPr>
            <p:cNvPr id="99" name="v4_path_0133"/>
            <p:cNvSpPr/>
            <p:nvPr/>
          </p:nvSpPr>
          <p:spPr>
            <a:xfrm>
              <a:off x="2432304" y="6190488"/>
              <a:ext cx="74066" cy="0"/>
            </a:xfrm>
            <a:custGeom>
              <a:avLst/>
              <a:gdLst/>
              <a:ahLst/>
              <a:cxnLst/>
              <a:rect l="l" t="t" r="r" b="b"/>
              <a:pathLst>
                <a:path w="81" h="0">
                  <a:moveTo>
                    <a:pt x="0" y="0"/>
                  </a:moveTo>
                  <a:lnTo>
                    <a:pt x="81"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v4_path_0134"/>
            <p:cNvSpPr/>
            <p:nvPr/>
          </p:nvSpPr>
          <p:spPr>
            <a:xfrm>
              <a:off x="2480767" y="6170371"/>
              <a:ext cx="10973" cy="20117"/>
            </a:xfrm>
            <a:custGeom>
              <a:avLst/>
              <a:gdLst/>
              <a:ahLst/>
              <a:cxnLst/>
              <a:rect l="l" t="t" r="r" b="b"/>
              <a:pathLst>
                <a:path w="12" h="22">
                  <a:moveTo>
                    <a:pt x="0" y="22"/>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v4_path_0135"/>
            <p:cNvSpPr/>
            <p:nvPr/>
          </p:nvSpPr>
          <p:spPr>
            <a:xfrm>
              <a:off x="2480767" y="6190488"/>
              <a:ext cx="10973" cy="20117"/>
            </a:xfrm>
            <a:custGeom>
              <a:avLst/>
              <a:gdLst/>
              <a:ahLst/>
              <a:cxnLst/>
              <a:rect l="l" t="t" r="r" b="b"/>
              <a:pathLst>
                <a:path w="12" h="22">
                  <a:moveTo>
                    <a:pt x="0" y="0"/>
                  </a:moveTo>
                  <a:lnTo>
                    <a:pt x="12"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v4_path_0136"/>
            <p:cNvSpPr/>
            <p:nvPr/>
          </p:nvSpPr>
          <p:spPr>
            <a:xfrm>
              <a:off x="2432304" y="6190488"/>
              <a:ext cx="37490" cy="64008"/>
            </a:xfrm>
            <a:custGeom>
              <a:avLst/>
              <a:gdLst/>
              <a:ahLst/>
              <a:cxnLst/>
              <a:rect l="l" t="t" r="r" b="b"/>
              <a:pathLst>
                <a:path w="41" h="70">
                  <a:moveTo>
                    <a:pt x="0" y="0"/>
                  </a:moveTo>
                  <a:lnTo>
                    <a:pt x="41"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v4_path_0137"/>
            <p:cNvSpPr/>
            <p:nvPr/>
          </p:nvSpPr>
          <p:spPr>
            <a:xfrm>
              <a:off x="2456078" y="6232550"/>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v4_path_0138"/>
            <p:cNvSpPr/>
            <p:nvPr/>
          </p:nvSpPr>
          <p:spPr>
            <a:xfrm>
              <a:off x="2445106" y="6232550"/>
              <a:ext cx="10973" cy="19202"/>
            </a:xfrm>
            <a:custGeom>
              <a:avLst/>
              <a:gdLst/>
              <a:ahLst/>
              <a:cxnLst/>
              <a:rect l="l" t="t" r="r" b="b"/>
              <a:pathLst>
                <a:path w="12" h="21">
                  <a:moveTo>
                    <a:pt x="12" y="0"/>
                  </a:moveTo>
                  <a:lnTo>
                    <a:pt x="0"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v4_path_0139"/>
            <p:cNvSpPr/>
            <p:nvPr/>
          </p:nvSpPr>
          <p:spPr>
            <a:xfrm>
              <a:off x="2395728" y="6190488"/>
              <a:ext cx="36576" cy="64008"/>
            </a:xfrm>
            <a:custGeom>
              <a:avLst/>
              <a:gdLst/>
              <a:ahLst/>
              <a:cxnLst/>
              <a:rect l="l" t="t" r="r" b="b"/>
              <a:pathLst>
                <a:path w="40" h="70">
                  <a:moveTo>
                    <a:pt x="40" y="0"/>
                  </a:moveTo>
                  <a:lnTo>
                    <a:pt x="0"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v4_path_0140"/>
            <p:cNvSpPr/>
            <p:nvPr/>
          </p:nvSpPr>
          <p:spPr>
            <a:xfrm>
              <a:off x="2408530" y="6232550"/>
              <a:ext cx="10973" cy="19202"/>
            </a:xfrm>
            <a:custGeom>
              <a:avLst/>
              <a:gdLst/>
              <a:ahLst/>
              <a:cxnLst/>
              <a:rect l="l" t="t" r="r" b="b"/>
              <a:pathLst>
                <a:path w="12" h="21">
                  <a:moveTo>
                    <a:pt x="0" y="0"/>
                  </a:moveTo>
                  <a:lnTo>
                    <a:pt x="12"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v4_path_0141"/>
            <p:cNvSpPr/>
            <p:nvPr/>
          </p:nvSpPr>
          <p:spPr>
            <a:xfrm>
              <a:off x="2385670" y="6232550"/>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v4_path_0142"/>
            <p:cNvSpPr/>
            <p:nvPr/>
          </p:nvSpPr>
          <p:spPr>
            <a:xfrm>
              <a:off x="2358238" y="6190488"/>
              <a:ext cx="74066" cy="0"/>
            </a:xfrm>
            <a:custGeom>
              <a:avLst/>
              <a:gdLst/>
              <a:ahLst/>
              <a:cxnLst/>
              <a:rect l="l" t="t" r="r" b="b"/>
              <a:pathLst>
                <a:path w="81" h="0">
                  <a:moveTo>
                    <a:pt x="81"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v4_path_0143"/>
            <p:cNvSpPr/>
            <p:nvPr/>
          </p:nvSpPr>
          <p:spPr>
            <a:xfrm>
              <a:off x="2372868" y="6190488"/>
              <a:ext cx="10973" cy="20117"/>
            </a:xfrm>
            <a:custGeom>
              <a:avLst/>
              <a:gdLst/>
              <a:ahLst/>
              <a:cxnLst/>
              <a:rect l="l" t="t" r="r" b="b"/>
              <a:pathLst>
                <a:path w="12" h="22">
                  <a:moveTo>
                    <a:pt x="12" y="0"/>
                  </a:moveTo>
                  <a:lnTo>
                    <a:pt x="0"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v4_path_0144"/>
            <p:cNvSpPr/>
            <p:nvPr/>
          </p:nvSpPr>
          <p:spPr>
            <a:xfrm>
              <a:off x="2372868" y="6170371"/>
              <a:ext cx="10973" cy="20117"/>
            </a:xfrm>
            <a:custGeom>
              <a:avLst/>
              <a:gdLst/>
              <a:ahLst/>
              <a:cxnLst/>
              <a:rect l="l" t="t" r="r" b="b"/>
              <a:pathLst>
                <a:path w="12" h="22">
                  <a:moveTo>
                    <a:pt x="12" y="22"/>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v4_path_0145"/>
            <p:cNvSpPr/>
            <p:nvPr/>
          </p:nvSpPr>
          <p:spPr>
            <a:xfrm>
              <a:off x="2395728" y="6126480"/>
              <a:ext cx="36576" cy="64008"/>
            </a:xfrm>
            <a:custGeom>
              <a:avLst/>
              <a:gdLst/>
              <a:ahLst/>
              <a:cxnLst/>
              <a:rect l="l" t="t" r="r" b="b"/>
              <a:pathLst>
                <a:path w="40" h="70">
                  <a:moveTo>
                    <a:pt x="40" y="7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v4_path_0146"/>
            <p:cNvSpPr/>
            <p:nvPr/>
          </p:nvSpPr>
          <p:spPr>
            <a:xfrm>
              <a:off x="2385670" y="6148426"/>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v4_path_0147"/>
            <p:cNvSpPr/>
            <p:nvPr/>
          </p:nvSpPr>
          <p:spPr>
            <a:xfrm>
              <a:off x="2408530" y="6129223"/>
              <a:ext cx="10973" cy="19202"/>
            </a:xfrm>
            <a:custGeom>
              <a:avLst/>
              <a:gdLst/>
              <a:ahLst/>
              <a:cxnLst/>
              <a:rect l="l" t="t" r="r" b="b"/>
              <a:pathLst>
                <a:path w="12" h="21">
                  <a:moveTo>
                    <a:pt x="0" y="21"/>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v4_path_0148"/>
            <p:cNvSpPr/>
            <p:nvPr/>
          </p:nvSpPr>
          <p:spPr>
            <a:xfrm>
              <a:off x="2432304" y="6126480"/>
              <a:ext cx="37490" cy="64008"/>
            </a:xfrm>
            <a:custGeom>
              <a:avLst/>
              <a:gdLst/>
              <a:ahLst/>
              <a:cxnLst/>
              <a:rect l="l" t="t" r="r" b="b"/>
              <a:pathLst>
                <a:path w="41" h="70">
                  <a:moveTo>
                    <a:pt x="0" y="70"/>
                  </a:moveTo>
                  <a:lnTo>
                    <a:pt x="41"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v4_path_0149"/>
            <p:cNvSpPr/>
            <p:nvPr/>
          </p:nvSpPr>
          <p:spPr>
            <a:xfrm>
              <a:off x="2445106" y="6129223"/>
              <a:ext cx="10973" cy="19202"/>
            </a:xfrm>
            <a:custGeom>
              <a:avLst/>
              <a:gdLst/>
              <a:ahLst/>
              <a:cxnLst/>
              <a:rect l="l" t="t" r="r" b="b"/>
              <a:pathLst>
                <a:path w="12" h="21">
                  <a:moveTo>
                    <a:pt x="12" y="21"/>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v4_path_0150"/>
            <p:cNvSpPr/>
            <p:nvPr/>
          </p:nvSpPr>
          <p:spPr>
            <a:xfrm>
              <a:off x="2456078" y="6148426"/>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19" name="v4_final_encoder_L32_frozen"/>
          <p:cNvGrpSpPr/>
          <p:nvPr/>
        </p:nvGrpSpPr>
        <p:grpSpPr>
          <a:xfrm>
            <a:off x="3866998" y="6126480"/>
            <a:ext cx="148132" cy="128016"/>
            <a:chOff x="3866998" y="6126480"/>
            <a:chExt cx="148132" cy="128016"/>
          </a:xfrm>
        </p:grpSpPr>
        <p:sp>
          <p:nvSpPr>
            <p:cNvPr id="120" name="v4_path_0158"/>
            <p:cNvSpPr/>
            <p:nvPr/>
          </p:nvSpPr>
          <p:spPr>
            <a:xfrm>
              <a:off x="3941064" y="6190488"/>
              <a:ext cx="74066" cy="0"/>
            </a:xfrm>
            <a:custGeom>
              <a:avLst/>
              <a:gdLst/>
              <a:ahLst/>
              <a:cxnLst/>
              <a:rect l="l" t="t" r="r" b="b"/>
              <a:pathLst>
                <a:path w="81" h="0">
                  <a:moveTo>
                    <a:pt x="0" y="0"/>
                  </a:moveTo>
                  <a:lnTo>
                    <a:pt x="81"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v4_path_0159"/>
            <p:cNvSpPr/>
            <p:nvPr/>
          </p:nvSpPr>
          <p:spPr>
            <a:xfrm>
              <a:off x="3989527" y="6170371"/>
              <a:ext cx="10973" cy="20117"/>
            </a:xfrm>
            <a:custGeom>
              <a:avLst/>
              <a:gdLst/>
              <a:ahLst/>
              <a:cxnLst/>
              <a:rect l="l" t="t" r="r" b="b"/>
              <a:pathLst>
                <a:path w="12" h="22">
                  <a:moveTo>
                    <a:pt x="0" y="22"/>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v4_path_0160"/>
            <p:cNvSpPr/>
            <p:nvPr/>
          </p:nvSpPr>
          <p:spPr>
            <a:xfrm>
              <a:off x="3989527" y="6190488"/>
              <a:ext cx="10973" cy="20117"/>
            </a:xfrm>
            <a:custGeom>
              <a:avLst/>
              <a:gdLst/>
              <a:ahLst/>
              <a:cxnLst/>
              <a:rect l="l" t="t" r="r" b="b"/>
              <a:pathLst>
                <a:path w="12" h="22">
                  <a:moveTo>
                    <a:pt x="0" y="0"/>
                  </a:moveTo>
                  <a:lnTo>
                    <a:pt x="12"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v4_path_0161"/>
            <p:cNvSpPr/>
            <p:nvPr/>
          </p:nvSpPr>
          <p:spPr>
            <a:xfrm>
              <a:off x="3941064" y="6190488"/>
              <a:ext cx="36576" cy="64008"/>
            </a:xfrm>
            <a:custGeom>
              <a:avLst/>
              <a:gdLst/>
              <a:ahLst/>
              <a:cxnLst/>
              <a:rect l="l" t="t" r="r" b="b"/>
              <a:pathLst>
                <a:path w="40" h="70">
                  <a:moveTo>
                    <a:pt x="0" y="0"/>
                  </a:moveTo>
                  <a:lnTo>
                    <a:pt x="40"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v4_path_0162"/>
            <p:cNvSpPr/>
            <p:nvPr/>
          </p:nvSpPr>
          <p:spPr>
            <a:xfrm>
              <a:off x="3964838" y="6232550"/>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v4_path_0163"/>
            <p:cNvSpPr/>
            <p:nvPr/>
          </p:nvSpPr>
          <p:spPr>
            <a:xfrm>
              <a:off x="3953866" y="6232550"/>
              <a:ext cx="10973" cy="19202"/>
            </a:xfrm>
            <a:custGeom>
              <a:avLst/>
              <a:gdLst/>
              <a:ahLst/>
              <a:cxnLst/>
              <a:rect l="l" t="t" r="r" b="b"/>
              <a:pathLst>
                <a:path w="12" h="21">
                  <a:moveTo>
                    <a:pt x="12" y="0"/>
                  </a:moveTo>
                  <a:lnTo>
                    <a:pt x="0"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v4_path_0164"/>
            <p:cNvSpPr/>
            <p:nvPr/>
          </p:nvSpPr>
          <p:spPr>
            <a:xfrm>
              <a:off x="3904488" y="6190488"/>
              <a:ext cx="36576" cy="64008"/>
            </a:xfrm>
            <a:custGeom>
              <a:avLst/>
              <a:gdLst/>
              <a:ahLst/>
              <a:cxnLst/>
              <a:rect l="l" t="t" r="r" b="b"/>
              <a:pathLst>
                <a:path w="40" h="70">
                  <a:moveTo>
                    <a:pt x="40" y="0"/>
                  </a:moveTo>
                  <a:lnTo>
                    <a:pt x="0" y="7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v4_path_0165"/>
            <p:cNvSpPr/>
            <p:nvPr/>
          </p:nvSpPr>
          <p:spPr>
            <a:xfrm>
              <a:off x="3917290" y="6232550"/>
              <a:ext cx="10973" cy="19202"/>
            </a:xfrm>
            <a:custGeom>
              <a:avLst/>
              <a:gdLst/>
              <a:ahLst/>
              <a:cxnLst/>
              <a:rect l="l" t="t" r="r" b="b"/>
              <a:pathLst>
                <a:path w="12" h="21">
                  <a:moveTo>
                    <a:pt x="0" y="0"/>
                  </a:moveTo>
                  <a:lnTo>
                    <a:pt x="12" y="2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v4_path_0166"/>
            <p:cNvSpPr/>
            <p:nvPr/>
          </p:nvSpPr>
          <p:spPr>
            <a:xfrm>
              <a:off x="3894430" y="6232550"/>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v4_path_0167"/>
            <p:cNvSpPr/>
            <p:nvPr/>
          </p:nvSpPr>
          <p:spPr>
            <a:xfrm>
              <a:off x="3866998" y="6190488"/>
              <a:ext cx="74066" cy="0"/>
            </a:xfrm>
            <a:custGeom>
              <a:avLst/>
              <a:gdLst/>
              <a:ahLst/>
              <a:cxnLst/>
              <a:rect l="l" t="t" r="r" b="b"/>
              <a:pathLst>
                <a:path w="81" h="0">
                  <a:moveTo>
                    <a:pt x="81"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v4_path_0168"/>
            <p:cNvSpPr/>
            <p:nvPr/>
          </p:nvSpPr>
          <p:spPr>
            <a:xfrm>
              <a:off x="3881628" y="6190488"/>
              <a:ext cx="10973" cy="20117"/>
            </a:xfrm>
            <a:custGeom>
              <a:avLst/>
              <a:gdLst/>
              <a:ahLst/>
              <a:cxnLst/>
              <a:rect l="l" t="t" r="r" b="b"/>
              <a:pathLst>
                <a:path w="12" h="22">
                  <a:moveTo>
                    <a:pt x="12" y="0"/>
                  </a:moveTo>
                  <a:lnTo>
                    <a:pt x="0" y="22"/>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v4_path_0169"/>
            <p:cNvSpPr/>
            <p:nvPr/>
          </p:nvSpPr>
          <p:spPr>
            <a:xfrm>
              <a:off x="3881628" y="6170371"/>
              <a:ext cx="10973" cy="20117"/>
            </a:xfrm>
            <a:custGeom>
              <a:avLst/>
              <a:gdLst/>
              <a:ahLst/>
              <a:cxnLst/>
              <a:rect l="l" t="t" r="r" b="b"/>
              <a:pathLst>
                <a:path w="12" h="22">
                  <a:moveTo>
                    <a:pt x="12" y="22"/>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v4_path_0170"/>
            <p:cNvSpPr/>
            <p:nvPr/>
          </p:nvSpPr>
          <p:spPr>
            <a:xfrm>
              <a:off x="3904488" y="6126480"/>
              <a:ext cx="36576" cy="64008"/>
            </a:xfrm>
            <a:custGeom>
              <a:avLst/>
              <a:gdLst/>
              <a:ahLst/>
              <a:cxnLst/>
              <a:rect l="l" t="t" r="r" b="b"/>
              <a:pathLst>
                <a:path w="40" h="70">
                  <a:moveTo>
                    <a:pt x="40" y="7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v4_path_0171"/>
            <p:cNvSpPr/>
            <p:nvPr/>
          </p:nvSpPr>
          <p:spPr>
            <a:xfrm>
              <a:off x="3894430" y="6148426"/>
              <a:ext cx="22860" cy="0"/>
            </a:xfrm>
            <a:custGeom>
              <a:avLst/>
              <a:gdLst/>
              <a:ahLst/>
              <a:cxnLst/>
              <a:rect l="l" t="t" r="r" b="b"/>
              <a:pathLst>
                <a:path w="25" h="0">
                  <a:moveTo>
                    <a:pt x="25"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v4_path_0172"/>
            <p:cNvSpPr/>
            <p:nvPr/>
          </p:nvSpPr>
          <p:spPr>
            <a:xfrm>
              <a:off x="3917290" y="6129223"/>
              <a:ext cx="10973" cy="19202"/>
            </a:xfrm>
            <a:custGeom>
              <a:avLst/>
              <a:gdLst/>
              <a:ahLst/>
              <a:cxnLst/>
              <a:rect l="l" t="t" r="r" b="b"/>
              <a:pathLst>
                <a:path w="12" h="21">
                  <a:moveTo>
                    <a:pt x="0" y="21"/>
                  </a:moveTo>
                  <a:lnTo>
                    <a:pt x="1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v4_path_0173"/>
            <p:cNvSpPr/>
            <p:nvPr/>
          </p:nvSpPr>
          <p:spPr>
            <a:xfrm>
              <a:off x="3941064" y="6126480"/>
              <a:ext cx="36576" cy="64008"/>
            </a:xfrm>
            <a:custGeom>
              <a:avLst/>
              <a:gdLst/>
              <a:ahLst/>
              <a:cxnLst/>
              <a:rect l="l" t="t" r="r" b="b"/>
              <a:pathLst>
                <a:path w="40" h="70">
                  <a:moveTo>
                    <a:pt x="0" y="70"/>
                  </a:moveTo>
                  <a:lnTo>
                    <a:pt x="4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v4_path_0174"/>
            <p:cNvSpPr/>
            <p:nvPr/>
          </p:nvSpPr>
          <p:spPr>
            <a:xfrm>
              <a:off x="3953866" y="6129223"/>
              <a:ext cx="10973" cy="19202"/>
            </a:xfrm>
            <a:custGeom>
              <a:avLst/>
              <a:gdLst/>
              <a:ahLst/>
              <a:cxnLst/>
              <a:rect l="l" t="t" r="r" b="b"/>
              <a:pathLst>
                <a:path w="12" h="21">
                  <a:moveTo>
                    <a:pt x="12" y="21"/>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v4_path_0175"/>
            <p:cNvSpPr/>
            <p:nvPr/>
          </p:nvSpPr>
          <p:spPr>
            <a:xfrm>
              <a:off x="3964838" y="6148426"/>
              <a:ext cx="22860" cy="0"/>
            </a:xfrm>
            <a:custGeom>
              <a:avLst/>
              <a:gdLst/>
              <a:ahLst/>
              <a:cxnLst/>
              <a:rect l="l" t="t" r="r" b="b"/>
              <a:pathLst>
                <a:path w="25" h="0">
                  <a:moveTo>
                    <a:pt x="0" y="0"/>
                  </a:moveTo>
                  <a:lnTo>
                    <a:pt x="25"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20" name="v4_legend_frozen"/>
          <p:cNvGrpSpPr/>
          <p:nvPr/>
        </p:nvGrpSpPr>
        <p:grpSpPr>
          <a:xfrm>
            <a:off x="385877" y="7011619"/>
            <a:ext cx="206654" cy="177394"/>
            <a:chOff x="385877" y="7011619"/>
            <a:chExt cx="206654" cy="177394"/>
          </a:xfrm>
        </p:grpSpPr>
        <p:sp>
          <p:nvSpPr>
            <p:cNvPr id="139" name="v4_path_0179"/>
            <p:cNvSpPr/>
            <p:nvPr/>
          </p:nvSpPr>
          <p:spPr>
            <a:xfrm>
              <a:off x="489204" y="7100316"/>
              <a:ext cx="103327" cy="0"/>
            </a:xfrm>
            <a:custGeom>
              <a:avLst/>
              <a:gdLst/>
              <a:ahLst/>
              <a:cxnLst/>
              <a:rect l="l" t="t" r="r" b="b"/>
              <a:pathLst>
                <a:path w="113" h="0">
                  <a:moveTo>
                    <a:pt x="0" y="0"/>
                  </a:moveTo>
                  <a:lnTo>
                    <a:pt x="113"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v4_path_0180"/>
            <p:cNvSpPr/>
            <p:nvPr/>
          </p:nvSpPr>
          <p:spPr>
            <a:xfrm>
              <a:off x="555955" y="7072884"/>
              <a:ext cx="16459" cy="27432"/>
            </a:xfrm>
            <a:custGeom>
              <a:avLst/>
              <a:gdLst/>
              <a:ahLst/>
              <a:cxnLst/>
              <a:rect l="l" t="t" r="r" b="b"/>
              <a:pathLst>
                <a:path w="18" h="30">
                  <a:moveTo>
                    <a:pt x="0" y="30"/>
                  </a:moveTo>
                  <a:lnTo>
                    <a:pt x="1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v4_path_0181"/>
            <p:cNvSpPr/>
            <p:nvPr/>
          </p:nvSpPr>
          <p:spPr>
            <a:xfrm>
              <a:off x="555955" y="7100316"/>
              <a:ext cx="16459" cy="27432"/>
            </a:xfrm>
            <a:custGeom>
              <a:avLst/>
              <a:gdLst/>
              <a:ahLst/>
              <a:cxnLst/>
              <a:rect l="l" t="t" r="r" b="b"/>
              <a:pathLst>
                <a:path w="18" h="30">
                  <a:moveTo>
                    <a:pt x="0" y="0"/>
                  </a:moveTo>
                  <a:lnTo>
                    <a:pt x="18" y="3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v4_path_0182"/>
            <p:cNvSpPr/>
            <p:nvPr/>
          </p:nvSpPr>
          <p:spPr>
            <a:xfrm>
              <a:off x="489204" y="7100316"/>
              <a:ext cx="51206" cy="88697"/>
            </a:xfrm>
            <a:custGeom>
              <a:avLst/>
              <a:gdLst/>
              <a:ahLst/>
              <a:cxnLst/>
              <a:rect l="l" t="t" r="r" b="b"/>
              <a:pathLst>
                <a:path w="56" h="97">
                  <a:moveTo>
                    <a:pt x="0" y="0"/>
                  </a:moveTo>
                  <a:lnTo>
                    <a:pt x="56" y="9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v4_path_0183"/>
            <p:cNvSpPr/>
            <p:nvPr/>
          </p:nvSpPr>
          <p:spPr>
            <a:xfrm>
              <a:off x="523037" y="7157923"/>
              <a:ext cx="31090" cy="0"/>
            </a:xfrm>
            <a:custGeom>
              <a:avLst/>
              <a:gdLst/>
              <a:ahLst/>
              <a:cxnLst/>
              <a:rect l="l" t="t" r="r" b="b"/>
              <a:pathLst>
                <a:path w="34" h="0">
                  <a:moveTo>
                    <a:pt x="0" y="0"/>
                  </a:moveTo>
                  <a:lnTo>
                    <a:pt x="3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v4_path_0184"/>
            <p:cNvSpPr/>
            <p:nvPr/>
          </p:nvSpPr>
          <p:spPr>
            <a:xfrm>
              <a:off x="506578" y="7157923"/>
              <a:ext cx="16459" cy="28346"/>
            </a:xfrm>
            <a:custGeom>
              <a:avLst/>
              <a:gdLst/>
              <a:ahLst/>
              <a:cxnLst/>
              <a:rect l="l" t="t" r="r" b="b"/>
              <a:pathLst>
                <a:path w="18" h="31">
                  <a:moveTo>
                    <a:pt x="18" y="0"/>
                  </a:moveTo>
                  <a:lnTo>
                    <a:pt x="0" y="3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v4_path_0185"/>
            <p:cNvSpPr/>
            <p:nvPr/>
          </p:nvSpPr>
          <p:spPr>
            <a:xfrm>
              <a:off x="437998" y="7100316"/>
              <a:ext cx="51206" cy="88697"/>
            </a:xfrm>
            <a:custGeom>
              <a:avLst/>
              <a:gdLst/>
              <a:ahLst/>
              <a:cxnLst/>
              <a:rect l="l" t="t" r="r" b="b"/>
              <a:pathLst>
                <a:path w="56" h="97">
                  <a:moveTo>
                    <a:pt x="56" y="0"/>
                  </a:moveTo>
                  <a:lnTo>
                    <a:pt x="0" y="9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v4_path_0186"/>
            <p:cNvSpPr/>
            <p:nvPr/>
          </p:nvSpPr>
          <p:spPr>
            <a:xfrm>
              <a:off x="455371" y="7157923"/>
              <a:ext cx="16459" cy="28346"/>
            </a:xfrm>
            <a:custGeom>
              <a:avLst/>
              <a:gdLst/>
              <a:ahLst/>
              <a:cxnLst/>
              <a:rect l="l" t="t" r="r" b="b"/>
              <a:pathLst>
                <a:path w="18" h="31">
                  <a:moveTo>
                    <a:pt x="0" y="0"/>
                  </a:moveTo>
                  <a:lnTo>
                    <a:pt x="18" y="3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v4_path_0187"/>
            <p:cNvSpPr/>
            <p:nvPr/>
          </p:nvSpPr>
          <p:spPr>
            <a:xfrm>
              <a:off x="424282" y="7157923"/>
              <a:ext cx="31090" cy="0"/>
            </a:xfrm>
            <a:custGeom>
              <a:avLst/>
              <a:gdLst/>
              <a:ahLst/>
              <a:cxnLst/>
              <a:rect l="l" t="t" r="r" b="b"/>
              <a:pathLst>
                <a:path w="34" h="0">
                  <a:moveTo>
                    <a:pt x="34"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v4_path_0188"/>
            <p:cNvSpPr/>
            <p:nvPr/>
          </p:nvSpPr>
          <p:spPr>
            <a:xfrm>
              <a:off x="385877" y="7100316"/>
              <a:ext cx="103327" cy="0"/>
            </a:xfrm>
            <a:custGeom>
              <a:avLst/>
              <a:gdLst/>
              <a:ahLst/>
              <a:cxnLst/>
              <a:rect l="l" t="t" r="r" b="b"/>
              <a:pathLst>
                <a:path w="113" h="0">
                  <a:moveTo>
                    <a:pt x="113"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v4_path_0189"/>
            <p:cNvSpPr/>
            <p:nvPr/>
          </p:nvSpPr>
          <p:spPr>
            <a:xfrm>
              <a:off x="405994" y="7100316"/>
              <a:ext cx="16459" cy="27432"/>
            </a:xfrm>
            <a:custGeom>
              <a:avLst/>
              <a:gdLst/>
              <a:ahLst/>
              <a:cxnLst/>
              <a:rect l="l" t="t" r="r" b="b"/>
              <a:pathLst>
                <a:path w="18" h="30">
                  <a:moveTo>
                    <a:pt x="18" y="0"/>
                  </a:moveTo>
                  <a:lnTo>
                    <a:pt x="0" y="3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v4_path_0190"/>
            <p:cNvSpPr/>
            <p:nvPr/>
          </p:nvSpPr>
          <p:spPr>
            <a:xfrm>
              <a:off x="405994" y="7072884"/>
              <a:ext cx="16459" cy="27432"/>
            </a:xfrm>
            <a:custGeom>
              <a:avLst/>
              <a:gdLst/>
              <a:ahLst/>
              <a:cxnLst/>
              <a:rect l="l" t="t" r="r" b="b"/>
              <a:pathLst>
                <a:path w="18" h="30">
                  <a:moveTo>
                    <a:pt x="18" y="3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v4_path_0191"/>
            <p:cNvSpPr/>
            <p:nvPr/>
          </p:nvSpPr>
          <p:spPr>
            <a:xfrm>
              <a:off x="437998" y="7011619"/>
              <a:ext cx="51206" cy="88697"/>
            </a:xfrm>
            <a:custGeom>
              <a:avLst/>
              <a:gdLst/>
              <a:ahLst/>
              <a:cxnLst/>
              <a:rect l="l" t="t" r="r" b="b"/>
              <a:pathLst>
                <a:path w="56" h="97">
                  <a:moveTo>
                    <a:pt x="56" y="97"/>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v4_path_0192"/>
            <p:cNvSpPr/>
            <p:nvPr/>
          </p:nvSpPr>
          <p:spPr>
            <a:xfrm>
              <a:off x="424282" y="7042709"/>
              <a:ext cx="31090" cy="0"/>
            </a:xfrm>
            <a:custGeom>
              <a:avLst/>
              <a:gdLst/>
              <a:ahLst/>
              <a:cxnLst/>
              <a:rect l="l" t="t" r="r" b="b"/>
              <a:pathLst>
                <a:path w="34" h="0">
                  <a:moveTo>
                    <a:pt x="34"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v4_path_0193"/>
            <p:cNvSpPr/>
            <p:nvPr/>
          </p:nvSpPr>
          <p:spPr>
            <a:xfrm>
              <a:off x="455371" y="7014362"/>
              <a:ext cx="16459" cy="28346"/>
            </a:xfrm>
            <a:custGeom>
              <a:avLst/>
              <a:gdLst/>
              <a:ahLst/>
              <a:cxnLst/>
              <a:rect l="l" t="t" r="r" b="b"/>
              <a:pathLst>
                <a:path w="18" h="31">
                  <a:moveTo>
                    <a:pt x="0" y="31"/>
                  </a:moveTo>
                  <a:lnTo>
                    <a:pt x="1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v4_path_0194"/>
            <p:cNvSpPr/>
            <p:nvPr/>
          </p:nvSpPr>
          <p:spPr>
            <a:xfrm>
              <a:off x="489204" y="7011619"/>
              <a:ext cx="51206" cy="88697"/>
            </a:xfrm>
            <a:custGeom>
              <a:avLst/>
              <a:gdLst/>
              <a:ahLst/>
              <a:cxnLst/>
              <a:rect l="l" t="t" r="r" b="b"/>
              <a:pathLst>
                <a:path w="56" h="97">
                  <a:moveTo>
                    <a:pt x="0" y="97"/>
                  </a:moveTo>
                  <a:lnTo>
                    <a:pt x="56"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v4_path_0195"/>
            <p:cNvSpPr/>
            <p:nvPr/>
          </p:nvSpPr>
          <p:spPr>
            <a:xfrm>
              <a:off x="506578" y="7014362"/>
              <a:ext cx="16459" cy="28346"/>
            </a:xfrm>
            <a:custGeom>
              <a:avLst/>
              <a:gdLst/>
              <a:ahLst/>
              <a:cxnLst/>
              <a:rect l="l" t="t" r="r" b="b"/>
              <a:pathLst>
                <a:path w="18" h="31">
                  <a:moveTo>
                    <a:pt x="18" y="31"/>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v4_path_0196"/>
            <p:cNvSpPr/>
            <p:nvPr/>
          </p:nvSpPr>
          <p:spPr>
            <a:xfrm>
              <a:off x="523037" y="7042709"/>
              <a:ext cx="31090" cy="0"/>
            </a:xfrm>
            <a:custGeom>
              <a:avLst/>
              <a:gdLst/>
              <a:ahLst/>
              <a:cxnLst/>
              <a:rect l="l" t="t" r="r" b="b"/>
              <a:pathLst>
                <a:path w="34" h="0">
                  <a:moveTo>
                    <a:pt x="0" y="0"/>
                  </a:moveTo>
                  <a:lnTo>
                    <a:pt x="3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21" name="v4_legend_trained"/>
          <p:cNvGrpSpPr/>
          <p:nvPr/>
        </p:nvGrpSpPr>
        <p:grpSpPr>
          <a:xfrm>
            <a:off x="1679753" y="6963156"/>
            <a:ext cx="200254" cy="239573"/>
            <a:chOff x="1679753" y="6963156"/>
            <a:chExt cx="200254" cy="239573"/>
          </a:xfrm>
        </p:grpSpPr>
        <p:sp>
          <p:nvSpPr>
            <p:cNvPr id="1135" name="v4_path_0198"/>
            <p:cNvSpPr/>
            <p:nvPr/>
          </p:nvSpPr>
          <p:spPr>
            <a:xfrm>
              <a:off x="1679753" y="6963156"/>
              <a:ext cx="200254" cy="239573"/>
            </a:xfrm>
            <a:custGeom>
              <a:avLst/>
              <a:gdLst/>
              <a:ahLst/>
              <a:cxnLst/>
              <a:rect l="l" t="t" r="r" b="b"/>
              <a:pathLst>
                <a:path w="219" h="262">
                  <a:moveTo>
                    <a:pt x="113" y="0"/>
                  </a:moveTo>
                  <a:lnTo>
                    <a:pt x="140" y="46"/>
                  </a:lnTo>
                  <a:lnTo>
                    <a:pt x="138" y="87"/>
                  </a:lnTo>
                  <a:lnTo>
                    <a:pt x="178" y="65"/>
                  </a:lnTo>
                  <a:lnTo>
                    <a:pt x="205" y="111"/>
                  </a:lnTo>
                  <a:lnTo>
                    <a:pt x="219" y="160"/>
                  </a:lnTo>
                  <a:lnTo>
                    <a:pt x="211" y="208"/>
                  </a:lnTo>
                  <a:lnTo>
                    <a:pt x="181" y="246"/>
                  </a:lnTo>
                  <a:lnTo>
                    <a:pt x="127" y="262"/>
                  </a:lnTo>
                  <a:lnTo>
                    <a:pt x="67" y="254"/>
                  </a:lnTo>
                  <a:lnTo>
                    <a:pt x="22" y="227"/>
                  </a:lnTo>
                  <a:lnTo>
                    <a:pt x="0" y="179"/>
                  </a:lnTo>
                  <a:lnTo>
                    <a:pt x="11" y="125"/>
                  </a:lnTo>
                  <a:lnTo>
                    <a:pt x="46" y="81"/>
                  </a:lnTo>
                  <a:lnTo>
                    <a:pt x="41" y="138"/>
                  </a:lnTo>
                  <a:lnTo>
                    <a:pt x="78" y="100"/>
                  </a:lnTo>
                  <a:lnTo>
                    <a:pt x="95" y="5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v4_path_0199"/>
            <p:cNvSpPr/>
            <p:nvPr/>
          </p:nvSpPr>
          <p:spPr>
            <a:xfrm>
              <a:off x="1739189" y="7070141"/>
              <a:ext cx="91440" cy="122530"/>
            </a:xfrm>
            <a:custGeom>
              <a:avLst/>
              <a:gdLst/>
              <a:ahLst/>
              <a:cxnLst/>
              <a:rect l="l" t="t" r="r" b="b"/>
              <a:pathLst>
                <a:path w="100" h="134">
                  <a:moveTo>
                    <a:pt x="54" y="0"/>
                  </a:moveTo>
                  <a:lnTo>
                    <a:pt x="92" y="45"/>
                  </a:lnTo>
                  <a:lnTo>
                    <a:pt x="100" y="89"/>
                  </a:lnTo>
                  <a:lnTo>
                    <a:pt x="84" y="121"/>
                  </a:lnTo>
                  <a:lnTo>
                    <a:pt x="48" y="134"/>
                  </a:lnTo>
                  <a:lnTo>
                    <a:pt x="11" y="116"/>
                  </a:lnTo>
                  <a:lnTo>
                    <a:pt x="0" y="78"/>
                  </a:lnTo>
                  <a:lnTo>
                    <a:pt x="16" y="40"/>
                  </a:lnTo>
                  <a:lnTo>
                    <a:pt x="27" y="83"/>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34727-9DB9-A538-F656-E2DFA913F0F5}"/>
            </a:ext>
          </a:extLst>
        </p:cNvPr>
        <p:cNvGrpSpPr/>
        <p:nvPr/>
      </p:nvGrpSpPr>
      <p:grpSpPr>
        <a:xfrm>
          <a:off x="0" y="0"/>
          <a:ext cx="0" cy="0"/>
          <a:chOff x="0" y="0"/>
          <a:chExt cx="0" cy="0"/>
        </a:xfrm>
      </p:grpSpPr>
      <p:sp>
        <p:nvSpPr>
          <p:cNvPr id="8" name="Qwen_bottom_up_stack">
            <a:extLst>
              <a:ext uri="{FF2B5EF4-FFF2-40B4-BE49-F238E27FC236}">
                <a16:creationId xmlns:a16="http://schemas.microsoft.com/office/drawing/2014/main" id="{2C23DCCE-4372-100B-9992-8C53FC9CEDBC}"/>
              </a:ext>
            </a:extLst>
          </p:cNvPr>
          <p:cNvSpPr/>
          <p:nvPr/>
        </p:nvSpPr>
        <p:spPr>
          <a:xfrm>
            <a:off x="356616" y="3968885"/>
            <a:ext cx="1207008" cy="685410"/>
          </a:xfrm>
          <a:prstGeom prst="roundRect">
            <a:avLst>
              <a:gd name="adj" fmla="val 6818"/>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4" name="narrow_projector_L32">
            <a:extLst>
              <a:ext uri="{FF2B5EF4-FFF2-40B4-BE49-F238E27FC236}">
                <a16:creationId xmlns:a16="http://schemas.microsoft.com/office/drawing/2014/main" id="{8AC4109C-3ED6-964D-6152-8CCD92F6E41E}"/>
              </a:ext>
            </a:extLst>
          </p:cNvPr>
          <p:cNvSpPr/>
          <p:nvPr/>
        </p:nvSpPr>
        <p:spPr>
          <a:xfrm>
            <a:off x="457200" y="2762688"/>
            <a:ext cx="457200" cy="512064"/>
          </a:xfrm>
          <a:custGeom>
            <a:avLst/>
            <a:gdLst/>
            <a:ahLst/>
            <a:cxnLst/>
            <a:rect l="l" t="t" r="r" b="b"/>
            <a:pathLst>
              <a:path w="500" h="560">
                <a:moveTo>
                  <a:pt x="0" y="0"/>
                </a:moveTo>
                <a:lnTo>
                  <a:pt x="500" y="100"/>
                </a:lnTo>
                <a:lnTo>
                  <a:pt x="500" y="460"/>
                </a:lnTo>
                <a:lnTo>
                  <a:pt x="0" y="560"/>
                </a:lnTo>
                <a:close/>
              </a:path>
            </a:pathLst>
          </a:custGeom>
          <a:ln/>
        </p:spPr>
        <p:style>
          <a:lnRef idx="2">
            <a:schemeClr val="accent1"/>
          </a:lnRef>
          <a:fillRef idx="1">
            <a:schemeClr val="lt1"/>
          </a:fillRef>
          <a:effectRef idx="0">
            <a:schemeClr val="accent1"/>
          </a:effectRef>
          <a:fontRef idx="minor">
            <a:schemeClr val="dk1"/>
          </a:fontRef>
        </p:style>
        <p:txBody>
          <a:bodyPr rtlCol="0" anchor="ctr"/>
          <a:lstStyle/>
          <a:p>
            <a:pPr algn="ctr"/>
            <a:endParaRPr/>
          </a:p>
        </p:txBody>
      </p:sp>
      <mc:AlternateContent xmlns:mc="http://schemas.openxmlformats.org/markup-compatibility/2006">
        <mc:Choice xmlns:a14="http://schemas.microsoft.com/office/drawing/2010/main" Requires="a14">
          <p:sp>
            <p:nvSpPr>
              <p:cNvPr id="1128" name="text_0076">
                <a:extLst>
                  <a:ext uri="{FF2B5EF4-FFF2-40B4-BE49-F238E27FC236}">
                    <a16:creationId xmlns:a16="http://schemas.microsoft.com/office/drawing/2014/main" id="{A088C34C-7D24-79DB-B8A7-179B30368193}"/>
                  </a:ext>
                </a:extLst>
              </p:cNvPr>
              <p:cNvSpPr txBox="1"/>
              <p:nvPr/>
            </p:nvSpPr>
            <p:spPr>
              <a:xfrm>
                <a:off x="518746" y="2890480"/>
                <a:ext cx="380425" cy="256480"/>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anchor="ctr">
                <a:spAutoFit/>
              </a:bodyPr>
              <a:lstStyle/>
              <a:p>
                <a:pPr algn="ctr">
                  <a:lnSpc>
                    <a:spcPts val="2033"/>
                  </a:lnSpc>
                  <a:spcBef>
                    <a:spcPts val="0"/>
                  </a:spcBef>
                  <a:spcAft>
                    <a:spcPts val="0"/>
                  </a:spcAft>
                </a:pPr>
                <a14:m>
                  <m:oMathPara xmlns:m="http://schemas.openxmlformats.org/officeDocument/2006/math">
                    <m:oMath>
                      <m:sSub>
                        <m:sSubPr>
                          <m:ctrlPr>
                            <a:rPr lang="ar-AE" sz="1600" b="1" i="1" smtClean="0">
                              <a:solidFill>
                                <a:schemeClr val="accent1"/>
                              </a:solidFill>
                              <a:latin typeface="Cambria Math" panose="02040503050406030204" pitchFamily="18" charset="0"/>
                            </a:rPr>
                          </m:ctrlPr>
                        </m:sSubPr>
                        <m:e>
                          <m:r>
                            <a:rPr lang="ar-AE" sz="1600" b="1" i="1" smtClean="0">
                              <a:solidFill>
                                <a:schemeClr val="accent1"/>
                              </a:solidFill>
                              <a:latin typeface="Cambria Math" panose="02040503050406030204" pitchFamily="18" charset="0"/>
                            </a:rPr>
                            <m:t>𝑬</m:t>
                          </m:r>
                        </m:e>
                        <m:sub>
                          <m:r>
                            <a:rPr lang="en-US" sz="1600" b="1" i="1" smtClean="0">
                              <a:solidFill>
                                <a:schemeClr val="accent1"/>
                              </a:solidFill>
                              <a:latin typeface="Cambria Math" panose="02040503050406030204" pitchFamily="18" charset="0"/>
                            </a:rPr>
                            <m:t>𝟏𝟔</m:t>
                          </m:r>
                        </m:sub>
                      </m:sSub>
                    </m:oMath>
                  </m:oMathPara>
                </a14:m>
                <a:endParaRPr lang="ar-AE" sz="1600" b="1" dirty="0">
                  <a:solidFill>
                    <a:schemeClr val="accent1"/>
                  </a:solidFill>
                  <a:latin typeface="DejaVu Sans"/>
                </a:endParaRPr>
              </a:p>
            </p:txBody>
          </p:sp>
        </mc:Choice>
        <mc:Fallback>
          <p:sp>
            <p:nvSpPr>
              <p:cNvPr id="1128" name="text_0076">
                <a:extLst>
                  <a:ext uri="{FF2B5EF4-FFF2-40B4-BE49-F238E27FC236}">
                    <a16:creationId xmlns:a16="http://schemas.microsoft.com/office/drawing/2014/main" id="{A088C34C-7D24-79DB-B8A7-179B30368193}"/>
                  </a:ext>
                </a:extLst>
              </p:cNvPr>
              <p:cNvSpPr txBox="1">
                <a:spLocks noRot="1" noChangeAspect="1" noMove="1" noResize="1" noEditPoints="1" noAdjustHandles="1" noChangeArrowheads="1" noChangeShapeType="1" noTextEdit="1"/>
              </p:cNvSpPr>
              <p:nvPr/>
            </p:nvSpPr>
            <p:spPr>
              <a:xfrm>
                <a:off x="518746" y="2890480"/>
                <a:ext cx="380425" cy="256480"/>
              </a:xfrm>
              <a:prstGeom prst="rect">
                <a:avLst/>
              </a:prstGeom>
              <a:blipFill>
                <a:blip r:embed="rId3"/>
                <a:stretch>
                  <a:fillRect l="-13433" b="-6522"/>
                </a:stretch>
              </a:blipFill>
            </p:spPr>
            <p:txBody>
              <a:bodyPr/>
              <a:lstStyle/>
              <a:p>
                <a:r>
                  <a:rPr lang="en-US">
                    <a:noFill/>
                  </a:rPr>
                  <a:t> </a:t>
                </a:r>
              </a:p>
            </p:txBody>
          </p:sp>
        </mc:Fallback>
      </mc:AlternateContent>
      <p:sp>
        <p:nvSpPr>
          <p:cNvPr id="1220" name="bottom_up_Qwen_L16_label">
            <a:extLst>
              <a:ext uri="{FF2B5EF4-FFF2-40B4-BE49-F238E27FC236}">
                <a16:creationId xmlns:a16="http://schemas.microsoft.com/office/drawing/2014/main" id="{2BE818E8-7765-ADE6-5C29-BBCC8D1BA7E4}"/>
              </a:ext>
            </a:extLst>
          </p:cNvPr>
          <p:cNvSpPr txBox="1"/>
          <p:nvPr/>
        </p:nvSpPr>
        <p:spPr>
          <a:xfrm>
            <a:off x="385413" y="4179532"/>
            <a:ext cx="1149418" cy="218008"/>
          </a:xfrm>
          <a:prstGeom prst="rect">
            <a:avLst/>
          </a:prstGeom>
          <a:noFill/>
        </p:spPr>
        <p:txBody>
          <a:bodyPr wrap="none" lIns="0" tIns="0" rIns="0" bIns="0" anchor="ctr">
            <a:spAutoFit/>
          </a:bodyPr>
          <a:lstStyle/>
          <a:p>
            <a:pPr algn="ctr">
              <a:lnSpc>
                <a:spcPts val="1695"/>
              </a:lnSpc>
              <a:spcBef>
                <a:spcPts val="0"/>
              </a:spcBef>
              <a:spcAft>
                <a:spcPts val="0"/>
              </a:spcAft>
            </a:pPr>
            <a:r>
              <a:rPr lang="en-US" sz="1500" dirty="0">
                <a:solidFill>
                  <a:srgbClr val="233344"/>
                </a:solidFill>
                <a:latin typeface="DejaVu Sans"/>
              </a:rPr>
              <a:t>Layers 1-15</a:t>
            </a:r>
            <a:endParaRPr sz="1500" b="0" dirty="0">
              <a:solidFill>
                <a:srgbClr val="233344"/>
              </a:solidFill>
              <a:latin typeface="DejaVu Sans"/>
            </a:endParaRPr>
          </a:p>
        </p:txBody>
      </p:sp>
      <p:grpSp>
        <p:nvGrpSpPr>
          <p:cNvPr id="1224" name="module_bottom_up_Qwen_L32">
            <a:extLst>
              <a:ext uri="{FF2B5EF4-FFF2-40B4-BE49-F238E27FC236}">
                <a16:creationId xmlns:a16="http://schemas.microsoft.com/office/drawing/2014/main" id="{C47C1727-FB4E-146E-F85B-405F324C7409}"/>
              </a:ext>
            </a:extLst>
          </p:cNvPr>
          <p:cNvGrpSpPr/>
          <p:nvPr/>
        </p:nvGrpSpPr>
        <p:grpSpPr>
          <a:xfrm>
            <a:off x="457200" y="3430535"/>
            <a:ext cx="1005840" cy="402336"/>
            <a:chOff x="457200" y="2258568"/>
            <a:chExt cx="1005840" cy="402336"/>
          </a:xfrm>
        </p:grpSpPr>
        <p:sp>
          <p:nvSpPr>
            <p:cNvPr id="1225" name="bottom_up_Qwen_L32">
              <a:extLst>
                <a:ext uri="{FF2B5EF4-FFF2-40B4-BE49-F238E27FC236}">
                  <a16:creationId xmlns:a16="http://schemas.microsoft.com/office/drawing/2014/main" id="{A79CBCB1-F423-CA42-8BA2-0D2BEC8373B3}"/>
                </a:ext>
              </a:extLst>
            </p:cNvPr>
            <p:cNvSpPr/>
            <p:nvPr/>
          </p:nvSpPr>
          <p:spPr>
            <a:xfrm>
              <a:off x="457200" y="2258568"/>
              <a:ext cx="1005840" cy="402336"/>
            </a:xfrm>
            <a:prstGeom prst="roundRect">
              <a:avLst>
                <a:gd name="adj" fmla="val 12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a:p>
          </p:txBody>
        </p:sp>
        <p:sp>
          <p:nvSpPr>
            <p:cNvPr id="1226" name="bottom_up_Qwen_L32_label">
              <a:extLst>
                <a:ext uri="{FF2B5EF4-FFF2-40B4-BE49-F238E27FC236}">
                  <a16:creationId xmlns:a16="http://schemas.microsoft.com/office/drawing/2014/main" id="{83E07B85-CA06-B688-7624-6E9FFB9D734B}"/>
                </a:ext>
              </a:extLst>
            </p:cNvPr>
            <p:cNvSpPr txBox="1"/>
            <p:nvPr/>
          </p:nvSpPr>
          <p:spPr>
            <a:xfrm>
              <a:off x="540101" y="2350731"/>
              <a:ext cx="840038" cy="218008"/>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anchor="ctr">
              <a:spAutoFit/>
            </a:bodyPr>
            <a:lstStyle/>
            <a:p>
              <a:pPr algn="ctr">
                <a:lnSpc>
                  <a:spcPts val="1695"/>
                </a:lnSpc>
                <a:spcBef>
                  <a:spcPts val="0"/>
                </a:spcBef>
                <a:spcAft>
                  <a:spcPts val="0"/>
                </a:spcAft>
              </a:pPr>
              <a:r>
                <a:rPr sz="1500" b="0" dirty="0">
                  <a:solidFill>
                    <a:srgbClr val="233344"/>
                  </a:solidFill>
                  <a:latin typeface="DejaVu Sans"/>
                </a:rPr>
                <a:t>Layer </a:t>
              </a:r>
              <a:r>
                <a:rPr lang="en-US" sz="1500" b="0" dirty="0">
                  <a:solidFill>
                    <a:srgbClr val="233344"/>
                  </a:solidFill>
                  <a:latin typeface="DejaVu Sans"/>
                </a:rPr>
                <a:t>16</a:t>
              </a:r>
              <a:endParaRPr sz="1500" b="0" dirty="0">
                <a:solidFill>
                  <a:srgbClr val="233344"/>
                </a:solidFill>
                <a:latin typeface="DejaVu Sans"/>
              </a:endParaRPr>
            </a:p>
          </p:txBody>
        </p:sp>
      </p:grpSp>
      <p:sp>
        <p:nvSpPr>
          <p:cNvPr id="1253" name="Qwen_bottom_up_stack">
            <a:extLst>
              <a:ext uri="{FF2B5EF4-FFF2-40B4-BE49-F238E27FC236}">
                <a16:creationId xmlns:a16="http://schemas.microsoft.com/office/drawing/2014/main" id="{B13C2B12-6AE8-1304-B71E-C7AC3603E7F5}"/>
              </a:ext>
            </a:extLst>
          </p:cNvPr>
          <p:cNvSpPr/>
          <p:nvPr/>
        </p:nvSpPr>
        <p:spPr>
          <a:xfrm>
            <a:off x="385413" y="1730002"/>
            <a:ext cx="1207008" cy="685410"/>
          </a:xfrm>
          <a:prstGeom prst="roundRect">
            <a:avLst>
              <a:gd name="adj" fmla="val 6818"/>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7" name="bottom_up_Qwen_L16_label">
            <a:extLst>
              <a:ext uri="{FF2B5EF4-FFF2-40B4-BE49-F238E27FC236}">
                <a16:creationId xmlns:a16="http://schemas.microsoft.com/office/drawing/2014/main" id="{E3D5C631-D714-66E2-EF1A-A7397E017154}"/>
              </a:ext>
            </a:extLst>
          </p:cNvPr>
          <p:cNvSpPr txBox="1"/>
          <p:nvPr/>
        </p:nvSpPr>
        <p:spPr>
          <a:xfrm>
            <a:off x="385413" y="1991042"/>
            <a:ext cx="1271246" cy="218008"/>
          </a:xfrm>
          <a:prstGeom prst="rect">
            <a:avLst/>
          </a:prstGeom>
          <a:noFill/>
        </p:spPr>
        <p:txBody>
          <a:bodyPr wrap="none" lIns="0" tIns="0" rIns="0" bIns="0" anchor="ctr">
            <a:spAutoFit/>
          </a:bodyPr>
          <a:lstStyle/>
          <a:p>
            <a:pPr algn="ctr">
              <a:lnSpc>
                <a:spcPts val="1695"/>
              </a:lnSpc>
              <a:spcBef>
                <a:spcPts val="0"/>
              </a:spcBef>
              <a:spcAft>
                <a:spcPts val="0"/>
              </a:spcAft>
            </a:pPr>
            <a:r>
              <a:rPr lang="en-US" sz="1500" dirty="0">
                <a:solidFill>
                  <a:srgbClr val="233344"/>
                </a:solidFill>
                <a:latin typeface="DejaVu Sans"/>
              </a:rPr>
              <a:t>Layers 17-36</a:t>
            </a:r>
            <a:endParaRPr sz="1500" b="0" dirty="0">
              <a:solidFill>
                <a:srgbClr val="233344"/>
              </a:solidFill>
              <a:latin typeface="DejaVu Sans"/>
            </a:endParaRPr>
          </a:p>
        </p:txBody>
      </p:sp>
      <mc:AlternateContent xmlns:mc="http://schemas.openxmlformats.org/markup-compatibility/2006">
        <mc:Choice xmlns:a14="http://schemas.microsoft.com/office/drawing/2010/main" Requires="a14">
          <p:sp>
            <p:nvSpPr>
              <p:cNvPr id="1259" name="narrow_projector_L32">
                <a:extLst>
                  <a:ext uri="{FF2B5EF4-FFF2-40B4-BE49-F238E27FC236}">
                    <a16:creationId xmlns:a16="http://schemas.microsoft.com/office/drawing/2014/main" id="{478B38BB-62F7-2AA9-F5BF-2D8B43F456FA}"/>
                  </a:ext>
                </a:extLst>
              </p:cNvPr>
              <p:cNvSpPr/>
              <p:nvPr/>
            </p:nvSpPr>
            <p:spPr>
              <a:xfrm flipH="1">
                <a:off x="1205633" y="2762688"/>
                <a:ext cx="423373" cy="512064"/>
              </a:xfrm>
              <a:custGeom>
                <a:avLst/>
                <a:gdLst/>
                <a:ahLst/>
                <a:cxnLst/>
                <a:rect l="l" t="t" r="r" b="b"/>
                <a:pathLst>
                  <a:path w="500" h="560">
                    <a:moveTo>
                      <a:pt x="0" y="0"/>
                    </a:moveTo>
                    <a:lnTo>
                      <a:pt x="500" y="100"/>
                    </a:lnTo>
                    <a:lnTo>
                      <a:pt x="500" y="460"/>
                    </a:lnTo>
                    <a:lnTo>
                      <a:pt x="0" y="560"/>
                    </a:lnTo>
                    <a:close/>
                  </a:path>
                </a:pathLst>
              </a:custGeom>
              <a:ln/>
            </p:spPr>
            <p:style>
              <a:lnRef idx="2">
                <a:schemeClr val="accent1"/>
              </a:lnRef>
              <a:fillRef idx="1">
                <a:schemeClr val="lt1"/>
              </a:fillRef>
              <a:effectRef idx="0">
                <a:schemeClr val="accent1"/>
              </a:effectRef>
              <a:fontRef idx="minor">
                <a:schemeClr val="dk1"/>
              </a:fontRef>
            </p:style>
            <p:txBody>
              <a:bodyPr rtlCol="0" anchor="ctr"/>
              <a:lstStyle/>
              <a:p>
                <a:pPr algn="ctr">
                  <a:lnSpc>
                    <a:spcPts val="2033"/>
                  </a:lnSpc>
                  <a:spcBef>
                    <a:spcPts val="0"/>
                  </a:spcBef>
                  <a:spcAft>
                    <a:spcPts val="0"/>
                  </a:spcAft>
                </a:pPr>
                <a14:m>
                  <m:oMathPara xmlns:m="http://schemas.openxmlformats.org/officeDocument/2006/math">
                    <m:oMath>
                      <m:sSub>
                        <m:sSubPr>
                          <m:ctrlPr>
                            <a:rPr lang="en-US" b="1" i="1" smtClean="0">
                              <a:solidFill>
                                <a:schemeClr val="accent1"/>
                              </a:solidFill>
                              <a:latin typeface="Cambria Math" panose="02040503050406030204" pitchFamily="18" charset="0"/>
                            </a:rPr>
                          </m:ctrlPr>
                        </m:sSubPr>
                        <m:e>
                          <m:r>
                            <a:rPr lang="en-US" b="1" i="1" smtClean="0">
                              <a:solidFill>
                                <a:schemeClr val="accent1"/>
                              </a:solidFill>
                              <a:latin typeface="Cambria Math" panose="02040503050406030204" pitchFamily="18" charset="0"/>
                            </a:rPr>
                            <m:t>𝑫</m:t>
                          </m:r>
                        </m:e>
                        <m:sub>
                          <m:r>
                            <a:rPr lang="en-US" b="1" i="1" smtClean="0">
                              <a:solidFill>
                                <a:schemeClr val="accent1"/>
                              </a:solidFill>
                              <a:latin typeface="Cambria Math" panose="02040503050406030204" pitchFamily="18" charset="0"/>
                            </a:rPr>
                            <m:t>𝟏𝟔</m:t>
                          </m:r>
                        </m:sub>
                      </m:sSub>
                    </m:oMath>
                  </m:oMathPara>
                </a14:m>
                <a:endParaRPr lang="en-US" b="1" dirty="0">
                  <a:solidFill>
                    <a:schemeClr val="accent1"/>
                  </a:solidFill>
                  <a:latin typeface="DejaVu Sans"/>
                </a:endParaRPr>
              </a:p>
            </p:txBody>
          </p:sp>
        </mc:Choice>
        <mc:Fallback>
          <p:sp>
            <p:nvSpPr>
              <p:cNvPr id="1259" name="narrow_projector_L32">
                <a:extLst>
                  <a:ext uri="{FF2B5EF4-FFF2-40B4-BE49-F238E27FC236}">
                    <a16:creationId xmlns:a16="http://schemas.microsoft.com/office/drawing/2014/main" id="{478B38BB-62F7-2AA9-F5BF-2D8B43F456FA}"/>
                  </a:ext>
                </a:extLst>
              </p:cNvPr>
              <p:cNvSpPr>
                <a:spLocks noRot="1" noChangeAspect="1" noMove="1" noResize="1" noEditPoints="1" noAdjustHandles="1" noChangeArrowheads="1" noChangeShapeType="1" noTextEdit="1"/>
              </p:cNvSpPr>
              <p:nvPr/>
            </p:nvSpPr>
            <p:spPr>
              <a:xfrm flipH="1">
                <a:off x="1205633" y="2762688"/>
                <a:ext cx="423373" cy="512064"/>
              </a:xfrm>
              <a:custGeom>
                <a:avLst/>
                <a:gdLst/>
                <a:ahLst/>
                <a:cxnLst/>
                <a:rect l="l" t="t" r="r" b="b"/>
                <a:pathLst>
                  <a:path w="500" h="560">
                    <a:moveTo>
                      <a:pt x="0" y="0"/>
                    </a:moveTo>
                    <a:lnTo>
                      <a:pt x="500" y="100"/>
                    </a:lnTo>
                    <a:lnTo>
                      <a:pt x="500" y="460"/>
                    </a:lnTo>
                    <a:lnTo>
                      <a:pt x="0" y="560"/>
                    </a:lnTo>
                    <a:close/>
                  </a:path>
                </a:pathLst>
              </a:custGeom>
              <a:blipFill>
                <a:blip r:embed="rId4"/>
                <a:stretch>
                  <a:fillRect l="-20548"/>
                </a:stretch>
              </a:blipFill>
              <a:ln/>
            </p:spPr>
            <p:txBody>
              <a:bodyPr/>
              <a:lstStyle/>
              <a:p>
                <a:r>
                  <a:rPr lang="en-US">
                    <a:noFill/>
                  </a:rPr>
                  <a:t> </a:t>
                </a:r>
              </a:p>
            </p:txBody>
          </p:sp>
        </mc:Fallback>
      </mc:AlternateContent>
      <p:cxnSp>
        <p:nvCxnSpPr>
          <p:cNvPr id="1267" name="Connector: Elbow 1266">
            <a:extLst>
              <a:ext uri="{FF2B5EF4-FFF2-40B4-BE49-F238E27FC236}">
                <a16:creationId xmlns:a16="http://schemas.microsoft.com/office/drawing/2014/main" id="{63BAF8E4-05FD-F0BF-61C2-189EF1D1E138}"/>
              </a:ext>
            </a:extLst>
          </p:cNvPr>
          <p:cNvCxnSpPr>
            <a:stCxn id="1225" idx="1"/>
            <a:endCxn id="1128" idx="1"/>
          </p:cNvCxnSpPr>
          <p:nvPr/>
        </p:nvCxnSpPr>
        <p:spPr>
          <a:xfrm rot="10800000" flipH="1">
            <a:off x="457200" y="3018721"/>
            <a:ext cx="61546" cy="612983"/>
          </a:xfrm>
          <a:prstGeom prst="bentConnector3">
            <a:avLst>
              <a:gd name="adj1" fmla="val -371429"/>
            </a:avLst>
          </a:prstGeom>
          <a:ln>
            <a:tailEnd type="triangle"/>
          </a:ln>
        </p:spPr>
        <p:style>
          <a:lnRef idx="2">
            <a:schemeClr val="dk1"/>
          </a:lnRef>
          <a:fillRef idx="0">
            <a:schemeClr val="dk1"/>
          </a:fillRef>
          <a:effectRef idx="1">
            <a:schemeClr val="dk1"/>
          </a:effectRef>
          <a:fontRef idx="minor">
            <a:schemeClr val="tx1"/>
          </a:fontRef>
        </p:style>
      </p:cxnSp>
      <p:cxnSp>
        <p:nvCxnSpPr>
          <p:cNvPr id="1269" name="Connector: Elbow 1268">
            <a:extLst>
              <a:ext uri="{FF2B5EF4-FFF2-40B4-BE49-F238E27FC236}">
                <a16:creationId xmlns:a16="http://schemas.microsoft.com/office/drawing/2014/main" id="{DA54AC9C-C1C6-4547-A7D1-8CFEF364B796}"/>
              </a:ext>
            </a:extLst>
          </p:cNvPr>
          <p:cNvCxnSpPr>
            <a:cxnSpLocks/>
          </p:cNvCxnSpPr>
          <p:nvPr/>
        </p:nvCxnSpPr>
        <p:spPr>
          <a:xfrm rot="10800000">
            <a:off x="938659" y="2424555"/>
            <a:ext cx="718000" cy="603310"/>
          </a:xfrm>
          <a:prstGeom prst="bentConnector3">
            <a:avLst>
              <a:gd name="adj1" fmla="val -1483"/>
            </a:avLst>
          </a:prstGeom>
          <a:ln>
            <a:tailEnd type="triangle"/>
          </a:ln>
        </p:spPr>
        <p:style>
          <a:lnRef idx="2">
            <a:schemeClr val="dk1"/>
          </a:lnRef>
          <a:fillRef idx="0">
            <a:schemeClr val="dk1"/>
          </a:fillRef>
          <a:effectRef idx="1">
            <a:schemeClr val="dk1"/>
          </a:effectRef>
          <a:fontRef idx="minor">
            <a:schemeClr val="tx1"/>
          </a:fontRef>
        </p:style>
      </p:cxnSp>
      <p:grpSp>
        <p:nvGrpSpPr>
          <p:cNvPr id="1282" name="Group 1281">
            <a:extLst>
              <a:ext uri="{FF2B5EF4-FFF2-40B4-BE49-F238E27FC236}">
                <a16:creationId xmlns:a16="http://schemas.microsoft.com/office/drawing/2014/main" id="{0EA46580-7E17-3AC1-106F-11AFD0D42FF5}"/>
              </a:ext>
            </a:extLst>
          </p:cNvPr>
          <p:cNvGrpSpPr/>
          <p:nvPr/>
        </p:nvGrpSpPr>
        <p:grpSpPr>
          <a:xfrm rot="5400000">
            <a:off x="2241645" y="3959982"/>
            <a:ext cx="420624" cy="2926080"/>
            <a:chOff x="4123944" y="1728216"/>
            <a:chExt cx="420624" cy="2926080"/>
          </a:xfrm>
        </p:grpSpPr>
        <p:sp>
          <p:nvSpPr>
            <p:cNvPr id="1277" name="concat_group_L32">
              <a:extLst>
                <a:ext uri="{FF2B5EF4-FFF2-40B4-BE49-F238E27FC236}">
                  <a16:creationId xmlns:a16="http://schemas.microsoft.com/office/drawing/2014/main" id="{FB445C5A-8074-C9F3-BCBD-CE9FD08907FF}"/>
                </a:ext>
              </a:extLst>
            </p:cNvPr>
            <p:cNvSpPr/>
            <p:nvPr/>
          </p:nvSpPr>
          <p:spPr>
            <a:xfrm>
              <a:off x="4123944" y="1728216"/>
              <a:ext cx="420624" cy="1463040"/>
            </a:xfrm>
            <a:prstGeom prst="rect">
              <a:avLst/>
            </a:prstGeom>
            <a:solidFill>
              <a:srgbClr val="A6D1C9"/>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9" name="concat_group_L24">
              <a:extLst>
                <a:ext uri="{FF2B5EF4-FFF2-40B4-BE49-F238E27FC236}">
                  <a16:creationId xmlns:a16="http://schemas.microsoft.com/office/drawing/2014/main" id="{97385716-C2F4-AA7B-9779-589F2E547F0F}"/>
                </a:ext>
              </a:extLst>
            </p:cNvPr>
            <p:cNvSpPr/>
            <p:nvPr/>
          </p:nvSpPr>
          <p:spPr>
            <a:xfrm>
              <a:off x="4123944" y="3191256"/>
              <a:ext cx="420624" cy="731520"/>
            </a:xfrm>
            <a:prstGeom prst="rect">
              <a:avLst/>
            </a:prstGeom>
            <a:solidFill>
              <a:srgbClr val="E8CE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1" name="concat_group_L16">
              <a:extLst>
                <a:ext uri="{FF2B5EF4-FFF2-40B4-BE49-F238E27FC236}">
                  <a16:creationId xmlns:a16="http://schemas.microsoft.com/office/drawing/2014/main" id="{89B09467-95A7-8FAE-CC7D-9EF8029AC7D5}"/>
                </a:ext>
              </a:extLst>
            </p:cNvPr>
            <p:cNvSpPr/>
            <p:nvPr/>
          </p:nvSpPr>
          <p:spPr>
            <a:xfrm>
              <a:off x="4123944" y="3922776"/>
              <a:ext cx="420624" cy="731520"/>
            </a:xfrm>
            <a:prstGeom prst="rect">
              <a:avLst/>
            </a:prstGeom>
            <a:solidFill>
              <a:srgbClr val="ABC7E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1320" name="Straight Arrow Connector 1319">
            <a:extLst>
              <a:ext uri="{FF2B5EF4-FFF2-40B4-BE49-F238E27FC236}">
                <a16:creationId xmlns:a16="http://schemas.microsoft.com/office/drawing/2014/main" id="{4797388C-CA1C-4A9D-6F08-3F433975AAED}"/>
              </a:ext>
            </a:extLst>
          </p:cNvPr>
          <p:cNvCxnSpPr>
            <a:cxnSpLocks/>
            <a:stCxn id="1128" idx="3"/>
            <a:endCxn id="1281" idx="1"/>
          </p:cNvCxnSpPr>
          <p:nvPr/>
        </p:nvCxnSpPr>
        <p:spPr>
          <a:xfrm>
            <a:off x="899171" y="3018720"/>
            <a:ext cx="455506" cy="21939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21" name="Straight Arrow Connector 1320">
            <a:extLst>
              <a:ext uri="{FF2B5EF4-FFF2-40B4-BE49-F238E27FC236}">
                <a16:creationId xmlns:a16="http://schemas.microsoft.com/office/drawing/2014/main" id="{2F5C3794-5F72-343A-692C-D05CE79B9112}"/>
              </a:ext>
            </a:extLst>
          </p:cNvPr>
          <p:cNvCxnSpPr>
            <a:cxnSpLocks/>
          </p:cNvCxnSpPr>
          <p:nvPr/>
        </p:nvCxnSpPr>
        <p:spPr>
          <a:xfrm flipH="1" flipV="1">
            <a:off x="2163610" y="1123451"/>
            <a:ext cx="406386" cy="96790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329" name="module_question_input_bar">
            <a:extLst>
              <a:ext uri="{FF2B5EF4-FFF2-40B4-BE49-F238E27FC236}">
                <a16:creationId xmlns:a16="http://schemas.microsoft.com/office/drawing/2014/main" id="{D3C27037-D517-EB70-F825-399412A21086}"/>
              </a:ext>
            </a:extLst>
          </p:cNvPr>
          <p:cNvGrpSpPr/>
          <p:nvPr/>
        </p:nvGrpSpPr>
        <p:grpSpPr>
          <a:xfrm>
            <a:off x="280966" y="4912879"/>
            <a:ext cx="717041" cy="203454"/>
            <a:chOff x="393192" y="5038344"/>
            <a:chExt cx="987552" cy="365760"/>
          </a:xfrm>
        </p:grpSpPr>
        <p:sp>
          <p:nvSpPr>
            <p:cNvPr id="1330" name="question_input_bar">
              <a:extLst>
                <a:ext uri="{FF2B5EF4-FFF2-40B4-BE49-F238E27FC236}">
                  <a16:creationId xmlns:a16="http://schemas.microsoft.com/office/drawing/2014/main" id="{F9678DA7-19C7-C0CC-81DD-4D85BABB1691}"/>
                </a:ext>
              </a:extLst>
            </p:cNvPr>
            <p:cNvSpPr/>
            <p:nvPr/>
          </p:nvSpPr>
          <p:spPr>
            <a:xfrm>
              <a:off x="393192" y="5038344"/>
              <a:ext cx="987552" cy="365760"/>
            </a:xfrm>
            <a:prstGeom prst="roundRect">
              <a:avLst>
                <a:gd name="adj" fmla="val 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dirty="0"/>
            </a:p>
          </p:txBody>
        </p:sp>
        <p:sp>
          <p:nvSpPr>
            <p:cNvPr id="1331" name="question_input_bar_label">
              <a:extLst>
                <a:ext uri="{FF2B5EF4-FFF2-40B4-BE49-F238E27FC236}">
                  <a16:creationId xmlns:a16="http://schemas.microsoft.com/office/drawing/2014/main" id="{7F4D58BC-341F-9A7E-F485-04508C6CD562}"/>
                </a:ext>
              </a:extLst>
            </p:cNvPr>
            <p:cNvSpPr txBox="1"/>
            <p:nvPr/>
          </p:nvSpPr>
          <p:spPr>
            <a:xfrm>
              <a:off x="573580" y="5134469"/>
              <a:ext cx="626775" cy="173509"/>
            </a:xfrm>
            <a:prstGeom prst="rect">
              <a:avLst/>
            </a:prstGeom>
            <a:noFill/>
          </p:spPr>
          <p:txBody>
            <a:bodyPr wrap="none" lIns="0" tIns="0" rIns="0" bIns="0" anchor="ctr">
              <a:spAutoFit/>
            </a:bodyPr>
            <a:lstStyle/>
            <a:p>
              <a:pPr algn="ctr">
                <a:lnSpc>
                  <a:spcPts val="1468"/>
                </a:lnSpc>
                <a:spcBef>
                  <a:spcPts val="0"/>
                </a:spcBef>
                <a:spcAft>
                  <a:spcPts val="0"/>
                </a:spcAft>
              </a:pPr>
              <a:r>
                <a:rPr sz="1100" b="0" dirty="0">
                  <a:solidFill>
                    <a:srgbClr val="7965AA"/>
                  </a:solidFill>
                  <a:latin typeface="DejaVu Sans"/>
                </a:rPr>
                <a:t>Question</a:t>
              </a:r>
            </a:p>
          </p:txBody>
        </p:sp>
      </p:grpSp>
      <p:grpSp>
        <p:nvGrpSpPr>
          <p:cNvPr id="1332" name="module_gold_input_bar">
            <a:extLst>
              <a:ext uri="{FF2B5EF4-FFF2-40B4-BE49-F238E27FC236}">
                <a16:creationId xmlns:a16="http://schemas.microsoft.com/office/drawing/2014/main" id="{3F05259B-7565-A96D-B2EB-1CDA13AABAB0}"/>
              </a:ext>
            </a:extLst>
          </p:cNvPr>
          <p:cNvGrpSpPr/>
          <p:nvPr/>
        </p:nvGrpSpPr>
        <p:grpSpPr>
          <a:xfrm>
            <a:off x="1010048" y="4912583"/>
            <a:ext cx="949415" cy="203454"/>
            <a:chOff x="1380744" y="5038344"/>
            <a:chExt cx="1307592" cy="365760"/>
          </a:xfrm>
        </p:grpSpPr>
        <p:sp>
          <p:nvSpPr>
            <p:cNvPr id="1333" name="gold_input_bar">
              <a:extLst>
                <a:ext uri="{FF2B5EF4-FFF2-40B4-BE49-F238E27FC236}">
                  <a16:creationId xmlns:a16="http://schemas.microsoft.com/office/drawing/2014/main" id="{FBA6EBE4-B936-E24D-554C-5C03A8E456E2}"/>
                </a:ext>
              </a:extLst>
            </p:cNvPr>
            <p:cNvSpPr/>
            <p:nvPr/>
          </p:nvSpPr>
          <p:spPr>
            <a:xfrm>
              <a:off x="1380744" y="5038344"/>
              <a:ext cx="1307592" cy="365760"/>
            </a:xfrm>
            <a:prstGeom prst="roundRect">
              <a:avLst>
                <a:gd name="adj" fmla="val 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334" name="gold_input_bar_label">
              <a:extLst>
                <a:ext uri="{FF2B5EF4-FFF2-40B4-BE49-F238E27FC236}">
                  <a16:creationId xmlns:a16="http://schemas.microsoft.com/office/drawing/2014/main" id="{CE587023-7D22-317D-3AA7-F35A0FB84A03}"/>
                </a:ext>
              </a:extLst>
            </p:cNvPr>
            <p:cNvSpPr txBox="1"/>
            <p:nvPr/>
          </p:nvSpPr>
          <p:spPr>
            <a:xfrm>
              <a:off x="1571271" y="5134469"/>
              <a:ext cx="926536" cy="173509"/>
            </a:xfrm>
            <a:prstGeom prst="rect">
              <a:avLst/>
            </a:prstGeom>
            <a:noFill/>
          </p:spPr>
          <p:txBody>
            <a:bodyPr wrap="none" lIns="0" tIns="0" rIns="0" bIns="0" anchor="ctr">
              <a:spAutoFit/>
            </a:bodyPr>
            <a:lstStyle/>
            <a:p>
              <a:pPr algn="ctr">
                <a:lnSpc>
                  <a:spcPts val="1468"/>
                </a:lnSpc>
                <a:spcBef>
                  <a:spcPts val="0"/>
                </a:spcBef>
                <a:spcAft>
                  <a:spcPts val="0"/>
                </a:spcAft>
              </a:pPr>
              <a:r>
                <a:rPr sz="1100" b="0">
                  <a:solidFill>
                    <a:srgbClr val="B86565"/>
                  </a:solidFill>
                  <a:latin typeface="DejaVu Sans"/>
                </a:rPr>
                <a:t>Gold solution</a:t>
              </a:r>
            </a:p>
          </p:txBody>
        </p:sp>
      </p:grpSp>
      <p:sp>
        <p:nvSpPr>
          <p:cNvPr id="1335" name="path_0163">
            <a:extLst>
              <a:ext uri="{FF2B5EF4-FFF2-40B4-BE49-F238E27FC236}">
                <a16:creationId xmlns:a16="http://schemas.microsoft.com/office/drawing/2014/main" id="{0F505571-4C18-A36F-3B74-7D207DF6F795}"/>
              </a:ext>
            </a:extLst>
          </p:cNvPr>
          <p:cNvSpPr/>
          <p:nvPr/>
        </p:nvSpPr>
        <p:spPr>
          <a:xfrm rot="10800000">
            <a:off x="942099" y="4610365"/>
            <a:ext cx="45719" cy="274320"/>
          </a:xfrm>
          <a:custGeom>
            <a:avLst/>
            <a:gdLst/>
            <a:ahLst/>
            <a:cxnLst/>
            <a:rect l="l" t="t" r="r" b="b"/>
            <a:pathLst>
              <a:path h="570">
                <a:moveTo>
                  <a:pt x="0" y="0"/>
                </a:moveTo>
                <a:lnTo>
                  <a:pt x="0" y="570"/>
                </a:lnTo>
              </a:path>
            </a:pathLst>
          </a:custGeom>
          <a:ln>
            <a:tailEnd type="triangle" w="sm" len="sm"/>
          </a:ln>
        </p:spPr>
        <p:style>
          <a:lnRef idx="1">
            <a:schemeClr val="dk1"/>
          </a:lnRef>
          <a:fillRef idx="0">
            <a:schemeClr val="dk1"/>
          </a:fillRef>
          <a:effectRef idx="0">
            <a:schemeClr val="dk1"/>
          </a:effectRef>
          <a:fontRef idx="minor">
            <a:schemeClr val="tx1"/>
          </a:fontRef>
        </p:style>
        <p:txBody>
          <a:bodyPr rtlCol="0" anchor="ctr"/>
          <a:lstStyle/>
          <a:p>
            <a:pPr algn="ctr"/>
            <a:endParaRPr/>
          </a:p>
        </p:txBody>
      </p:sp>
      <p:grpSp>
        <p:nvGrpSpPr>
          <p:cNvPr id="1336" name="module_question_input_bar">
            <a:extLst>
              <a:ext uri="{FF2B5EF4-FFF2-40B4-BE49-F238E27FC236}">
                <a16:creationId xmlns:a16="http://schemas.microsoft.com/office/drawing/2014/main" id="{9B746471-BE1A-3B4B-FF6A-B615D0F664F6}"/>
              </a:ext>
            </a:extLst>
          </p:cNvPr>
          <p:cNvGrpSpPr/>
          <p:nvPr/>
        </p:nvGrpSpPr>
        <p:grpSpPr>
          <a:xfrm>
            <a:off x="2101267" y="4999482"/>
            <a:ext cx="717041" cy="203454"/>
            <a:chOff x="393192" y="5038344"/>
            <a:chExt cx="987552" cy="365760"/>
          </a:xfrm>
        </p:grpSpPr>
        <p:sp>
          <p:nvSpPr>
            <p:cNvPr id="1337" name="question_input_bar">
              <a:extLst>
                <a:ext uri="{FF2B5EF4-FFF2-40B4-BE49-F238E27FC236}">
                  <a16:creationId xmlns:a16="http://schemas.microsoft.com/office/drawing/2014/main" id="{5D6E023D-342F-0B51-BA3B-45B7578E466A}"/>
                </a:ext>
              </a:extLst>
            </p:cNvPr>
            <p:cNvSpPr/>
            <p:nvPr/>
          </p:nvSpPr>
          <p:spPr>
            <a:xfrm>
              <a:off x="393192" y="5038344"/>
              <a:ext cx="987552" cy="365760"/>
            </a:xfrm>
            <a:prstGeom prst="roundRect">
              <a:avLst>
                <a:gd name="adj" fmla="val 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dirty="0"/>
            </a:p>
          </p:txBody>
        </p:sp>
        <p:sp>
          <p:nvSpPr>
            <p:cNvPr id="1338" name="question_input_bar_label">
              <a:extLst>
                <a:ext uri="{FF2B5EF4-FFF2-40B4-BE49-F238E27FC236}">
                  <a16:creationId xmlns:a16="http://schemas.microsoft.com/office/drawing/2014/main" id="{7120E9B9-A254-5616-DD9E-7451CBDEC571}"/>
                </a:ext>
              </a:extLst>
            </p:cNvPr>
            <p:cNvSpPr txBox="1"/>
            <p:nvPr/>
          </p:nvSpPr>
          <p:spPr>
            <a:xfrm>
              <a:off x="573580" y="5134469"/>
              <a:ext cx="626775" cy="173509"/>
            </a:xfrm>
            <a:prstGeom prst="rect">
              <a:avLst/>
            </a:prstGeom>
            <a:noFill/>
          </p:spPr>
          <p:txBody>
            <a:bodyPr wrap="none" lIns="0" tIns="0" rIns="0" bIns="0" anchor="ctr">
              <a:spAutoFit/>
            </a:bodyPr>
            <a:lstStyle/>
            <a:p>
              <a:pPr algn="ctr">
                <a:lnSpc>
                  <a:spcPts val="1468"/>
                </a:lnSpc>
                <a:spcBef>
                  <a:spcPts val="0"/>
                </a:spcBef>
                <a:spcAft>
                  <a:spcPts val="0"/>
                </a:spcAft>
              </a:pPr>
              <a:r>
                <a:rPr sz="1100" b="0" dirty="0">
                  <a:solidFill>
                    <a:srgbClr val="7965AA"/>
                  </a:solidFill>
                  <a:latin typeface="DejaVu Sans"/>
                </a:rPr>
                <a:t>Question</a:t>
              </a:r>
            </a:p>
          </p:txBody>
        </p:sp>
      </p:grpSp>
      <p:grpSp>
        <p:nvGrpSpPr>
          <p:cNvPr id="1339" name="module_gold_input_bar">
            <a:extLst>
              <a:ext uri="{FF2B5EF4-FFF2-40B4-BE49-F238E27FC236}">
                <a16:creationId xmlns:a16="http://schemas.microsoft.com/office/drawing/2014/main" id="{41D51715-6944-B6A8-B7E3-C3E26B9A9AA4}"/>
              </a:ext>
            </a:extLst>
          </p:cNvPr>
          <p:cNvGrpSpPr/>
          <p:nvPr/>
        </p:nvGrpSpPr>
        <p:grpSpPr>
          <a:xfrm>
            <a:off x="2830349" y="4999186"/>
            <a:ext cx="949415" cy="203454"/>
            <a:chOff x="1380744" y="5038344"/>
            <a:chExt cx="1307592" cy="365760"/>
          </a:xfrm>
        </p:grpSpPr>
        <p:sp>
          <p:nvSpPr>
            <p:cNvPr id="1340" name="gold_input_bar">
              <a:extLst>
                <a:ext uri="{FF2B5EF4-FFF2-40B4-BE49-F238E27FC236}">
                  <a16:creationId xmlns:a16="http://schemas.microsoft.com/office/drawing/2014/main" id="{D06B1571-75FD-B4C5-B2C0-5E2D24ACCDD3}"/>
                </a:ext>
              </a:extLst>
            </p:cNvPr>
            <p:cNvSpPr/>
            <p:nvPr/>
          </p:nvSpPr>
          <p:spPr>
            <a:xfrm>
              <a:off x="1380744" y="5038344"/>
              <a:ext cx="1307592" cy="365760"/>
            </a:xfrm>
            <a:prstGeom prst="roundRect">
              <a:avLst>
                <a:gd name="adj" fmla="val 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341" name="gold_input_bar_label">
              <a:extLst>
                <a:ext uri="{FF2B5EF4-FFF2-40B4-BE49-F238E27FC236}">
                  <a16:creationId xmlns:a16="http://schemas.microsoft.com/office/drawing/2014/main" id="{E0745B3F-A3C2-3C06-ED56-8DA73C534FA8}"/>
                </a:ext>
              </a:extLst>
            </p:cNvPr>
            <p:cNvSpPr txBox="1"/>
            <p:nvPr/>
          </p:nvSpPr>
          <p:spPr>
            <a:xfrm>
              <a:off x="1571271" y="5134469"/>
              <a:ext cx="926536" cy="173509"/>
            </a:xfrm>
            <a:prstGeom prst="rect">
              <a:avLst/>
            </a:prstGeom>
            <a:noFill/>
          </p:spPr>
          <p:txBody>
            <a:bodyPr wrap="none" lIns="0" tIns="0" rIns="0" bIns="0" anchor="ctr">
              <a:spAutoFit/>
            </a:bodyPr>
            <a:lstStyle/>
            <a:p>
              <a:pPr algn="ctr">
                <a:lnSpc>
                  <a:spcPts val="1468"/>
                </a:lnSpc>
                <a:spcBef>
                  <a:spcPts val="0"/>
                </a:spcBef>
                <a:spcAft>
                  <a:spcPts val="0"/>
                </a:spcAft>
              </a:pPr>
              <a:r>
                <a:rPr sz="1100" b="0">
                  <a:solidFill>
                    <a:srgbClr val="B86565"/>
                  </a:solidFill>
                  <a:latin typeface="DejaVu Sans"/>
                </a:rPr>
                <a:t>Gold solution</a:t>
              </a:r>
            </a:p>
          </p:txBody>
        </p:sp>
      </p:grpSp>
      <p:sp>
        <p:nvSpPr>
          <p:cNvPr id="1342" name="path_0163">
            <a:extLst>
              <a:ext uri="{FF2B5EF4-FFF2-40B4-BE49-F238E27FC236}">
                <a16:creationId xmlns:a16="http://schemas.microsoft.com/office/drawing/2014/main" id="{72E43985-6C33-EDB9-ABB3-87365F1B7849}"/>
              </a:ext>
            </a:extLst>
          </p:cNvPr>
          <p:cNvSpPr/>
          <p:nvPr/>
        </p:nvSpPr>
        <p:spPr>
          <a:xfrm rot="10800000">
            <a:off x="2762400" y="4696968"/>
            <a:ext cx="45719" cy="274320"/>
          </a:xfrm>
          <a:custGeom>
            <a:avLst/>
            <a:gdLst/>
            <a:ahLst/>
            <a:cxnLst/>
            <a:rect l="l" t="t" r="r" b="b"/>
            <a:pathLst>
              <a:path h="570">
                <a:moveTo>
                  <a:pt x="0" y="0"/>
                </a:moveTo>
                <a:lnTo>
                  <a:pt x="0" y="570"/>
                </a:lnTo>
              </a:path>
            </a:pathLst>
          </a:custGeom>
          <a:ln>
            <a:tailEnd type="triangle" w="sm" len="sm"/>
          </a:ln>
        </p:spPr>
        <p:style>
          <a:lnRef idx="1">
            <a:schemeClr val="dk1"/>
          </a:lnRef>
          <a:fillRef idx="0">
            <a:schemeClr val="dk1"/>
          </a:fillRef>
          <a:effectRef idx="0">
            <a:schemeClr val="dk1"/>
          </a:effectRef>
          <a:fontRef idx="minor">
            <a:schemeClr val="tx1"/>
          </a:fontRef>
        </p:style>
        <p:txBody>
          <a:bodyPr rtlCol="0" anchor="ctr"/>
          <a:lstStyle/>
          <a:p>
            <a:pPr algn="ctr"/>
            <a:endParaRPr/>
          </a:p>
        </p:txBody>
      </p:sp>
      <p:sp>
        <p:nvSpPr>
          <p:cNvPr id="1351" name="TextBox 1350">
            <a:extLst>
              <a:ext uri="{FF2B5EF4-FFF2-40B4-BE49-F238E27FC236}">
                <a16:creationId xmlns:a16="http://schemas.microsoft.com/office/drawing/2014/main" id="{314F113D-D6DD-C7BE-E8AB-B0286A3C8F38}"/>
              </a:ext>
            </a:extLst>
          </p:cNvPr>
          <p:cNvSpPr txBox="1"/>
          <p:nvPr/>
        </p:nvSpPr>
        <p:spPr>
          <a:xfrm>
            <a:off x="867030" y="5822417"/>
            <a:ext cx="3287772" cy="369332"/>
          </a:xfrm>
          <a:prstGeom prst="rect">
            <a:avLst/>
          </a:prstGeom>
          <a:noFill/>
        </p:spPr>
        <p:txBody>
          <a:bodyPr wrap="square">
            <a:spAutoFit/>
          </a:bodyPr>
          <a:lstStyle/>
          <a:p>
            <a:r>
              <a:rPr lang="en-US" sz="1800" b="1" dirty="0">
                <a:solidFill>
                  <a:srgbClr val="233344"/>
                </a:solidFill>
                <a:latin typeface="DejaVu Sans"/>
              </a:rPr>
              <a:t>Learned Representation</a:t>
            </a:r>
            <a:endParaRPr lang="en-US" dirty="0"/>
          </a:p>
        </p:txBody>
      </p:sp>
      <p:cxnSp>
        <p:nvCxnSpPr>
          <p:cNvPr id="1352" name="Straight Arrow Connector 1351">
            <a:extLst>
              <a:ext uri="{FF2B5EF4-FFF2-40B4-BE49-F238E27FC236}">
                <a16:creationId xmlns:a16="http://schemas.microsoft.com/office/drawing/2014/main" id="{E1768E2D-E369-3944-304A-A65FA2F2034C}"/>
              </a:ext>
            </a:extLst>
          </p:cNvPr>
          <p:cNvCxnSpPr>
            <a:cxnSpLocks/>
          </p:cNvCxnSpPr>
          <p:nvPr/>
        </p:nvCxnSpPr>
        <p:spPr>
          <a:xfrm flipV="1">
            <a:off x="963344" y="1123451"/>
            <a:ext cx="221161" cy="565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355" name="module_teacher_CE_objective">
            <a:extLst>
              <a:ext uri="{FF2B5EF4-FFF2-40B4-BE49-F238E27FC236}">
                <a16:creationId xmlns:a16="http://schemas.microsoft.com/office/drawing/2014/main" id="{F8F40787-039D-198A-4D98-212016AD4F1C}"/>
              </a:ext>
            </a:extLst>
          </p:cNvPr>
          <p:cNvGrpSpPr/>
          <p:nvPr/>
        </p:nvGrpSpPr>
        <p:grpSpPr>
          <a:xfrm>
            <a:off x="1105639" y="451940"/>
            <a:ext cx="1216152" cy="603504"/>
            <a:chOff x="448056" y="5678424"/>
            <a:chExt cx="1216152" cy="603504"/>
          </a:xfrm>
        </p:grpSpPr>
        <p:sp>
          <p:nvSpPr>
            <p:cNvPr id="1356" name="teacher_CE_objective">
              <a:extLst>
                <a:ext uri="{FF2B5EF4-FFF2-40B4-BE49-F238E27FC236}">
                  <a16:creationId xmlns:a16="http://schemas.microsoft.com/office/drawing/2014/main" id="{67922315-A360-1532-EBE4-1A4C3EF7E9BD}"/>
                </a:ext>
              </a:extLst>
            </p:cNvPr>
            <p:cNvSpPr/>
            <p:nvPr/>
          </p:nvSpPr>
          <p:spPr>
            <a:xfrm>
              <a:off x="448056" y="5678424"/>
              <a:ext cx="1216152" cy="603504"/>
            </a:xfrm>
            <a:prstGeom prst="roundRect">
              <a:avLst>
                <a:gd name="adj" fmla="val 10606"/>
              </a:avLst>
            </a:prstGeom>
            <a:solidFill>
              <a:srgbClr val="FBF6F6"/>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7" name="teacher_CE_objective_label">
              <a:extLst>
                <a:ext uri="{FF2B5EF4-FFF2-40B4-BE49-F238E27FC236}">
                  <a16:creationId xmlns:a16="http://schemas.microsoft.com/office/drawing/2014/main" id="{D4598FC6-B693-AEE9-B11C-58E3AEDC17CF}"/>
                </a:ext>
              </a:extLst>
            </p:cNvPr>
            <p:cNvSpPr txBox="1"/>
            <p:nvPr/>
          </p:nvSpPr>
          <p:spPr>
            <a:xfrm>
              <a:off x="493776" y="5687568"/>
              <a:ext cx="1124712" cy="585216"/>
            </a:xfrm>
            <a:prstGeom prst="rect">
              <a:avLst/>
            </a:prstGeom>
            <a:noFill/>
          </p:spPr>
          <p:txBody>
            <a:bodyPr wrap="none" lIns="0" tIns="0" rIns="0" bIns="0" anchor="ctr">
              <a:spAutoFit/>
            </a:bodyPr>
            <a:lstStyle/>
            <a:p>
              <a:pPr algn="ctr">
                <a:lnSpc>
                  <a:spcPts val="1581"/>
                </a:lnSpc>
                <a:spcBef>
                  <a:spcPts val="0"/>
                </a:spcBef>
                <a:spcAft>
                  <a:spcPts val="0"/>
                </a:spcAft>
              </a:pPr>
              <a:r>
                <a:rPr sz="1400" b="1">
                  <a:solidFill>
                    <a:srgbClr val="B86565"/>
                  </a:solidFill>
                  <a:latin typeface="DejaVu Sans"/>
                </a:rPr>
                <a:t>Teacher CE</a:t>
              </a:r>
            </a:p>
          </p:txBody>
        </p:sp>
      </p:grpSp>
      <p:sp>
        <p:nvSpPr>
          <p:cNvPr id="1360" name="Qwen_bottom_up_stack">
            <a:extLst>
              <a:ext uri="{FF2B5EF4-FFF2-40B4-BE49-F238E27FC236}">
                <a16:creationId xmlns:a16="http://schemas.microsoft.com/office/drawing/2014/main" id="{5AEF2BED-EA20-F557-7BBC-ABB899541146}"/>
              </a:ext>
            </a:extLst>
          </p:cNvPr>
          <p:cNvSpPr/>
          <p:nvPr/>
        </p:nvSpPr>
        <p:spPr>
          <a:xfrm>
            <a:off x="2044768" y="3904034"/>
            <a:ext cx="1207008" cy="685410"/>
          </a:xfrm>
          <a:prstGeom prst="roundRect">
            <a:avLst>
              <a:gd name="adj" fmla="val 6818"/>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1361" name="module_bottom_up_Qwen_L32">
            <a:extLst>
              <a:ext uri="{FF2B5EF4-FFF2-40B4-BE49-F238E27FC236}">
                <a16:creationId xmlns:a16="http://schemas.microsoft.com/office/drawing/2014/main" id="{08DCC416-FA13-712F-FF02-892E1A8A43B0}"/>
              </a:ext>
            </a:extLst>
          </p:cNvPr>
          <p:cNvGrpSpPr/>
          <p:nvPr/>
        </p:nvGrpSpPr>
        <p:grpSpPr>
          <a:xfrm>
            <a:off x="2145352" y="3365684"/>
            <a:ext cx="1005840" cy="402336"/>
            <a:chOff x="457200" y="2258568"/>
            <a:chExt cx="1005840" cy="402336"/>
          </a:xfrm>
        </p:grpSpPr>
        <p:sp>
          <p:nvSpPr>
            <p:cNvPr id="1362" name="bottom_up_Qwen_L32">
              <a:extLst>
                <a:ext uri="{FF2B5EF4-FFF2-40B4-BE49-F238E27FC236}">
                  <a16:creationId xmlns:a16="http://schemas.microsoft.com/office/drawing/2014/main" id="{6C754A1D-6AD1-7758-AD66-7A91C2933550}"/>
                </a:ext>
              </a:extLst>
            </p:cNvPr>
            <p:cNvSpPr/>
            <p:nvPr/>
          </p:nvSpPr>
          <p:spPr>
            <a:xfrm>
              <a:off x="457200" y="2258568"/>
              <a:ext cx="1005840" cy="402336"/>
            </a:xfrm>
            <a:prstGeom prst="roundRect">
              <a:avLst>
                <a:gd name="adj" fmla="val 12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a:p>
          </p:txBody>
        </p:sp>
        <p:sp>
          <p:nvSpPr>
            <p:cNvPr id="1363" name="bottom_up_Qwen_L32_label">
              <a:extLst>
                <a:ext uri="{FF2B5EF4-FFF2-40B4-BE49-F238E27FC236}">
                  <a16:creationId xmlns:a16="http://schemas.microsoft.com/office/drawing/2014/main" id="{B33E59EA-38AB-B704-DDFB-CC1DE6B0B6AB}"/>
                </a:ext>
              </a:extLst>
            </p:cNvPr>
            <p:cNvSpPr txBox="1"/>
            <p:nvPr/>
          </p:nvSpPr>
          <p:spPr>
            <a:xfrm>
              <a:off x="540101" y="2350731"/>
              <a:ext cx="840038" cy="218008"/>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anchor="ctr">
              <a:spAutoFit/>
            </a:bodyPr>
            <a:lstStyle/>
            <a:p>
              <a:pPr algn="ctr">
                <a:lnSpc>
                  <a:spcPts val="1695"/>
                </a:lnSpc>
                <a:spcBef>
                  <a:spcPts val="0"/>
                </a:spcBef>
                <a:spcAft>
                  <a:spcPts val="0"/>
                </a:spcAft>
              </a:pPr>
              <a:r>
                <a:rPr sz="1500" b="0" dirty="0">
                  <a:solidFill>
                    <a:srgbClr val="233344"/>
                  </a:solidFill>
                  <a:latin typeface="DejaVu Sans"/>
                </a:rPr>
                <a:t>Layer </a:t>
              </a:r>
              <a:r>
                <a:rPr lang="en-US" sz="1500" b="0" dirty="0">
                  <a:solidFill>
                    <a:srgbClr val="233344"/>
                  </a:solidFill>
                  <a:latin typeface="DejaVu Sans"/>
                </a:rPr>
                <a:t>16</a:t>
              </a:r>
              <a:endParaRPr sz="1500" b="0" dirty="0">
                <a:solidFill>
                  <a:srgbClr val="233344"/>
                </a:solidFill>
                <a:latin typeface="DejaVu Sans"/>
              </a:endParaRPr>
            </a:p>
          </p:txBody>
        </p:sp>
      </p:grpSp>
      <p:sp>
        <p:nvSpPr>
          <p:cNvPr id="1364" name="Qwen_bottom_up_stack">
            <a:extLst>
              <a:ext uri="{FF2B5EF4-FFF2-40B4-BE49-F238E27FC236}">
                <a16:creationId xmlns:a16="http://schemas.microsoft.com/office/drawing/2014/main" id="{E6AFF1F3-D755-3D71-9AC9-03F7D2BCF37F}"/>
              </a:ext>
            </a:extLst>
          </p:cNvPr>
          <p:cNvSpPr/>
          <p:nvPr/>
        </p:nvSpPr>
        <p:spPr>
          <a:xfrm>
            <a:off x="2073565" y="1665151"/>
            <a:ext cx="1207008" cy="685410"/>
          </a:xfrm>
          <a:prstGeom prst="roundRect">
            <a:avLst>
              <a:gd name="adj" fmla="val 6818"/>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65" name="Straight Arrow Connector 1364">
            <a:extLst>
              <a:ext uri="{FF2B5EF4-FFF2-40B4-BE49-F238E27FC236}">
                <a16:creationId xmlns:a16="http://schemas.microsoft.com/office/drawing/2014/main" id="{CDF2EB36-FDF1-51C4-E5D6-E54277792BF0}"/>
              </a:ext>
            </a:extLst>
          </p:cNvPr>
          <p:cNvCxnSpPr>
            <a:cxnSpLocks/>
          </p:cNvCxnSpPr>
          <p:nvPr/>
        </p:nvCxnSpPr>
        <p:spPr>
          <a:xfrm flipH="1" flipV="1">
            <a:off x="2756167" y="2581205"/>
            <a:ext cx="6232" cy="58910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24765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1218</Words>
  <Application>Microsoft Office PowerPoint</Application>
  <PresentationFormat>Custom</PresentationFormat>
  <Paragraphs>113</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DejaVu Sans</vt:lpstr>
      <vt:lpstr>Arial</vt:lpstr>
      <vt:lpstr>Calibri</vt:lpstr>
      <vt:lpstr>Cambria Math</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diffusion reasoning: revised encoder-decoder overview</dc:title>
  <dc:subject>Three native-vector diagram options for paper iteration</dc:subject>
  <dc:creator>Diffusion language paper</dc:creator>
  <cp:keywords/>
  <dc:description>generated using python-pptx</dc:description>
  <cp:lastModifiedBy>Xiang Cheng</cp:lastModifiedBy>
  <cp:revision>4</cp:revision>
  <dcterms:created xsi:type="dcterms:W3CDTF">2013-01-27T09:14:16Z</dcterms:created>
  <dcterms:modified xsi:type="dcterms:W3CDTF">2026-09-24T15:07:40Z</dcterms:modified>
  <cp:category/>
</cp:coreProperties>
</file>